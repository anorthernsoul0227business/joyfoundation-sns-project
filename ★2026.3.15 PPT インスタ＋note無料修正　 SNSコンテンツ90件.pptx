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60"/>
  </p:normalViewPr>
  <p:slideViewPr>
    <p:cSldViewPr>
      <p:cViewPr>
        <p:scale>
          <a:sx n="125" d="100"/>
          <a:sy n="125" d="100"/>
        </p:scale>
        <p:origin x="830" y="-42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/135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/135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/135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/135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/135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2424" y="352424"/>
            <a:ext cx="7058025" cy="9344025"/>
          </a:xfrm>
          <a:custGeom>
            <a:avLst/>
            <a:gdLst/>
            <a:ahLst/>
            <a:cxnLst/>
            <a:rect l="l" t="t" r="r" b="b"/>
            <a:pathLst>
              <a:path w="7058025" h="9344025">
                <a:moveTo>
                  <a:pt x="7058024" y="9344024"/>
                </a:moveTo>
                <a:lnTo>
                  <a:pt x="0" y="9344024"/>
                </a:lnTo>
                <a:lnTo>
                  <a:pt x="0" y="0"/>
                </a:lnTo>
                <a:lnTo>
                  <a:pt x="7058024" y="0"/>
                </a:lnTo>
                <a:lnTo>
                  <a:pt x="7058024" y="9344024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8650" y="1125392"/>
            <a:ext cx="3175099" cy="454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2099" y="9750472"/>
            <a:ext cx="6754495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96422" y="9750472"/>
            <a:ext cx="384175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/135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4" y="352424"/>
            <a:ext cx="7061298" cy="93440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01577" y="2741053"/>
            <a:ext cx="3169285" cy="561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00" spc="-409" dirty="0">
                <a:solidFill>
                  <a:srgbClr val="FFFFFF"/>
                </a:solidFill>
                <a:latin typeface="Arial Black"/>
                <a:cs typeface="Arial Black"/>
              </a:rPr>
              <a:t>SNS</a:t>
            </a:r>
            <a:r>
              <a:rPr sz="3300" b="1" spc="-325" dirty="0">
                <a:solidFill>
                  <a:srgbClr val="FFFFFF"/>
                </a:solidFill>
                <a:latin typeface="BIZ UDPゴシック"/>
                <a:cs typeface="BIZ UDPゴシック"/>
              </a:rPr>
              <a:t>コンテンツ集</a:t>
            </a:r>
            <a:endParaRPr sz="3300">
              <a:latin typeface="BIZ UDPゴシック"/>
              <a:cs typeface="BIZ UDPゴシック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1</a:t>
            </a:fld>
            <a:r>
              <a:rPr spc="-10" dirty="0"/>
              <a:t>/135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01019" y="6669426"/>
            <a:ext cx="2570480" cy="56797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2384" marR="5080" indent="-20320">
              <a:lnSpc>
                <a:spcPct val="131900"/>
              </a:lnSpc>
              <a:spcBef>
                <a:spcPts val="85"/>
              </a:spcBef>
            </a:pPr>
            <a:r>
              <a:rPr sz="1450" spc="-155" dirty="0" err="1">
                <a:solidFill>
                  <a:srgbClr val="FFFFFF"/>
                </a:solidFill>
                <a:latin typeface="SimSun"/>
                <a:cs typeface="SimSun"/>
              </a:rPr>
              <a:t>サウンドヒーリング協会</a:t>
            </a:r>
            <a:endParaRPr lang="en-US" sz="1450" spc="-155">
              <a:solidFill>
                <a:srgbClr val="FFFFFF"/>
              </a:solidFill>
              <a:latin typeface="SimSun"/>
              <a:cs typeface="SimSun"/>
            </a:endParaRPr>
          </a:p>
          <a:p>
            <a:pPr marL="32384" marR="5080" indent="-20320">
              <a:lnSpc>
                <a:spcPct val="131900"/>
              </a:lnSpc>
              <a:spcBef>
                <a:spcPts val="85"/>
              </a:spcBef>
            </a:pPr>
            <a:r>
              <a:rPr sz="1450" spc="-150">
                <a:solidFill>
                  <a:srgbClr val="FFFFFF"/>
                </a:solidFill>
                <a:latin typeface="SimSun"/>
                <a:cs typeface="SimSun"/>
              </a:rPr>
              <a:t>株式会社ジョイファンデーション</a:t>
            </a:r>
            <a:endParaRPr sz="1450" dirty="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4105" y="3602593"/>
            <a:ext cx="462470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15" dirty="0">
                <a:solidFill>
                  <a:srgbClr val="FFFFFF"/>
                </a:solidFill>
                <a:latin typeface="SimSun"/>
                <a:cs typeface="SimSun"/>
              </a:rPr>
              <a:t>サウンドヒ</a:t>
            </a:r>
            <a:r>
              <a:rPr sz="1700" spc="-16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750" spc="-200" dirty="0">
                <a:solidFill>
                  <a:srgbClr val="FFFFFF"/>
                </a:solidFill>
                <a:latin typeface="SimSun"/>
                <a:cs typeface="SimSun"/>
              </a:rPr>
              <a:t>リング</a:t>
            </a:r>
            <a:r>
              <a:rPr sz="1700" spc="-210" dirty="0">
                <a:solidFill>
                  <a:srgbClr val="FFFFFF"/>
                </a:solidFill>
                <a:latin typeface="SimSun"/>
                <a:cs typeface="SimSun"/>
              </a:rPr>
              <a:t>協会 </a:t>
            </a:r>
            <a:r>
              <a:rPr sz="1700" spc="60" dirty="0">
                <a:solidFill>
                  <a:srgbClr val="FFFFFF"/>
                </a:solidFill>
                <a:latin typeface="Broadway"/>
                <a:cs typeface="Broadway"/>
              </a:rPr>
              <a:t>× </a:t>
            </a:r>
            <a:r>
              <a:rPr sz="1750" spc="-225" dirty="0">
                <a:solidFill>
                  <a:srgbClr val="FFFFFF"/>
                </a:solidFill>
                <a:latin typeface="SimSun"/>
                <a:cs typeface="SimSun"/>
              </a:rPr>
              <a:t>ジョイファンデ</a:t>
            </a:r>
            <a:r>
              <a:rPr sz="1700" spc="-16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750" spc="-150" dirty="0">
                <a:solidFill>
                  <a:srgbClr val="FFFFFF"/>
                </a:solidFill>
                <a:latin typeface="SimSun"/>
                <a:cs typeface="SimSun"/>
              </a:rPr>
              <a:t>ション</a:t>
            </a:r>
            <a:endParaRPr sz="1750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2274" y="4737699"/>
            <a:ext cx="3448050" cy="1011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20"/>
              </a:spcBef>
              <a:tabLst>
                <a:tab pos="1447800" algn="l"/>
                <a:tab pos="2682240" algn="l"/>
              </a:tabLst>
            </a:pPr>
            <a:r>
              <a:rPr sz="4200" b="1" spc="-475" dirty="0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r>
              <a:rPr sz="4200" b="1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4200" b="1" spc="-475" dirty="0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r>
              <a:rPr sz="4200" b="1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4200" b="1" spc="-475" dirty="0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endParaRPr sz="4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  <a:tabLst>
                <a:tab pos="1346200" algn="l"/>
                <a:tab pos="2581275" algn="l"/>
              </a:tabLst>
            </a:pPr>
            <a:r>
              <a:rPr sz="1200" spc="-60" dirty="0">
                <a:solidFill>
                  <a:srgbClr val="FFFFFF"/>
                </a:solidFill>
                <a:latin typeface="Comic Sans MS"/>
                <a:cs typeface="Comic Sans MS"/>
              </a:rPr>
              <a:t>Instagram</a:t>
            </a:r>
            <a:r>
              <a:rPr sz="1200" spc="-120" dirty="0">
                <a:solidFill>
                  <a:srgbClr val="FFFFFF"/>
                </a:solidFill>
                <a:latin typeface="SimSun"/>
                <a:cs typeface="SimSun"/>
              </a:rPr>
              <a:t>投</a:t>
            </a:r>
            <a:r>
              <a:rPr sz="1200" spc="-50" dirty="0">
                <a:solidFill>
                  <a:srgbClr val="FFFFFF"/>
                </a:solidFill>
                <a:latin typeface="SimSun"/>
                <a:cs typeface="SimSun"/>
              </a:rPr>
              <a:t>稿</a:t>
            </a:r>
            <a:r>
              <a:rPr sz="1200" dirty="0">
                <a:solidFill>
                  <a:srgbClr val="FFFFFF"/>
                </a:solidFill>
                <a:latin typeface="SimSun"/>
                <a:cs typeface="SimSun"/>
              </a:rPr>
              <a:t>	</a:t>
            </a:r>
            <a:r>
              <a:rPr sz="1200" spc="-120" dirty="0">
                <a:solidFill>
                  <a:srgbClr val="FFFFFF"/>
                </a:solidFill>
                <a:latin typeface="SimSun"/>
                <a:cs typeface="SimSun"/>
              </a:rPr>
              <a:t>無料</a:t>
            </a:r>
            <a:r>
              <a:rPr sz="1200" spc="-30" dirty="0">
                <a:solidFill>
                  <a:srgbClr val="FFFFFF"/>
                </a:solidFill>
                <a:latin typeface="Comic Sans MS"/>
                <a:cs typeface="Comic Sans MS"/>
              </a:rPr>
              <a:t>note</a:t>
            </a:r>
            <a:r>
              <a:rPr sz="1200" spc="-120" dirty="0">
                <a:solidFill>
                  <a:srgbClr val="FFFFFF"/>
                </a:solidFill>
                <a:latin typeface="SimSun"/>
                <a:cs typeface="SimSun"/>
              </a:rPr>
              <a:t>記</a:t>
            </a:r>
            <a:r>
              <a:rPr sz="1200" spc="-50" dirty="0">
                <a:solidFill>
                  <a:srgbClr val="FFFFFF"/>
                </a:solidFill>
                <a:latin typeface="SimSun"/>
                <a:cs typeface="SimSun"/>
              </a:rPr>
              <a:t>事</a:t>
            </a:r>
            <a:r>
              <a:rPr sz="1200" dirty="0">
                <a:solidFill>
                  <a:srgbClr val="FFFFFF"/>
                </a:solidFill>
                <a:latin typeface="SimSun"/>
                <a:cs typeface="SimSun"/>
              </a:rPr>
              <a:t>	</a:t>
            </a:r>
            <a:r>
              <a:rPr sz="1200" spc="-120" dirty="0">
                <a:solidFill>
                  <a:srgbClr val="FFFFFF"/>
                </a:solidFill>
                <a:latin typeface="SimSun"/>
                <a:cs typeface="SimSun"/>
              </a:rPr>
              <a:t>有料</a:t>
            </a:r>
            <a:r>
              <a:rPr sz="1200" spc="-30" dirty="0">
                <a:solidFill>
                  <a:srgbClr val="FFFFFF"/>
                </a:solidFill>
                <a:latin typeface="Comic Sans MS"/>
                <a:cs typeface="Comic Sans MS"/>
              </a:rPr>
              <a:t>note</a:t>
            </a:r>
            <a:r>
              <a:rPr sz="1200" spc="-120" dirty="0">
                <a:solidFill>
                  <a:srgbClr val="FFFFFF"/>
                </a:solidFill>
                <a:latin typeface="SimSun"/>
                <a:cs typeface="SimSun"/>
              </a:rPr>
              <a:t>記</a:t>
            </a:r>
            <a:r>
              <a:rPr sz="1200" spc="-50" dirty="0">
                <a:solidFill>
                  <a:srgbClr val="FFFFFF"/>
                </a:solidFill>
                <a:latin typeface="SimSun"/>
                <a:cs typeface="SimSun"/>
              </a:rPr>
              <a:t>事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542924"/>
            <a:ext cx="7061834" cy="7572375"/>
            <a:chOff x="352425" y="542924"/>
            <a:chExt cx="7061834" cy="7572375"/>
          </a:xfrm>
        </p:grpSpPr>
        <p:sp>
          <p:nvSpPr>
            <p:cNvPr id="3" name="object 3"/>
            <p:cNvSpPr/>
            <p:nvPr/>
          </p:nvSpPr>
          <p:spPr>
            <a:xfrm>
              <a:off x="352425" y="542924"/>
              <a:ext cx="7061834" cy="7572375"/>
            </a:xfrm>
            <a:custGeom>
              <a:avLst/>
              <a:gdLst/>
              <a:ahLst/>
              <a:cxnLst/>
              <a:rect l="l" t="t" r="r" b="b"/>
              <a:pathLst>
                <a:path w="7061834" h="7572375">
                  <a:moveTo>
                    <a:pt x="6960755" y="7572375"/>
                  </a:moveTo>
                  <a:lnTo>
                    <a:pt x="106794" y="7572375"/>
                  </a:lnTo>
                  <a:lnTo>
                    <a:pt x="99364" y="7571641"/>
                  </a:lnTo>
                  <a:lnTo>
                    <a:pt x="57035" y="7557278"/>
                  </a:lnTo>
                  <a:lnTo>
                    <a:pt x="23431" y="7527817"/>
                  </a:lnTo>
                  <a:lnTo>
                    <a:pt x="3657" y="7487736"/>
                  </a:lnTo>
                  <a:lnTo>
                    <a:pt x="0" y="7465580"/>
                  </a:lnTo>
                  <a:lnTo>
                    <a:pt x="0" y="106794"/>
                  </a:lnTo>
                  <a:lnTo>
                    <a:pt x="11572" y="63627"/>
                  </a:lnTo>
                  <a:lnTo>
                    <a:pt x="38785" y="28165"/>
                  </a:lnTo>
                  <a:lnTo>
                    <a:pt x="77495" y="5829"/>
                  </a:lnTo>
                  <a:lnTo>
                    <a:pt x="106794" y="0"/>
                  </a:lnTo>
                  <a:lnTo>
                    <a:pt x="6960755" y="0"/>
                  </a:lnTo>
                  <a:lnTo>
                    <a:pt x="7003923" y="11572"/>
                  </a:lnTo>
                  <a:lnTo>
                    <a:pt x="7039375" y="38785"/>
                  </a:lnTo>
                  <a:lnTo>
                    <a:pt x="7061298" y="76477"/>
                  </a:lnTo>
                  <a:lnTo>
                    <a:pt x="7061298" y="7495897"/>
                  </a:lnTo>
                  <a:lnTo>
                    <a:pt x="7039375" y="7533589"/>
                  </a:lnTo>
                  <a:lnTo>
                    <a:pt x="7003923" y="7560802"/>
                  </a:lnTo>
                  <a:lnTo>
                    <a:pt x="6960755" y="75723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3425" y="1428750"/>
              <a:ext cx="6305550" cy="28575"/>
            </a:xfrm>
            <a:custGeom>
              <a:avLst/>
              <a:gdLst/>
              <a:ahLst/>
              <a:cxnLst/>
              <a:rect l="l" t="t" r="r" b="b"/>
              <a:pathLst>
                <a:path w="6305550" h="28575">
                  <a:moveTo>
                    <a:pt x="6305550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6305550" y="0"/>
                  </a:lnTo>
                  <a:lnTo>
                    <a:pt x="6305550" y="28575"/>
                  </a:lnTo>
                  <a:close/>
                </a:path>
              </a:pathLst>
            </a:custGeom>
            <a:solidFill>
              <a:srgbClr val="497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3425" y="2538412"/>
              <a:ext cx="6305550" cy="5000625"/>
            </a:xfrm>
            <a:custGeom>
              <a:avLst/>
              <a:gdLst/>
              <a:ahLst/>
              <a:cxnLst/>
              <a:rect l="l" t="t" r="r" b="b"/>
              <a:pathLst>
                <a:path w="6305550" h="5000625">
                  <a:moveTo>
                    <a:pt x="0" y="0"/>
                  </a:moveTo>
                  <a:lnTo>
                    <a:pt x="6305550" y="0"/>
                  </a:lnTo>
                </a:path>
                <a:path w="6305550" h="5000625">
                  <a:moveTo>
                    <a:pt x="0" y="371475"/>
                  </a:moveTo>
                  <a:lnTo>
                    <a:pt x="6305550" y="371475"/>
                  </a:lnTo>
                </a:path>
                <a:path w="6305550" h="5000625">
                  <a:moveTo>
                    <a:pt x="0" y="752475"/>
                  </a:moveTo>
                  <a:lnTo>
                    <a:pt x="6305550" y="752475"/>
                  </a:lnTo>
                </a:path>
                <a:path w="6305550" h="5000625">
                  <a:moveTo>
                    <a:pt x="0" y="1133475"/>
                  </a:moveTo>
                  <a:lnTo>
                    <a:pt x="6305550" y="1133475"/>
                  </a:lnTo>
                </a:path>
                <a:path w="6305550" h="5000625">
                  <a:moveTo>
                    <a:pt x="0" y="1514475"/>
                  </a:moveTo>
                  <a:lnTo>
                    <a:pt x="6305550" y="1514475"/>
                  </a:lnTo>
                </a:path>
                <a:path w="6305550" h="5000625">
                  <a:moveTo>
                    <a:pt x="0" y="2495550"/>
                  </a:moveTo>
                  <a:lnTo>
                    <a:pt x="6305550" y="2495550"/>
                  </a:lnTo>
                </a:path>
                <a:path w="6305550" h="5000625">
                  <a:moveTo>
                    <a:pt x="0" y="2876550"/>
                  </a:moveTo>
                  <a:lnTo>
                    <a:pt x="6305550" y="2876550"/>
                  </a:lnTo>
                </a:path>
                <a:path w="6305550" h="5000625">
                  <a:moveTo>
                    <a:pt x="0" y="3257550"/>
                  </a:moveTo>
                  <a:lnTo>
                    <a:pt x="6305550" y="3257550"/>
                  </a:lnTo>
                </a:path>
                <a:path w="6305550" h="5000625">
                  <a:moveTo>
                    <a:pt x="0" y="4238625"/>
                  </a:moveTo>
                  <a:lnTo>
                    <a:pt x="6305550" y="4238625"/>
                  </a:lnTo>
                </a:path>
                <a:path w="6305550" h="5000625">
                  <a:moveTo>
                    <a:pt x="0" y="4619625"/>
                  </a:moveTo>
                  <a:lnTo>
                    <a:pt x="6305550" y="4619625"/>
                  </a:lnTo>
                </a:path>
                <a:path w="6305550" h="5000625">
                  <a:moveTo>
                    <a:pt x="0" y="5000625"/>
                  </a:moveTo>
                  <a:lnTo>
                    <a:pt x="6305550" y="5000625"/>
                  </a:lnTo>
                </a:path>
              </a:pathLst>
            </a:custGeom>
            <a:ln w="9525">
              <a:solidFill>
                <a:srgbClr val="DDDDD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0725" y="943000"/>
            <a:ext cx="3710304" cy="6506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0" dirty="0">
                <a:solidFill>
                  <a:srgbClr val="2C5A27"/>
                </a:solidFill>
                <a:latin typeface="メイリオ"/>
                <a:cs typeface="メイリオ"/>
              </a:rPr>
              <a:t>⽬</a:t>
            </a:r>
            <a:r>
              <a:rPr sz="2000" b="1" spc="-50" dirty="0">
                <a:solidFill>
                  <a:srgbClr val="2C5A27"/>
                </a:solidFill>
                <a:latin typeface="BIZ UDPゴシック"/>
                <a:cs typeface="BIZ UDPゴシック"/>
              </a:rPr>
              <a:t>次</a:t>
            </a:r>
            <a:endParaRPr sz="20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8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60" dirty="0">
                <a:solidFill>
                  <a:srgbClr val="497B58"/>
                </a:solidFill>
                <a:latin typeface="Comic Sans MS"/>
                <a:cs typeface="Comic Sans MS"/>
              </a:rPr>
              <a:t>Part</a:t>
            </a:r>
            <a:r>
              <a:rPr sz="1650" b="1" spc="-195" dirty="0">
                <a:solidFill>
                  <a:srgbClr val="497B58"/>
                </a:solidFill>
                <a:latin typeface="Comic Sans MS"/>
                <a:cs typeface="Comic Sans MS"/>
              </a:rPr>
              <a:t> </a:t>
            </a:r>
            <a:r>
              <a:rPr sz="1650" b="1" spc="-190" dirty="0">
                <a:solidFill>
                  <a:srgbClr val="497B58"/>
                </a:solidFill>
                <a:latin typeface="Comic Sans MS"/>
                <a:cs typeface="Comic Sans MS"/>
              </a:rPr>
              <a:t>1: </a:t>
            </a:r>
            <a:r>
              <a:rPr sz="1650" b="1" spc="-60" dirty="0">
                <a:solidFill>
                  <a:srgbClr val="497B58"/>
                </a:solidFill>
                <a:latin typeface="Comic Sans MS"/>
                <a:cs typeface="Comic Sans MS"/>
              </a:rPr>
              <a:t>Instagram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投稿</a:t>
            </a:r>
            <a:r>
              <a:rPr sz="1550" b="1" spc="409" dirty="0">
                <a:solidFill>
                  <a:srgbClr val="497B58"/>
                </a:solidFill>
                <a:latin typeface="BIZ UDPゴシック"/>
                <a:cs typeface="BIZ UDPゴシック"/>
              </a:rPr>
              <a:t>（</a:t>
            </a:r>
            <a:r>
              <a:rPr sz="1650" b="1" spc="409" dirty="0">
                <a:solidFill>
                  <a:srgbClr val="497B58"/>
                </a:solidFill>
                <a:latin typeface="Comic Sans MS"/>
                <a:cs typeface="Comic Sans MS"/>
              </a:rPr>
              <a:t>30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件</a:t>
            </a:r>
            <a:r>
              <a:rPr sz="1550" b="1" spc="1205" dirty="0">
                <a:solidFill>
                  <a:srgbClr val="497B58"/>
                </a:solidFill>
                <a:latin typeface="BIZ UDPゴシック"/>
                <a:cs typeface="BIZ UDPゴシック"/>
              </a:rPr>
              <a:t>）</a:t>
            </a:r>
            <a:endParaRPr sz="1550">
              <a:latin typeface="BIZ UDPゴシック"/>
              <a:cs typeface="BIZ UDPゴシック"/>
            </a:endParaRPr>
          </a:p>
          <a:p>
            <a:pPr marL="12700" marR="5080">
              <a:lnSpc>
                <a:spcPct val="185200"/>
              </a:lnSpc>
              <a:spcBef>
                <a:spcPts val="390"/>
              </a:spcBef>
            </a:pP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No.1-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6: 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13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-60" dirty="0">
                <a:solidFill>
                  <a:srgbClr val="333333"/>
                </a:solidFill>
                <a:latin typeface="メイリオ"/>
                <a:cs typeface="メイリオ"/>
              </a:rPr>
              <a:t>型 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学会発表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タを</a:t>
            </a:r>
            <a:r>
              <a:rPr sz="1300" spc="-420" dirty="0">
                <a:solidFill>
                  <a:srgbClr val="878787"/>
                </a:solidFill>
                <a:latin typeface="SimSun"/>
                <a:cs typeface="SimSun"/>
              </a:rPr>
              <a:t>活</a:t>
            </a:r>
            <a:r>
              <a:rPr sz="1300" spc="-70" dirty="0">
                <a:solidFill>
                  <a:srgbClr val="878787"/>
                </a:solidFill>
                <a:latin typeface="メイリオ"/>
                <a:cs typeface="メイリオ"/>
              </a:rPr>
              <a:t>⽤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No.7-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12:</a:t>
            </a:r>
            <a:r>
              <a:rPr sz="1350" spc="1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体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験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談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スト</a:t>
            </a:r>
            <a:r>
              <a:rPr sz="1300" spc="13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</a:t>
            </a:r>
            <a:r>
              <a:rPr sz="1300" spc="13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00" spc="-70" dirty="0">
                <a:solidFill>
                  <a:srgbClr val="333333"/>
                </a:solidFill>
                <a:latin typeface="メイリオ"/>
                <a:cs typeface="メイリオ"/>
              </a:rPr>
              <a:t>型 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実践者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の</a:t>
            </a:r>
            <a:r>
              <a:rPr sz="1300" spc="-50" dirty="0">
                <a:solidFill>
                  <a:srgbClr val="878787"/>
                </a:solidFill>
                <a:latin typeface="SimSun"/>
                <a:cs typeface="SimSun"/>
              </a:rPr>
              <a:t>声</a:t>
            </a:r>
            <a:endParaRPr sz="1300">
              <a:latin typeface="SimSun"/>
              <a:cs typeface="SimSun"/>
            </a:endParaRPr>
          </a:p>
          <a:p>
            <a:pPr marL="12700" marR="415925">
              <a:lnSpc>
                <a:spcPts val="3000"/>
              </a:lnSpc>
              <a:spcBef>
                <a:spcPts val="254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No.13-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18: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識提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供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型 </a:t>
            </a:r>
            <a:r>
              <a:rPr sz="1350" spc="-185" dirty="0">
                <a:solidFill>
                  <a:srgbClr val="878787"/>
                </a:solidFill>
                <a:latin typeface="SimSun"/>
                <a:cs typeface="SimSun"/>
              </a:rPr>
              <a:t>サウンドヒ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リング</a:t>
            </a:r>
            <a:r>
              <a:rPr sz="1300" spc="-80" dirty="0">
                <a:solidFill>
                  <a:srgbClr val="878787"/>
                </a:solidFill>
                <a:latin typeface="SimSun"/>
                <a:cs typeface="SimSun"/>
              </a:rPr>
              <a:t>解説</a:t>
            </a:r>
            <a:r>
              <a:rPr sz="1300" spc="-50" dirty="0">
                <a:solidFill>
                  <a:srgbClr val="878787"/>
                </a:solidFill>
                <a:latin typeface="SimSun"/>
                <a:cs typeface="SimSun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No.19-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24:</a:t>
            </a:r>
            <a:r>
              <a:rPr sz="1350" spc="2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引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⽤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00" spc="-95" dirty="0">
                <a:solidFill>
                  <a:srgbClr val="333333"/>
                </a:solidFill>
                <a:latin typeface="メイリオ"/>
                <a:cs typeface="メイリオ"/>
              </a:rPr>
              <a:t>専⾨家型 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権威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ある</a:t>
            </a:r>
            <a:r>
              <a:rPr sz="1300" spc="-50" dirty="0">
                <a:solidFill>
                  <a:srgbClr val="878787"/>
                </a:solidFill>
                <a:latin typeface="SimSun"/>
                <a:cs typeface="SimSun"/>
              </a:rPr>
              <a:t>声</a:t>
            </a:r>
            <a:endParaRPr sz="13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350" spc="-75" dirty="0">
                <a:solidFill>
                  <a:srgbClr val="333333"/>
                </a:solidFill>
                <a:latin typeface="Comic Sans MS"/>
                <a:cs typeface="Comic Sans MS"/>
              </a:rPr>
              <a:t>No.25-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30:</a:t>
            </a:r>
            <a:r>
              <a:rPr sz="1350" spc="5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-85" dirty="0">
                <a:solidFill>
                  <a:srgbClr val="333333"/>
                </a:solidFill>
                <a:latin typeface="メイリオ"/>
                <a:cs typeface="メイリオ"/>
              </a:rPr>
              <a:t>別活⽤型 </a:t>
            </a:r>
            <a:r>
              <a:rPr sz="1300" spc="-110" dirty="0">
                <a:solidFill>
                  <a:srgbClr val="878787"/>
                </a:solidFill>
                <a:latin typeface="メイリオ"/>
                <a:cs typeface="メイリオ"/>
              </a:rPr>
              <a:t>⽇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常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取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878787"/>
                </a:solidFill>
                <a:latin typeface="メイリオ"/>
                <a:cs typeface="メイリオ"/>
              </a:rPr>
              <a:t>⼊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れ</a:t>
            </a:r>
            <a:r>
              <a:rPr sz="1300" spc="-50" dirty="0">
                <a:solidFill>
                  <a:srgbClr val="878787"/>
                </a:solidFill>
                <a:latin typeface="メイリオ"/>
                <a:cs typeface="メイリオ"/>
              </a:rPr>
              <a:t>⽅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60" dirty="0">
                <a:solidFill>
                  <a:srgbClr val="497B58"/>
                </a:solidFill>
                <a:latin typeface="Comic Sans MS"/>
                <a:cs typeface="Comic Sans MS"/>
              </a:rPr>
              <a:t>Part</a:t>
            </a:r>
            <a:r>
              <a:rPr sz="1650" b="1" spc="-204" dirty="0">
                <a:solidFill>
                  <a:srgbClr val="497B58"/>
                </a:solidFill>
                <a:latin typeface="Comic Sans MS"/>
                <a:cs typeface="Comic Sans MS"/>
              </a:rPr>
              <a:t> </a:t>
            </a:r>
            <a:r>
              <a:rPr sz="1650" b="1" spc="-190" dirty="0">
                <a:solidFill>
                  <a:srgbClr val="497B58"/>
                </a:solidFill>
                <a:latin typeface="Comic Sans MS"/>
                <a:cs typeface="Comic Sans MS"/>
              </a:rPr>
              <a:t>2:</a:t>
            </a:r>
            <a:r>
              <a:rPr sz="1650" b="1" spc="-204" dirty="0">
                <a:solidFill>
                  <a:srgbClr val="497B58"/>
                </a:solidFill>
                <a:latin typeface="Comic Sans MS"/>
                <a:cs typeface="Comic Sans MS"/>
              </a:rPr>
              <a:t> 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無料</a:t>
            </a:r>
            <a:r>
              <a:rPr sz="1650" b="1" spc="-25" dirty="0">
                <a:solidFill>
                  <a:srgbClr val="497B58"/>
                </a:solidFill>
                <a:latin typeface="Comic Sans MS"/>
                <a:cs typeface="Comic Sans MS"/>
              </a:rPr>
              <a:t>note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記事</a:t>
            </a:r>
            <a:r>
              <a:rPr sz="1550" b="1" spc="409" dirty="0">
                <a:solidFill>
                  <a:srgbClr val="497B58"/>
                </a:solidFill>
                <a:latin typeface="BIZ UDPゴシック"/>
                <a:cs typeface="BIZ UDPゴシック"/>
              </a:rPr>
              <a:t>（</a:t>
            </a:r>
            <a:r>
              <a:rPr sz="1650" b="1" spc="409" dirty="0">
                <a:solidFill>
                  <a:srgbClr val="497B58"/>
                </a:solidFill>
                <a:latin typeface="Comic Sans MS"/>
                <a:cs typeface="Comic Sans MS"/>
              </a:rPr>
              <a:t>30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件</a:t>
            </a:r>
            <a:r>
              <a:rPr sz="1550" b="1" spc="1205" dirty="0">
                <a:solidFill>
                  <a:srgbClr val="497B58"/>
                </a:solidFill>
                <a:latin typeface="BIZ UDPゴシック"/>
                <a:cs typeface="BIZ UDPゴシック"/>
              </a:rPr>
              <a:t>）</a:t>
            </a:r>
            <a:endParaRPr sz="1550">
              <a:latin typeface="BIZ UDPゴシック"/>
              <a:cs typeface="BIZ UDPゴシック"/>
            </a:endParaRPr>
          </a:p>
          <a:p>
            <a:pPr marL="12700" marR="417195">
              <a:lnSpc>
                <a:spcPct val="182900"/>
              </a:lnSpc>
              <a:spcBef>
                <a:spcPts val="425"/>
              </a:spcBef>
            </a:pP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No.1-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10:</a:t>
            </a:r>
            <a:r>
              <a:rPr sz="1350" spc="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sz="1300" spc="-75" dirty="0">
                <a:solidFill>
                  <a:srgbClr val="333333"/>
                </a:solidFill>
                <a:latin typeface="メイリオ"/>
                <a:cs typeface="メイリオ"/>
              </a:rPr>
              <a:t>識編 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初</a:t>
            </a:r>
            <a:r>
              <a:rPr sz="1350" spc="-200" dirty="0">
                <a:solidFill>
                  <a:srgbClr val="878787"/>
                </a:solidFill>
                <a:latin typeface="SimSun"/>
                <a:cs typeface="SimSun"/>
              </a:rPr>
              <a:t>めての</a:t>
            </a:r>
            <a:r>
              <a:rPr sz="1300" spc="-110" dirty="0">
                <a:solidFill>
                  <a:srgbClr val="878787"/>
                </a:solidFill>
                <a:latin typeface="メイリオ"/>
                <a:cs typeface="メイリオ"/>
              </a:rPr>
              <a:t>⽅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向</a:t>
            </a:r>
            <a:r>
              <a:rPr sz="1350" spc="-50" dirty="0">
                <a:solidFill>
                  <a:srgbClr val="878787"/>
                </a:solidFill>
                <a:latin typeface="SimSun"/>
                <a:cs typeface="SimSun"/>
              </a:rPr>
              <a:t>け 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No.11-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20: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9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65" dirty="0">
                <a:solidFill>
                  <a:srgbClr val="333333"/>
                </a:solidFill>
                <a:latin typeface="メイリオ"/>
                <a:cs typeface="メイリオ"/>
              </a:rPr>
              <a:t>編 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各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テ</a:t>
            </a:r>
            <a:r>
              <a:rPr sz="1300" spc="-150" dirty="0">
                <a:solidFill>
                  <a:srgbClr val="878787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マを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詳</a:t>
            </a:r>
            <a:r>
              <a:rPr sz="1350" spc="-325" dirty="0">
                <a:solidFill>
                  <a:srgbClr val="878787"/>
                </a:solidFill>
                <a:latin typeface="SimSun"/>
                <a:cs typeface="SimSun"/>
              </a:rPr>
              <a:t>しく</a:t>
            </a:r>
            <a:r>
              <a:rPr sz="1350" spc="-50" dirty="0">
                <a:solidFill>
                  <a:srgbClr val="878787"/>
                </a:solidFill>
                <a:latin typeface="SimSun"/>
                <a:cs typeface="SimSun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No.21-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30:</a:t>
            </a:r>
            <a:r>
              <a:rPr sz="1350" spc="4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5" dirty="0">
                <a:solidFill>
                  <a:srgbClr val="333333"/>
                </a:solidFill>
                <a:latin typeface="メイリオ"/>
                <a:cs typeface="メイリオ"/>
              </a:rPr>
              <a:t>編 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すぐ</a:t>
            </a:r>
            <a:r>
              <a:rPr sz="1300" spc="-110" dirty="0">
                <a:solidFill>
                  <a:srgbClr val="878787"/>
                </a:solidFill>
                <a:latin typeface="SimSun"/>
                <a:cs typeface="SimSun"/>
              </a:rPr>
              <a:t>始</a:t>
            </a:r>
            <a:r>
              <a:rPr sz="1350" spc="-170" dirty="0">
                <a:solidFill>
                  <a:srgbClr val="878787"/>
                </a:solidFill>
                <a:latin typeface="SimSun"/>
                <a:cs typeface="SimSun"/>
              </a:rPr>
              <a:t>められる</a:t>
            </a:r>
            <a:r>
              <a:rPr sz="1300" spc="-80" dirty="0">
                <a:solidFill>
                  <a:srgbClr val="878787"/>
                </a:solidFill>
                <a:latin typeface="メイリオ"/>
                <a:cs typeface="メイリオ"/>
              </a:rPr>
              <a:t>⽅法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650" b="1" spc="-60" dirty="0">
                <a:solidFill>
                  <a:srgbClr val="497B58"/>
                </a:solidFill>
                <a:latin typeface="Comic Sans MS"/>
                <a:cs typeface="Comic Sans MS"/>
              </a:rPr>
              <a:t>Part</a:t>
            </a:r>
            <a:r>
              <a:rPr sz="1650" b="1" spc="-204" dirty="0">
                <a:solidFill>
                  <a:srgbClr val="497B58"/>
                </a:solidFill>
                <a:latin typeface="Comic Sans MS"/>
                <a:cs typeface="Comic Sans MS"/>
              </a:rPr>
              <a:t> </a:t>
            </a:r>
            <a:r>
              <a:rPr sz="1650" b="1" spc="-190" dirty="0">
                <a:solidFill>
                  <a:srgbClr val="497B58"/>
                </a:solidFill>
                <a:latin typeface="Comic Sans MS"/>
                <a:cs typeface="Comic Sans MS"/>
              </a:rPr>
              <a:t>3:</a:t>
            </a:r>
            <a:r>
              <a:rPr sz="1650" b="1" spc="-204" dirty="0">
                <a:solidFill>
                  <a:srgbClr val="497B58"/>
                </a:solidFill>
                <a:latin typeface="Comic Sans MS"/>
                <a:cs typeface="Comic Sans MS"/>
              </a:rPr>
              <a:t> 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有料</a:t>
            </a:r>
            <a:r>
              <a:rPr sz="1650" b="1" spc="-25" dirty="0">
                <a:solidFill>
                  <a:srgbClr val="497B58"/>
                </a:solidFill>
                <a:latin typeface="Comic Sans MS"/>
                <a:cs typeface="Comic Sans MS"/>
              </a:rPr>
              <a:t>note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記事</a:t>
            </a:r>
            <a:r>
              <a:rPr sz="1550" b="1" spc="409" dirty="0">
                <a:solidFill>
                  <a:srgbClr val="497B58"/>
                </a:solidFill>
                <a:latin typeface="BIZ UDPゴシック"/>
                <a:cs typeface="BIZ UDPゴシック"/>
              </a:rPr>
              <a:t>（</a:t>
            </a:r>
            <a:r>
              <a:rPr sz="1650" b="1" spc="409" dirty="0">
                <a:solidFill>
                  <a:srgbClr val="497B58"/>
                </a:solidFill>
                <a:latin typeface="Comic Sans MS"/>
                <a:cs typeface="Comic Sans MS"/>
              </a:rPr>
              <a:t>30</a:t>
            </a:r>
            <a:r>
              <a:rPr sz="1550" b="1" spc="-155" dirty="0">
                <a:solidFill>
                  <a:srgbClr val="497B58"/>
                </a:solidFill>
                <a:latin typeface="BIZ UDPゴシック"/>
                <a:cs typeface="BIZ UDPゴシック"/>
              </a:rPr>
              <a:t>件</a:t>
            </a:r>
            <a:r>
              <a:rPr sz="1550" b="1" spc="1205" dirty="0">
                <a:solidFill>
                  <a:srgbClr val="497B58"/>
                </a:solidFill>
                <a:latin typeface="BIZ UDPゴシック"/>
                <a:cs typeface="BIZ UDPゴシック"/>
              </a:rPr>
              <a:t>）</a:t>
            </a:r>
            <a:endParaRPr sz="1550">
              <a:latin typeface="BIZ UDPゴシック"/>
              <a:cs typeface="BIZ UDPゴシック"/>
            </a:endParaRPr>
          </a:p>
          <a:p>
            <a:pPr marL="12700" marR="430530">
              <a:lnSpc>
                <a:spcPct val="182900"/>
              </a:lnSpc>
              <a:spcBef>
                <a:spcPts val="425"/>
              </a:spcBef>
            </a:pP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No.1-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10: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 </a:t>
            </a:r>
            <a:r>
              <a:rPr sz="1350" spc="-45" dirty="0">
                <a:solidFill>
                  <a:srgbClr val="878787"/>
                </a:solidFill>
                <a:latin typeface="Comic Sans MS"/>
                <a:cs typeface="Comic Sans MS"/>
              </a:rPr>
              <a:t>¥980-</a:t>
            </a:r>
            <a:r>
              <a:rPr sz="1350" spc="-10" dirty="0">
                <a:solidFill>
                  <a:srgbClr val="878787"/>
                </a:solidFill>
                <a:latin typeface="Comic Sans MS"/>
                <a:cs typeface="Comic Sans MS"/>
              </a:rPr>
              <a:t>1,980 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No.11-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20: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13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60" dirty="0">
                <a:solidFill>
                  <a:srgbClr val="333333"/>
                </a:solidFill>
                <a:latin typeface="メイリオ"/>
                <a:cs typeface="メイリオ"/>
              </a:rPr>
              <a:t>集 </a:t>
            </a:r>
            <a:r>
              <a:rPr sz="1350" spc="-45" dirty="0">
                <a:solidFill>
                  <a:srgbClr val="878787"/>
                </a:solidFill>
                <a:latin typeface="Comic Sans MS"/>
                <a:cs typeface="Comic Sans MS"/>
              </a:rPr>
              <a:t>¥780-</a:t>
            </a:r>
            <a:r>
              <a:rPr sz="1350" spc="-335" dirty="0">
                <a:solidFill>
                  <a:srgbClr val="878787"/>
                </a:solidFill>
                <a:latin typeface="Comic Sans MS"/>
                <a:cs typeface="Comic Sans MS"/>
              </a:rPr>
              <a:t>1,480</a:t>
            </a:r>
            <a:r>
              <a:rPr sz="1350" spc="-50" dirty="0">
                <a:solidFill>
                  <a:srgbClr val="878787"/>
                </a:solidFill>
                <a:latin typeface="Comic Sans MS"/>
                <a:cs typeface="Comic Sans MS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No.21-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30:</a:t>
            </a:r>
            <a:r>
              <a:rPr sz="1350" spc="3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60" dirty="0">
                <a:solidFill>
                  <a:srgbClr val="333333"/>
                </a:solidFill>
                <a:latin typeface="メイリオ"/>
                <a:cs typeface="メイリオ"/>
              </a:rPr>
              <a:t>編 </a:t>
            </a:r>
            <a:r>
              <a:rPr sz="1350" spc="-45" dirty="0">
                <a:solidFill>
                  <a:srgbClr val="878787"/>
                </a:solidFill>
                <a:latin typeface="Comic Sans MS"/>
                <a:cs typeface="Comic Sans MS"/>
              </a:rPr>
              <a:t>¥580-</a:t>
            </a:r>
            <a:r>
              <a:rPr sz="1350" spc="-10" dirty="0">
                <a:solidFill>
                  <a:srgbClr val="878787"/>
                </a:solidFill>
                <a:latin typeface="Comic Sans MS"/>
                <a:cs typeface="Comic Sans MS"/>
              </a:rPr>
              <a:t>1,280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2</a:t>
            </a:fld>
            <a:r>
              <a:rPr spc="-10" dirty="0"/>
              <a:t>/135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733424"/>
            <a:ext cx="7061298" cy="16763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40098" y="1125407"/>
            <a:ext cx="3492500" cy="4546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Part</a:t>
            </a:r>
            <a:r>
              <a:rPr spc="-370" dirty="0"/>
              <a:t> </a:t>
            </a:r>
            <a:r>
              <a:rPr spc="-285" dirty="0"/>
              <a:t>1</a:t>
            </a:r>
            <a:r>
              <a:rPr spc="-330" dirty="0"/>
              <a:t>: </a:t>
            </a:r>
            <a:r>
              <a:rPr spc="-95" dirty="0"/>
              <a:t>Instagram</a:t>
            </a:r>
            <a:r>
              <a:rPr sz="2650" spc="-290" dirty="0">
                <a:latin typeface="BIZ UDPゴシック"/>
                <a:cs typeface="BIZ UDPゴシック"/>
              </a:rPr>
              <a:t>投稿</a:t>
            </a:r>
            <a:endParaRPr sz="2650">
              <a:latin typeface="BIZ UDPゴシック"/>
              <a:cs typeface="BIZ UDPゴシック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3</a:t>
            </a:fld>
            <a:r>
              <a:rPr spc="-10" dirty="0"/>
              <a:t>/135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1758" y="1764771"/>
            <a:ext cx="3608704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件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50" spc="-75" dirty="0">
                <a:solidFill>
                  <a:srgbClr val="FFFFFF"/>
                </a:solidFill>
                <a:latin typeface="Comic Sans MS"/>
                <a:cs typeface="Comic Sans MS"/>
              </a:rPr>
              <a:t>Instagram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投稿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サンプル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（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各</a:t>
            </a:r>
            <a:r>
              <a:rPr sz="1350" spc="-70" dirty="0">
                <a:solidFill>
                  <a:srgbClr val="FFFFFF"/>
                </a:solidFill>
                <a:latin typeface="Comic Sans MS"/>
                <a:cs typeface="Comic Sans MS"/>
              </a:rPr>
              <a:t>300-</a:t>
            </a: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500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⽂字</a:t>
            </a:r>
            <a:r>
              <a:rPr sz="1300" spc="-50" dirty="0">
                <a:solidFill>
                  <a:srgbClr val="FFFFFF"/>
                </a:solidFill>
                <a:latin typeface="SimSun"/>
                <a:cs typeface="SimSun"/>
              </a:rPr>
              <a:t>）</a:t>
            </a:r>
            <a:endParaRPr sz="130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481965"/>
            <a:ext cx="7061834" cy="9347835"/>
            <a:chOff x="352425" y="35242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6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7"/>
                  </a:moveTo>
                  <a:lnTo>
                    <a:pt x="0" y="9342537"/>
                  </a:lnTo>
                  <a:lnTo>
                    <a:pt x="0" y="102345"/>
                  </a:lnTo>
                  <a:lnTo>
                    <a:pt x="11090" y="60970"/>
                  </a:lnTo>
                  <a:lnTo>
                    <a:pt x="37168" y="26995"/>
                  </a:lnTo>
                  <a:lnTo>
                    <a:pt x="74270" y="558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85"/>
                  </a:lnTo>
                  <a:lnTo>
                    <a:pt x="7031026" y="37167"/>
                  </a:lnTo>
                  <a:lnTo>
                    <a:pt x="7052437" y="74257"/>
                  </a:lnTo>
                  <a:lnTo>
                    <a:pt x="7056536" y="91269"/>
                  </a:lnTo>
                  <a:lnTo>
                    <a:pt x="7056536" y="93425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93"/>
                  </a:moveTo>
                  <a:lnTo>
                    <a:pt x="7041642" y="41833"/>
                  </a:lnTo>
                  <a:lnTo>
                    <a:pt x="7034009" y="33528"/>
                  </a:lnTo>
                  <a:lnTo>
                    <a:pt x="7033565" y="33032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6975551" y="2184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712"/>
                  </a:lnTo>
                  <a:lnTo>
                    <a:pt x="33972" y="33032"/>
                  </a:lnTo>
                  <a:lnTo>
                    <a:pt x="33477" y="33477"/>
                  </a:lnTo>
                  <a:lnTo>
                    <a:pt x="25895" y="41833"/>
                  </a:lnTo>
                  <a:lnTo>
                    <a:pt x="19240" y="50787"/>
                  </a:lnTo>
                  <a:lnTo>
                    <a:pt x="2171" y="91998"/>
                  </a:lnTo>
                  <a:lnTo>
                    <a:pt x="0" y="114300"/>
                  </a:lnTo>
                  <a:lnTo>
                    <a:pt x="0" y="9347302"/>
                  </a:lnTo>
                  <a:lnTo>
                    <a:pt x="9525" y="9347302"/>
                  </a:lnTo>
                  <a:lnTo>
                    <a:pt x="9525" y="114300"/>
                  </a:lnTo>
                  <a:lnTo>
                    <a:pt x="10020" y="103987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14"/>
                  </a:lnTo>
                  <a:lnTo>
                    <a:pt x="7050037" y="74206"/>
                  </a:lnTo>
                  <a:lnTo>
                    <a:pt x="7058012" y="114300"/>
                  </a:lnTo>
                  <a:lnTo>
                    <a:pt x="7058012" y="9347302"/>
                  </a:lnTo>
                  <a:lnTo>
                    <a:pt x="7061289" y="9347302"/>
                  </a:lnTo>
                  <a:lnTo>
                    <a:pt x="7061289" y="7739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73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8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8"/>
            <a:ext cx="1514475" cy="304800"/>
          </a:xfrm>
          <a:custGeom>
            <a:avLst/>
            <a:gdLst/>
            <a:ahLst/>
            <a:cxnLst/>
            <a:rect l="l" t="t" r="r" b="b"/>
            <a:pathLst>
              <a:path w="1514475" h="304800">
                <a:moveTo>
                  <a:pt x="1362074" y="304799"/>
                </a:moveTo>
                <a:lnTo>
                  <a:pt x="152399" y="304799"/>
                </a:lnTo>
                <a:lnTo>
                  <a:pt x="144912" y="304616"/>
                </a:lnTo>
                <a:lnTo>
                  <a:pt x="101066" y="295892"/>
                </a:lnTo>
                <a:lnTo>
                  <a:pt x="61607" y="274800"/>
                </a:lnTo>
                <a:lnTo>
                  <a:pt x="29995" y="243189"/>
                </a:lnTo>
                <a:lnTo>
                  <a:pt x="8904" y="203731"/>
                </a:lnTo>
                <a:lnTo>
                  <a:pt x="183" y="159886"/>
                </a:lnTo>
                <a:lnTo>
                  <a:pt x="0" y="152399"/>
                </a:lnTo>
                <a:lnTo>
                  <a:pt x="183" y="144913"/>
                </a:lnTo>
                <a:lnTo>
                  <a:pt x="8904" y="101063"/>
                </a:lnTo>
                <a:lnTo>
                  <a:pt x="29995" y="61601"/>
                </a:lnTo>
                <a:lnTo>
                  <a:pt x="61607" y="29993"/>
                </a:lnTo>
                <a:lnTo>
                  <a:pt x="101066" y="8901"/>
                </a:lnTo>
                <a:lnTo>
                  <a:pt x="144912" y="182"/>
                </a:lnTo>
                <a:lnTo>
                  <a:pt x="152399" y="0"/>
                </a:lnTo>
                <a:lnTo>
                  <a:pt x="1362074" y="0"/>
                </a:lnTo>
                <a:lnTo>
                  <a:pt x="1406314" y="6558"/>
                </a:lnTo>
                <a:lnTo>
                  <a:pt x="1446743" y="25679"/>
                </a:lnTo>
                <a:lnTo>
                  <a:pt x="1479882" y="55714"/>
                </a:lnTo>
                <a:lnTo>
                  <a:pt x="1502873" y="94075"/>
                </a:lnTo>
                <a:lnTo>
                  <a:pt x="1513742" y="137461"/>
                </a:lnTo>
                <a:lnTo>
                  <a:pt x="1514474" y="152399"/>
                </a:lnTo>
                <a:lnTo>
                  <a:pt x="1514291" y="159886"/>
                </a:lnTo>
                <a:lnTo>
                  <a:pt x="1505569" y="203731"/>
                </a:lnTo>
                <a:lnTo>
                  <a:pt x="1484478" y="243188"/>
                </a:lnTo>
                <a:lnTo>
                  <a:pt x="1452866" y="274799"/>
                </a:lnTo>
                <a:lnTo>
                  <a:pt x="1413408" y="295892"/>
                </a:lnTo>
                <a:lnTo>
                  <a:pt x="1369561" y="304616"/>
                </a:lnTo>
                <a:lnTo>
                  <a:pt x="1362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157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デ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タ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95" dirty="0">
                <a:solidFill>
                  <a:srgbClr val="666666"/>
                </a:solidFill>
                <a:latin typeface="SimSun"/>
                <a:cs typeface="SimSun"/>
              </a:rPr>
              <a:t>エビデンス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8" y="1304926"/>
            <a:ext cx="3403601" cy="846321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保存推奨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38%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するって</a:t>
            </a:r>
            <a:r>
              <a:rPr lang="ja-JP" altLang="en-US" sz="1250" spc="-135" dirty="0">
                <a:solidFill>
                  <a:srgbClr val="333333"/>
                </a:solidFill>
                <a:latin typeface="SimSun"/>
                <a:cs typeface="SimSun"/>
              </a:rPr>
              <a:t>本当？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なんとなくだるい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れない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イライラが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まらない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それ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れかもしれません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 marR="1042035">
              <a:lnSpc>
                <a:spcPts val="2100"/>
              </a:lnSpc>
              <a:spcBef>
                <a:spcPts val="9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⽇本温泉気候医学会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発表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された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きのデ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タをご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紹介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996315">
              <a:lnSpc>
                <a:spcPct val="133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成⼈⼥性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にした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250" spc="-9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後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9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0" dirty="0">
                <a:solidFill>
                  <a:srgbClr val="333333"/>
                </a:solidFill>
                <a:latin typeface="メイリオ"/>
                <a:cs typeface="メイリオ"/>
              </a:rPr>
              <a:t>⼼拍数低下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12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優位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⾃律神経反応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100%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endParaRPr sz="1250" dirty="0">
              <a:latin typeface="メイリオ"/>
              <a:cs typeface="メイリオ"/>
            </a:endParaRPr>
          </a:p>
          <a:p>
            <a:pPr marL="12700" marR="1331595">
              <a:lnSpc>
                <a:spcPct val="137500"/>
              </a:lnSpc>
              <a:spcBef>
                <a:spcPts val="205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つまり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浴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びるだけで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休息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250" spc="-16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替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わったんです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18681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現代⼈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交感神経優位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常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戦闘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45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62115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緊張</a:t>
            </a:r>
            <a:r>
              <a:rPr sz="1250" spc="-96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ゆるめる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まずは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いてみませんか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2"/>
            <a:ext cx="7063105" cy="2000250"/>
            <a:chOff x="352425" y="352422"/>
            <a:chExt cx="7063105" cy="2000250"/>
          </a:xfrm>
        </p:grpSpPr>
        <p:sp>
          <p:nvSpPr>
            <p:cNvPr id="3" name="object 3"/>
            <p:cNvSpPr/>
            <p:nvPr/>
          </p:nvSpPr>
          <p:spPr>
            <a:xfrm>
              <a:off x="357187" y="352423"/>
              <a:ext cx="7058025" cy="1995805"/>
            </a:xfrm>
            <a:custGeom>
              <a:avLst/>
              <a:gdLst/>
              <a:ahLst/>
              <a:cxnLst/>
              <a:rect l="l" t="t" r="r" b="b"/>
              <a:pathLst>
                <a:path w="7058025" h="1995805">
                  <a:moveTo>
                    <a:pt x="6955678" y="1995487"/>
                  </a:moveTo>
                  <a:lnTo>
                    <a:pt x="102345" y="1995487"/>
                  </a:lnTo>
                  <a:lnTo>
                    <a:pt x="95221" y="1994785"/>
                  </a:lnTo>
                  <a:lnTo>
                    <a:pt x="54661" y="1981018"/>
                  </a:lnTo>
                  <a:lnTo>
                    <a:pt x="22456" y="1952782"/>
                  </a:lnTo>
                  <a:lnTo>
                    <a:pt x="3507" y="1914371"/>
                  </a:lnTo>
                  <a:lnTo>
                    <a:pt x="0" y="1893140"/>
                  </a:lnTo>
                  <a:lnTo>
                    <a:pt x="0" y="18859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1893140"/>
                  </a:lnTo>
                  <a:lnTo>
                    <a:pt x="7046932" y="1934509"/>
                  </a:lnTo>
                  <a:lnTo>
                    <a:pt x="7020855" y="1968483"/>
                  </a:lnTo>
                  <a:lnTo>
                    <a:pt x="6983759" y="1989897"/>
                  </a:lnTo>
                  <a:lnTo>
                    <a:pt x="6962802" y="1994785"/>
                  </a:lnTo>
                  <a:lnTo>
                    <a:pt x="6955678" y="19954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2000885"/>
            </a:xfrm>
            <a:custGeom>
              <a:avLst/>
              <a:gdLst/>
              <a:ahLst/>
              <a:cxnLst/>
              <a:rect l="l" t="t" r="r" b="b"/>
              <a:pathLst>
                <a:path w="7061834" h="2000885">
                  <a:moveTo>
                    <a:pt x="7061289" y="0"/>
                  </a:moveTo>
                  <a:lnTo>
                    <a:pt x="7058012" y="0"/>
                  </a:lnTo>
                  <a:lnTo>
                    <a:pt x="7058012" y="1885950"/>
                  </a:lnTo>
                  <a:lnTo>
                    <a:pt x="7057517" y="1896275"/>
                  </a:lnTo>
                  <a:lnTo>
                    <a:pt x="7045630" y="1935391"/>
                  </a:lnTo>
                  <a:lnTo>
                    <a:pt x="7019684" y="1966988"/>
                  </a:lnTo>
                  <a:lnTo>
                    <a:pt x="6983616" y="1986241"/>
                  </a:lnTo>
                  <a:lnTo>
                    <a:pt x="6953237" y="1990737"/>
                  </a:lnTo>
                  <a:lnTo>
                    <a:pt x="114300" y="1990737"/>
                  </a:lnTo>
                  <a:lnTo>
                    <a:pt x="74193" y="1982762"/>
                  </a:lnTo>
                  <a:lnTo>
                    <a:pt x="40703" y="1960499"/>
                  </a:lnTo>
                  <a:lnTo>
                    <a:pt x="17487" y="1926056"/>
                  </a:lnTo>
                  <a:lnTo>
                    <a:pt x="9525" y="18859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885950"/>
                  </a:lnTo>
                  <a:lnTo>
                    <a:pt x="533" y="1897214"/>
                  </a:lnTo>
                  <a:lnTo>
                    <a:pt x="13500" y="1939886"/>
                  </a:lnTo>
                  <a:lnTo>
                    <a:pt x="33515" y="1966734"/>
                  </a:lnTo>
                  <a:lnTo>
                    <a:pt x="33921" y="1967191"/>
                  </a:lnTo>
                  <a:lnTo>
                    <a:pt x="41821" y="1974354"/>
                  </a:lnTo>
                  <a:lnTo>
                    <a:pt x="81165" y="1995360"/>
                  </a:lnTo>
                  <a:lnTo>
                    <a:pt x="114300" y="2000262"/>
                  </a:lnTo>
                  <a:lnTo>
                    <a:pt x="6953237" y="2000262"/>
                  </a:lnTo>
                  <a:lnTo>
                    <a:pt x="6996989" y="1991550"/>
                  </a:lnTo>
                  <a:lnTo>
                    <a:pt x="7033552" y="1967230"/>
                  </a:lnTo>
                  <a:lnTo>
                    <a:pt x="7034060" y="1966772"/>
                  </a:lnTo>
                  <a:lnTo>
                    <a:pt x="7058838" y="1929701"/>
                  </a:lnTo>
                  <a:lnTo>
                    <a:pt x="7061289" y="1922868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52064"/>
            <a:ext cx="6424295" cy="14624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50" spc="-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実践⽅法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ルの</a:t>
            </a:r>
            <a:r>
              <a:rPr sz="1300" spc="-180" dirty="0">
                <a:solidFill>
                  <a:srgbClr val="333333"/>
                </a:solidFill>
                <a:latin typeface="Comic Sans MS"/>
                <a:cs typeface="Comic Sans MS"/>
              </a:rPr>
              <a:t>LINE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無料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PDF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つのコツ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プレゼント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endParaRPr sz="1250">
              <a:latin typeface="メイリオ"/>
              <a:cs typeface="メイリオ"/>
            </a:endParaRPr>
          </a:p>
          <a:p>
            <a:pPr marL="12700" marR="5080">
              <a:lnSpc>
                <a:spcPct val="152200"/>
              </a:lnSpc>
              <a:spcBef>
                <a:spcPts val="944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⾃律神経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⾃律神経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を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整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える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リラックス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睡眠改善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ストレス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解消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200" dirty="0">
                <a:solidFill>
                  <a:srgbClr val="3797F0"/>
                </a:solidFill>
                <a:latin typeface="SimSun"/>
                <a:cs typeface="SimSun"/>
              </a:rPr>
              <a:t>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50" dirty="0">
                <a:solidFill>
                  <a:srgbClr val="3797F0"/>
                </a:solidFill>
                <a:latin typeface="SimSun"/>
                <a:cs typeface="SimSun"/>
              </a:rPr>
              <a:t>リ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マインドフルネス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セルフケア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健康法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健康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し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ウェルビ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14" dirty="0">
                <a:solidFill>
                  <a:srgbClr val="3797F0"/>
                </a:solidFill>
                <a:latin typeface="SimSun"/>
                <a:cs typeface="SimSun"/>
              </a:rPr>
              <a:t>イング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5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6"/>
            <a:ext cx="7061834" cy="9347835"/>
            <a:chOff x="352425" y="352426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7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8"/>
                  </a:moveTo>
                  <a:lnTo>
                    <a:pt x="0" y="9342538"/>
                  </a:lnTo>
                  <a:lnTo>
                    <a:pt x="0" y="102342"/>
                  </a:lnTo>
                  <a:lnTo>
                    <a:pt x="11090" y="60968"/>
                  </a:lnTo>
                  <a:lnTo>
                    <a:pt x="37168" y="26993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88"/>
                  </a:lnTo>
                  <a:lnTo>
                    <a:pt x="7031026" y="37165"/>
                  </a:lnTo>
                  <a:lnTo>
                    <a:pt x="7052437" y="74255"/>
                  </a:lnTo>
                  <a:lnTo>
                    <a:pt x="7056536" y="91268"/>
                  </a:lnTo>
                  <a:lnTo>
                    <a:pt x="7056536" y="93425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33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01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73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9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8"/>
            <a:ext cx="1514475" cy="304800"/>
          </a:xfrm>
          <a:custGeom>
            <a:avLst/>
            <a:gdLst/>
            <a:ahLst/>
            <a:cxnLst/>
            <a:rect l="l" t="t" r="r" b="b"/>
            <a:pathLst>
              <a:path w="1514475" h="304800">
                <a:moveTo>
                  <a:pt x="1362074" y="304799"/>
                </a:moveTo>
                <a:lnTo>
                  <a:pt x="152399" y="304799"/>
                </a:lnTo>
                <a:lnTo>
                  <a:pt x="144912" y="304616"/>
                </a:lnTo>
                <a:lnTo>
                  <a:pt x="101066" y="295889"/>
                </a:lnTo>
                <a:lnTo>
                  <a:pt x="61607" y="274797"/>
                </a:lnTo>
                <a:lnTo>
                  <a:pt x="29995" y="243188"/>
                </a:lnTo>
                <a:lnTo>
                  <a:pt x="8904" y="203732"/>
                </a:lnTo>
                <a:lnTo>
                  <a:pt x="183" y="159885"/>
                </a:lnTo>
                <a:lnTo>
                  <a:pt x="0" y="152399"/>
                </a:lnTo>
                <a:lnTo>
                  <a:pt x="183" y="144913"/>
                </a:lnTo>
                <a:lnTo>
                  <a:pt x="8904" y="101061"/>
                </a:lnTo>
                <a:lnTo>
                  <a:pt x="29995" y="61597"/>
                </a:lnTo>
                <a:lnTo>
                  <a:pt x="61607" y="29988"/>
                </a:lnTo>
                <a:lnTo>
                  <a:pt x="101066" y="8903"/>
                </a:lnTo>
                <a:lnTo>
                  <a:pt x="144912" y="182"/>
                </a:lnTo>
                <a:lnTo>
                  <a:pt x="152399" y="0"/>
                </a:lnTo>
                <a:lnTo>
                  <a:pt x="1362074" y="0"/>
                </a:lnTo>
                <a:lnTo>
                  <a:pt x="1406314" y="6559"/>
                </a:lnTo>
                <a:lnTo>
                  <a:pt x="1446743" y="25677"/>
                </a:lnTo>
                <a:lnTo>
                  <a:pt x="1479882" y="55708"/>
                </a:lnTo>
                <a:lnTo>
                  <a:pt x="1502873" y="94073"/>
                </a:lnTo>
                <a:lnTo>
                  <a:pt x="1513742" y="137461"/>
                </a:lnTo>
                <a:lnTo>
                  <a:pt x="1514474" y="152399"/>
                </a:lnTo>
                <a:lnTo>
                  <a:pt x="1514291" y="159885"/>
                </a:lnTo>
                <a:lnTo>
                  <a:pt x="1505569" y="203732"/>
                </a:lnTo>
                <a:lnTo>
                  <a:pt x="1484478" y="243190"/>
                </a:lnTo>
                <a:lnTo>
                  <a:pt x="1452866" y="274797"/>
                </a:lnTo>
                <a:lnTo>
                  <a:pt x="1413408" y="295889"/>
                </a:lnTo>
                <a:lnTo>
                  <a:pt x="1369561" y="304616"/>
                </a:lnTo>
                <a:lnTo>
                  <a:pt x="1362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157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デ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タ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95" dirty="0">
                <a:solidFill>
                  <a:srgbClr val="666666"/>
                </a:solidFill>
                <a:latin typeface="SimSun"/>
                <a:cs typeface="SimSun"/>
              </a:rPr>
              <a:t>エビデンス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841750" cy="829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公開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オキシトシンが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正体</a:t>
            </a:r>
            <a:endParaRPr sz="1250">
              <a:latin typeface="メイリオ"/>
              <a:cs typeface="メイリオ"/>
            </a:endParaRPr>
          </a:p>
          <a:p>
            <a:pPr marL="12700" marR="942340">
              <a:lnSpc>
                <a:spcPct val="135000"/>
              </a:lnSpc>
              <a:spcBef>
                <a:spcPts val="21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幸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せホルモン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ばれるオキシトシ</a:t>
            </a:r>
            <a:r>
              <a:rPr sz="1250" spc="-215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くだけで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えるこ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とが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証明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されています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214755">
              <a:lnSpc>
                <a:spcPct val="1367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第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83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回⽇本温泉気候物理医学会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発表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実験内容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男⼦学⽣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聴取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231775" indent="-219075">
              <a:lnSpc>
                <a:spcPct val="100000"/>
              </a:lnSpc>
              <a:spcBef>
                <a:spcPts val="550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オキシトシン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濃度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25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260" dirty="0">
                <a:solidFill>
                  <a:srgbClr val="333333"/>
                </a:solidFill>
                <a:latin typeface="Comic Sans MS"/>
                <a:cs typeface="Comic Sans MS"/>
              </a:rPr>
              <a:t>p=0.01</a:t>
            </a:r>
            <a:r>
              <a:rPr sz="125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250">
              <a:latin typeface="BIZ UDPゴシック"/>
              <a:cs typeface="BIZ UDPゴシック"/>
            </a:endParaRPr>
          </a:p>
          <a:p>
            <a:pPr marL="231775" indent="-219075">
              <a:lnSpc>
                <a:spcPct val="100000"/>
              </a:lnSpc>
              <a:spcBef>
                <a:spcPts val="465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ストレスホルモン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250" spc="-2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290" dirty="0">
                <a:solidFill>
                  <a:srgbClr val="333333"/>
                </a:solidFill>
                <a:latin typeface="Comic Sans MS"/>
                <a:cs typeface="Comic Sans MS"/>
              </a:rPr>
              <a:t>p=0.043</a:t>
            </a:r>
            <a:r>
              <a:rPr sz="1250" spc="-2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250">
              <a:latin typeface="BIZ UDPゴシック"/>
              <a:cs typeface="BIZ UDPゴシック"/>
            </a:endParaRPr>
          </a:p>
          <a:p>
            <a:pPr marL="231775" indent="-219075">
              <a:lnSpc>
                <a:spcPct val="100000"/>
              </a:lnSpc>
              <a:spcBef>
                <a:spcPts val="515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endParaRPr sz="1250">
              <a:latin typeface="メイリオ"/>
              <a:cs typeface="メイリオ"/>
            </a:endParaRPr>
          </a:p>
          <a:p>
            <a:pPr marL="12700" marR="1214755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━━━━━━━━━━━━━━━━━━つまり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くだけで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幸福感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アップ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リラックス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SimSun"/>
              <a:cs typeface="SimSun"/>
            </a:endParaRPr>
          </a:p>
          <a:p>
            <a:pPr marL="12700" marR="210820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215" dirty="0">
                <a:solidFill>
                  <a:srgbClr val="333333"/>
                </a:solidFill>
                <a:latin typeface="SimSun"/>
                <a:cs typeface="SimSun"/>
              </a:rPr>
              <a:t>わず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副作⽤</a:t>
            </a:r>
            <a:r>
              <a:rPr sz="1250" spc="-400" dirty="0">
                <a:solidFill>
                  <a:srgbClr val="333333"/>
                </a:solidFill>
                <a:latin typeface="SimSun"/>
                <a:cs typeface="SimSun"/>
              </a:rPr>
              <a:t>もなく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内側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幸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せ</a:t>
            </a:r>
            <a:r>
              <a:rPr sz="1250" spc="7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250" spc="-170" dirty="0">
                <a:solidFill>
                  <a:srgbClr val="333333"/>
                </a:solidFill>
                <a:latin typeface="SimSun"/>
                <a:cs typeface="SimSun"/>
              </a:rPr>
              <a:t>せるんです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2"/>
            <a:ext cx="7063105" cy="1476375"/>
            <a:chOff x="352425" y="352422"/>
            <a:chExt cx="7063105" cy="1476375"/>
          </a:xfrm>
        </p:grpSpPr>
        <p:sp>
          <p:nvSpPr>
            <p:cNvPr id="3" name="object 3"/>
            <p:cNvSpPr/>
            <p:nvPr/>
          </p:nvSpPr>
          <p:spPr>
            <a:xfrm>
              <a:off x="357187" y="352422"/>
              <a:ext cx="7058025" cy="1471930"/>
            </a:xfrm>
            <a:custGeom>
              <a:avLst/>
              <a:gdLst/>
              <a:ahLst/>
              <a:cxnLst/>
              <a:rect l="l" t="t" r="r" b="b"/>
              <a:pathLst>
                <a:path w="7058025" h="1471930">
                  <a:moveTo>
                    <a:pt x="6955678" y="1471612"/>
                  </a:moveTo>
                  <a:lnTo>
                    <a:pt x="102345" y="1471612"/>
                  </a:lnTo>
                  <a:lnTo>
                    <a:pt x="95221" y="1470910"/>
                  </a:lnTo>
                  <a:lnTo>
                    <a:pt x="54661" y="1457139"/>
                  </a:lnTo>
                  <a:lnTo>
                    <a:pt x="22456" y="1428903"/>
                  </a:lnTo>
                  <a:lnTo>
                    <a:pt x="3507" y="1390496"/>
                  </a:lnTo>
                  <a:lnTo>
                    <a:pt x="0" y="1369270"/>
                  </a:lnTo>
                  <a:lnTo>
                    <a:pt x="0" y="13620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1369270"/>
                  </a:lnTo>
                  <a:lnTo>
                    <a:pt x="7046932" y="1410630"/>
                  </a:lnTo>
                  <a:lnTo>
                    <a:pt x="7020855" y="1444609"/>
                  </a:lnTo>
                  <a:lnTo>
                    <a:pt x="6983759" y="1466022"/>
                  </a:lnTo>
                  <a:lnTo>
                    <a:pt x="6962802" y="1470910"/>
                  </a:lnTo>
                  <a:lnTo>
                    <a:pt x="6955678" y="14716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1477010"/>
            </a:xfrm>
            <a:custGeom>
              <a:avLst/>
              <a:gdLst/>
              <a:ahLst/>
              <a:cxnLst/>
              <a:rect l="l" t="t" r="r" b="b"/>
              <a:pathLst>
                <a:path w="7061834" h="1477010">
                  <a:moveTo>
                    <a:pt x="7061289" y="0"/>
                  </a:moveTo>
                  <a:lnTo>
                    <a:pt x="7058012" y="0"/>
                  </a:lnTo>
                  <a:lnTo>
                    <a:pt x="7058012" y="1362087"/>
                  </a:lnTo>
                  <a:lnTo>
                    <a:pt x="7057517" y="1372400"/>
                  </a:lnTo>
                  <a:lnTo>
                    <a:pt x="7045630" y="1411516"/>
                  </a:lnTo>
                  <a:lnTo>
                    <a:pt x="7019684" y="1443113"/>
                  </a:lnTo>
                  <a:lnTo>
                    <a:pt x="6983616" y="1462366"/>
                  </a:lnTo>
                  <a:lnTo>
                    <a:pt x="6953237" y="1466862"/>
                  </a:lnTo>
                  <a:lnTo>
                    <a:pt x="114300" y="1466862"/>
                  </a:lnTo>
                  <a:lnTo>
                    <a:pt x="74193" y="1458887"/>
                  </a:lnTo>
                  <a:lnTo>
                    <a:pt x="40703" y="1436624"/>
                  </a:lnTo>
                  <a:lnTo>
                    <a:pt x="17487" y="1402181"/>
                  </a:lnTo>
                  <a:lnTo>
                    <a:pt x="9525" y="13620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362087"/>
                  </a:lnTo>
                  <a:lnTo>
                    <a:pt x="533" y="1373339"/>
                  </a:lnTo>
                  <a:lnTo>
                    <a:pt x="13500" y="1416011"/>
                  </a:lnTo>
                  <a:lnTo>
                    <a:pt x="33515" y="1442872"/>
                  </a:lnTo>
                  <a:lnTo>
                    <a:pt x="70548" y="1467688"/>
                  </a:lnTo>
                  <a:lnTo>
                    <a:pt x="114300" y="1476387"/>
                  </a:lnTo>
                  <a:lnTo>
                    <a:pt x="6953237" y="1476387"/>
                  </a:lnTo>
                  <a:lnTo>
                    <a:pt x="6996989" y="1467688"/>
                  </a:lnTo>
                  <a:lnTo>
                    <a:pt x="6998729" y="1466862"/>
                  </a:lnTo>
                  <a:lnTo>
                    <a:pt x="7007174" y="1462874"/>
                  </a:lnTo>
                  <a:lnTo>
                    <a:pt x="7016763" y="1457134"/>
                  </a:lnTo>
                  <a:lnTo>
                    <a:pt x="7025716" y="1450479"/>
                  </a:lnTo>
                  <a:lnTo>
                    <a:pt x="7033565" y="1443355"/>
                  </a:lnTo>
                  <a:lnTo>
                    <a:pt x="7034060" y="1442910"/>
                  </a:lnTo>
                  <a:lnTo>
                    <a:pt x="7041642" y="1434553"/>
                  </a:lnTo>
                  <a:lnTo>
                    <a:pt x="7048297" y="1425600"/>
                  </a:lnTo>
                  <a:lnTo>
                    <a:pt x="7054024" y="1416011"/>
                  </a:lnTo>
                  <a:lnTo>
                    <a:pt x="7058838" y="1405826"/>
                  </a:lnTo>
                  <a:lnTo>
                    <a:pt x="7061289" y="1398993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2204"/>
            <a:ext cx="6414135" cy="11982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140835">
              <a:lnSpc>
                <a:spcPct val="133000"/>
              </a:lnSpc>
              <a:spcBef>
                <a:spcPts val="85"/>
              </a:spcBef>
            </a:pP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研究解説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220" dirty="0">
                <a:solidFill>
                  <a:srgbClr val="333333"/>
                </a:solidFill>
                <a:latin typeface="メイリオ"/>
                <a:cs typeface="メイリオ"/>
              </a:rPr>
              <a:t>公開中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ルリンクからどうぞ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オキシトシン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幸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せホルモン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科学的根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エビデンス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ストレスケア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コルチゾ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ル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30" dirty="0">
                <a:solidFill>
                  <a:srgbClr val="3797F0"/>
                </a:solidFill>
                <a:latin typeface="SimSun"/>
                <a:cs typeface="SimSun"/>
              </a:rPr>
              <a:t>リラックス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健康科学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⼼理学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⾃律神経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しの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睡眠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質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メンタルヘルス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0663" y="355282"/>
            <a:ext cx="7061834" cy="9347835"/>
            <a:chOff x="352425" y="35242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4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8"/>
                  </a:moveTo>
                  <a:lnTo>
                    <a:pt x="0" y="9342538"/>
                  </a:lnTo>
                  <a:lnTo>
                    <a:pt x="0" y="102342"/>
                  </a:lnTo>
                  <a:lnTo>
                    <a:pt x="11090" y="60968"/>
                  </a:lnTo>
                  <a:lnTo>
                    <a:pt x="37168" y="26993"/>
                  </a:lnTo>
                  <a:lnTo>
                    <a:pt x="74264" y="5580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83"/>
                  </a:lnTo>
                  <a:lnTo>
                    <a:pt x="7031026" y="37165"/>
                  </a:lnTo>
                  <a:lnTo>
                    <a:pt x="7052437" y="74255"/>
                  </a:lnTo>
                  <a:lnTo>
                    <a:pt x="7056536" y="91268"/>
                  </a:lnTo>
                  <a:lnTo>
                    <a:pt x="7056536" y="93425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93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565" y="33032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6975551" y="2184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712"/>
                  </a:lnTo>
                  <a:lnTo>
                    <a:pt x="33972" y="33032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87"/>
                  </a:lnTo>
                  <a:lnTo>
                    <a:pt x="2171" y="91998"/>
                  </a:lnTo>
                  <a:lnTo>
                    <a:pt x="0" y="114300"/>
                  </a:lnTo>
                  <a:lnTo>
                    <a:pt x="0" y="9347302"/>
                  </a:lnTo>
                  <a:lnTo>
                    <a:pt x="9525" y="9347302"/>
                  </a:lnTo>
                  <a:lnTo>
                    <a:pt x="9525" y="114300"/>
                  </a:lnTo>
                  <a:lnTo>
                    <a:pt x="10020" y="103987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14"/>
                  </a:lnTo>
                  <a:lnTo>
                    <a:pt x="7050037" y="74206"/>
                  </a:lnTo>
                  <a:lnTo>
                    <a:pt x="7058012" y="114300"/>
                  </a:lnTo>
                  <a:lnTo>
                    <a:pt x="7058012" y="9347302"/>
                  </a:lnTo>
                  <a:lnTo>
                    <a:pt x="7061289" y="9347302"/>
                  </a:lnTo>
                  <a:lnTo>
                    <a:pt x="7061289" y="7739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72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6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7"/>
            <a:ext cx="1514475" cy="304800"/>
          </a:xfrm>
          <a:custGeom>
            <a:avLst/>
            <a:gdLst/>
            <a:ahLst/>
            <a:cxnLst/>
            <a:rect l="l" t="t" r="r" b="b"/>
            <a:pathLst>
              <a:path w="1514475" h="304800">
                <a:moveTo>
                  <a:pt x="1362074" y="304799"/>
                </a:moveTo>
                <a:lnTo>
                  <a:pt x="152399" y="304799"/>
                </a:lnTo>
                <a:lnTo>
                  <a:pt x="144912" y="304614"/>
                </a:lnTo>
                <a:lnTo>
                  <a:pt x="101066" y="295886"/>
                </a:lnTo>
                <a:lnTo>
                  <a:pt x="61607" y="274795"/>
                </a:lnTo>
                <a:lnTo>
                  <a:pt x="29995" y="243186"/>
                </a:lnTo>
                <a:lnTo>
                  <a:pt x="8904" y="203720"/>
                </a:lnTo>
                <a:lnTo>
                  <a:pt x="183" y="159884"/>
                </a:lnTo>
                <a:lnTo>
                  <a:pt x="0" y="152399"/>
                </a:lnTo>
                <a:lnTo>
                  <a:pt x="183" y="144911"/>
                </a:lnTo>
                <a:lnTo>
                  <a:pt x="8904" y="101054"/>
                </a:lnTo>
                <a:lnTo>
                  <a:pt x="29995" y="61597"/>
                </a:lnTo>
                <a:lnTo>
                  <a:pt x="61607" y="29986"/>
                </a:lnTo>
                <a:lnTo>
                  <a:pt x="101066" y="8899"/>
                </a:lnTo>
                <a:lnTo>
                  <a:pt x="144912" y="182"/>
                </a:lnTo>
                <a:lnTo>
                  <a:pt x="152399" y="0"/>
                </a:lnTo>
                <a:lnTo>
                  <a:pt x="1362074" y="0"/>
                </a:lnTo>
                <a:lnTo>
                  <a:pt x="1406314" y="6555"/>
                </a:lnTo>
                <a:lnTo>
                  <a:pt x="1446743" y="25672"/>
                </a:lnTo>
                <a:lnTo>
                  <a:pt x="1479882" y="55708"/>
                </a:lnTo>
                <a:lnTo>
                  <a:pt x="1502873" y="94073"/>
                </a:lnTo>
                <a:lnTo>
                  <a:pt x="1513742" y="137459"/>
                </a:lnTo>
                <a:lnTo>
                  <a:pt x="1514474" y="152399"/>
                </a:lnTo>
                <a:lnTo>
                  <a:pt x="1514291" y="159884"/>
                </a:lnTo>
                <a:lnTo>
                  <a:pt x="1505569" y="203720"/>
                </a:lnTo>
                <a:lnTo>
                  <a:pt x="1484478" y="243188"/>
                </a:lnTo>
                <a:lnTo>
                  <a:pt x="1452866" y="274797"/>
                </a:lnTo>
                <a:lnTo>
                  <a:pt x="1413408" y="295886"/>
                </a:lnTo>
                <a:lnTo>
                  <a:pt x="1369561" y="304614"/>
                </a:lnTo>
                <a:lnTo>
                  <a:pt x="1362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157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デ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タ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95" dirty="0">
                <a:solidFill>
                  <a:srgbClr val="666666"/>
                </a:solidFill>
                <a:latin typeface="SimSun"/>
                <a:cs typeface="SimSun"/>
              </a:rPr>
              <a:t>エビデンス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6832"/>
            <a:ext cx="3327401" cy="82544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うつ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病患者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62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680" dirty="0">
                <a:solidFill>
                  <a:srgbClr val="333333"/>
                </a:solidFill>
                <a:latin typeface="SimSun"/>
                <a:cs typeface="SimSun"/>
              </a:rPr>
              <a:t>わっ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 た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642745">
              <a:lnSpc>
                <a:spcPct val="135000"/>
              </a:lnSpc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精神科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・心療内科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⾏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った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本気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臨床研究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シェアします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629285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━━━━━━━━━━━━━━━━━━しのだの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ホスピタル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ストレスケア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気分障害患者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62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×4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件法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アンケ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 marR="1134110">
              <a:lnSpc>
                <a:spcPts val="4130"/>
              </a:lnSpc>
              <a:spcBef>
                <a:spcPts val="57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全項⽬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有意差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あり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50" dirty="0">
                <a:solidFill>
                  <a:srgbClr val="333333"/>
                </a:solidFill>
                <a:latin typeface="Comic Sans MS"/>
                <a:cs typeface="Comic Sans MS"/>
              </a:rPr>
              <a:t>p</a:t>
            </a:r>
            <a:r>
              <a:rPr sz="1250" spc="-50" dirty="0">
                <a:solidFill>
                  <a:srgbClr val="333333"/>
                </a:solidFill>
                <a:latin typeface="Cambria"/>
                <a:cs typeface="Cambria"/>
              </a:rPr>
              <a:t>≦</a:t>
            </a:r>
            <a:r>
              <a:rPr sz="1300" spc="-50" dirty="0">
                <a:solidFill>
                  <a:srgbClr val="333333"/>
                </a:solidFill>
                <a:latin typeface="Comic Sans MS"/>
                <a:cs typeface="Comic Sans MS"/>
              </a:rPr>
              <a:t>0.01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特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ts val="1455"/>
              </a:lnSpc>
            </a:pPr>
            <a:r>
              <a:rPr sz="1250" spc="10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気分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90" dirty="0">
                <a:solidFill>
                  <a:srgbClr val="333333"/>
                </a:solidFill>
                <a:latin typeface="メイリオ"/>
                <a:cs typeface="メイリオ"/>
              </a:rPr>
              <a:t>改善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t(61)=11.47</a:t>
            </a:r>
            <a:endParaRPr sz="13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50" spc="10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肩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背中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90" dirty="0">
                <a:solidFill>
                  <a:srgbClr val="333333"/>
                </a:solidFill>
                <a:latin typeface="メイリオ"/>
                <a:cs typeface="メイリオ"/>
              </a:rPr>
              <a:t>軽減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t(61)=10.42</a:t>
            </a:r>
            <a:endParaRPr sz="13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1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60325" marR="1449705" indent="-48260">
              <a:lnSpc>
                <a:spcPct val="135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副交感神経優位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になり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筋⾁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緊張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緩和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された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これは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レベルで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証拠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1"/>
            <a:ext cx="7063105" cy="2781300"/>
            <a:chOff x="352425" y="352411"/>
            <a:chExt cx="7063105" cy="2781300"/>
          </a:xfrm>
        </p:grpSpPr>
        <p:sp>
          <p:nvSpPr>
            <p:cNvPr id="3" name="object 3"/>
            <p:cNvSpPr/>
            <p:nvPr/>
          </p:nvSpPr>
          <p:spPr>
            <a:xfrm>
              <a:off x="357187" y="352422"/>
              <a:ext cx="7058025" cy="2776855"/>
            </a:xfrm>
            <a:custGeom>
              <a:avLst/>
              <a:gdLst/>
              <a:ahLst/>
              <a:cxnLst/>
              <a:rect l="l" t="t" r="r" b="b"/>
              <a:pathLst>
                <a:path w="7058025" h="2776855">
                  <a:moveTo>
                    <a:pt x="6955678" y="2776532"/>
                  </a:moveTo>
                  <a:lnTo>
                    <a:pt x="102345" y="2776532"/>
                  </a:lnTo>
                  <a:lnTo>
                    <a:pt x="95221" y="2775830"/>
                  </a:lnTo>
                  <a:lnTo>
                    <a:pt x="54661" y="2762064"/>
                  </a:lnTo>
                  <a:lnTo>
                    <a:pt x="22456" y="2733828"/>
                  </a:lnTo>
                  <a:lnTo>
                    <a:pt x="3507" y="2695421"/>
                  </a:lnTo>
                  <a:lnTo>
                    <a:pt x="0" y="2674190"/>
                  </a:lnTo>
                  <a:lnTo>
                    <a:pt x="0" y="26669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2674190"/>
                  </a:lnTo>
                  <a:lnTo>
                    <a:pt x="7046932" y="2715550"/>
                  </a:lnTo>
                  <a:lnTo>
                    <a:pt x="7020855" y="2749533"/>
                  </a:lnTo>
                  <a:lnTo>
                    <a:pt x="6983759" y="2770942"/>
                  </a:lnTo>
                  <a:lnTo>
                    <a:pt x="6962802" y="2775830"/>
                  </a:lnTo>
                  <a:lnTo>
                    <a:pt x="6955678" y="27765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2781935"/>
            </a:xfrm>
            <a:custGeom>
              <a:avLst/>
              <a:gdLst/>
              <a:ahLst/>
              <a:cxnLst/>
              <a:rect l="l" t="t" r="r" b="b"/>
              <a:pathLst>
                <a:path w="7061834" h="2781935">
                  <a:moveTo>
                    <a:pt x="7061289" y="0"/>
                  </a:moveTo>
                  <a:lnTo>
                    <a:pt x="7058012" y="0"/>
                  </a:lnTo>
                  <a:lnTo>
                    <a:pt x="7058012" y="2667012"/>
                  </a:lnTo>
                  <a:lnTo>
                    <a:pt x="7057517" y="2677325"/>
                  </a:lnTo>
                  <a:lnTo>
                    <a:pt x="7045630" y="2716453"/>
                  </a:lnTo>
                  <a:lnTo>
                    <a:pt x="7019684" y="2748038"/>
                  </a:lnTo>
                  <a:lnTo>
                    <a:pt x="6983616" y="2767304"/>
                  </a:lnTo>
                  <a:lnTo>
                    <a:pt x="6953237" y="2771787"/>
                  </a:lnTo>
                  <a:lnTo>
                    <a:pt x="114300" y="2771787"/>
                  </a:lnTo>
                  <a:lnTo>
                    <a:pt x="74193" y="2763812"/>
                  </a:lnTo>
                  <a:lnTo>
                    <a:pt x="40703" y="2741549"/>
                  </a:lnTo>
                  <a:lnTo>
                    <a:pt x="17487" y="2707106"/>
                  </a:lnTo>
                  <a:lnTo>
                    <a:pt x="9525" y="2667012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667012"/>
                  </a:lnTo>
                  <a:lnTo>
                    <a:pt x="533" y="2678265"/>
                  </a:lnTo>
                  <a:lnTo>
                    <a:pt x="13500" y="2720937"/>
                  </a:lnTo>
                  <a:lnTo>
                    <a:pt x="33515" y="2747797"/>
                  </a:lnTo>
                  <a:lnTo>
                    <a:pt x="70548" y="2772613"/>
                  </a:lnTo>
                  <a:lnTo>
                    <a:pt x="114300" y="2781312"/>
                  </a:lnTo>
                  <a:lnTo>
                    <a:pt x="6953237" y="2781312"/>
                  </a:lnTo>
                  <a:lnTo>
                    <a:pt x="6996989" y="2772613"/>
                  </a:lnTo>
                  <a:lnTo>
                    <a:pt x="6998729" y="2771787"/>
                  </a:lnTo>
                  <a:lnTo>
                    <a:pt x="7007174" y="2767800"/>
                  </a:lnTo>
                  <a:lnTo>
                    <a:pt x="7016763" y="2762059"/>
                  </a:lnTo>
                  <a:lnTo>
                    <a:pt x="7025716" y="2755404"/>
                  </a:lnTo>
                  <a:lnTo>
                    <a:pt x="7033565" y="2748280"/>
                  </a:lnTo>
                  <a:lnTo>
                    <a:pt x="7034060" y="2747835"/>
                  </a:lnTo>
                  <a:lnTo>
                    <a:pt x="7041642" y="2739479"/>
                  </a:lnTo>
                  <a:lnTo>
                    <a:pt x="7048297" y="2730525"/>
                  </a:lnTo>
                  <a:lnTo>
                    <a:pt x="7054024" y="2720937"/>
                  </a:lnTo>
                  <a:lnTo>
                    <a:pt x="7058838" y="2710751"/>
                  </a:lnTo>
                  <a:lnTo>
                    <a:pt x="7061289" y="270391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411595" cy="22517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繋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がっている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になれる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3742054">
              <a:lnSpc>
                <a:spcPct val="131700"/>
              </a:lnSpc>
              <a:spcBef>
                <a:spcPts val="125"/>
              </a:spcBef>
            </a:pPr>
            <a:r>
              <a:rPr sz="1250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について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りたい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40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ルの</a:t>
            </a:r>
            <a:r>
              <a:rPr sz="1300" spc="-180" dirty="0">
                <a:solidFill>
                  <a:srgbClr val="333333"/>
                </a:solidFill>
                <a:latin typeface="Comic Sans MS"/>
                <a:cs typeface="Comic Sans MS"/>
              </a:rPr>
              <a:t>LINE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へ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9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うつ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メンタルヘルス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臨床研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エビデンス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⼼療内科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0" dirty="0">
                <a:solidFill>
                  <a:srgbClr val="3797F0"/>
                </a:solidFill>
                <a:latin typeface="SimSun"/>
                <a:cs typeface="SimSun"/>
              </a:rPr>
              <a:t>ストレスケア</a:t>
            </a:r>
            <a:r>
              <a:rPr sz="1150" spc="-50" dirty="0">
                <a:solidFill>
                  <a:srgbClr val="3797F0"/>
                </a:solidFill>
                <a:latin typeface="SimSun"/>
                <a:cs typeface="SimSun"/>
              </a:rPr>
              <a:t>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副交感神経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筋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⾁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緊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張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リラクセ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ション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⾳楽療法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統合医療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補完医療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⼼⾝医学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>
              <a:lnSpc>
                <a:spcPts val="860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8"/>
            <a:ext cx="7061834" cy="9347835"/>
            <a:chOff x="352425" y="352418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77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9"/>
                  </a:moveTo>
                  <a:lnTo>
                    <a:pt x="0" y="9342539"/>
                  </a:lnTo>
                  <a:lnTo>
                    <a:pt x="0" y="102347"/>
                  </a:lnTo>
                  <a:lnTo>
                    <a:pt x="11090" y="60963"/>
                  </a:lnTo>
                  <a:lnTo>
                    <a:pt x="37168" y="26993"/>
                  </a:lnTo>
                  <a:lnTo>
                    <a:pt x="74295" y="5580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78"/>
                  </a:lnTo>
                  <a:lnTo>
                    <a:pt x="7031026" y="37160"/>
                  </a:lnTo>
                  <a:lnTo>
                    <a:pt x="7052437" y="74265"/>
                  </a:lnTo>
                  <a:lnTo>
                    <a:pt x="7056536" y="91270"/>
                  </a:lnTo>
                  <a:lnTo>
                    <a:pt x="7056536" y="9342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87"/>
                  </a:lnTo>
                  <a:lnTo>
                    <a:pt x="2171" y="91998"/>
                  </a:lnTo>
                  <a:lnTo>
                    <a:pt x="0" y="114300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300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34" y="39763"/>
                  </a:lnTo>
                  <a:lnTo>
                    <a:pt x="7050037" y="74206"/>
                  </a:lnTo>
                  <a:lnTo>
                    <a:pt x="7058012" y="114300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71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9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4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6"/>
            <a:ext cx="1514475" cy="304800"/>
          </a:xfrm>
          <a:custGeom>
            <a:avLst/>
            <a:gdLst/>
            <a:ahLst/>
            <a:cxnLst/>
            <a:rect l="l" t="t" r="r" b="b"/>
            <a:pathLst>
              <a:path w="1514475" h="304800">
                <a:moveTo>
                  <a:pt x="1362074" y="304799"/>
                </a:moveTo>
                <a:lnTo>
                  <a:pt x="152399" y="304799"/>
                </a:lnTo>
                <a:lnTo>
                  <a:pt x="144912" y="304616"/>
                </a:lnTo>
                <a:lnTo>
                  <a:pt x="101066" y="295880"/>
                </a:lnTo>
                <a:lnTo>
                  <a:pt x="61607" y="274791"/>
                </a:lnTo>
                <a:lnTo>
                  <a:pt x="29995" y="243180"/>
                </a:lnTo>
                <a:lnTo>
                  <a:pt x="8904" y="203726"/>
                </a:lnTo>
                <a:lnTo>
                  <a:pt x="183" y="159883"/>
                </a:lnTo>
                <a:lnTo>
                  <a:pt x="0" y="152399"/>
                </a:lnTo>
                <a:lnTo>
                  <a:pt x="183" y="144910"/>
                </a:lnTo>
                <a:lnTo>
                  <a:pt x="8904" y="101061"/>
                </a:lnTo>
                <a:lnTo>
                  <a:pt x="29995" y="61600"/>
                </a:lnTo>
                <a:lnTo>
                  <a:pt x="61607" y="29986"/>
                </a:lnTo>
                <a:lnTo>
                  <a:pt x="101066" y="8897"/>
                </a:lnTo>
                <a:lnTo>
                  <a:pt x="144912" y="183"/>
                </a:lnTo>
                <a:lnTo>
                  <a:pt x="152399" y="0"/>
                </a:lnTo>
                <a:lnTo>
                  <a:pt x="1362074" y="0"/>
                </a:lnTo>
                <a:lnTo>
                  <a:pt x="1406314" y="6555"/>
                </a:lnTo>
                <a:lnTo>
                  <a:pt x="1446743" y="25672"/>
                </a:lnTo>
                <a:lnTo>
                  <a:pt x="1479882" y="55710"/>
                </a:lnTo>
                <a:lnTo>
                  <a:pt x="1502873" y="94078"/>
                </a:lnTo>
                <a:lnTo>
                  <a:pt x="1513742" y="137457"/>
                </a:lnTo>
                <a:lnTo>
                  <a:pt x="1514474" y="152399"/>
                </a:lnTo>
                <a:lnTo>
                  <a:pt x="1514291" y="159883"/>
                </a:lnTo>
                <a:lnTo>
                  <a:pt x="1505569" y="203726"/>
                </a:lnTo>
                <a:lnTo>
                  <a:pt x="1484478" y="243180"/>
                </a:lnTo>
                <a:lnTo>
                  <a:pt x="1452866" y="274791"/>
                </a:lnTo>
                <a:lnTo>
                  <a:pt x="1413408" y="295880"/>
                </a:lnTo>
                <a:lnTo>
                  <a:pt x="1369561" y="304616"/>
                </a:lnTo>
                <a:lnTo>
                  <a:pt x="1362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157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デ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タ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95" dirty="0">
                <a:solidFill>
                  <a:srgbClr val="666666"/>
                </a:solidFill>
                <a:latin typeface="SimSun"/>
                <a:cs typeface="SimSun"/>
              </a:rPr>
              <a:t>エビデンス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3711575" cy="846257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不安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30%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理</a:t>
            </a:r>
            <a:r>
              <a:rPr sz="1250" spc="-140" dirty="0" err="1">
                <a:solidFill>
                  <a:srgbClr val="333333"/>
                </a:solidFill>
                <a:latin typeface="SimSun"/>
                <a:cs typeface="SimSun"/>
              </a:rPr>
              <a:t>テストで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実証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メイリオ"/>
              </a:rPr>
              <a:t>された</a:t>
            </a:r>
            <a:endParaRPr sz="1250" dirty="0">
              <a:latin typeface="メイリオ"/>
              <a:cs typeface="メイリオ"/>
            </a:endParaRPr>
          </a:p>
          <a:p>
            <a:pPr marL="12700" marR="2098040">
              <a:lnSpc>
                <a:spcPct val="135000"/>
              </a:lnSpc>
              <a:spcBef>
                <a:spcPts val="2090"/>
              </a:spcBef>
            </a:pP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本当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あるの</a:t>
            </a:r>
            <a:r>
              <a:rPr sz="1250" spc="-685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lang="ja-JP" altLang="en-US" sz="1250" spc="-685" dirty="0">
                <a:solidFill>
                  <a:srgbClr val="333333"/>
                </a:solidFill>
                <a:latin typeface="BIZ UDPゴシック"/>
                <a:cs typeface="BIZ UDPゴシック"/>
              </a:rPr>
              <a:t>　　</a:t>
            </a:r>
            <a:endParaRPr lang="en-US" altLang="ja-JP" sz="1250" spc="-685" dirty="0">
              <a:solidFill>
                <a:srgbClr val="333333"/>
              </a:solidFill>
              <a:latin typeface="BIZ UDPゴシック"/>
              <a:cs typeface="BIZ UDPゴシック"/>
            </a:endParaRPr>
          </a:p>
          <a:p>
            <a:pPr marL="12700" marR="2098040">
              <a:lnSpc>
                <a:spcPct val="135000"/>
              </a:lnSpc>
              <a:spcBef>
                <a:spcPts val="2090"/>
              </a:spcBef>
            </a:pPr>
            <a:r>
              <a:rPr lang="ja-JP" altLang="en-US" sz="1250" spc="-685" dirty="0">
                <a:solidFill>
                  <a:srgbClr val="333333"/>
                </a:solidFill>
                <a:latin typeface="BIZ UDPゴシック"/>
                <a:cs typeface="メイリオ"/>
              </a:rPr>
              <a:t>　そ　う　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う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70" dirty="0" err="1">
                <a:solidFill>
                  <a:srgbClr val="333333"/>
                </a:solidFill>
                <a:latin typeface="SimSun"/>
                <a:cs typeface="SimSun"/>
              </a:rPr>
              <a:t>いはず</a:t>
            </a:r>
            <a:r>
              <a:rPr sz="12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だからこそ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なデ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タでお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えします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⼼理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テスト</a:t>
            </a:r>
            <a:r>
              <a:rPr sz="1250" spc="18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185" dirty="0">
                <a:solidFill>
                  <a:srgbClr val="333333"/>
                </a:solidFill>
                <a:latin typeface="Comic Sans MS"/>
                <a:cs typeface="Comic Sans MS"/>
              </a:rPr>
              <a:t>STAI</a:t>
            </a:r>
            <a:r>
              <a:rPr sz="1250" spc="18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による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検証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2242820">
              <a:lnSpc>
                <a:spcPct val="133000"/>
              </a:lnSpc>
              <a:spcBef>
                <a:spcPts val="3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分間聴取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前後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状態不安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5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8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不安得点</a:t>
            </a:r>
            <a:r>
              <a:rPr sz="1250" spc="16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60" dirty="0">
                <a:solidFill>
                  <a:srgbClr val="333333"/>
                </a:solidFill>
                <a:latin typeface="Comic Sans MS"/>
                <a:cs typeface="Comic Sans MS"/>
              </a:rPr>
              <a:t>37.7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点 </a:t>
            </a:r>
            <a:r>
              <a:rPr sz="1250" spc="-30" dirty="0">
                <a:solidFill>
                  <a:srgbClr val="333333"/>
                </a:solidFill>
                <a:latin typeface="BIZ UDPゴシック"/>
                <a:cs typeface="BIZ UDPゴシック"/>
              </a:rPr>
              <a:t>→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26.1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点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30%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50" spc="21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⼈中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効果確認</a:t>
            </a:r>
            <a:endParaRPr sz="1250" dirty="0">
              <a:latin typeface="メイリオ"/>
              <a:cs typeface="メイリオ"/>
            </a:endParaRPr>
          </a:p>
          <a:p>
            <a:pPr marL="12700" marR="1084580">
              <a:lnSpc>
                <a:spcPct val="270000"/>
              </a:lnSpc>
              <a:spcBef>
                <a:spcPts val="6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━━━━━━━━━━━━━━━━━━さらに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⾝体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14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柔軟性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平均</a:t>
            </a:r>
            <a:r>
              <a:rPr sz="1300" spc="-30" dirty="0">
                <a:solidFill>
                  <a:srgbClr val="333333"/>
                </a:solidFill>
                <a:latin typeface="Comic Sans MS"/>
                <a:cs typeface="Comic Sans MS"/>
              </a:rPr>
              <a:t>3.3cm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endParaRPr sz="1250" dirty="0">
              <a:latin typeface="メイリオ"/>
              <a:cs typeface="メイリオ"/>
            </a:endParaRPr>
          </a:p>
          <a:p>
            <a:pPr marL="12700" marR="2677160">
              <a:lnSpc>
                <a:spcPct val="135000"/>
              </a:lnSpc>
              <a:spcBef>
                <a:spcPts val="20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がほぐれると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もほぐれる</a:t>
            </a:r>
            <a:r>
              <a:rPr sz="1250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これが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2"/>
            <a:ext cx="7063105" cy="2781935"/>
            <a:chOff x="352425" y="352412"/>
            <a:chExt cx="7063105" cy="2781935"/>
          </a:xfrm>
        </p:grpSpPr>
        <p:sp>
          <p:nvSpPr>
            <p:cNvPr id="3" name="object 3"/>
            <p:cNvSpPr/>
            <p:nvPr/>
          </p:nvSpPr>
          <p:spPr>
            <a:xfrm>
              <a:off x="357187" y="352421"/>
              <a:ext cx="7058025" cy="2776855"/>
            </a:xfrm>
            <a:custGeom>
              <a:avLst/>
              <a:gdLst/>
              <a:ahLst/>
              <a:cxnLst/>
              <a:rect l="l" t="t" r="r" b="b"/>
              <a:pathLst>
                <a:path w="7058025" h="2776855">
                  <a:moveTo>
                    <a:pt x="6955678" y="2776537"/>
                  </a:moveTo>
                  <a:lnTo>
                    <a:pt x="102345" y="2776537"/>
                  </a:lnTo>
                  <a:lnTo>
                    <a:pt x="95221" y="2775830"/>
                  </a:lnTo>
                  <a:lnTo>
                    <a:pt x="54661" y="2762044"/>
                  </a:lnTo>
                  <a:lnTo>
                    <a:pt x="22456" y="2733823"/>
                  </a:lnTo>
                  <a:lnTo>
                    <a:pt x="3507" y="2695416"/>
                  </a:lnTo>
                  <a:lnTo>
                    <a:pt x="0" y="2674190"/>
                  </a:lnTo>
                  <a:lnTo>
                    <a:pt x="0" y="26669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2674190"/>
                  </a:lnTo>
                  <a:lnTo>
                    <a:pt x="7046932" y="2715555"/>
                  </a:lnTo>
                  <a:lnTo>
                    <a:pt x="7020855" y="2749525"/>
                  </a:lnTo>
                  <a:lnTo>
                    <a:pt x="6983759" y="2770937"/>
                  </a:lnTo>
                  <a:lnTo>
                    <a:pt x="6962802" y="2775830"/>
                  </a:lnTo>
                  <a:lnTo>
                    <a:pt x="6955678" y="27765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2781935"/>
            </a:xfrm>
            <a:custGeom>
              <a:avLst/>
              <a:gdLst/>
              <a:ahLst/>
              <a:cxnLst/>
              <a:rect l="l" t="t" r="r" b="b"/>
              <a:pathLst>
                <a:path w="7061834" h="2781935">
                  <a:moveTo>
                    <a:pt x="7061289" y="0"/>
                  </a:moveTo>
                  <a:lnTo>
                    <a:pt x="7058012" y="0"/>
                  </a:lnTo>
                  <a:lnTo>
                    <a:pt x="7058012" y="2667012"/>
                  </a:lnTo>
                  <a:lnTo>
                    <a:pt x="7057517" y="2677325"/>
                  </a:lnTo>
                  <a:lnTo>
                    <a:pt x="7045630" y="2716453"/>
                  </a:lnTo>
                  <a:lnTo>
                    <a:pt x="7026834" y="2741549"/>
                  </a:lnTo>
                  <a:lnTo>
                    <a:pt x="6993344" y="2763812"/>
                  </a:lnTo>
                  <a:lnTo>
                    <a:pt x="6953237" y="2771787"/>
                  </a:lnTo>
                  <a:lnTo>
                    <a:pt x="114300" y="2771787"/>
                  </a:lnTo>
                  <a:lnTo>
                    <a:pt x="74193" y="2763812"/>
                  </a:lnTo>
                  <a:lnTo>
                    <a:pt x="40690" y="2741561"/>
                  </a:lnTo>
                  <a:lnTo>
                    <a:pt x="33261" y="2733446"/>
                  </a:lnTo>
                  <a:lnTo>
                    <a:pt x="14008" y="2697378"/>
                  </a:lnTo>
                  <a:lnTo>
                    <a:pt x="9525" y="2667012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667012"/>
                  </a:lnTo>
                  <a:lnTo>
                    <a:pt x="533" y="2678265"/>
                  </a:lnTo>
                  <a:lnTo>
                    <a:pt x="13500" y="2720949"/>
                  </a:lnTo>
                  <a:lnTo>
                    <a:pt x="33515" y="2747797"/>
                  </a:lnTo>
                  <a:lnTo>
                    <a:pt x="70548" y="2772613"/>
                  </a:lnTo>
                  <a:lnTo>
                    <a:pt x="114300" y="2781312"/>
                  </a:lnTo>
                  <a:lnTo>
                    <a:pt x="6953237" y="2781312"/>
                  </a:lnTo>
                  <a:lnTo>
                    <a:pt x="6996989" y="2772613"/>
                  </a:lnTo>
                  <a:lnTo>
                    <a:pt x="6998729" y="2771787"/>
                  </a:lnTo>
                  <a:lnTo>
                    <a:pt x="7007174" y="2767800"/>
                  </a:lnTo>
                  <a:lnTo>
                    <a:pt x="7016763" y="2762072"/>
                  </a:lnTo>
                  <a:lnTo>
                    <a:pt x="7025716" y="2755417"/>
                  </a:lnTo>
                  <a:lnTo>
                    <a:pt x="7033565" y="2748280"/>
                  </a:lnTo>
                  <a:lnTo>
                    <a:pt x="7034060" y="2747835"/>
                  </a:lnTo>
                  <a:lnTo>
                    <a:pt x="7041642" y="2739479"/>
                  </a:lnTo>
                  <a:lnTo>
                    <a:pt x="7048297" y="2730525"/>
                  </a:lnTo>
                  <a:lnTo>
                    <a:pt x="7054024" y="2720949"/>
                  </a:lnTo>
                  <a:lnTo>
                    <a:pt x="7058838" y="2710751"/>
                  </a:lnTo>
                  <a:lnTo>
                    <a:pt x="7061289" y="270391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359849"/>
            <a:ext cx="6484620" cy="2435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習慣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えてみませんか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2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無料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記事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実践法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解説中</a:t>
            </a:r>
            <a:endParaRPr sz="1250">
              <a:latin typeface="メイリオ"/>
              <a:cs typeface="メイリオ"/>
            </a:endParaRPr>
          </a:p>
          <a:p>
            <a:pPr marL="12700" marR="5080">
              <a:lnSpc>
                <a:spcPct val="146700"/>
              </a:lnSpc>
              <a:spcBef>
                <a:spcPts val="109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不安解消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⼼理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テスト </a:t>
            </a:r>
            <a:r>
              <a:rPr sz="1150" spc="-225" dirty="0">
                <a:solidFill>
                  <a:srgbClr val="3797F0"/>
                </a:solidFill>
                <a:latin typeface="Comic Sans MS"/>
                <a:cs typeface="Comic Sans MS"/>
              </a:rPr>
              <a:t>#STAI</a:t>
            </a:r>
            <a:r>
              <a:rPr sz="1150" spc="-135" dirty="0">
                <a:solidFill>
                  <a:srgbClr val="3797F0"/>
                </a:solidFill>
                <a:latin typeface="Comic Sans MS"/>
                <a:cs typeface="Comic Sans MS"/>
              </a:rPr>
              <a:t> 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70" dirty="0">
                <a:solidFill>
                  <a:srgbClr val="3797F0"/>
                </a:solidFill>
                <a:latin typeface="Comic Sans MS"/>
                <a:cs typeface="Comic Sans MS"/>
              </a:rPr>
              <a:t>#10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分習慣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ストレス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軽減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のケア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セルフケア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柔軟性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アップ</a:t>
            </a:r>
            <a:r>
              <a:rPr sz="1150" spc="-50" dirty="0">
                <a:solidFill>
                  <a:srgbClr val="3797F0"/>
                </a:solidFill>
                <a:latin typeface="SimSun"/>
                <a:cs typeface="SimSun"/>
              </a:rPr>
              <a:t>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⼼⾝⼀如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マインドフルネス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リラックス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毎⽇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健康習慣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ﬁle:///Users/kitakoujirou/Desktop/AI%E9%96%A2%E9%80%A3/joyfoundation_project/SNS%E3%82%B3%E3%83%B3%E3%83%86%E3%83%B3%E3%83%…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860"/>
              </a:lnSpc>
            </a:pPr>
            <a:fld id="{81D60167-4931-47E6-BA6A-407CBD079E47}" type="slidenum">
              <a:rPr spc="-10" dirty="0"/>
              <a:t>11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8"/>
            <a:ext cx="7061834" cy="9347835"/>
            <a:chOff x="352425" y="352428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7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0"/>
                  </a:moveTo>
                  <a:lnTo>
                    <a:pt x="0" y="9342540"/>
                  </a:lnTo>
                  <a:lnTo>
                    <a:pt x="0" y="102347"/>
                  </a:lnTo>
                  <a:lnTo>
                    <a:pt x="11090" y="60973"/>
                  </a:lnTo>
                  <a:lnTo>
                    <a:pt x="37168" y="26993"/>
                  </a:lnTo>
                  <a:lnTo>
                    <a:pt x="74264" y="5580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78"/>
                  </a:lnTo>
                  <a:lnTo>
                    <a:pt x="7031026" y="37169"/>
                  </a:lnTo>
                  <a:lnTo>
                    <a:pt x="7052437" y="74255"/>
                  </a:lnTo>
                  <a:lnTo>
                    <a:pt x="7056536" y="91270"/>
                  </a:lnTo>
                  <a:lnTo>
                    <a:pt x="7056536" y="9342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46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01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71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9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5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6"/>
            <a:ext cx="1514475" cy="304800"/>
          </a:xfrm>
          <a:custGeom>
            <a:avLst/>
            <a:gdLst/>
            <a:ahLst/>
            <a:cxnLst/>
            <a:rect l="l" t="t" r="r" b="b"/>
            <a:pathLst>
              <a:path w="1514475" h="304800">
                <a:moveTo>
                  <a:pt x="1362074" y="304799"/>
                </a:moveTo>
                <a:lnTo>
                  <a:pt x="152399" y="304799"/>
                </a:lnTo>
                <a:lnTo>
                  <a:pt x="144912" y="304611"/>
                </a:lnTo>
                <a:lnTo>
                  <a:pt x="101066" y="295874"/>
                </a:lnTo>
                <a:lnTo>
                  <a:pt x="61607" y="274791"/>
                </a:lnTo>
                <a:lnTo>
                  <a:pt x="29995" y="243172"/>
                </a:lnTo>
                <a:lnTo>
                  <a:pt x="8904" y="203716"/>
                </a:lnTo>
                <a:lnTo>
                  <a:pt x="183" y="159882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1057"/>
                </a:lnTo>
                <a:lnTo>
                  <a:pt x="29995" y="61592"/>
                </a:lnTo>
                <a:lnTo>
                  <a:pt x="61607" y="29986"/>
                </a:lnTo>
                <a:lnTo>
                  <a:pt x="101066" y="8898"/>
                </a:lnTo>
                <a:lnTo>
                  <a:pt x="144912" y="183"/>
                </a:lnTo>
                <a:lnTo>
                  <a:pt x="152399" y="0"/>
                </a:lnTo>
                <a:lnTo>
                  <a:pt x="1362074" y="0"/>
                </a:lnTo>
                <a:lnTo>
                  <a:pt x="1406314" y="6558"/>
                </a:lnTo>
                <a:lnTo>
                  <a:pt x="1446743" y="25672"/>
                </a:lnTo>
                <a:lnTo>
                  <a:pt x="1479882" y="55708"/>
                </a:lnTo>
                <a:lnTo>
                  <a:pt x="1502873" y="94068"/>
                </a:lnTo>
                <a:lnTo>
                  <a:pt x="1513742" y="137454"/>
                </a:lnTo>
                <a:lnTo>
                  <a:pt x="1514474" y="152399"/>
                </a:lnTo>
                <a:lnTo>
                  <a:pt x="1514291" y="159882"/>
                </a:lnTo>
                <a:lnTo>
                  <a:pt x="1505569" y="203716"/>
                </a:lnTo>
                <a:lnTo>
                  <a:pt x="1484478" y="243172"/>
                </a:lnTo>
                <a:lnTo>
                  <a:pt x="1452866" y="274791"/>
                </a:lnTo>
                <a:lnTo>
                  <a:pt x="1413408" y="295874"/>
                </a:lnTo>
                <a:lnTo>
                  <a:pt x="1369561" y="304611"/>
                </a:lnTo>
                <a:lnTo>
                  <a:pt x="1362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157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デ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タ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95" dirty="0">
                <a:solidFill>
                  <a:srgbClr val="666666"/>
                </a:solidFill>
                <a:latin typeface="SimSun"/>
                <a:cs typeface="SimSun"/>
              </a:rPr>
              <a:t>エビデンス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12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19205"/>
            <a:ext cx="3403601" cy="8336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福祉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25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spc="45" dirty="0">
                <a:solidFill>
                  <a:srgbClr val="333333"/>
                </a:solidFill>
                <a:latin typeface="Comic Sans MS"/>
                <a:cs typeface="Comic Sans MS"/>
              </a:rPr>
              <a:t>13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lang="en-US" sz="1250" spc="-114" dirty="0">
                <a:solidFill>
                  <a:srgbClr val="333333"/>
                </a:solidFill>
                <a:latin typeface="SimSun"/>
                <a:cs typeface="メイリオ"/>
              </a:rPr>
              <a:t> </a:t>
            </a:r>
            <a:r>
              <a:rPr lang="en-US" sz="1250" spc="-114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50" dirty="0" err="1">
                <a:solidFill>
                  <a:srgbClr val="333333"/>
                </a:solidFill>
                <a:latin typeface="メイリオ"/>
                <a:cs typeface="メイリオ"/>
              </a:rPr>
              <a:t>改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</a:t>
            </a:r>
            <a:r>
              <a:rPr lang="ja-JP" altLang="en-US" sz="1250" spc="-40" dirty="0">
                <a:solidFill>
                  <a:srgbClr val="333333"/>
                </a:solidFill>
                <a:latin typeface="メイリオ"/>
                <a:cs typeface="メイリオ"/>
              </a:rPr>
              <a:t>善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</a:t>
            </a:r>
            <a:endParaRPr sz="1250" dirty="0">
              <a:latin typeface="メイリオ"/>
              <a:cs typeface="メイリオ"/>
            </a:endParaRPr>
          </a:p>
          <a:p>
            <a:pPr marL="12700" marR="1348740">
              <a:lnSpc>
                <a:spcPct val="135000"/>
              </a:lnSpc>
              <a:spcBef>
                <a:spcPts val="2090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介護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福祉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現場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endParaRPr lang="en-US" sz="1250" spc="-114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1348740">
              <a:lnSpc>
                <a:spcPct val="135000"/>
              </a:lnSpc>
              <a:spcBef>
                <a:spcPts val="2090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精神的</a:t>
            </a:r>
            <a:r>
              <a:rPr sz="1250" spc="-140" dirty="0" err="1">
                <a:solidFill>
                  <a:srgbClr val="333333"/>
                </a:solidFill>
                <a:latin typeface="SimSun"/>
                <a:cs typeface="SimSun"/>
              </a:rPr>
              <a:t>ストレスは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深刻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東京⼤学⼤学院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解決策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つかりました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62484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lang="en-US" sz="1250" spc="-12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05" dirty="0" err="1">
                <a:solidFill>
                  <a:srgbClr val="333333"/>
                </a:solidFill>
                <a:latin typeface="メイリオ"/>
                <a:cs typeface="メイリオ"/>
              </a:rPr>
              <a:t>研究内容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福祉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250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13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回</a:t>
            </a:r>
            <a:r>
              <a:rPr sz="1300" spc="70" dirty="0">
                <a:solidFill>
                  <a:srgbClr val="333333"/>
                </a:solidFill>
                <a:latin typeface="Comic Sans MS"/>
                <a:cs typeface="Comic Sans MS"/>
              </a:rPr>
              <a:t>×</a:t>
            </a:r>
            <a:r>
              <a:rPr lang="en-US" sz="1300" spc="70" dirty="0">
                <a:solidFill>
                  <a:srgbClr val="333333"/>
                </a:solidFill>
                <a:latin typeface="Comic Sans MS"/>
                <a:cs typeface="Comic Sans MS"/>
              </a:rPr>
              <a:t>20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体感音響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期間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12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週間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SimSun"/>
              <a:cs typeface="SimSun"/>
            </a:endParaRPr>
          </a:p>
          <a:p>
            <a:pPr marL="231775" indent="-219075">
              <a:lnSpc>
                <a:spcPct val="100000"/>
              </a:lnSpc>
              <a:buFont typeface="BIZ UDP"/>
              <a:buChar char="✓"/>
              <a:tabLst>
                <a:tab pos="231775" algn="l"/>
              </a:tabLst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値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r>
              <a:rPr sz="1250" spc="229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229" dirty="0">
                <a:solidFill>
                  <a:srgbClr val="333333"/>
                </a:solidFill>
                <a:latin typeface="Comic Sans MS"/>
                <a:cs typeface="Comic Sans MS"/>
              </a:rPr>
              <a:t>p&lt;0.05</a:t>
            </a:r>
            <a:r>
              <a:rPr sz="1250" spc="229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250" dirty="0">
              <a:latin typeface="BIZ UDPゴシック"/>
              <a:cs typeface="BIZ UDPゴシック"/>
            </a:endParaRPr>
          </a:p>
          <a:p>
            <a:pPr marL="231775" indent="-219075">
              <a:lnSpc>
                <a:spcPct val="100000"/>
              </a:lnSpc>
              <a:spcBef>
                <a:spcPts val="590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ノンレム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割合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endParaRPr sz="1250" dirty="0">
              <a:latin typeface="メイリオ"/>
              <a:cs typeface="メイリオ"/>
            </a:endParaRPr>
          </a:p>
          <a:p>
            <a:pPr marL="231775" indent="-219075">
              <a:lnSpc>
                <a:spcPct val="100000"/>
              </a:lnSpc>
              <a:spcBef>
                <a:spcPts val="525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にたった</a:t>
            </a:r>
            <a:r>
              <a:rPr lang="en-US"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40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1592580">
              <a:lnSpc>
                <a:spcPct val="133000"/>
              </a:lnSpc>
              <a:spcBef>
                <a:spcPts val="25"/>
              </a:spcBef>
            </a:pP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あたり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lang="en-US" sz="1300" spc="-55" dirty="0">
                <a:solidFill>
                  <a:srgbClr val="333333"/>
                </a:solidFill>
                <a:latin typeface="Comic Sans MS"/>
                <a:cs typeface="メイリオ"/>
              </a:rPr>
              <a:t>6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投資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lang="en-US" sz="1250" spc="-11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わる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われば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のパフォ</a:t>
            </a:r>
            <a:r>
              <a:rPr sz="1250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マンスも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0"/>
            <a:ext cx="7063105" cy="3562985"/>
            <a:chOff x="352425" y="352420"/>
            <a:chExt cx="7063105" cy="3562985"/>
          </a:xfrm>
        </p:grpSpPr>
        <p:sp>
          <p:nvSpPr>
            <p:cNvPr id="3" name="object 3"/>
            <p:cNvSpPr/>
            <p:nvPr/>
          </p:nvSpPr>
          <p:spPr>
            <a:xfrm>
              <a:off x="357187" y="352420"/>
              <a:ext cx="7058025" cy="3557904"/>
            </a:xfrm>
            <a:custGeom>
              <a:avLst/>
              <a:gdLst/>
              <a:ahLst/>
              <a:cxnLst/>
              <a:rect l="l" t="t" r="r" b="b"/>
              <a:pathLst>
                <a:path w="7058025" h="3557904">
                  <a:moveTo>
                    <a:pt x="6955678" y="3557577"/>
                  </a:moveTo>
                  <a:lnTo>
                    <a:pt x="102345" y="3557577"/>
                  </a:lnTo>
                  <a:lnTo>
                    <a:pt x="95221" y="3556861"/>
                  </a:lnTo>
                  <a:lnTo>
                    <a:pt x="54661" y="3543104"/>
                  </a:lnTo>
                  <a:lnTo>
                    <a:pt x="22456" y="3514863"/>
                  </a:lnTo>
                  <a:lnTo>
                    <a:pt x="3507" y="3476457"/>
                  </a:lnTo>
                  <a:lnTo>
                    <a:pt x="0" y="3455230"/>
                  </a:lnTo>
                  <a:lnTo>
                    <a:pt x="0" y="34480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455230"/>
                  </a:lnTo>
                  <a:lnTo>
                    <a:pt x="7046932" y="3496605"/>
                  </a:lnTo>
                  <a:lnTo>
                    <a:pt x="7020855" y="3530575"/>
                  </a:lnTo>
                  <a:lnTo>
                    <a:pt x="6983759" y="3551977"/>
                  </a:lnTo>
                  <a:lnTo>
                    <a:pt x="6962802" y="3556870"/>
                  </a:lnTo>
                  <a:lnTo>
                    <a:pt x="6955678" y="35575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562985"/>
            </a:xfrm>
            <a:custGeom>
              <a:avLst/>
              <a:gdLst/>
              <a:ahLst/>
              <a:cxnLst/>
              <a:rect l="l" t="t" r="r" b="b"/>
              <a:pathLst>
                <a:path w="7061834" h="3562985">
                  <a:moveTo>
                    <a:pt x="7061289" y="0"/>
                  </a:moveTo>
                  <a:lnTo>
                    <a:pt x="7058012" y="0"/>
                  </a:lnTo>
                  <a:lnTo>
                    <a:pt x="7058012" y="3448050"/>
                  </a:lnTo>
                  <a:lnTo>
                    <a:pt x="7057517" y="3458375"/>
                  </a:lnTo>
                  <a:lnTo>
                    <a:pt x="7045630" y="3497491"/>
                  </a:lnTo>
                  <a:lnTo>
                    <a:pt x="7019684" y="3529088"/>
                  </a:lnTo>
                  <a:lnTo>
                    <a:pt x="6983616" y="3548354"/>
                  </a:lnTo>
                  <a:lnTo>
                    <a:pt x="6953237" y="3552837"/>
                  </a:lnTo>
                  <a:lnTo>
                    <a:pt x="114300" y="3552837"/>
                  </a:lnTo>
                  <a:lnTo>
                    <a:pt x="74193" y="3544862"/>
                  </a:lnTo>
                  <a:lnTo>
                    <a:pt x="40703" y="3522599"/>
                  </a:lnTo>
                  <a:lnTo>
                    <a:pt x="17487" y="3488156"/>
                  </a:lnTo>
                  <a:lnTo>
                    <a:pt x="9525" y="3448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448050"/>
                  </a:lnTo>
                  <a:lnTo>
                    <a:pt x="533" y="3459315"/>
                  </a:lnTo>
                  <a:lnTo>
                    <a:pt x="13500" y="3501987"/>
                  </a:lnTo>
                  <a:lnTo>
                    <a:pt x="33515" y="3528847"/>
                  </a:lnTo>
                  <a:lnTo>
                    <a:pt x="70548" y="3553663"/>
                  </a:lnTo>
                  <a:lnTo>
                    <a:pt x="114300" y="3562362"/>
                  </a:lnTo>
                  <a:lnTo>
                    <a:pt x="6953237" y="3562362"/>
                  </a:lnTo>
                  <a:lnTo>
                    <a:pt x="6996989" y="3553663"/>
                  </a:lnTo>
                  <a:lnTo>
                    <a:pt x="6998729" y="3552837"/>
                  </a:lnTo>
                  <a:lnTo>
                    <a:pt x="7007174" y="3548850"/>
                  </a:lnTo>
                  <a:lnTo>
                    <a:pt x="7016763" y="3543109"/>
                  </a:lnTo>
                  <a:lnTo>
                    <a:pt x="7025716" y="3536454"/>
                  </a:lnTo>
                  <a:lnTo>
                    <a:pt x="7033565" y="3529330"/>
                  </a:lnTo>
                  <a:lnTo>
                    <a:pt x="7034060" y="3528885"/>
                  </a:lnTo>
                  <a:lnTo>
                    <a:pt x="7041642" y="3520529"/>
                  </a:lnTo>
                  <a:lnTo>
                    <a:pt x="7048297" y="3511562"/>
                  </a:lnTo>
                  <a:lnTo>
                    <a:pt x="7054024" y="3501987"/>
                  </a:lnTo>
                  <a:lnTo>
                    <a:pt x="7058838" y="3491801"/>
                  </a:lnTo>
                  <a:lnTo>
                    <a:pt x="7061289" y="348496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357098"/>
            <a:ext cx="6428740" cy="3219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忙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しいあなたにこそ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試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してほしい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3757929">
              <a:lnSpc>
                <a:spcPct val="135000"/>
              </a:lnSpc>
            </a:pPr>
            <a:r>
              <a:rPr sz="1250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⾃然⾳習慣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めませんか</a:t>
            </a:r>
            <a:r>
              <a:rPr sz="1250" spc="-1165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睡眠改善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睡眠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質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ノンレム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睡眠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福祉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介護⼠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ストレスケア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東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京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⼤学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究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デ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る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前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良質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な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睡眠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睡眠負債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疲労回復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働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く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⼈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健康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ワ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クライフバランス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13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8"/>
            <a:ext cx="7061834" cy="9347835"/>
            <a:chOff x="352425" y="352428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6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6"/>
                  </a:moveTo>
                  <a:lnTo>
                    <a:pt x="0" y="9342536"/>
                  </a:lnTo>
                  <a:lnTo>
                    <a:pt x="0" y="102336"/>
                  </a:lnTo>
                  <a:lnTo>
                    <a:pt x="11087" y="60940"/>
                  </a:lnTo>
                  <a:lnTo>
                    <a:pt x="37166" y="26974"/>
                  </a:lnTo>
                  <a:lnTo>
                    <a:pt x="74266" y="5572"/>
                  </a:lnTo>
                  <a:lnTo>
                    <a:pt x="102346" y="0"/>
                  </a:lnTo>
                  <a:lnTo>
                    <a:pt x="6955679" y="0"/>
                  </a:lnTo>
                  <a:lnTo>
                    <a:pt x="6997046" y="11077"/>
                  </a:lnTo>
                  <a:lnTo>
                    <a:pt x="7031031" y="37147"/>
                  </a:lnTo>
                  <a:lnTo>
                    <a:pt x="7052434" y="74237"/>
                  </a:lnTo>
                  <a:lnTo>
                    <a:pt x="7056536" y="91258"/>
                  </a:lnTo>
                  <a:lnTo>
                    <a:pt x="7056536" y="9342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22" y="33528"/>
                  </a:lnTo>
                  <a:lnTo>
                    <a:pt x="7033565" y="33020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50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64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46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50" y="9525"/>
                  </a:lnTo>
                  <a:lnTo>
                    <a:pt x="6993344" y="17500"/>
                  </a:lnTo>
                  <a:lnTo>
                    <a:pt x="7026872" y="39801"/>
                  </a:lnTo>
                  <a:lnTo>
                    <a:pt x="7050037" y="74193"/>
                  </a:lnTo>
                  <a:lnTo>
                    <a:pt x="7058025" y="114287"/>
                  </a:lnTo>
                  <a:lnTo>
                    <a:pt x="7058025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700" y="117157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7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6477000" y="0"/>
                  </a:lnTo>
                  <a:lnTo>
                    <a:pt x="6477000" y="9525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9"/>
              <a:ext cx="381000" cy="381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8" y="703991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5" y="685805"/>
            <a:ext cx="1514475" cy="304800"/>
          </a:xfrm>
          <a:custGeom>
            <a:avLst/>
            <a:gdLst/>
            <a:ahLst/>
            <a:cxnLst/>
            <a:rect l="l" t="t" r="r" b="b"/>
            <a:pathLst>
              <a:path w="1514475" h="304800">
                <a:moveTo>
                  <a:pt x="1362075" y="304800"/>
                </a:moveTo>
                <a:lnTo>
                  <a:pt x="152400" y="304800"/>
                </a:lnTo>
                <a:lnTo>
                  <a:pt x="144911" y="304610"/>
                </a:lnTo>
                <a:lnTo>
                  <a:pt x="101067" y="295874"/>
                </a:lnTo>
                <a:lnTo>
                  <a:pt x="61606" y="274785"/>
                </a:lnTo>
                <a:lnTo>
                  <a:pt x="29992" y="243182"/>
                </a:lnTo>
                <a:lnTo>
                  <a:pt x="8904" y="203714"/>
                </a:lnTo>
                <a:lnTo>
                  <a:pt x="182" y="159883"/>
                </a:lnTo>
                <a:lnTo>
                  <a:pt x="0" y="152400"/>
                </a:lnTo>
                <a:lnTo>
                  <a:pt x="182" y="144904"/>
                </a:lnTo>
                <a:lnTo>
                  <a:pt x="8904" y="101066"/>
                </a:lnTo>
                <a:lnTo>
                  <a:pt x="29992" y="61596"/>
                </a:lnTo>
                <a:lnTo>
                  <a:pt x="61606" y="29979"/>
                </a:lnTo>
                <a:lnTo>
                  <a:pt x="101067" y="8896"/>
                </a:lnTo>
                <a:lnTo>
                  <a:pt x="144911" y="183"/>
                </a:lnTo>
                <a:lnTo>
                  <a:pt x="152400" y="0"/>
                </a:lnTo>
                <a:lnTo>
                  <a:pt x="1362075" y="0"/>
                </a:lnTo>
                <a:lnTo>
                  <a:pt x="1406313" y="6554"/>
                </a:lnTo>
                <a:lnTo>
                  <a:pt x="1446742" y="25669"/>
                </a:lnTo>
                <a:lnTo>
                  <a:pt x="1479884" y="55701"/>
                </a:lnTo>
                <a:lnTo>
                  <a:pt x="1502873" y="94068"/>
                </a:lnTo>
                <a:lnTo>
                  <a:pt x="1513745" y="137452"/>
                </a:lnTo>
                <a:lnTo>
                  <a:pt x="1514475" y="152400"/>
                </a:lnTo>
                <a:lnTo>
                  <a:pt x="1514292" y="159883"/>
                </a:lnTo>
                <a:lnTo>
                  <a:pt x="1505570" y="203714"/>
                </a:lnTo>
                <a:lnTo>
                  <a:pt x="1484478" y="243174"/>
                </a:lnTo>
                <a:lnTo>
                  <a:pt x="1452868" y="274793"/>
                </a:lnTo>
                <a:lnTo>
                  <a:pt x="1413407" y="295874"/>
                </a:lnTo>
                <a:lnTo>
                  <a:pt x="1369563" y="304610"/>
                </a:lnTo>
                <a:lnTo>
                  <a:pt x="1362075" y="30480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5" y="727262"/>
            <a:ext cx="13157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デ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タ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95" dirty="0">
                <a:solidFill>
                  <a:srgbClr val="666666"/>
                </a:solidFill>
                <a:latin typeface="SimSun"/>
                <a:cs typeface="SimSun"/>
              </a:rPr>
              <a:t>エビデンス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14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5000" y="1328648"/>
            <a:ext cx="3500120" cy="79120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セロトニン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lang="en-US" sz="1250" spc="-114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幸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福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まれる</a:t>
            </a:r>
            <a:r>
              <a:rPr lang="ja-JP" altLang="en-US" sz="1250" spc="-114" dirty="0">
                <a:solidFill>
                  <a:srgbClr val="333333"/>
                </a:solidFill>
                <a:latin typeface="SimSun"/>
                <a:cs typeface="SimSun"/>
              </a:rPr>
              <a:t>理由</a:t>
            </a:r>
            <a:endParaRPr lang="en-US" sz="1250" spc="-114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endParaRPr lang="en-US" sz="1250" spc="-12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うつ病の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原因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⼀</a:t>
            </a:r>
            <a:r>
              <a:rPr sz="1250" spc="-85" dirty="0" err="1">
                <a:solidFill>
                  <a:srgbClr val="333333"/>
                </a:solidFill>
                <a:latin typeface="SimSun"/>
                <a:cs typeface="SimSun"/>
              </a:rPr>
              <a:t>つは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セロトニン不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頼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らなくても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セロトニンを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せる？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 dirty="0">
              <a:latin typeface="BIZ UDPゴシック"/>
              <a:cs typeface="BIZ UDPゴシック"/>
            </a:endParaRPr>
          </a:p>
          <a:p>
            <a:pPr marL="12700" marR="87376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有⽥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秀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穂先⽣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との共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同研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適⽤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⾎中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セロトニン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濃度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タイミング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適⽤前 </a:t>
            </a:r>
            <a:r>
              <a:rPr sz="1250" spc="-80" dirty="0">
                <a:solidFill>
                  <a:srgbClr val="333333"/>
                </a:solidFill>
                <a:latin typeface="BIZ UDPゴシック"/>
                <a:cs typeface="BIZ UDPゴシック"/>
              </a:rPr>
              <a:t>→ 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直後 </a:t>
            </a:r>
            <a:r>
              <a:rPr sz="1250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→ </a:t>
            </a: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分後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1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150" dirty="0">
              <a:latin typeface="SimSun"/>
              <a:cs typeface="SimSun"/>
            </a:endParaRPr>
          </a:p>
          <a:p>
            <a:pPr marL="12700" marR="1868805">
              <a:lnSpc>
                <a:spcPct val="1346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適⽤前</a:t>
            </a:r>
            <a:r>
              <a:rPr sz="1250" spc="13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30" dirty="0">
                <a:solidFill>
                  <a:srgbClr val="333333"/>
                </a:solidFill>
                <a:latin typeface="Comic Sans MS"/>
                <a:cs typeface="Comic Sans MS"/>
              </a:rPr>
              <a:t>200.01</a:t>
            </a:r>
            <a:r>
              <a:rPr sz="1300" spc="-6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240" dirty="0">
                <a:solidFill>
                  <a:srgbClr val="333333"/>
                </a:solidFill>
                <a:latin typeface="Comic Sans MS"/>
                <a:cs typeface="Comic Sans MS"/>
              </a:rPr>
              <a:t>ng/mL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直後</a:t>
            </a:r>
            <a:r>
              <a:rPr sz="1250" spc="19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95" dirty="0">
                <a:solidFill>
                  <a:srgbClr val="333333"/>
                </a:solidFill>
                <a:latin typeface="Comic Sans MS"/>
                <a:cs typeface="Comic Sans MS"/>
              </a:rPr>
              <a:t>191.13</a:t>
            </a:r>
            <a:r>
              <a:rPr sz="1300" spc="3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20" dirty="0">
                <a:solidFill>
                  <a:srgbClr val="333333"/>
                </a:solidFill>
                <a:latin typeface="Comic Sans MS"/>
                <a:cs typeface="Comic Sans MS"/>
              </a:rPr>
              <a:t>ng/mL</a:t>
            </a:r>
            <a:endParaRPr sz="13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分後</a:t>
            </a:r>
            <a:r>
              <a:rPr sz="1250" spc="10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05" dirty="0">
                <a:solidFill>
                  <a:srgbClr val="333333"/>
                </a:solidFill>
                <a:latin typeface="Comic Sans MS"/>
                <a:cs typeface="Comic Sans MS"/>
              </a:rPr>
              <a:t>204.47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 ng/mL</a:t>
            </a:r>
            <a:r>
              <a:rPr sz="1300" spc="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250" spc="355" dirty="0">
                <a:solidFill>
                  <a:srgbClr val="333333"/>
                </a:solidFill>
                <a:latin typeface="Cambria"/>
                <a:cs typeface="Cambria"/>
              </a:rPr>
              <a:t>⬆</a:t>
            </a:r>
            <a:endParaRPr sz="12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1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にセロトニンが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！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3"/>
            <a:ext cx="7063105" cy="3039110"/>
            <a:chOff x="352425" y="352413"/>
            <a:chExt cx="7063105" cy="3039110"/>
          </a:xfrm>
        </p:grpSpPr>
        <p:sp>
          <p:nvSpPr>
            <p:cNvPr id="3" name="object 3"/>
            <p:cNvSpPr/>
            <p:nvPr/>
          </p:nvSpPr>
          <p:spPr>
            <a:xfrm>
              <a:off x="357187" y="352420"/>
              <a:ext cx="7058025" cy="3034030"/>
            </a:xfrm>
            <a:custGeom>
              <a:avLst/>
              <a:gdLst/>
              <a:ahLst/>
              <a:cxnLst/>
              <a:rect l="l" t="t" r="r" b="b"/>
              <a:pathLst>
                <a:path w="7058025" h="3034029">
                  <a:moveTo>
                    <a:pt x="6955678" y="3033702"/>
                  </a:moveTo>
                  <a:lnTo>
                    <a:pt x="102345" y="3033702"/>
                  </a:lnTo>
                  <a:lnTo>
                    <a:pt x="95221" y="3033005"/>
                  </a:lnTo>
                  <a:lnTo>
                    <a:pt x="54661" y="3019229"/>
                  </a:lnTo>
                  <a:lnTo>
                    <a:pt x="22456" y="2990998"/>
                  </a:lnTo>
                  <a:lnTo>
                    <a:pt x="3507" y="2952582"/>
                  </a:lnTo>
                  <a:lnTo>
                    <a:pt x="0" y="2931365"/>
                  </a:lnTo>
                  <a:lnTo>
                    <a:pt x="0" y="29241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2931365"/>
                  </a:lnTo>
                  <a:lnTo>
                    <a:pt x="7046932" y="2972720"/>
                  </a:lnTo>
                  <a:lnTo>
                    <a:pt x="7020855" y="3006708"/>
                  </a:lnTo>
                  <a:lnTo>
                    <a:pt x="6983759" y="3028112"/>
                  </a:lnTo>
                  <a:lnTo>
                    <a:pt x="6962802" y="3033005"/>
                  </a:lnTo>
                  <a:lnTo>
                    <a:pt x="6955678" y="30337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038475"/>
            </a:xfrm>
            <a:custGeom>
              <a:avLst/>
              <a:gdLst/>
              <a:ahLst/>
              <a:cxnLst/>
              <a:rect l="l" t="t" r="r" b="b"/>
              <a:pathLst>
                <a:path w="7061834" h="3038475">
                  <a:moveTo>
                    <a:pt x="7061289" y="0"/>
                  </a:moveTo>
                  <a:lnTo>
                    <a:pt x="7058012" y="0"/>
                  </a:lnTo>
                  <a:lnTo>
                    <a:pt x="7058012" y="2924175"/>
                  </a:lnTo>
                  <a:lnTo>
                    <a:pt x="7057517" y="2934500"/>
                  </a:lnTo>
                  <a:lnTo>
                    <a:pt x="7045630" y="2973616"/>
                  </a:lnTo>
                  <a:lnTo>
                    <a:pt x="7026834" y="2998711"/>
                  </a:lnTo>
                  <a:lnTo>
                    <a:pt x="6993344" y="3020974"/>
                  </a:lnTo>
                  <a:lnTo>
                    <a:pt x="6953237" y="3028950"/>
                  </a:lnTo>
                  <a:lnTo>
                    <a:pt x="114300" y="3028950"/>
                  </a:lnTo>
                  <a:lnTo>
                    <a:pt x="74193" y="3020974"/>
                  </a:lnTo>
                  <a:lnTo>
                    <a:pt x="40690" y="2998724"/>
                  </a:lnTo>
                  <a:lnTo>
                    <a:pt x="33261" y="2990608"/>
                  </a:lnTo>
                  <a:lnTo>
                    <a:pt x="14008" y="2954540"/>
                  </a:lnTo>
                  <a:lnTo>
                    <a:pt x="9525" y="292417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924175"/>
                  </a:lnTo>
                  <a:lnTo>
                    <a:pt x="533" y="2935440"/>
                  </a:lnTo>
                  <a:lnTo>
                    <a:pt x="13500" y="2978112"/>
                  </a:lnTo>
                  <a:lnTo>
                    <a:pt x="33515" y="3004959"/>
                  </a:lnTo>
                  <a:lnTo>
                    <a:pt x="33921" y="3005417"/>
                  </a:lnTo>
                  <a:lnTo>
                    <a:pt x="41821" y="3012579"/>
                  </a:lnTo>
                  <a:lnTo>
                    <a:pt x="81165" y="3033585"/>
                  </a:lnTo>
                  <a:lnTo>
                    <a:pt x="114300" y="3038475"/>
                  </a:lnTo>
                  <a:lnTo>
                    <a:pt x="6953237" y="3038475"/>
                  </a:lnTo>
                  <a:lnTo>
                    <a:pt x="6996989" y="3029775"/>
                  </a:lnTo>
                  <a:lnTo>
                    <a:pt x="6998729" y="3028950"/>
                  </a:lnTo>
                  <a:lnTo>
                    <a:pt x="7007174" y="3024962"/>
                  </a:lnTo>
                  <a:lnTo>
                    <a:pt x="7016763" y="3019234"/>
                  </a:lnTo>
                  <a:lnTo>
                    <a:pt x="7025716" y="3012579"/>
                  </a:lnTo>
                  <a:lnTo>
                    <a:pt x="7033552" y="3005455"/>
                  </a:lnTo>
                  <a:lnTo>
                    <a:pt x="7034060" y="3004997"/>
                  </a:lnTo>
                  <a:lnTo>
                    <a:pt x="7058838" y="2967913"/>
                  </a:lnTo>
                  <a:lnTo>
                    <a:pt x="7061289" y="2961081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35090" cy="27565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からの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⾃発的幸福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秘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めている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世界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1.2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億⼈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しむうつ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希望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になるかもしれません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50" spc="-2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研究内容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公開中</a:t>
            </a:r>
            <a:endParaRPr sz="1250">
              <a:latin typeface="メイリオ"/>
              <a:cs typeface="メイリオ"/>
            </a:endParaRPr>
          </a:p>
          <a:p>
            <a:pPr marL="12700" marR="5080">
              <a:lnSpc>
                <a:spcPct val="146700"/>
              </a:lnSpc>
              <a:spcBef>
                <a:spcPts val="1019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セロトニン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幸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せホルモン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うつ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有⽥秀穂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振動療法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メンタルヘルス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⾃発的幸福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科学的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根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究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デ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健康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統合医療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代替療法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30" dirty="0">
                <a:solidFill>
                  <a:srgbClr val="3797F0"/>
                </a:solidFill>
                <a:latin typeface="SimSun"/>
                <a:cs typeface="SimSun"/>
              </a:rPr>
              <a:t>ウェルネス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15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4"/>
            <a:ext cx="7061834" cy="9347835"/>
            <a:chOff x="352425" y="35242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1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1"/>
                  </a:moveTo>
                  <a:lnTo>
                    <a:pt x="0" y="9342541"/>
                  </a:lnTo>
                  <a:lnTo>
                    <a:pt x="0" y="102337"/>
                  </a:lnTo>
                  <a:lnTo>
                    <a:pt x="11090" y="60944"/>
                  </a:lnTo>
                  <a:lnTo>
                    <a:pt x="37168" y="26974"/>
                  </a:lnTo>
                  <a:lnTo>
                    <a:pt x="74264" y="5580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69"/>
                  </a:lnTo>
                  <a:lnTo>
                    <a:pt x="7031026" y="37141"/>
                  </a:lnTo>
                  <a:lnTo>
                    <a:pt x="7052437" y="74246"/>
                  </a:lnTo>
                  <a:lnTo>
                    <a:pt x="7056536" y="91251"/>
                  </a:lnTo>
                  <a:lnTo>
                    <a:pt x="7056536" y="93425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93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6998729" y="9525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712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87"/>
                  </a:lnTo>
                  <a:lnTo>
                    <a:pt x="2171" y="91998"/>
                  </a:lnTo>
                  <a:lnTo>
                    <a:pt x="0" y="114300"/>
                  </a:lnTo>
                  <a:lnTo>
                    <a:pt x="0" y="9347302"/>
                  </a:lnTo>
                  <a:lnTo>
                    <a:pt x="9525" y="9347302"/>
                  </a:lnTo>
                  <a:lnTo>
                    <a:pt x="9525" y="114300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14"/>
                  </a:lnTo>
                  <a:lnTo>
                    <a:pt x="7050037" y="74206"/>
                  </a:lnTo>
                  <a:lnTo>
                    <a:pt x="7058012" y="114300"/>
                  </a:lnTo>
                  <a:lnTo>
                    <a:pt x="7058012" y="9347302"/>
                  </a:lnTo>
                  <a:lnTo>
                    <a:pt x="7061289" y="9347302"/>
                  </a:lnTo>
                  <a:lnTo>
                    <a:pt x="7061289" y="7739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9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3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7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4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1371599" y="304799"/>
                </a:moveTo>
                <a:lnTo>
                  <a:pt x="152399" y="304799"/>
                </a:lnTo>
                <a:lnTo>
                  <a:pt x="144912" y="304616"/>
                </a:lnTo>
                <a:lnTo>
                  <a:pt x="101066" y="295880"/>
                </a:lnTo>
                <a:lnTo>
                  <a:pt x="61607" y="274786"/>
                </a:lnTo>
                <a:lnTo>
                  <a:pt x="29995" y="243180"/>
                </a:lnTo>
                <a:lnTo>
                  <a:pt x="8904" y="203707"/>
                </a:lnTo>
                <a:lnTo>
                  <a:pt x="183" y="159882"/>
                </a:lnTo>
                <a:lnTo>
                  <a:pt x="0" y="152399"/>
                </a:lnTo>
                <a:lnTo>
                  <a:pt x="183" y="144910"/>
                </a:lnTo>
                <a:lnTo>
                  <a:pt x="8904" y="101047"/>
                </a:lnTo>
                <a:lnTo>
                  <a:pt x="29995" y="61599"/>
                </a:lnTo>
                <a:lnTo>
                  <a:pt x="61607" y="29982"/>
                </a:lnTo>
                <a:lnTo>
                  <a:pt x="101066" y="8901"/>
                </a:lnTo>
                <a:lnTo>
                  <a:pt x="144912" y="183"/>
                </a:lnTo>
                <a:lnTo>
                  <a:pt x="152399" y="0"/>
                </a:lnTo>
                <a:lnTo>
                  <a:pt x="1371599" y="0"/>
                </a:lnTo>
                <a:lnTo>
                  <a:pt x="1415839" y="6556"/>
                </a:lnTo>
                <a:lnTo>
                  <a:pt x="1456268" y="25663"/>
                </a:lnTo>
                <a:lnTo>
                  <a:pt x="1489407" y="55702"/>
                </a:lnTo>
                <a:lnTo>
                  <a:pt x="1512398" y="94059"/>
                </a:lnTo>
                <a:lnTo>
                  <a:pt x="1523267" y="137457"/>
                </a:lnTo>
                <a:lnTo>
                  <a:pt x="1523999" y="152399"/>
                </a:lnTo>
                <a:lnTo>
                  <a:pt x="1523816" y="159882"/>
                </a:lnTo>
                <a:lnTo>
                  <a:pt x="1515094" y="203707"/>
                </a:lnTo>
                <a:lnTo>
                  <a:pt x="1494003" y="243172"/>
                </a:lnTo>
                <a:lnTo>
                  <a:pt x="1462392" y="274786"/>
                </a:lnTo>
                <a:lnTo>
                  <a:pt x="1422933" y="295880"/>
                </a:lnTo>
                <a:lnTo>
                  <a:pt x="1379086" y="304616"/>
                </a:lnTo>
                <a:lnTo>
                  <a:pt x="13715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208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体験談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スト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リ</a:t>
            </a:r>
            <a:r>
              <a:rPr sz="1100" spc="-175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16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3305810" cy="83026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体験談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交通事故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年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野球復帰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できた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理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由</a:t>
            </a:r>
            <a:endParaRPr sz="1250">
              <a:latin typeface="メイリオ"/>
              <a:cs typeface="メイリオ"/>
            </a:endParaRPr>
          </a:p>
          <a:p>
            <a:pPr marL="12700" marR="1417320">
              <a:lnSpc>
                <a:spcPct val="135000"/>
              </a:lnSpc>
              <a:spcBef>
                <a:spcPts val="20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岐⾩県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兼松優⼦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さんから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をシェアします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67881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⽗様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スト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SimSun"/>
              <a:cs typeface="SimSun"/>
            </a:endParaRPr>
          </a:p>
          <a:p>
            <a:pPr marL="12700" marR="1547495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⽗様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交通事故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遭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い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⾦属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⼤怪我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兼松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めなかった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25793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体感⾳響機器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設置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し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びる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96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年⾜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らずで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野球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復帰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ての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⾦属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除去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された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医師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スピ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SimSun"/>
              <a:cs typeface="SimSun"/>
            </a:endParaRPr>
          </a:p>
          <a:p>
            <a:pPr marL="12700" marR="1791970" algn="just">
              <a:lnSpc>
                <a:spcPct val="1323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さらにお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⺟様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。 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65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検診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⾻密度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若者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レベルに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リングは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7"/>
            <a:ext cx="7063105" cy="3039110"/>
            <a:chOff x="352425" y="352397"/>
            <a:chExt cx="7063105" cy="3039110"/>
          </a:xfrm>
        </p:grpSpPr>
        <p:sp>
          <p:nvSpPr>
            <p:cNvPr id="3" name="object 3"/>
            <p:cNvSpPr/>
            <p:nvPr/>
          </p:nvSpPr>
          <p:spPr>
            <a:xfrm>
              <a:off x="357187" y="352419"/>
              <a:ext cx="7058025" cy="3034030"/>
            </a:xfrm>
            <a:custGeom>
              <a:avLst/>
              <a:gdLst/>
              <a:ahLst/>
              <a:cxnLst/>
              <a:rect l="l" t="t" r="r" b="b"/>
              <a:pathLst>
                <a:path w="7058025" h="3034029">
                  <a:moveTo>
                    <a:pt x="6955678" y="3033702"/>
                  </a:moveTo>
                  <a:lnTo>
                    <a:pt x="102345" y="3033702"/>
                  </a:lnTo>
                  <a:lnTo>
                    <a:pt x="95221" y="3033005"/>
                  </a:lnTo>
                  <a:lnTo>
                    <a:pt x="54661" y="3019229"/>
                  </a:lnTo>
                  <a:lnTo>
                    <a:pt x="22456" y="2990998"/>
                  </a:lnTo>
                  <a:lnTo>
                    <a:pt x="3507" y="2952591"/>
                  </a:lnTo>
                  <a:lnTo>
                    <a:pt x="0" y="2931365"/>
                  </a:lnTo>
                  <a:lnTo>
                    <a:pt x="0" y="29241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2931365"/>
                  </a:lnTo>
                  <a:lnTo>
                    <a:pt x="7046932" y="2972730"/>
                  </a:lnTo>
                  <a:lnTo>
                    <a:pt x="7020855" y="3006700"/>
                  </a:lnTo>
                  <a:lnTo>
                    <a:pt x="6983759" y="3028102"/>
                  </a:lnTo>
                  <a:lnTo>
                    <a:pt x="6962802" y="3033005"/>
                  </a:lnTo>
                  <a:lnTo>
                    <a:pt x="6955678" y="30337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3039110"/>
            </a:xfrm>
            <a:custGeom>
              <a:avLst/>
              <a:gdLst/>
              <a:ahLst/>
              <a:cxnLst/>
              <a:rect l="l" t="t" r="r" b="b"/>
              <a:pathLst>
                <a:path w="7061834" h="3039110">
                  <a:moveTo>
                    <a:pt x="7061289" y="0"/>
                  </a:moveTo>
                  <a:lnTo>
                    <a:pt x="7058012" y="0"/>
                  </a:lnTo>
                  <a:lnTo>
                    <a:pt x="7058012" y="2924187"/>
                  </a:lnTo>
                  <a:lnTo>
                    <a:pt x="7057517" y="2934500"/>
                  </a:lnTo>
                  <a:lnTo>
                    <a:pt x="7045630" y="2973628"/>
                  </a:lnTo>
                  <a:lnTo>
                    <a:pt x="7026834" y="2998724"/>
                  </a:lnTo>
                  <a:lnTo>
                    <a:pt x="6993344" y="3020987"/>
                  </a:lnTo>
                  <a:lnTo>
                    <a:pt x="6953237" y="3028962"/>
                  </a:lnTo>
                  <a:lnTo>
                    <a:pt x="114300" y="3028962"/>
                  </a:lnTo>
                  <a:lnTo>
                    <a:pt x="74193" y="3020987"/>
                  </a:lnTo>
                  <a:lnTo>
                    <a:pt x="40690" y="2998736"/>
                  </a:lnTo>
                  <a:lnTo>
                    <a:pt x="33261" y="2990621"/>
                  </a:lnTo>
                  <a:lnTo>
                    <a:pt x="14008" y="2954553"/>
                  </a:lnTo>
                  <a:lnTo>
                    <a:pt x="9525" y="29241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924187"/>
                  </a:lnTo>
                  <a:lnTo>
                    <a:pt x="533" y="2935440"/>
                  </a:lnTo>
                  <a:lnTo>
                    <a:pt x="13500" y="2978124"/>
                  </a:lnTo>
                  <a:lnTo>
                    <a:pt x="33515" y="3004972"/>
                  </a:lnTo>
                  <a:lnTo>
                    <a:pt x="70548" y="3029788"/>
                  </a:lnTo>
                  <a:lnTo>
                    <a:pt x="114300" y="3038487"/>
                  </a:lnTo>
                  <a:lnTo>
                    <a:pt x="6953237" y="3038487"/>
                  </a:lnTo>
                  <a:lnTo>
                    <a:pt x="6996989" y="3029788"/>
                  </a:lnTo>
                  <a:lnTo>
                    <a:pt x="6998729" y="3028962"/>
                  </a:lnTo>
                  <a:lnTo>
                    <a:pt x="7007174" y="3024975"/>
                  </a:lnTo>
                  <a:lnTo>
                    <a:pt x="7016763" y="3019247"/>
                  </a:lnTo>
                  <a:lnTo>
                    <a:pt x="7025716" y="3012592"/>
                  </a:lnTo>
                  <a:lnTo>
                    <a:pt x="7033565" y="3005455"/>
                  </a:lnTo>
                  <a:lnTo>
                    <a:pt x="7034060" y="3005010"/>
                  </a:lnTo>
                  <a:lnTo>
                    <a:pt x="7041642" y="2996654"/>
                  </a:lnTo>
                  <a:lnTo>
                    <a:pt x="7048297" y="2987700"/>
                  </a:lnTo>
                  <a:lnTo>
                    <a:pt x="7054024" y="2978124"/>
                  </a:lnTo>
                  <a:lnTo>
                    <a:pt x="7058838" y="2967926"/>
                  </a:lnTo>
                  <a:lnTo>
                    <a:pt x="7061289" y="29610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41440" cy="2756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325" marR="4779645">
              <a:lnSpc>
                <a:spcPct val="135000"/>
              </a:lnSpc>
              <a:spcBef>
                <a:spcPts val="9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⼈⾃⾝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輝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きを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発揮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させる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きがある</a:t>
            </a:r>
            <a:r>
              <a:rPr sz="1250" spc="-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兼松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さんはそう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語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ります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4062729">
              <a:lnSpc>
                <a:spcPts val="2100"/>
              </a:lnSpc>
              <a:spcBef>
                <a:spcPts val="95"/>
              </a:spcBef>
            </a:pP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めるサウンドヒ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235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86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体験談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回復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スト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リ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ー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家族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健康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⾃然治癒⼒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⾻密度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リハビリ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健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康回復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家族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5" dirty="0">
                <a:solidFill>
                  <a:srgbClr val="3797F0"/>
                </a:solidFill>
                <a:latin typeface="SimSun"/>
                <a:cs typeface="SimSun"/>
              </a:rPr>
              <a:t>セルフヒ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⽣命⼒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希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実話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体験者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声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17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9"/>
            <a:ext cx="7061834" cy="9347835"/>
            <a:chOff x="352425" y="352409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66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2"/>
                  </a:moveTo>
                  <a:lnTo>
                    <a:pt x="0" y="9342542"/>
                  </a:lnTo>
                  <a:lnTo>
                    <a:pt x="0" y="102337"/>
                  </a:lnTo>
                  <a:lnTo>
                    <a:pt x="11090" y="60944"/>
                  </a:lnTo>
                  <a:lnTo>
                    <a:pt x="37168" y="26974"/>
                  </a:lnTo>
                  <a:lnTo>
                    <a:pt x="74264" y="5580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69"/>
                  </a:lnTo>
                  <a:lnTo>
                    <a:pt x="7031026" y="37151"/>
                  </a:lnTo>
                  <a:lnTo>
                    <a:pt x="7052437" y="74246"/>
                  </a:lnTo>
                  <a:lnTo>
                    <a:pt x="7056536" y="91265"/>
                  </a:lnTo>
                  <a:lnTo>
                    <a:pt x="7056536" y="9342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84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87"/>
                  </a:lnTo>
                  <a:lnTo>
                    <a:pt x="2171" y="91998"/>
                  </a:lnTo>
                  <a:lnTo>
                    <a:pt x="0" y="114300"/>
                  </a:lnTo>
                  <a:lnTo>
                    <a:pt x="0" y="9347302"/>
                  </a:lnTo>
                  <a:lnTo>
                    <a:pt x="9525" y="9347302"/>
                  </a:lnTo>
                  <a:lnTo>
                    <a:pt x="9525" y="114300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206"/>
                  </a:lnTo>
                  <a:lnTo>
                    <a:pt x="7058012" y="114300"/>
                  </a:lnTo>
                  <a:lnTo>
                    <a:pt x="7058012" y="9347302"/>
                  </a:lnTo>
                  <a:lnTo>
                    <a:pt x="7061289" y="9347302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8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78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8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3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1371599" y="304799"/>
                </a:moveTo>
                <a:lnTo>
                  <a:pt x="152399" y="304799"/>
                </a:lnTo>
                <a:lnTo>
                  <a:pt x="144912" y="304615"/>
                </a:lnTo>
                <a:lnTo>
                  <a:pt x="101066" y="295872"/>
                </a:lnTo>
                <a:lnTo>
                  <a:pt x="61607" y="274788"/>
                </a:lnTo>
                <a:lnTo>
                  <a:pt x="29995" y="243167"/>
                </a:lnTo>
                <a:lnTo>
                  <a:pt x="8904" y="203716"/>
                </a:lnTo>
                <a:lnTo>
                  <a:pt x="183" y="159877"/>
                </a:lnTo>
                <a:lnTo>
                  <a:pt x="0" y="152399"/>
                </a:lnTo>
                <a:lnTo>
                  <a:pt x="183" y="144900"/>
                </a:lnTo>
                <a:lnTo>
                  <a:pt x="8904" y="101046"/>
                </a:lnTo>
                <a:lnTo>
                  <a:pt x="29995" y="61597"/>
                </a:lnTo>
                <a:lnTo>
                  <a:pt x="61607" y="29984"/>
                </a:lnTo>
                <a:lnTo>
                  <a:pt x="101066" y="8893"/>
                </a:lnTo>
                <a:lnTo>
                  <a:pt x="144912" y="181"/>
                </a:lnTo>
                <a:lnTo>
                  <a:pt x="152399" y="0"/>
                </a:lnTo>
                <a:lnTo>
                  <a:pt x="1371599" y="0"/>
                </a:lnTo>
                <a:lnTo>
                  <a:pt x="1415839" y="6550"/>
                </a:lnTo>
                <a:lnTo>
                  <a:pt x="1456268" y="25672"/>
                </a:lnTo>
                <a:lnTo>
                  <a:pt x="1489407" y="55712"/>
                </a:lnTo>
                <a:lnTo>
                  <a:pt x="1512398" y="94059"/>
                </a:lnTo>
                <a:lnTo>
                  <a:pt x="1523267" y="137443"/>
                </a:lnTo>
                <a:lnTo>
                  <a:pt x="1523999" y="152399"/>
                </a:lnTo>
                <a:lnTo>
                  <a:pt x="1523816" y="159877"/>
                </a:lnTo>
                <a:lnTo>
                  <a:pt x="1515094" y="203716"/>
                </a:lnTo>
                <a:lnTo>
                  <a:pt x="1494003" y="243167"/>
                </a:lnTo>
                <a:lnTo>
                  <a:pt x="1462392" y="274788"/>
                </a:lnTo>
                <a:lnTo>
                  <a:pt x="1422933" y="295872"/>
                </a:lnTo>
                <a:lnTo>
                  <a:pt x="1379086" y="304615"/>
                </a:lnTo>
                <a:lnTo>
                  <a:pt x="13715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208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体験談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スト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リ</a:t>
            </a:r>
            <a:r>
              <a:rPr sz="1100" spc="-175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18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487420" cy="8299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⻭医者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のイメ</a:t>
            </a: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ジが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わった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河野⻭科院⻑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50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践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⻭医者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そう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っている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いですよね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河野⻭科医院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めてから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反応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わりました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860425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導⼊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したもの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治療室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れる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のせせらぎ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キ</a:t>
            </a:r>
            <a:r>
              <a:rPr sz="1250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ンという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治療⾳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代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わりに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空間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⻭医者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怖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いイメ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ジが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わった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リラックスして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けられる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痛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みが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スタッフの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スタッフ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全員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7"/>
            <a:ext cx="7063105" cy="2781935"/>
            <a:chOff x="352425" y="352397"/>
            <a:chExt cx="7063105" cy="2781935"/>
          </a:xfrm>
        </p:grpSpPr>
        <p:sp>
          <p:nvSpPr>
            <p:cNvPr id="3" name="object 3"/>
            <p:cNvSpPr/>
            <p:nvPr/>
          </p:nvSpPr>
          <p:spPr>
            <a:xfrm>
              <a:off x="357187" y="352418"/>
              <a:ext cx="7058025" cy="2776855"/>
            </a:xfrm>
            <a:custGeom>
              <a:avLst/>
              <a:gdLst/>
              <a:ahLst/>
              <a:cxnLst/>
              <a:rect l="l" t="t" r="r" b="b"/>
              <a:pathLst>
                <a:path w="7058025" h="2776855">
                  <a:moveTo>
                    <a:pt x="6955678" y="2776518"/>
                  </a:moveTo>
                  <a:lnTo>
                    <a:pt x="102345" y="2776518"/>
                  </a:lnTo>
                  <a:lnTo>
                    <a:pt x="95221" y="2775813"/>
                  </a:lnTo>
                  <a:lnTo>
                    <a:pt x="54661" y="2762059"/>
                  </a:lnTo>
                  <a:lnTo>
                    <a:pt x="22456" y="2733827"/>
                  </a:lnTo>
                  <a:lnTo>
                    <a:pt x="3507" y="2695384"/>
                  </a:lnTo>
                  <a:lnTo>
                    <a:pt x="0" y="2674162"/>
                  </a:lnTo>
                  <a:lnTo>
                    <a:pt x="0" y="26669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2674162"/>
                  </a:lnTo>
                  <a:lnTo>
                    <a:pt x="7046932" y="2715539"/>
                  </a:lnTo>
                  <a:lnTo>
                    <a:pt x="7020855" y="2749524"/>
                  </a:lnTo>
                  <a:lnTo>
                    <a:pt x="6983759" y="2770936"/>
                  </a:lnTo>
                  <a:lnTo>
                    <a:pt x="6962802" y="2775813"/>
                  </a:lnTo>
                  <a:lnTo>
                    <a:pt x="6955678" y="27765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2781935"/>
            </a:xfrm>
            <a:custGeom>
              <a:avLst/>
              <a:gdLst/>
              <a:ahLst/>
              <a:cxnLst/>
              <a:rect l="l" t="t" r="r" b="b"/>
              <a:pathLst>
                <a:path w="7061834" h="2781935">
                  <a:moveTo>
                    <a:pt x="7061289" y="0"/>
                  </a:moveTo>
                  <a:lnTo>
                    <a:pt x="7058012" y="0"/>
                  </a:lnTo>
                  <a:lnTo>
                    <a:pt x="7058012" y="2667012"/>
                  </a:lnTo>
                  <a:lnTo>
                    <a:pt x="7057517" y="2677337"/>
                  </a:lnTo>
                  <a:lnTo>
                    <a:pt x="7045630" y="2716453"/>
                  </a:lnTo>
                  <a:lnTo>
                    <a:pt x="7026834" y="2741549"/>
                  </a:lnTo>
                  <a:lnTo>
                    <a:pt x="6993344" y="2763812"/>
                  </a:lnTo>
                  <a:lnTo>
                    <a:pt x="6953237" y="2771787"/>
                  </a:lnTo>
                  <a:lnTo>
                    <a:pt x="114300" y="2771787"/>
                  </a:lnTo>
                  <a:lnTo>
                    <a:pt x="74193" y="2763812"/>
                  </a:lnTo>
                  <a:lnTo>
                    <a:pt x="40690" y="2741561"/>
                  </a:lnTo>
                  <a:lnTo>
                    <a:pt x="33261" y="2733446"/>
                  </a:lnTo>
                  <a:lnTo>
                    <a:pt x="14008" y="2697378"/>
                  </a:lnTo>
                  <a:lnTo>
                    <a:pt x="9525" y="2667012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667012"/>
                  </a:lnTo>
                  <a:lnTo>
                    <a:pt x="533" y="2678265"/>
                  </a:lnTo>
                  <a:lnTo>
                    <a:pt x="13500" y="2720949"/>
                  </a:lnTo>
                  <a:lnTo>
                    <a:pt x="33515" y="2747797"/>
                  </a:lnTo>
                  <a:lnTo>
                    <a:pt x="70548" y="2772613"/>
                  </a:lnTo>
                  <a:lnTo>
                    <a:pt x="114300" y="2781312"/>
                  </a:lnTo>
                  <a:lnTo>
                    <a:pt x="6953237" y="2781312"/>
                  </a:lnTo>
                  <a:lnTo>
                    <a:pt x="6996989" y="2772613"/>
                  </a:lnTo>
                  <a:lnTo>
                    <a:pt x="6998729" y="2771787"/>
                  </a:lnTo>
                  <a:lnTo>
                    <a:pt x="7007174" y="2767800"/>
                  </a:lnTo>
                  <a:lnTo>
                    <a:pt x="7016763" y="2762072"/>
                  </a:lnTo>
                  <a:lnTo>
                    <a:pt x="7025716" y="2755417"/>
                  </a:lnTo>
                  <a:lnTo>
                    <a:pt x="7033565" y="2748280"/>
                  </a:lnTo>
                  <a:lnTo>
                    <a:pt x="7034060" y="2747835"/>
                  </a:lnTo>
                  <a:lnTo>
                    <a:pt x="7041642" y="2739491"/>
                  </a:lnTo>
                  <a:lnTo>
                    <a:pt x="7048297" y="2730525"/>
                  </a:lnTo>
                  <a:lnTo>
                    <a:pt x="7054024" y="2720949"/>
                  </a:lnTo>
                  <a:lnTo>
                    <a:pt x="7058838" y="2710751"/>
                  </a:lnTo>
                  <a:lnTo>
                    <a:pt x="7061289" y="270391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178550" cy="22517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河野院⻑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いわく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くだけで</a:t>
            </a:r>
            <a:endParaRPr sz="125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⼼⾝共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にリラックスします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あなたの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職場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れてみませんか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⻭科医院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⻭医者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リラックス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環境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⾳楽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職場</a:t>
            </a:r>
            <a:r>
              <a:rPr sz="1100" spc="-125" dirty="0">
                <a:solidFill>
                  <a:srgbClr val="3797F0"/>
                </a:solidFill>
                <a:latin typeface="SimSun"/>
                <a:cs typeface="SimSun"/>
              </a:rPr>
              <a:t>環境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働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き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⽅改⾰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患者満⾜度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スタッフ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健康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 </a:t>
            </a:r>
            <a:r>
              <a:rPr sz="1150" spc="-95" dirty="0">
                <a:solidFill>
                  <a:srgbClr val="3797F0"/>
                </a:solidFill>
                <a:latin typeface="Comic Sans MS"/>
                <a:cs typeface="Comic Sans MS"/>
              </a:rPr>
              <a:t>#BGM</a:t>
            </a:r>
            <a:r>
              <a:rPr sz="1150" spc="-135" dirty="0">
                <a:solidFill>
                  <a:srgbClr val="3797F0"/>
                </a:solidFill>
                <a:latin typeface="Comic Sans MS"/>
                <a:cs typeface="Comic Sans MS"/>
              </a:rPr>
              <a:t> 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しの</a:t>
            </a:r>
            <a:r>
              <a:rPr sz="1100" spc="-120" dirty="0">
                <a:solidFill>
                  <a:srgbClr val="3797F0"/>
                </a:solidFill>
                <a:latin typeface="SimSun"/>
                <a:cs typeface="SimSun"/>
              </a:rPr>
              <a:t>空間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医療現場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ストレス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軽減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環境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改善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19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1"/>
            <a:ext cx="7061834" cy="9347835"/>
            <a:chOff x="352425" y="352411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67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3"/>
                  </a:moveTo>
                  <a:lnTo>
                    <a:pt x="0" y="9342543"/>
                  </a:lnTo>
                  <a:lnTo>
                    <a:pt x="0" y="102336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68"/>
                  </a:lnTo>
                  <a:lnTo>
                    <a:pt x="7031026" y="37147"/>
                  </a:lnTo>
                  <a:lnTo>
                    <a:pt x="7052437" y="74228"/>
                  </a:lnTo>
                  <a:lnTo>
                    <a:pt x="7056536" y="91266"/>
                  </a:lnTo>
                  <a:lnTo>
                    <a:pt x="7056536" y="93425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93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6998729" y="9525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712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87"/>
                  </a:lnTo>
                  <a:lnTo>
                    <a:pt x="2171" y="91998"/>
                  </a:lnTo>
                  <a:lnTo>
                    <a:pt x="0" y="114300"/>
                  </a:lnTo>
                  <a:lnTo>
                    <a:pt x="0" y="9347302"/>
                  </a:lnTo>
                  <a:lnTo>
                    <a:pt x="9525" y="9347302"/>
                  </a:lnTo>
                  <a:lnTo>
                    <a:pt x="9525" y="114300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14"/>
                  </a:lnTo>
                  <a:lnTo>
                    <a:pt x="7050037" y="74206"/>
                  </a:lnTo>
                  <a:lnTo>
                    <a:pt x="7058012" y="114300"/>
                  </a:lnTo>
                  <a:lnTo>
                    <a:pt x="7058012" y="9347302"/>
                  </a:lnTo>
                  <a:lnTo>
                    <a:pt x="7061289" y="9347302"/>
                  </a:lnTo>
                  <a:lnTo>
                    <a:pt x="7061289" y="7739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8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79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1177" y="703816"/>
            <a:ext cx="133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9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3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1371599" y="304799"/>
                </a:moveTo>
                <a:lnTo>
                  <a:pt x="152399" y="304799"/>
                </a:lnTo>
                <a:lnTo>
                  <a:pt x="144912" y="304605"/>
                </a:lnTo>
                <a:lnTo>
                  <a:pt x="101066" y="295842"/>
                </a:lnTo>
                <a:lnTo>
                  <a:pt x="61607" y="274780"/>
                </a:lnTo>
                <a:lnTo>
                  <a:pt x="29995" y="243185"/>
                </a:lnTo>
                <a:lnTo>
                  <a:pt x="8904" y="203711"/>
                </a:lnTo>
                <a:lnTo>
                  <a:pt x="183" y="159886"/>
                </a:lnTo>
                <a:lnTo>
                  <a:pt x="0" y="152399"/>
                </a:lnTo>
                <a:lnTo>
                  <a:pt x="183" y="144909"/>
                </a:lnTo>
                <a:lnTo>
                  <a:pt x="8904" y="101050"/>
                </a:lnTo>
                <a:lnTo>
                  <a:pt x="29995" y="61592"/>
                </a:lnTo>
                <a:lnTo>
                  <a:pt x="61607" y="29965"/>
                </a:lnTo>
                <a:lnTo>
                  <a:pt x="101066" y="8885"/>
                </a:lnTo>
                <a:lnTo>
                  <a:pt x="144912" y="185"/>
                </a:lnTo>
                <a:lnTo>
                  <a:pt x="152399" y="0"/>
                </a:lnTo>
                <a:lnTo>
                  <a:pt x="1371599" y="0"/>
                </a:lnTo>
                <a:lnTo>
                  <a:pt x="1415839" y="6550"/>
                </a:lnTo>
                <a:lnTo>
                  <a:pt x="1456268" y="25650"/>
                </a:lnTo>
                <a:lnTo>
                  <a:pt x="1489407" y="55705"/>
                </a:lnTo>
                <a:lnTo>
                  <a:pt x="1512398" y="94059"/>
                </a:lnTo>
                <a:lnTo>
                  <a:pt x="1523267" y="137455"/>
                </a:lnTo>
                <a:lnTo>
                  <a:pt x="1523999" y="152399"/>
                </a:lnTo>
                <a:lnTo>
                  <a:pt x="1523816" y="159886"/>
                </a:lnTo>
                <a:lnTo>
                  <a:pt x="1515094" y="203711"/>
                </a:lnTo>
                <a:lnTo>
                  <a:pt x="1494003" y="243185"/>
                </a:lnTo>
                <a:lnTo>
                  <a:pt x="1462392" y="274780"/>
                </a:lnTo>
                <a:lnTo>
                  <a:pt x="1422933" y="295842"/>
                </a:lnTo>
                <a:lnTo>
                  <a:pt x="1379086" y="304605"/>
                </a:lnTo>
                <a:lnTo>
                  <a:pt x="13715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208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体験談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スト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リ</a:t>
            </a:r>
            <a:r>
              <a:rPr sz="1100" spc="-175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20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776979" cy="8041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梗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塞後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のリハビリ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杖なしで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歩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けるようになった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男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性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メイリオ"/>
              <a:cs typeface="メイリオ"/>
            </a:endParaRPr>
          </a:p>
          <a:p>
            <a:pPr marL="12700" marR="1906905">
              <a:lnSpc>
                <a:spcPct val="1317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これは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兼松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さんのサロンに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われた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男性</a:t>
            </a:r>
            <a:r>
              <a:rPr sz="1300" spc="-165" dirty="0">
                <a:solidFill>
                  <a:srgbClr val="333333"/>
                </a:solidFill>
                <a:latin typeface="Comic Sans MS"/>
                <a:cs typeface="Comic Sans MS"/>
              </a:rPr>
              <a:t>N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話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149985">
              <a:lnSpc>
                <a:spcPct val="1317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 </a:t>
            </a:r>
            <a:r>
              <a:rPr sz="1300" spc="-165" dirty="0">
                <a:solidFill>
                  <a:srgbClr val="333333"/>
                </a:solidFill>
                <a:latin typeface="Comic Sans MS"/>
                <a:cs typeface="Comic Sans MS"/>
              </a:rPr>
              <a:t>N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さんのケ</a:t>
            </a:r>
            <a:r>
              <a:rPr sz="1250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ス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患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左⾜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痺が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杖なしでは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けない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229" dirty="0">
                <a:solidFill>
                  <a:srgbClr val="333333"/>
                </a:solidFill>
                <a:latin typeface="BIZ UDPゴシック"/>
                <a:cs typeface="BIZ UDPゴシック"/>
              </a:rPr>
              <a:t>々。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873885">
              <a:lnSpc>
                <a:spcPct val="135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もう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元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戻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れないのか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そう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諦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めかけていた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リングと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う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けた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後</a:t>
            </a:r>
            <a:endParaRPr sz="1250">
              <a:latin typeface="メイリオ"/>
              <a:cs typeface="メイリオ"/>
            </a:endParaRPr>
          </a:p>
          <a:p>
            <a:pPr marL="12700" marR="1873885">
              <a:lnSpc>
                <a:spcPts val="2100"/>
              </a:lnSpc>
              <a:spcBef>
                <a:spcPts val="9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左⾜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動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きやすくなった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じるように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そして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ついに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13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杖なしで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歩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けるようになった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8"/>
            <a:ext cx="7063105" cy="3820160"/>
            <a:chOff x="352425" y="352398"/>
            <a:chExt cx="7063105" cy="3820160"/>
          </a:xfrm>
        </p:grpSpPr>
        <p:sp>
          <p:nvSpPr>
            <p:cNvPr id="3" name="object 3"/>
            <p:cNvSpPr/>
            <p:nvPr/>
          </p:nvSpPr>
          <p:spPr>
            <a:xfrm>
              <a:off x="357187" y="352417"/>
              <a:ext cx="7058025" cy="3815079"/>
            </a:xfrm>
            <a:custGeom>
              <a:avLst/>
              <a:gdLst/>
              <a:ahLst/>
              <a:cxnLst/>
              <a:rect l="l" t="t" r="r" b="b"/>
              <a:pathLst>
                <a:path w="7058025" h="3815079">
                  <a:moveTo>
                    <a:pt x="6955678" y="3814743"/>
                  </a:moveTo>
                  <a:lnTo>
                    <a:pt x="102345" y="3814743"/>
                  </a:lnTo>
                  <a:lnTo>
                    <a:pt x="95221" y="3814038"/>
                  </a:lnTo>
                  <a:lnTo>
                    <a:pt x="54661" y="3800274"/>
                  </a:lnTo>
                  <a:lnTo>
                    <a:pt x="22456" y="3772033"/>
                  </a:lnTo>
                  <a:lnTo>
                    <a:pt x="3507" y="3733628"/>
                  </a:lnTo>
                  <a:lnTo>
                    <a:pt x="0" y="3712406"/>
                  </a:lnTo>
                  <a:lnTo>
                    <a:pt x="0" y="370522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712406"/>
                  </a:lnTo>
                  <a:lnTo>
                    <a:pt x="7046932" y="3753764"/>
                  </a:lnTo>
                  <a:lnTo>
                    <a:pt x="7020855" y="3787749"/>
                  </a:lnTo>
                  <a:lnTo>
                    <a:pt x="6983759" y="3809142"/>
                  </a:lnTo>
                  <a:lnTo>
                    <a:pt x="6962802" y="3814038"/>
                  </a:lnTo>
                  <a:lnTo>
                    <a:pt x="6955678" y="3814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3820160"/>
            </a:xfrm>
            <a:custGeom>
              <a:avLst/>
              <a:gdLst/>
              <a:ahLst/>
              <a:cxnLst/>
              <a:rect l="l" t="t" r="r" b="b"/>
              <a:pathLst>
                <a:path w="7061834" h="3820160">
                  <a:moveTo>
                    <a:pt x="7061289" y="0"/>
                  </a:moveTo>
                  <a:lnTo>
                    <a:pt x="7058012" y="0"/>
                  </a:lnTo>
                  <a:lnTo>
                    <a:pt x="7058012" y="3705237"/>
                  </a:lnTo>
                  <a:lnTo>
                    <a:pt x="7057517" y="3715562"/>
                  </a:lnTo>
                  <a:lnTo>
                    <a:pt x="7045630" y="3754678"/>
                  </a:lnTo>
                  <a:lnTo>
                    <a:pt x="7026834" y="3779774"/>
                  </a:lnTo>
                  <a:lnTo>
                    <a:pt x="6993344" y="3802037"/>
                  </a:lnTo>
                  <a:lnTo>
                    <a:pt x="6953237" y="3810025"/>
                  </a:lnTo>
                  <a:lnTo>
                    <a:pt x="114300" y="3810025"/>
                  </a:lnTo>
                  <a:lnTo>
                    <a:pt x="74193" y="3802037"/>
                  </a:lnTo>
                  <a:lnTo>
                    <a:pt x="40690" y="3779786"/>
                  </a:lnTo>
                  <a:lnTo>
                    <a:pt x="33261" y="3771671"/>
                  </a:lnTo>
                  <a:lnTo>
                    <a:pt x="14008" y="3735603"/>
                  </a:lnTo>
                  <a:lnTo>
                    <a:pt x="9525" y="370523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705237"/>
                  </a:lnTo>
                  <a:lnTo>
                    <a:pt x="533" y="3716490"/>
                  </a:lnTo>
                  <a:lnTo>
                    <a:pt x="13500" y="3759174"/>
                  </a:lnTo>
                  <a:lnTo>
                    <a:pt x="33515" y="3786022"/>
                  </a:lnTo>
                  <a:lnTo>
                    <a:pt x="33921" y="3786479"/>
                  </a:lnTo>
                  <a:lnTo>
                    <a:pt x="41821" y="3793642"/>
                  </a:lnTo>
                  <a:lnTo>
                    <a:pt x="81165" y="3814648"/>
                  </a:lnTo>
                  <a:lnTo>
                    <a:pt x="114300" y="3819550"/>
                  </a:lnTo>
                  <a:lnTo>
                    <a:pt x="6953237" y="3819550"/>
                  </a:lnTo>
                  <a:lnTo>
                    <a:pt x="6996989" y="3810838"/>
                  </a:lnTo>
                  <a:lnTo>
                    <a:pt x="7033552" y="3786517"/>
                  </a:lnTo>
                  <a:lnTo>
                    <a:pt x="7034060" y="3786060"/>
                  </a:lnTo>
                  <a:lnTo>
                    <a:pt x="7058838" y="3748976"/>
                  </a:lnTo>
                  <a:lnTo>
                    <a:pt x="7061289" y="374214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40170" cy="35375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もちろん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個⼈差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はあります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がある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ということ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468185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めさせ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っていた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250" spc="-235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希望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けることの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教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えてくれるお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話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2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詳細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3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脳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梗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塞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リハビリ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回復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体験談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希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⾃然治癒⼒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⿇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痺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改善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歩⾏訓練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健康回復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あきらめない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実話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体験者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可能性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21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3"/>
            <a:ext cx="7061834" cy="9347835"/>
            <a:chOff x="352425" y="352413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68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3"/>
                  </a:moveTo>
                  <a:lnTo>
                    <a:pt x="0" y="9342543"/>
                  </a:lnTo>
                  <a:lnTo>
                    <a:pt x="0" y="102336"/>
                  </a:lnTo>
                  <a:lnTo>
                    <a:pt x="11090" y="60940"/>
                  </a:lnTo>
                  <a:lnTo>
                    <a:pt x="37168" y="26993"/>
                  </a:lnTo>
                  <a:lnTo>
                    <a:pt x="74264" y="5562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87"/>
                  </a:lnTo>
                  <a:lnTo>
                    <a:pt x="7031026" y="37147"/>
                  </a:lnTo>
                  <a:lnTo>
                    <a:pt x="7052437" y="74228"/>
                  </a:lnTo>
                  <a:lnTo>
                    <a:pt x="7056536" y="91266"/>
                  </a:lnTo>
                  <a:lnTo>
                    <a:pt x="7056536" y="93425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33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48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01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7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1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10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2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1371599" y="304799"/>
                </a:moveTo>
                <a:lnTo>
                  <a:pt x="152399" y="304799"/>
                </a:lnTo>
                <a:lnTo>
                  <a:pt x="144912" y="304605"/>
                </a:lnTo>
                <a:lnTo>
                  <a:pt x="101066" y="295861"/>
                </a:lnTo>
                <a:lnTo>
                  <a:pt x="61607" y="274780"/>
                </a:lnTo>
                <a:lnTo>
                  <a:pt x="29995" y="243180"/>
                </a:lnTo>
                <a:lnTo>
                  <a:pt x="8904" y="203713"/>
                </a:lnTo>
                <a:lnTo>
                  <a:pt x="183" y="159878"/>
                </a:lnTo>
                <a:lnTo>
                  <a:pt x="0" y="152399"/>
                </a:lnTo>
                <a:lnTo>
                  <a:pt x="183" y="144898"/>
                </a:lnTo>
                <a:lnTo>
                  <a:pt x="8904" y="101031"/>
                </a:lnTo>
                <a:lnTo>
                  <a:pt x="29995" y="61581"/>
                </a:lnTo>
                <a:lnTo>
                  <a:pt x="61607" y="29962"/>
                </a:lnTo>
                <a:lnTo>
                  <a:pt x="101066" y="8881"/>
                </a:lnTo>
                <a:lnTo>
                  <a:pt x="144912" y="182"/>
                </a:lnTo>
                <a:lnTo>
                  <a:pt x="152399" y="0"/>
                </a:lnTo>
                <a:lnTo>
                  <a:pt x="1371599" y="0"/>
                </a:lnTo>
                <a:lnTo>
                  <a:pt x="1415839" y="6538"/>
                </a:lnTo>
                <a:lnTo>
                  <a:pt x="1456268" y="25650"/>
                </a:lnTo>
                <a:lnTo>
                  <a:pt x="1489407" y="55686"/>
                </a:lnTo>
                <a:lnTo>
                  <a:pt x="1512398" y="94040"/>
                </a:lnTo>
                <a:lnTo>
                  <a:pt x="1523267" y="137438"/>
                </a:lnTo>
                <a:lnTo>
                  <a:pt x="1523999" y="152399"/>
                </a:lnTo>
                <a:lnTo>
                  <a:pt x="1523816" y="159878"/>
                </a:lnTo>
                <a:lnTo>
                  <a:pt x="1515094" y="203713"/>
                </a:lnTo>
                <a:lnTo>
                  <a:pt x="1494003" y="243180"/>
                </a:lnTo>
                <a:lnTo>
                  <a:pt x="1462392" y="274780"/>
                </a:lnTo>
                <a:lnTo>
                  <a:pt x="1422933" y="295861"/>
                </a:lnTo>
                <a:lnTo>
                  <a:pt x="1379086" y="304605"/>
                </a:lnTo>
                <a:lnTo>
                  <a:pt x="13715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208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体験談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スト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リ</a:t>
            </a:r>
            <a:r>
              <a:rPr sz="1100" spc="-175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22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054350" cy="839011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熊本地震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乗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越</a:t>
            </a:r>
            <a:r>
              <a:rPr sz="1250" spc="-165" dirty="0">
                <a:solidFill>
                  <a:srgbClr val="333333"/>
                </a:solidFill>
                <a:latin typeface="SimSun"/>
                <a:cs typeface="SimSun"/>
              </a:rPr>
              <a:t>えて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救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2016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年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熊本地震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荒井由紀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被災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しました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42735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彼⼥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がしたこと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716915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すぐに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へ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体感⾳響機器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設置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のケアを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⽗様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最期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296035">
              <a:lnSpc>
                <a:spcPct val="135000"/>
              </a:lnSpc>
            </a:pP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後</a:t>
            </a:r>
            <a:r>
              <a:rPr sz="1250" spc="63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⽗様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⼊院</a:t>
            </a:r>
            <a:r>
              <a:rPr sz="1250" spc="18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看取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りの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25" dirty="0" err="1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lang="ja-JP" altLang="en-US" sz="1250" spc="-125" dirty="0">
                <a:solidFill>
                  <a:srgbClr val="333333"/>
                </a:solidFill>
                <a:latin typeface="SimSun"/>
                <a:cs typeface="SimSun"/>
              </a:rPr>
              <a:t>　体感音響でケア</a:t>
            </a: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⾏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440815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循環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250" spc="-95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排出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良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くなった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60325" marR="1440815" indent="-48260">
              <a:lnSpc>
                <a:spcPct val="14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はどんな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状況下</a:t>
            </a:r>
            <a:r>
              <a:rPr sz="1250" spc="-685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うことを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⽗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せてもらった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がしました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⺟様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250" spc="-165" dirty="0">
                <a:solidFill>
                  <a:srgbClr val="333333"/>
                </a:solidFill>
                <a:latin typeface="SimSun"/>
                <a:cs typeface="SimSun"/>
              </a:rPr>
              <a:t>セルフヒ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リングを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けた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endParaRPr sz="1250" dirty="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5"/>
            <a:ext cx="7063105" cy="3562985"/>
            <a:chOff x="352425" y="352415"/>
            <a:chExt cx="7063105" cy="3562985"/>
          </a:xfrm>
        </p:grpSpPr>
        <p:sp>
          <p:nvSpPr>
            <p:cNvPr id="3" name="object 3"/>
            <p:cNvSpPr/>
            <p:nvPr/>
          </p:nvSpPr>
          <p:spPr>
            <a:xfrm>
              <a:off x="357187" y="352417"/>
              <a:ext cx="7058025" cy="3557904"/>
            </a:xfrm>
            <a:custGeom>
              <a:avLst/>
              <a:gdLst/>
              <a:ahLst/>
              <a:cxnLst/>
              <a:rect l="l" t="t" r="r" b="b"/>
              <a:pathLst>
                <a:path w="7058025" h="3557904">
                  <a:moveTo>
                    <a:pt x="6955678" y="3557568"/>
                  </a:moveTo>
                  <a:lnTo>
                    <a:pt x="102345" y="3557568"/>
                  </a:lnTo>
                  <a:lnTo>
                    <a:pt x="95221" y="3556863"/>
                  </a:lnTo>
                  <a:lnTo>
                    <a:pt x="54661" y="3543080"/>
                  </a:lnTo>
                  <a:lnTo>
                    <a:pt x="22456" y="3514858"/>
                  </a:lnTo>
                  <a:lnTo>
                    <a:pt x="3507" y="3476434"/>
                  </a:lnTo>
                  <a:lnTo>
                    <a:pt x="0" y="3455231"/>
                  </a:lnTo>
                  <a:lnTo>
                    <a:pt x="0" y="34480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455231"/>
                  </a:lnTo>
                  <a:lnTo>
                    <a:pt x="7046932" y="3496589"/>
                  </a:lnTo>
                  <a:lnTo>
                    <a:pt x="7020855" y="3530555"/>
                  </a:lnTo>
                  <a:lnTo>
                    <a:pt x="6983759" y="3551967"/>
                  </a:lnTo>
                  <a:lnTo>
                    <a:pt x="6962802" y="3556863"/>
                  </a:lnTo>
                  <a:lnTo>
                    <a:pt x="6955678" y="35575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562985"/>
            </a:xfrm>
            <a:custGeom>
              <a:avLst/>
              <a:gdLst/>
              <a:ahLst/>
              <a:cxnLst/>
              <a:rect l="l" t="t" r="r" b="b"/>
              <a:pathLst>
                <a:path w="7061834" h="3562985">
                  <a:moveTo>
                    <a:pt x="7061289" y="0"/>
                  </a:moveTo>
                  <a:lnTo>
                    <a:pt x="7058012" y="0"/>
                  </a:lnTo>
                  <a:lnTo>
                    <a:pt x="7058012" y="3448050"/>
                  </a:lnTo>
                  <a:lnTo>
                    <a:pt x="7057517" y="3458375"/>
                  </a:lnTo>
                  <a:lnTo>
                    <a:pt x="7045630" y="3497491"/>
                  </a:lnTo>
                  <a:lnTo>
                    <a:pt x="7026834" y="3522599"/>
                  </a:lnTo>
                  <a:lnTo>
                    <a:pt x="6993344" y="3544862"/>
                  </a:lnTo>
                  <a:lnTo>
                    <a:pt x="6953237" y="3552837"/>
                  </a:lnTo>
                  <a:lnTo>
                    <a:pt x="114300" y="3552837"/>
                  </a:lnTo>
                  <a:lnTo>
                    <a:pt x="74193" y="3544862"/>
                  </a:lnTo>
                  <a:lnTo>
                    <a:pt x="40690" y="3522611"/>
                  </a:lnTo>
                  <a:lnTo>
                    <a:pt x="33261" y="3514483"/>
                  </a:lnTo>
                  <a:lnTo>
                    <a:pt x="14008" y="3478428"/>
                  </a:lnTo>
                  <a:lnTo>
                    <a:pt x="9525" y="3448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448050"/>
                  </a:lnTo>
                  <a:lnTo>
                    <a:pt x="533" y="3459315"/>
                  </a:lnTo>
                  <a:lnTo>
                    <a:pt x="13500" y="3501987"/>
                  </a:lnTo>
                  <a:lnTo>
                    <a:pt x="33515" y="3528847"/>
                  </a:lnTo>
                  <a:lnTo>
                    <a:pt x="70548" y="3553663"/>
                  </a:lnTo>
                  <a:lnTo>
                    <a:pt x="114300" y="3562362"/>
                  </a:lnTo>
                  <a:lnTo>
                    <a:pt x="6953237" y="3562362"/>
                  </a:lnTo>
                  <a:lnTo>
                    <a:pt x="6996989" y="3553663"/>
                  </a:lnTo>
                  <a:lnTo>
                    <a:pt x="6998729" y="3552837"/>
                  </a:lnTo>
                  <a:lnTo>
                    <a:pt x="7007174" y="3548850"/>
                  </a:lnTo>
                  <a:lnTo>
                    <a:pt x="7016763" y="3543122"/>
                  </a:lnTo>
                  <a:lnTo>
                    <a:pt x="7025716" y="3536467"/>
                  </a:lnTo>
                  <a:lnTo>
                    <a:pt x="7033565" y="3529330"/>
                  </a:lnTo>
                  <a:lnTo>
                    <a:pt x="7034060" y="3528885"/>
                  </a:lnTo>
                  <a:lnTo>
                    <a:pt x="7041642" y="3520529"/>
                  </a:lnTo>
                  <a:lnTo>
                    <a:pt x="7048297" y="3511562"/>
                  </a:lnTo>
                  <a:lnTo>
                    <a:pt x="7054024" y="3501987"/>
                  </a:lnTo>
                  <a:lnTo>
                    <a:pt x="7058838" y="3491788"/>
                  </a:lnTo>
                  <a:lnTo>
                    <a:pt x="7061289" y="348496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24295" cy="3280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376420">
              <a:lnSpc>
                <a:spcPct val="135000"/>
              </a:lnSpc>
              <a:spcBef>
                <a:spcPts val="9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元気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！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若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！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⼤丈夫</a:t>
            </a:r>
            <a:r>
              <a:rPr sz="1250" spc="-685" dirty="0">
                <a:solidFill>
                  <a:srgbClr val="333333"/>
                </a:solidFill>
                <a:latin typeface="BIZ UDPゴシック"/>
                <a:cs typeface="BIZ UDPゴシック"/>
              </a:rPr>
              <a:t>！」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前向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きな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SimSun"/>
              <a:cs typeface="SimSun"/>
            </a:endParaRPr>
          </a:p>
          <a:p>
            <a:pPr marL="12700" marR="423164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の絆を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もある</a:t>
            </a:r>
            <a:r>
              <a:rPr sz="125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そう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教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えてくれる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体験談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めるヒ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習慣</a:t>
            </a:r>
            <a:endParaRPr sz="1250">
              <a:latin typeface="メイリオ"/>
              <a:cs typeface="メイリオ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熊本地震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家族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絆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看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取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り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5" dirty="0">
                <a:solidFill>
                  <a:srgbClr val="3797F0"/>
                </a:solidFill>
                <a:latin typeface="SimSun"/>
                <a:cs typeface="SimSun"/>
              </a:rPr>
              <a:t>セルフヒ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家族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のケア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体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験談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実話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し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希</a:t>
            </a:r>
            <a:r>
              <a:rPr sz="1100" spc="-55" dirty="0">
                <a:solidFill>
                  <a:srgbClr val="3797F0"/>
                </a:solidFill>
                <a:latin typeface="メイリオ"/>
                <a:cs typeface="メイリオ"/>
              </a:rPr>
              <a:t>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前向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き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⽣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きる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⼒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23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1"/>
            <a:ext cx="7061834" cy="9347835"/>
            <a:chOff x="352425" y="352431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6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6"/>
                  </a:moveTo>
                  <a:lnTo>
                    <a:pt x="0" y="9342536"/>
                  </a:lnTo>
                  <a:lnTo>
                    <a:pt x="0" y="102336"/>
                  </a:lnTo>
                  <a:lnTo>
                    <a:pt x="11087" y="60940"/>
                  </a:lnTo>
                  <a:lnTo>
                    <a:pt x="37166" y="26993"/>
                  </a:lnTo>
                  <a:lnTo>
                    <a:pt x="74266" y="5581"/>
                  </a:lnTo>
                  <a:lnTo>
                    <a:pt x="102346" y="0"/>
                  </a:lnTo>
                  <a:lnTo>
                    <a:pt x="6955679" y="0"/>
                  </a:lnTo>
                  <a:lnTo>
                    <a:pt x="6997046" y="11068"/>
                  </a:lnTo>
                  <a:lnTo>
                    <a:pt x="7031031" y="37166"/>
                  </a:lnTo>
                  <a:lnTo>
                    <a:pt x="7052434" y="74228"/>
                  </a:lnTo>
                  <a:lnTo>
                    <a:pt x="7056536" y="91263"/>
                  </a:lnTo>
                  <a:lnTo>
                    <a:pt x="7056536" y="9342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22" y="33528"/>
                  </a:lnTo>
                  <a:lnTo>
                    <a:pt x="7033565" y="33020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50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64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46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50" y="9525"/>
                  </a:lnTo>
                  <a:lnTo>
                    <a:pt x="6993344" y="17500"/>
                  </a:lnTo>
                  <a:lnTo>
                    <a:pt x="7026872" y="39801"/>
                  </a:lnTo>
                  <a:lnTo>
                    <a:pt x="7050037" y="74193"/>
                  </a:lnTo>
                  <a:lnTo>
                    <a:pt x="7058025" y="114287"/>
                  </a:lnTo>
                  <a:lnTo>
                    <a:pt x="7058025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700" y="117157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7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6477000" y="0"/>
                  </a:lnTo>
                  <a:lnTo>
                    <a:pt x="6477000" y="9525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9"/>
              <a:ext cx="381000" cy="381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991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11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5" y="685809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1371600" y="304800"/>
                </a:moveTo>
                <a:lnTo>
                  <a:pt x="152400" y="304800"/>
                </a:lnTo>
                <a:lnTo>
                  <a:pt x="144911" y="304606"/>
                </a:lnTo>
                <a:lnTo>
                  <a:pt x="101067" y="295872"/>
                </a:lnTo>
                <a:lnTo>
                  <a:pt x="61606" y="274780"/>
                </a:lnTo>
                <a:lnTo>
                  <a:pt x="29992" y="243169"/>
                </a:lnTo>
                <a:lnTo>
                  <a:pt x="8904" y="203714"/>
                </a:lnTo>
                <a:lnTo>
                  <a:pt x="182" y="159879"/>
                </a:lnTo>
                <a:lnTo>
                  <a:pt x="0" y="152400"/>
                </a:lnTo>
                <a:lnTo>
                  <a:pt x="182" y="144909"/>
                </a:lnTo>
                <a:lnTo>
                  <a:pt x="8904" y="101031"/>
                </a:lnTo>
                <a:lnTo>
                  <a:pt x="29992" y="61573"/>
                </a:lnTo>
                <a:lnTo>
                  <a:pt x="61606" y="29962"/>
                </a:lnTo>
                <a:lnTo>
                  <a:pt x="101067" y="8900"/>
                </a:lnTo>
                <a:lnTo>
                  <a:pt x="144911" y="182"/>
                </a:lnTo>
                <a:lnTo>
                  <a:pt x="152400" y="0"/>
                </a:lnTo>
                <a:lnTo>
                  <a:pt x="1371600" y="0"/>
                </a:lnTo>
                <a:lnTo>
                  <a:pt x="1415838" y="6557"/>
                </a:lnTo>
                <a:lnTo>
                  <a:pt x="1456267" y="25650"/>
                </a:lnTo>
                <a:lnTo>
                  <a:pt x="1489409" y="55686"/>
                </a:lnTo>
                <a:lnTo>
                  <a:pt x="1512398" y="94040"/>
                </a:lnTo>
                <a:lnTo>
                  <a:pt x="1523270" y="137455"/>
                </a:lnTo>
                <a:lnTo>
                  <a:pt x="1524000" y="152400"/>
                </a:lnTo>
                <a:lnTo>
                  <a:pt x="1523817" y="159879"/>
                </a:lnTo>
                <a:lnTo>
                  <a:pt x="1515095" y="203714"/>
                </a:lnTo>
                <a:lnTo>
                  <a:pt x="1494003" y="243169"/>
                </a:lnTo>
                <a:lnTo>
                  <a:pt x="1462393" y="274780"/>
                </a:lnTo>
                <a:lnTo>
                  <a:pt x="1422932" y="295872"/>
                </a:lnTo>
                <a:lnTo>
                  <a:pt x="1379088" y="304606"/>
                </a:lnTo>
                <a:lnTo>
                  <a:pt x="1371600" y="30480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5" y="727262"/>
            <a:ext cx="13208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体験談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スト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リ</a:t>
            </a:r>
            <a:r>
              <a:rPr sz="1100" spc="-175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24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5000" y="1325854"/>
            <a:ext cx="3546475" cy="80448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40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のクライアントが証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⾔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5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 覚</a:t>
            </a:r>
            <a:endParaRPr sz="1250">
              <a:latin typeface="メイリオ"/>
              <a:cs typeface="メイリオ"/>
            </a:endParaRPr>
          </a:p>
          <a:p>
            <a:pPr marL="12700" marR="1452880">
              <a:lnSpc>
                <a:spcPct val="133000"/>
              </a:lnSpc>
              <a:spcBef>
                <a:spcPts val="2050"/>
              </a:spcBef>
            </a:pPr>
            <a:r>
              <a:rPr sz="1300" spc="-120" dirty="0">
                <a:solidFill>
                  <a:srgbClr val="333333"/>
                </a:solidFill>
                <a:latin typeface="Comic Sans MS"/>
                <a:cs typeface="Comic Sans MS"/>
              </a:rPr>
              <a:t>Well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 Being</a:t>
            </a:r>
            <a:r>
              <a:rPr sz="1300" spc="-9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60" dirty="0">
                <a:solidFill>
                  <a:srgbClr val="333333"/>
                </a:solidFill>
                <a:latin typeface="Comic Sans MS"/>
                <a:cs typeface="Comic Sans MS"/>
              </a:rPr>
              <a:t>Creator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養成講座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した飯間まりさん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20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上の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術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習で</a:t>
            </a:r>
            <a:endParaRPr sz="1250">
              <a:latin typeface="SimSun"/>
              <a:cs typeface="SimSun"/>
            </a:endParaRPr>
          </a:p>
          <a:p>
            <a:pPr marL="12700" marR="1498600">
              <a:lnSpc>
                <a:spcPts val="2100"/>
              </a:lnSpc>
              <a:spcBef>
                <a:spcPts val="85"/>
              </a:spcBef>
            </a:pP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40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名以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上のクライアントから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たくさんの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きました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寄せられた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ちよかった</a:t>
            </a:r>
            <a:r>
              <a:rPr sz="1250" spc="90" dirty="0">
                <a:solidFill>
                  <a:srgbClr val="333333"/>
                </a:solidFill>
                <a:latin typeface="BIZ UDPゴシック"/>
                <a:cs typeface="BIZ UDPゴシック"/>
              </a:rPr>
              <a:t>〜〜」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にしっかり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ちいい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くなった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頭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がすっきりした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ってしまった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 marR="919480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━━━━━━━━━━━━━━━━━━共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通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しているのは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ちいい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感覚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 marR="178816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理論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えなくても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正直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感覚</a:t>
            </a:r>
            <a:r>
              <a:rPr sz="1250" spc="65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したことありますか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5"/>
            <a:ext cx="7063105" cy="3305810"/>
            <a:chOff x="352425" y="352415"/>
            <a:chExt cx="7063105" cy="3305810"/>
          </a:xfrm>
        </p:grpSpPr>
        <p:sp>
          <p:nvSpPr>
            <p:cNvPr id="3" name="object 3"/>
            <p:cNvSpPr/>
            <p:nvPr/>
          </p:nvSpPr>
          <p:spPr>
            <a:xfrm>
              <a:off x="357187" y="352416"/>
              <a:ext cx="7058025" cy="3300729"/>
            </a:xfrm>
            <a:custGeom>
              <a:avLst/>
              <a:gdLst/>
              <a:ahLst/>
              <a:cxnLst/>
              <a:rect l="l" t="t" r="r" b="b"/>
              <a:pathLst>
                <a:path w="7058025" h="3300729">
                  <a:moveTo>
                    <a:pt x="6955678" y="3300393"/>
                  </a:moveTo>
                  <a:lnTo>
                    <a:pt x="102345" y="3300393"/>
                  </a:lnTo>
                  <a:lnTo>
                    <a:pt x="95221" y="3299688"/>
                  </a:lnTo>
                  <a:lnTo>
                    <a:pt x="54661" y="3285924"/>
                  </a:lnTo>
                  <a:lnTo>
                    <a:pt x="22456" y="3257683"/>
                  </a:lnTo>
                  <a:lnTo>
                    <a:pt x="3507" y="3219259"/>
                  </a:lnTo>
                  <a:lnTo>
                    <a:pt x="0" y="3198056"/>
                  </a:lnTo>
                  <a:lnTo>
                    <a:pt x="0" y="31908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198056"/>
                  </a:lnTo>
                  <a:lnTo>
                    <a:pt x="7046932" y="3239414"/>
                  </a:lnTo>
                  <a:lnTo>
                    <a:pt x="7020855" y="3273399"/>
                  </a:lnTo>
                  <a:lnTo>
                    <a:pt x="6983759" y="3294792"/>
                  </a:lnTo>
                  <a:lnTo>
                    <a:pt x="6962802" y="3299688"/>
                  </a:lnTo>
                  <a:lnTo>
                    <a:pt x="6955678" y="33003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305810"/>
            </a:xfrm>
            <a:custGeom>
              <a:avLst/>
              <a:gdLst/>
              <a:ahLst/>
              <a:cxnLst/>
              <a:rect l="l" t="t" r="r" b="b"/>
              <a:pathLst>
                <a:path w="7061834" h="3305810">
                  <a:moveTo>
                    <a:pt x="7061289" y="0"/>
                  </a:moveTo>
                  <a:lnTo>
                    <a:pt x="7058012" y="0"/>
                  </a:lnTo>
                  <a:lnTo>
                    <a:pt x="7058012" y="3190875"/>
                  </a:lnTo>
                  <a:lnTo>
                    <a:pt x="7057517" y="3201200"/>
                  </a:lnTo>
                  <a:lnTo>
                    <a:pt x="7045630" y="3240316"/>
                  </a:lnTo>
                  <a:lnTo>
                    <a:pt x="7026834" y="3265424"/>
                  </a:lnTo>
                  <a:lnTo>
                    <a:pt x="6993344" y="3287687"/>
                  </a:lnTo>
                  <a:lnTo>
                    <a:pt x="6953237" y="3295662"/>
                  </a:lnTo>
                  <a:lnTo>
                    <a:pt x="114300" y="3295662"/>
                  </a:lnTo>
                  <a:lnTo>
                    <a:pt x="74193" y="3287687"/>
                  </a:lnTo>
                  <a:lnTo>
                    <a:pt x="40690" y="3265436"/>
                  </a:lnTo>
                  <a:lnTo>
                    <a:pt x="33261" y="3257321"/>
                  </a:lnTo>
                  <a:lnTo>
                    <a:pt x="14008" y="3221253"/>
                  </a:lnTo>
                  <a:lnTo>
                    <a:pt x="9525" y="319087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190875"/>
                  </a:lnTo>
                  <a:lnTo>
                    <a:pt x="533" y="3202140"/>
                  </a:lnTo>
                  <a:lnTo>
                    <a:pt x="13500" y="3244812"/>
                  </a:lnTo>
                  <a:lnTo>
                    <a:pt x="33515" y="3271672"/>
                  </a:lnTo>
                  <a:lnTo>
                    <a:pt x="70548" y="3296488"/>
                  </a:lnTo>
                  <a:lnTo>
                    <a:pt x="114300" y="3305187"/>
                  </a:lnTo>
                  <a:lnTo>
                    <a:pt x="6953237" y="3305187"/>
                  </a:lnTo>
                  <a:lnTo>
                    <a:pt x="6996989" y="3296488"/>
                  </a:lnTo>
                  <a:lnTo>
                    <a:pt x="6998729" y="3295662"/>
                  </a:lnTo>
                  <a:lnTo>
                    <a:pt x="7007174" y="3291675"/>
                  </a:lnTo>
                  <a:lnTo>
                    <a:pt x="7016763" y="3285947"/>
                  </a:lnTo>
                  <a:lnTo>
                    <a:pt x="7025716" y="3279292"/>
                  </a:lnTo>
                  <a:lnTo>
                    <a:pt x="7033565" y="3272155"/>
                  </a:lnTo>
                  <a:lnTo>
                    <a:pt x="7034060" y="3271710"/>
                  </a:lnTo>
                  <a:lnTo>
                    <a:pt x="7041642" y="3263354"/>
                  </a:lnTo>
                  <a:lnTo>
                    <a:pt x="7048297" y="3254387"/>
                  </a:lnTo>
                  <a:lnTo>
                    <a:pt x="7054024" y="3244812"/>
                  </a:lnTo>
                  <a:lnTo>
                    <a:pt x="7058838" y="3234626"/>
                  </a:lnTo>
                  <a:lnTo>
                    <a:pt x="7061289" y="32277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70015" cy="301371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だけでなく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4574540">
              <a:lnSpc>
                <a:spcPct val="135000"/>
              </a:lnSpc>
            </a:pP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それがサウンドヒ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リングの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本当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醍醐味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3816985">
              <a:lnSpc>
                <a:spcPct val="135000"/>
              </a:lnSpc>
              <a:spcBef>
                <a:spcPts val="75"/>
              </a:spcBef>
            </a:pPr>
            <a:r>
              <a:rPr sz="1250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してみたい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235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クショップ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情報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をチェック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3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クライアントの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体験談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気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持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ちいい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が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軽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リラックス </a:t>
            </a:r>
            <a:r>
              <a:rPr sz="1150" spc="-140" dirty="0">
                <a:solidFill>
                  <a:srgbClr val="3797F0"/>
                </a:solidFill>
                <a:latin typeface="Comic Sans MS"/>
                <a:cs typeface="Comic Sans MS"/>
              </a:rPr>
              <a:t>#Well-</a:t>
            </a:r>
            <a:r>
              <a:rPr sz="1150" dirty="0">
                <a:solidFill>
                  <a:srgbClr val="3797F0"/>
                </a:solidFill>
                <a:latin typeface="Comic Sans MS"/>
                <a:cs typeface="Comic Sans MS"/>
              </a:rPr>
              <a:t>Being</a:t>
            </a:r>
            <a:r>
              <a:rPr sz="1150" spc="-155" dirty="0">
                <a:solidFill>
                  <a:srgbClr val="3797F0"/>
                </a:solidFill>
                <a:latin typeface="Comic Sans MS"/>
                <a:cs typeface="Comic Sans MS"/>
              </a:rPr>
              <a:t> 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振動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全⾝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で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感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じる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し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体験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ワ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クショップ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セラピスト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施術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⼼地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よさ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体感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25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4"/>
            <a:ext cx="7061834" cy="9347835"/>
            <a:chOff x="352425" y="35243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8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5"/>
                  </a:moveTo>
                  <a:lnTo>
                    <a:pt x="0" y="9342545"/>
                  </a:lnTo>
                  <a:lnTo>
                    <a:pt x="0" y="102336"/>
                  </a:lnTo>
                  <a:lnTo>
                    <a:pt x="11100" y="60940"/>
                  </a:lnTo>
                  <a:lnTo>
                    <a:pt x="37168" y="26993"/>
                  </a:lnTo>
                  <a:lnTo>
                    <a:pt x="74326" y="5562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68"/>
                  </a:lnTo>
                  <a:lnTo>
                    <a:pt x="7031026" y="37147"/>
                  </a:lnTo>
                  <a:lnTo>
                    <a:pt x="7052437" y="74228"/>
                  </a:lnTo>
                  <a:lnTo>
                    <a:pt x="7056536" y="91255"/>
                  </a:lnTo>
                  <a:lnTo>
                    <a:pt x="7056536" y="9342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6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700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12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1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1371599" y="304799"/>
                </a:moveTo>
                <a:lnTo>
                  <a:pt x="152399" y="304799"/>
                </a:lnTo>
                <a:lnTo>
                  <a:pt x="144912" y="304605"/>
                </a:lnTo>
                <a:lnTo>
                  <a:pt x="101066" y="295861"/>
                </a:lnTo>
                <a:lnTo>
                  <a:pt x="61607" y="274780"/>
                </a:lnTo>
                <a:lnTo>
                  <a:pt x="29995" y="243185"/>
                </a:lnTo>
                <a:lnTo>
                  <a:pt x="8904" y="203714"/>
                </a:lnTo>
                <a:lnTo>
                  <a:pt x="183" y="159889"/>
                </a:lnTo>
                <a:lnTo>
                  <a:pt x="0" y="152399"/>
                </a:lnTo>
                <a:lnTo>
                  <a:pt x="183" y="144909"/>
                </a:lnTo>
                <a:lnTo>
                  <a:pt x="8904" y="101029"/>
                </a:lnTo>
                <a:lnTo>
                  <a:pt x="29995" y="61581"/>
                </a:lnTo>
                <a:lnTo>
                  <a:pt x="61607" y="29970"/>
                </a:lnTo>
                <a:lnTo>
                  <a:pt x="101066" y="8900"/>
                </a:lnTo>
                <a:lnTo>
                  <a:pt x="144912" y="193"/>
                </a:lnTo>
                <a:lnTo>
                  <a:pt x="152399" y="0"/>
                </a:lnTo>
                <a:lnTo>
                  <a:pt x="1371599" y="0"/>
                </a:lnTo>
                <a:lnTo>
                  <a:pt x="1415839" y="6567"/>
                </a:lnTo>
                <a:lnTo>
                  <a:pt x="1456268" y="25669"/>
                </a:lnTo>
                <a:lnTo>
                  <a:pt x="1489407" y="55689"/>
                </a:lnTo>
                <a:lnTo>
                  <a:pt x="1512398" y="94040"/>
                </a:lnTo>
                <a:lnTo>
                  <a:pt x="1523267" y="137455"/>
                </a:lnTo>
                <a:lnTo>
                  <a:pt x="1523999" y="152399"/>
                </a:lnTo>
                <a:lnTo>
                  <a:pt x="1523816" y="159890"/>
                </a:lnTo>
                <a:lnTo>
                  <a:pt x="1515094" y="203714"/>
                </a:lnTo>
                <a:lnTo>
                  <a:pt x="1494003" y="243169"/>
                </a:lnTo>
                <a:lnTo>
                  <a:pt x="1462392" y="274796"/>
                </a:lnTo>
                <a:lnTo>
                  <a:pt x="1422933" y="295861"/>
                </a:lnTo>
                <a:lnTo>
                  <a:pt x="1379086" y="304605"/>
                </a:lnTo>
                <a:lnTo>
                  <a:pt x="13715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132080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体験談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スト</a:t>
            </a:r>
            <a:r>
              <a:rPr sz="1100" spc="11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リ</a:t>
            </a:r>
            <a:r>
              <a:rPr sz="1100" spc="-175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00" spc="-50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26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2966720" cy="83026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13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原因不明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救</a:t>
            </a:r>
            <a:r>
              <a:rPr sz="1250" spc="-685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話</a:t>
            </a:r>
            <a:endParaRPr sz="1250">
              <a:latin typeface="メイリオ"/>
              <a:cs typeface="メイリオ"/>
            </a:endParaRPr>
          </a:p>
          <a:p>
            <a:pPr marL="12700" marR="1208405">
              <a:lnSpc>
                <a:spcPct val="135000"/>
              </a:lnSpc>
              <a:spcBef>
                <a:spcPts val="2090"/>
              </a:spcBef>
            </a:pP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これは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代表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喜⽥圭⼀郎</a:t>
            </a:r>
            <a:r>
              <a:rPr sz="1250" spc="-125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実体験</a:t>
            </a:r>
            <a:r>
              <a:rPr sz="1250" spc="-175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339725">
              <a:lnSpc>
                <a:spcPct val="131700"/>
              </a:lnSpc>
              <a:spcBef>
                <a:spcPts val="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 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13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SimSun"/>
              <a:cs typeface="SimSun"/>
            </a:endParaRPr>
          </a:p>
          <a:p>
            <a:pPr marL="12700" marR="968375">
              <a:lnSpc>
                <a:spcPct val="1378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原因不明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年間⼊院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何度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危険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そんな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⽀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えになったのは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だった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転機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⾃然療法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道場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⾔葉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⼤丈夫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喜⽥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endParaRPr sz="125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⼗分治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があるから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>
              <a:latin typeface="BIZ UDPゴシック"/>
              <a:cs typeface="BIZ UDPゴシック"/>
            </a:endParaRPr>
          </a:p>
          <a:p>
            <a:pPr marL="60325" marR="735965">
              <a:lnSpc>
                <a:spcPts val="2100"/>
              </a:lnSpc>
              <a:spcBef>
                <a:spcPts val="9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しっかり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休息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回復⼒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250" spc="-165" dirty="0">
                <a:solidFill>
                  <a:srgbClr val="333333"/>
                </a:solidFill>
                <a:latin typeface="SimSun"/>
                <a:cs typeface="SimSun"/>
              </a:rPr>
              <a:t>めて</a:t>
            </a:r>
            <a:r>
              <a:rPr sz="125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せましょう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SimSun"/>
              <a:cs typeface="SimSun"/>
            </a:endParaRPr>
          </a:p>
          <a:p>
            <a:pPr marL="60325" marR="918844" indent="-48260">
              <a:lnSpc>
                <a:spcPct val="135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病気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過去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からの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負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のゴミ</a:t>
            </a:r>
            <a:r>
              <a:rPr sz="1250" spc="-12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消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えていくプロセス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⾔葉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になった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5"/>
            <a:ext cx="7063105" cy="4344035"/>
            <a:chOff x="352425" y="352415"/>
            <a:chExt cx="7063105" cy="4344035"/>
          </a:xfrm>
        </p:grpSpPr>
        <p:sp>
          <p:nvSpPr>
            <p:cNvPr id="3" name="object 3"/>
            <p:cNvSpPr/>
            <p:nvPr/>
          </p:nvSpPr>
          <p:spPr>
            <a:xfrm>
              <a:off x="357187" y="352415"/>
              <a:ext cx="7058025" cy="4338955"/>
            </a:xfrm>
            <a:custGeom>
              <a:avLst/>
              <a:gdLst/>
              <a:ahLst/>
              <a:cxnLst/>
              <a:rect l="l" t="t" r="r" b="b"/>
              <a:pathLst>
                <a:path w="7058025" h="4338955">
                  <a:moveTo>
                    <a:pt x="6955678" y="4338618"/>
                  </a:moveTo>
                  <a:lnTo>
                    <a:pt x="102345" y="4338618"/>
                  </a:lnTo>
                  <a:lnTo>
                    <a:pt x="95221" y="4337913"/>
                  </a:lnTo>
                  <a:lnTo>
                    <a:pt x="54661" y="4324159"/>
                  </a:lnTo>
                  <a:lnTo>
                    <a:pt x="22456" y="4295927"/>
                  </a:lnTo>
                  <a:lnTo>
                    <a:pt x="3507" y="4257503"/>
                  </a:lnTo>
                  <a:lnTo>
                    <a:pt x="0" y="4236281"/>
                  </a:lnTo>
                  <a:lnTo>
                    <a:pt x="0" y="42290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236281"/>
                  </a:lnTo>
                  <a:lnTo>
                    <a:pt x="7046932" y="4277639"/>
                  </a:lnTo>
                  <a:lnTo>
                    <a:pt x="7020855" y="4311624"/>
                  </a:lnTo>
                  <a:lnTo>
                    <a:pt x="6983759" y="4333017"/>
                  </a:lnTo>
                  <a:lnTo>
                    <a:pt x="6962802" y="4337913"/>
                  </a:lnTo>
                  <a:lnTo>
                    <a:pt x="6955678" y="43386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4344035"/>
            </a:xfrm>
            <a:custGeom>
              <a:avLst/>
              <a:gdLst/>
              <a:ahLst/>
              <a:cxnLst/>
              <a:rect l="l" t="t" r="r" b="b"/>
              <a:pathLst>
                <a:path w="7061834" h="4344035">
                  <a:moveTo>
                    <a:pt x="7061289" y="0"/>
                  </a:moveTo>
                  <a:lnTo>
                    <a:pt x="7058012" y="0"/>
                  </a:lnTo>
                  <a:lnTo>
                    <a:pt x="7058012" y="4229100"/>
                  </a:lnTo>
                  <a:lnTo>
                    <a:pt x="7057517" y="4239425"/>
                  </a:lnTo>
                  <a:lnTo>
                    <a:pt x="7045630" y="4278541"/>
                  </a:lnTo>
                  <a:lnTo>
                    <a:pt x="7026834" y="4303649"/>
                  </a:lnTo>
                  <a:lnTo>
                    <a:pt x="6993344" y="4325912"/>
                  </a:lnTo>
                  <a:lnTo>
                    <a:pt x="6953237" y="4333887"/>
                  </a:lnTo>
                  <a:lnTo>
                    <a:pt x="114300" y="4333887"/>
                  </a:lnTo>
                  <a:lnTo>
                    <a:pt x="74193" y="4325912"/>
                  </a:lnTo>
                  <a:lnTo>
                    <a:pt x="40690" y="4303661"/>
                  </a:lnTo>
                  <a:lnTo>
                    <a:pt x="33261" y="4295546"/>
                  </a:lnTo>
                  <a:lnTo>
                    <a:pt x="14008" y="4259478"/>
                  </a:lnTo>
                  <a:lnTo>
                    <a:pt x="9525" y="42291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229100"/>
                  </a:lnTo>
                  <a:lnTo>
                    <a:pt x="533" y="4240365"/>
                  </a:lnTo>
                  <a:lnTo>
                    <a:pt x="13500" y="4283037"/>
                  </a:lnTo>
                  <a:lnTo>
                    <a:pt x="33515" y="4309897"/>
                  </a:lnTo>
                  <a:lnTo>
                    <a:pt x="70548" y="4334713"/>
                  </a:lnTo>
                  <a:lnTo>
                    <a:pt x="114300" y="4343412"/>
                  </a:lnTo>
                  <a:lnTo>
                    <a:pt x="6953237" y="4343412"/>
                  </a:lnTo>
                  <a:lnTo>
                    <a:pt x="6996989" y="4334713"/>
                  </a:lnTo>
                  <a:lnTo>
                    <a:pt x="6998729" y="4333887"/>
                  </a:lnTo>
                  <a:lnTo>
                    <a:pt x="7007174" y="4329900"/>
                  </a:lnTo>
                  <a:lnTo>
                    <a:pt x="7016763" y="4324172"/>
                  </a:lnTo>
                  <a:lnTo>
                    <a:pt x="7025716" y="4317517"/>
                  </a:lnTo>
                  <a:lnTo>
                    <a:pt x="7033565" y="4310380"/>
                  </a:lnTo>
                  <a:lnTo>
                    <a:pt x="7034060" y="4309935"/>
                  </a:lnTo>
                  <a:lnTo>
                    <a:pt x="7041642" y="4301579"/>
                  </a:lnTo>
                  <a:lnTo>
                    <a:pt x="7048297" y="4292625"/>
                  </a:lnTo>
                  <a:lnTo>
                    <a:pt x="7054024" y="4283037"/>
                  </a:lnTo>
                  <a:lnTo>
                    <a:pt x="7058838" y="4272851"/>
                  </a:lnTo>
                  <a:lnTo>
                    <a:pt x="7061289" y="426601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447790" cy="38138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の力を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信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じること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りること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それが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だった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今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15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万⼈以上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しています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3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創業者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いを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公開中</a:t>
            </a:r>
            <a:endParaRPr sz="1250" dirty="0">
              <a:latin typeface="メイリオ"/>
              <a:cs typeface="メイリオ"/>
            </a:endParaRPr>
          </a:p>
          <a:p>
            <a:pPr marL="12700" marR="5080">
              <a:lnSpc>
                <a:spcPct val="146700"/>
              </a:lnSpc>
              <a:spcBef>
                <a:spcPts val="109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創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業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スト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リ</a:t>
            </a:r>
            <a:r>
              <a:rPr sz="1100" spc="-155" dirty="0">
                <a:solidFill>
                  <a:srgbClr val="3797F0"/>
                </a:solidFill>
                <a:latin typeface="SimSun"/>
                <a:cs typeface="SimSun"/>
              </a:rPr>
              <a:t>ー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実体験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病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気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からの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回復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⾃然治癒⼒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⾳楽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⾃然療法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希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⽣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きる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喜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⽥圭⼀郎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ジョイファンデ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ション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原点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想</a:t>
            </a:r>
            <a:r>
              <a:rPr sz="1150" spc="-190" dirty="0">
                <a:solidFill>
                  <a:srgbClr val="3797F0"/>
                </a:solidFill>
                <a:latin typeface="SimSun"/>
                <a:cs typeface="SimSun"/>
              </a:rPr>
              <a:t>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⼈⽣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転</a:t>
            </a:r>
            <a:r>
              <a:rPr sz="1100" spc="-155" dirty="0">
                <a:solidFill>
                  <a:srgbClr val="3797F0"/>
                </a:solidFill>
                <a:latin typeface="SimSun"/>
                <a:cs typeface="SimSun"/>
              </a:rPr>
              <a:t>機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感謝</a:t>
            </a:r>
            <a:endParaRPr sz="1100" dirty="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27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6"/>
            <a:ext cx="7061834" cy="9347835"/>
            <a:chOff x="352425" y="352436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9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5"/>
                  </a:moveTo>
                  <a:lnTo>
                    <a:pt x="0" y="9342545"/>
                  </a:lnTo>
                  <a:lnTo>
                    <a:pt x="0" y="102336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147"/>
                  </a:lnTo>
                  <a:lnTo>
                    <a:pt x="7052437" y="74228"/>
                  </a:lnTo>
                  <a:lnTo>
                    <a:pt x="7056536" y="91246"/>
                  </a:lnTo>
                  <a:lnTo>
                    <a:pt x="7056536" y="9342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84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300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300"/>
                  </a:lnTo>
                  <a:lnTo>
                    <a:pt x="10020" y="103974"/>
                  </a:lnTo>
                  <a:lnTo>
                    <a:pt x="21907" y="64858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300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701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13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90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723899" y="304799"/>
                </a:moveTo>
                <a:lnTo>
                  <a:pt x="152399" y="304799"/>
                </a:lnTo>
                <a:lnTo>
                  <a:pt x="144912" y="304605"/>
                </a:lnTo>
                <a:lnTo>
                  <a:pt x="101066" y="295869"/>
                </a:lnTo>
                <a:lnTo>
                  <a:pt x="61607" y="274777"/>
                </a:lnTo>
                <a:lnTo>
                  <a:pt x="29995" y="243153"/>
                </a:lnTo>
                <a:lnTo>
                  <a:pt x="8904" y="203692"/>
                </a:lnTo>
                <a:lnTo>
                  <a:pt x="183" y="159875"/>
                </a:lnTo>
                <a:lnTo>
                  <a:pt x="0" y="152399"/>
                </a:lnTo>
                <a:lnTo>
                  <a:pt x="183" y="144899"/>
                </a:lnTo>
                <a:lnTo>
                  <a:pt x="8904" y="101031"/>
                </a:lnTo>
                <a:lnTo>
                  <a:pt x="29995" y="61557"/>
                </a:lnTo>
                <a:lnTo>
                  <a:pt x="61607" y="29962"/>
                </a:lnTo>
                <a:lnTo>
                  <a:pt x="101066" y="8892"/>
                </a:lnTo>
                <a:lnTo>
                  <a:pt x="144912" y="182"/>
                </a:lnTo>
                <a:lnTo>
                  <a:pt x="152399" y="0"/>
                </a:lnTo>
                <a:lnTo>
                  <a:pt x="723899" y="0"/>
                </a:lnTo>
                <a:lnTo>
                  <a:pt x="768139" y="6550"/>
                </a:lnTo>
                <a:lnTo>
                  <a:pt x="808568" y="25650"/>
                </a:lnTo>
                <a:lnTo>
                  <a:pt x="841707" y="55686"/>
                </a:lnTo>
                <a:lnTo>
                  <a:pt x="864698" y="94040"/>
                </a:lnTo>
                <a:lnTo>
                  <a:pt x="875567" y="137440"/>
                </a:lnTo>
                <a:lnTo>
                  <a:pt x="876299" y="152399"/>
                </a:lnTo>
                <a:lnTo>
                  <a:pt x="876116" y="159875"/>
                </a:lnTo>
                <a:lnTo>
                  <a:pt x="867394" y="203692"/>
                </a:lnTo>
                <a:lnTo>
                  <a:pt x="846304" y="243169"/>
                </a:lnTo>
                <a:lnTo>
                  <a:pt x="814692" y="274777"/>
                </a:lnTo>
                <a:lnTo>
                  <a:pt x="775233" y="295869"/>
                </a:lnTo>
                <a:lnTo>
                  <a:pt x="731386" y="304605"/>
                </a:lnTo>
                <a:lnTo>
                  <a:pt x="7238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673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知識提供型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28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2631440" cy="83026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保存版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つの</a:t>
            </a:r>
            <a:r>
              <a:rPr sz="1250" spc="-855" dirty="0">
                <a:solidFill>
                  <a:srgbClr val="333333"/>
                </a:solidFill>
                <a:latin typeface="メイリオ"/>
                <a:cs typeface="メイリオ"/>
              </a:rPr>
              <a:t>理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 由</a:t>
            </a:r>
            <a:endParaRPr sz="1250">
              <a:latin typeface="メイリオ"/>
              <a:cs typeface="メイリオ"/>
            </a:endParaRPr>
          </a:p>
          <a:p>
            <a:pPr marL="12700" marR="453390">
              <a:lnSpc>
                <a:spcPct val="135000"/>
              </a:lnSpc>
              <a:spcBef>
                <a:spcPts val="209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なぜ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いいの</a:t>
            </a:r>
            <a:r>
              <a:rPr sz="1250" spc="-220" dirty="0">
                <a:solidFill>
                  <a:srgbClr val="333333"/>
                </a:solidFill>
                <a:latin typeface="BIZ UDPゴシック"/>
                <a:cs typeface="BIZ UDPゴシック"/>
              </a:rPr>
              <a:t>？」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秘密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25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5080">
              <a:lnSpc>
                <a:spcPct val="131700"/>
              </a:lnSpc>
              <a:spcBef>
                <a:spcPts val="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理由</a:t>
            </a:r>
            <a:r>
              <a:rPr sz="1250" spc="145" dirty="0">
                <a:solidFill>
                  <a:srgbClr val="333333"/>
                </a:solidFill>
                <a:latin typeface="SimSun"/>
                <a:cs typeface="SimSun"/>
              </a:rPr>
              <a:t>①</a:t>
            </a:r>
            <a:r>
              <a:rPr sz="1250" spc="14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45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ゆらぎ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SimSun"/>
              <a:cs typeface="SimSun"/>
            </a:endParaRPr>
          </a:p>
          <a:p>
            <a:pPr marL="12700" marR="504825">
              <a:lnSpc>
                <a:spcPct val="137800"/>
              </a:lnSpc>
            </a:pP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60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ゆらぎ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685" dirty="0">
                <a:solidFill>
                  <a:srgbClr val="333333"/>
                </a:solidFill>
                <a:latin typeface="SimSun"/>
                <a:cs typeface="SimSun"/>
              </a:rPr>
              <a:t>とい</a:t>
            </a: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                            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う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緩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やかな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445134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脳波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同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じゆらぎがあり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共鳴</a:t>
            </a:r>
            <a:r>
              <a:rPr sz="1250" spc="-165" dirty="0">
                <a:solidFill>
                  <a:srgbClr val="333333"/>
                </a:solidFill>
                <a:latin typeface="SimSun"/>
                <a:cs typeface="SimSun"/>
              </a:rPr>
              <a:t>するんです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5080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理由</a:t>
            </a:r>
            <a:r>
              <a:rPr sz="1250" spc="455" dirty="0">
                <a:solidFill>
                  <a:srgbClr val="333333"/>
                </a:solidFill>
                <a:latin typeface="SimSun"/>
                <a:cs typeface="SimSun"/>
              </a:rPr>
              <a:t>②</a:t>
            </a:r>
            <a:r>
              <a:rPr sz="1250" spc="45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かな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SimSun"/>
              <a:cs typeface="SimSun"/>
            </a:endParaRPr>
          </a:p>
          <a:p>
            <a:pPr marL="12700" marR="584200">
              <a:lnSpc>
                <a:spcPct val="135000"/>
              </a:lnSpc>
            </a:pP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豊富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よく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不快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じます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5080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理由</a:t>
            </a:r>
            <a:r>
              <a:rPr sz="1250" spc="455" dirty="0">
                <a:solidFill>
                  <a:srgbClr val="333333"/>
                </a:solidFill>
                <a:latin typeface="SimSun"/>
                <a:cs typeface="SimSun"/>
              </a:rPr>
              <a:t>③</a:t>
            </a:r>
            <a:r>
              <a:rPr sz="1250" spc="45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幅広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周波数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100">
              <a:latin typeface="SimSun"/>
              <a:cs typeface="SimSun"/>
            </a:endParaRPr>
          </a:p>
          <a:p>
            <a:pPr marL="12700" marR="671830">
              <a:lnSpc>
                <a:spcPct val="133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0" dirty="0">
                <a:solidFill>
                  <a:srgbClr val="333333"/>
                </a:solidFill>
                <a:latin typeface="Comic Sans MS"/>
                <a:cs typeface="Comic Sans MS"/>
              </a:rPr>
              <a:t>20Hz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00" spc="-85" dirty="0">
                <a:solidFill>
                  <a:srgbClr val="333333"/>
                </a:solidFill>
                <a:latin typeface="Comic Sans MS"/>
                <a:cs typeface="Comic Sans MS"/>
              </a:rPr>
              <a:t>20,000Hz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幅広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周波数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含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みます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だけでなく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じられる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5"/>
            <a:ext cx="7063105" cy="3820160"/>
            <a:chOff x="352425" y="352415"/>
            <a:chExt cx="7063105" cy="3820160"/>
          </a:xfrm>
        </p:grpSpPr>
        <p:sp>
          <p:nvSpPr>
            <p:cNvPr id="3" name="object 3"/>
            <p:cNvSpPr/>
            <p:nvPr/>
          </p:nvSpPr>
          <p:spPr>
            <a:xfrm>
              <a:off x="357187" y="352415"/>
              <a:ext cx="7058025" cy="3815079"/>
            </a:xfrm>
            <a:custGeom>
              <a:avLst/>
              <a:gdLst/>
              <a:ahLst/>
              <a:cxnLst/>
              <a:rect l="l" t="t" r="r" b="b"/>
              <a:pathLst>
                <a:path w="7058025" h="3815079">
                  <a:moveTo>
                    <a:pt x="6955678" y="3814743"/>
                  </a:moveTo>
                  <a:lnTo>
                    <a:pt x="102345" y="3814743"/>
                  </a:lnTo>
                  <a:lnTo>
                    <a:pt x="95221" y="3814038"/>
                  </a:lnTo>
                  <a:lnTo>
                    <a:pt x="54661" y="3800255"/>
                  </a:lnTo>
                  <a:lnTo>
                    <a:pt x="22456" y="3772052"/>
                  </a:lnTo>
                  <a:lnTo>
                    <a:pt x="3507" y="3733628"/>
                  </a:lnTo>
                  <a:lnTo>
                    <a:pt x="0" y="3712406"/>
                  </a:lnTo>
                  <a:lnTo>
                    <a:pt x="0" y="370522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712406"/>
                  </a:lnTo>
                  <a:lnTo>
                    <a:pt x="7046932" y="3753764"/>
                  </a:lnTo>
                  <a:lnTo>
                    <a:pt x="7020855" y="3787749"/>
                  </a:lnTo>
                  <a:lnTo>
                    <a:pt x="6983759" y="3809142"/>
                  </a:lnTo>
                  <a:lnTo>
                    <a:pt x="6962802" y="3814038"/>
                  </a:lnTo>
                  <a:lnTo>
                    <a:pt x="6955678" y="3814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820160"/>
            </a:xfrm>
            <a:custGeom>
              <a:avLst/>
              <a:gdLst/>
              <a:ahLst/>
              <a:cxnLst/>
              <a:rect l="l" t="t" r="r" b="b"/>
              <a:pathLst>
                <a:path w="7061834" h="3820160">
                  <a:moveTo>
                    <a:pt x="7061289" y="0"/>
                  </a:moveTo>
                  <a:lnTo>
                    <a:pt x="7058012" y="0"/>
                  </a:lnTo>
                  <a:lnTo>
                    <a:pt x="7058012" y="3705237"/>
                  </a:lnTo>
                  <a:lnTo>
                    <a:pt x="7057517" y="3715550"/>
                  </a:lnTo>
                  <a:lnTo>
                    <a:pt x="7045630" y="3754678"/>
                  </a:lnTo>
                  <a:lnTo>
                    <a:pt x="7026834" y="3779774"/>
                  </a:lnTo>
                  <a:lnTo>
                    <a:pt x="6993344" y="3802037"/>
                  </a:lnTo>
                  <a:lnTo>
                    <a:pt x="6953237" y="3810012"/>
                  </a:lnTo>
                  <a:lnTo>
                    <a:pt x="114300" y="3810012"/>
                  </a:lnTo>
                  <a:lnTo>
                    <a:pt x="74193" y="3802037"/>
                  </a:lnTo>
                  <a:lnTo>
                    <a:pt x="40690" y="3779786"/>
                  </a:lnTo>
                  <a:lnTo>
                    <a:pt x="33261" y="3771671"/>
                  </a:lnTo>
                  <a:lnTo>
                    <a:pt x="14008" y="3735603"/>
                  </a:lnTo>
                  <a:lnTo>
                    <a:pt x="9525" y="370523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705237"/>
                  </a:lnTo>
                  <a:lnTo>
                    <a:pt x="533" y="3716490"/>
                  </a:lnTo>
                  <a:lnTo>
                    <a:pt x="13500" y="3759162"/>
                  </a:lnTo>
                  <a:lnTo>
                    <a:pt x="33515" y="3786022"/>
                  </a:lnTo>
                  <a:lnTo>
                    <a:pt x="70548" y="3810838"/>
                  </a:lnTo>
                  <a:lnTo>
                    <a:pt x="114300" y="3819537"/>
                  </a:lnTo>
                  <a:lnTo>
                    <a:pt x="6953237" y="3819537"/>
                  </a:lnTo>
                  <a:lnTo>
                    <a:pt x="6996989" y="3810838"/>
                  </a:lnTo>
                  <a:lnTo>
                    <a:pt x="6998729" y="3810012"/>
                  </a:lnTo>
                  <a:lnTo>
                    <a:pt x="7007174" y="3806025"/>
                  </a:lnTo>
                  <a:lnTo>
                    <a:pt x="7016763" y="3800297"/>
                  </a:lnTo>
                  <a:lnTo>
                    <a:pt x="7025716" y="3793642"/>
                  </a:lnTo>
                  <a:lnTo>
                    <a:pt x="7033565" y="3786505"/>
                  </a:lnTo>
                  <a:lnTo>
                    <a:pt x="7034060" y="3786060"/>
                  </a:lnTo>
                  <a:lnTo>
                    <a:pt x="7041642" y="3777704"/>
                  </a:lnTo>
                  <a:lnTo>
                    <a:pt x="7048297" y="3768750"/>
                  </a:lnTo>
                  <a:lnTo>
                    <a:pt x="7054024" y="3759162"/>
                  </a:lnTo>
                  <a:lnTo>
                    <a:pt x="7058838" y="3748976"/>
                  </a:lnTo>
                  <a:lnTo>
                    <a:pt x="7061289" y="374214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617024"/>
            <a:ext cx="6450965" cy="3216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⼈⼯⾳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があふれる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現代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だからこそ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をリセット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めてみませんか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4416425">
              <a:lnSpc>
                <a:spcPts val="2100"/>
              </a:lnSpc>
              <a:spcBef>
                <a:spcPts val="95"/>
              </a:spcBef>
            </a:pPr>
            <a:r>
              <a:rPr sz="1250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さらに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ルリンクからどうぞ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86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114" dirty="0">
                <a:solidFill>
                  <a:srgbClr val="3797F0"/>
                </a:solidFill>
                <a:latin typeface="Comic Sans MS"/>
                <a:cs typeface="Comic Sans MS"/>
              </a:rPr>
              <a:t>#1f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ゆらぎ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倍⾳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周波数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科学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⼼地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よさの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理由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科学的解説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25" dirty="0">
                <a:solidFill>
                  <a:srgbClr val="3797F0"/>
                </a:solidFill>
                <a:latin typeface="SimSun"/>
                <a:cs typeface="SimSun"/>
              </a:rPr>
              <a:t>リラック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しの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知識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保存版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セルフケア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健康知識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⾳楽療法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29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1"/>
            <a:ext cx="7061834" cy="9347835"/>
            <a:chOff x="352425" y="352421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93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27"/>
                  </a:moveTo>
                  <a:lnTo>
                    <a:pt x="0" y="9342527"/>
                  </a:lnTo>
                  <a:lnTo>
                    <a:pt x="0" y="102317"/>
                  </a:lnTo>
                  <a:lnTo>
                    <a:pt x="11090" y="60902"/>
                  </a:lnTo>
                  <a:lnTo>
                    <a:pt x="37168" y="26955"/>
                  </a:lnTo>
                  <a:lnTo>
                    <a:pt x="74264" y="5562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109"/>
                  </a:lnTo>
                  <a:lnTo>
                    <a:pt x="7052437" y="74209"/>
                  </a:lnTo>
                  <a:lnTo>
                    <a:pt x="7056536" y="91236"/>
                  </a:lnTo>
                  <a:lnTo>
                    <a:pt x="7056536" y="9342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4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6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14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9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723899" y="304799"/>
                </a:moveTo>
                <a:lnTo>
                  <a:pt x="152399" y="304799"/>
                </a:lnTo>
                <a:lnTo>
                  <a:pt x="144912" y="304614"/>
                </a:lnTo>
                <a:lnTo>
                  <a:pt x="101066" y="295880"/>
                </a:lnTo>
                <a:lnTo>
                  <a:pt x="61607" y="274780"/>
                </a:lnTo>
                <a:lnTo>
                  <a:pt x="29995" y="243169"/>
                </a:lnTo>
                <a:lnTo>
                  <a:pt x="8904" y="203695"/>
                </a:lnTo>
                <a:lnTo>
                  <a:pt x="183" y="159886"/>
                </a:lnTo>
                <a:lnTo>
                  <a:pt x="0" y="152399"/>
                </a:lnTo>
                <a:lnTo>
                  <a:pt x="183" y="144899"/>
                </a:lnTo>
                <a:lnTo>
                  <a:pt x="8904" y="101029"/>
                </a:lnTo>
                <a:lnTo>
                  <a:pt x="29995" y="61573"/>
                </a:lnTo>
                <a:lnTo>
                  <a:pt x="61607" y="29970"/>
                </a:lnTo>
                <a:lnTo>
                  <a:pt x="101066" y="8892"/>
                </a:lnTo>
                <a:lnTo>
                  <a:pt x="144912" y="182"/>
                </a:lnTo>
                <a:lnTo>
                  <a:pt x="152399" y="0"/>
                </a:lnTo>
                <a:lnTo>
                  <a:pt x="723899" y="0"/>
                </a:lnTo>
                <a:lnTo>
                  <a:pt x="768139" y="6553"/>
                </a:lnTo>
                <a:lnTo>
                  <a:pt x="808568" y="25669"/>
                </a:lnTo>
                <a:lnTo>
                  <a:pt x="841707" y="55686"/>
                </a:lnTo>
                <a:lnTo>
                  <a:pt x="864698" y="94040"/>
                </a:lnTo>
                <a:lnTo>
                  <a:pt x="875567" y="137440"/>
                </a:lnTo>
                <a:lnTo>
                  <a:pt x="876299" y="152399"/>
                </a:lnTo>
                <a:lnTo>
                  <a:pt x="876116" y="159886"/>
                </a:lnTo>
                <a:lnTo>
                  <a:pt x="867394" y="203695"/>
                </a:lnTo>
                <a:lnTo>
                  <a:pt x="846304" y="243169"/>
                </a:lnTo>
                <a:lnTo>
                  <a:pt x="814692" y="274780"/>
                </a:lnTo>
                <a:lnTo>
                  <a:pt x="775233" y="295880"/>
                </a:lnTo>
                <a:lnTo>
                  <a:pt x="731386" y="304614"/>
                </a:lnTo>
                <a:lnTo>
                  <a:pt x="7238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673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知識提供型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30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3234690" cy="83026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ってた</a:t>
            </a:r>
            <a:r>
              <a:rPr sz="1250" spc="450" dirty="0">
                <a:solidFill>
                  <a:srgbClr val="333333"/>
                </a:solidFill>
                <a:latin typeface="BIZ UDPゴシック"/>
                <a:cs typeface="BIZ UDPゴシック"/>
              </a:rPr>
              <a:t>？】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70%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8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響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>
              <a:latin typeface="SimSun"/>
              <a:cs typeface="SimSun"/>
            </a:endParaRPr>
          </a:p>
          <a:p>
            <a:pPr marL="12700" marR="1476375">
              <a:lnSpc>
                <a:spcPct val="135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空気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わる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それは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正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もっと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⼤切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なことがあります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わり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空気中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秒速</a:t>
            </a:r>
            <a:r>
              <a:rPr sz="1300" spc="-20" dirty="0">
                <a:solidFill>
                  <a:srgbClr val="333333"/>
                </a:solidFill>
                <a:latin typeface="Comic Sans MS"/>
                <a:cs typeface="Comic Sans MS"/>
              </a:rPr>
              <a:t>340m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250" spc="10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⽔中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秒速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1,500m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倍以上速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250" spc="-165" dirty="0">
                <a:solidFill>
                  <a:srgbClr val="333333"/>
                </a:solidFill>
                <a:latin typeface="SimSun"/>
                <a:cs typeface="SimSun"/>
              </a:rPr>
              <a:t>わるんです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60769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そして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…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70%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⽔分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つまり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えやすい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構造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だけでなく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 marR="607695">
              <a:lnSpc>
                <a:spcPts val="4130"/>
              </a:lnSpc>
              <a:spcBef>
                <a:spcPts val="29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胎児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⺟親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腹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1"/>
            <a:ext cx="7063105" cy="3562985"/>
            <a:chOff x="352425" y="352401"/>
            <a:chExt cx="7063105" cy="3562985"/>
          </a:xfrm>
        </p:grpSpPr>
        <p:sp>
          <p:nvSpPr>
            <p:cNvPr id="3" name="object 3"/>
            <p:cNvSpPr/>
            <p:nvPr/>
          </p:nvSpPr>
          <p:spPr>
            <a:xfrm>
              <a:off x="357187" y="352414"/>
              <a:ext cx="7058025" cy="3557904"/>
            </a:xfrm>
            <a:custGeom>
              <a:avLst/>
              <a:gdLst/>
              <a:ahLst/>
              <a:cxnLst/>
              <a:rect l="l" t="t" r="r" b="b"/>
              <a:pathLst>
                <a:path w="7058025" h="3557904">
                  <a:moveTo>
                    <a:pt x="6955678" y="3557568"/>
                  </a:moveTo>
                  <a:lnTo>
                    <a:pt x="102345" y="3557568"/>
                  </a:lnTo>
                  <a:lnTo>
                    <a:pt x="95221" y="3556863"/>
                  </a:lnTo>
                  <a:lnTo>
                    <a:pt x="54661" y="3543080"/>
                  </a:lnTo>
                  <a:lnTo>
                    <a:pt x="22456" y="3514858"/>
                  </a:lnTo>
                  <a:lnTo>
                    <a:pt x="3507" y="3476434"/>
                  </a:lnTo>
                  <a:lnTo>
                    <a:pt x="0" y="3455231"/>
                  </a:lnTo>
                  <a:lnTo>
                    <a:pt x="0" y="34480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455231"/>
                  </a:lnTo>
                  <a:lnTo>
                    <a:pt x="7046932" y="3496570"/>
                  </a:lnTo>
                  <a:lnTo>
                    <a:pt x="7020855" y="3530555"/>
                  </a:lnTo>
                  <a:lnTo>
                    <a:pt x="6983759" y="3551967"/>
                  </a:lnTo>
                  <a:lnTo>
                    <a:pt x="6962802" y="3556863"/>
                  </a:lnTo>
                  <a:lnTo>
                    <a:pt x="6955678" y="35575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3562985"/>
            </a:xfrm>
            <a:custGeom>
              <a:avLst/>
              <a:gdLst/>
              <a:ahLst/>
              <a:cxnLst/>
              <a:rect l="l" t="t" r="r" b="b"/>
              <a:pathLst>
                <a:path w="7061834" h="3562985">
                  <a:moveTo>
                    <a:pt x="7061289" y="0"/>
                  </a:moveTo>
                  <a:lnTo>
                    <a:pt x="7058012" y="0"/>
                  </a:lnTo>
                  <a:lnTo>
                    <a:pt x="7058012" y="3448050"/>
                  </a:lnTo>
                  <a:lnTo>
                    <a:pt x="7057517" y="3458375"/>
                  </a:lnTo>
                  <a:lnTo>
                    <a:pt x="7045630" y="3497491"/>
                  </a:lnTo>
                  <a:lnTo>
                    <a:pt x="7026834" y="3522599"/>
                  </a:lnTo>
                  <a:lnTo>
                    <a:pt x="6993344" y="3544862"/>
                  </a:lnTo>
                  <a:lnTo>
                    <a:pt x="6953237" y="3552837"/>
                  </a:lnTo>
                  <a:lnTo>
                    <a:pt x="114300" y="3552837"/>
                  </a:lnTo>
                  <a:lnTo>
                    <a:pt x="74193" y="3544862"/>
                  </a:lnTo>
                  <a:lnTo>
                    <a:pt x="40690" y="3522611"/>
                  </a:lnTo>
                  <a:lnTo>
                    <a:pt x="33261" y="3514496"/>
                  </a:lnTo>
                  <a:lnTo>
                    <a:pt x="14008" y="3478428"/>
                  </a:lnTo>
                  <a:lnTo>
                    <a:pt x="9525" y="344805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448050"/>
                  </a:lnTo>
                  <a:lnTo>
                    <a:pt x="533" y="3459315"/>
                  </a:lnTo>
                  <a:lnTo>
                    <a:pt x="13500" y="3501987"/>
                  </a:lnTo>
                  <a:lnTo>
                    <a:pt x="33515" y="3528847"/>
                  </a:lnTo>
                  <a:lnTo>
                    <a:pt x="70548" y="3553663"/>
                  </a:lnTo>
                  <a:lnTo>
                    <a:pt x="114300" y="3562362"/>
                  </a:lnTo>
                  <a:lnTo>
                    <a:pt x="6953237" y="3562362"/>
                  </a:lnTo>
                  <a:lnTo>
                    <a:pt x="6996989" y="3553663"/>
                  </a:lnTo>
                  <a:lnTo>
                    <a:pt x="6998729" y="3552837"/>
                  </a:lnTo>
                  <a:lnTo>
                    <a:pt x="7007174" y="3548850"/>
                  </a:lnTo>
                  <a:lnTo>
                    <a:pt x="7016763" y="3543122"/>
                  </a:lnTo>
                  <a:lnTo>
                    <a:pt x="7025716" y="3536467"/>
                  </a:lnTo>
                  <a:lnTo>
                    <a:pt x="7033565" y="3529330"/>
                  </a:lnTo>
                  <a:lnTo>
                    <a:pt x="7034060" y="3528885"/>
                  </a:lnTo>
                  <a:lnTo>
                    <a:pt x="7041642" y="3520529"/>
                  </a:lnTo>
                  <a:lnTo>
                    <a:pt x="7048297" y="3511562"/>
                  </a:lnTo>
                  <a:lnTo>
                    <a:pt x="7054024" y="3501987"/>
                  </a:lnTo>
                  <a:lnTo>
                    <a:pt x="7058838" y="3491788"/>
                  </a:lnTo>
                  <a:lnTo>
                    <a:pt x="7061289" y="348496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42710" cy="3280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684395">
              <a:lnSpc>
                <a:spcPct val="135000"/>
              </a:lnSpc>
              <a:spcBef>
                <a:spcPts val="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⿎動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体全体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じていました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3824604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⼤⼈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になっても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残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っている</a:t>
            </a:r>
            <a:r>
              <a:rPr sz="125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懐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かしい</a:t>
            </a:r>
            <a:r>
              <a:rPr sz="1250" spc="102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250" spc="-12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も</a:t>
            </a:r>
            <a:r>
              <a:rPr sz="1250" spc="-12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多</a:t>
            </a:r>
            <a:r>
              <a:rPr sz="1250" spc="-175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い</a:t>
            </a:r>
            <a:r>
              <a:rPr lang="ja-JP" altLang="en-US" sz="1250" spc="-17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よう</a:t>
            </a:r>
            <a:r>
              <a:rPr sz="1250" spc="-175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してみませんか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⼈体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と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⽔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振動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科学⾖知識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胎児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記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全⾝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で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聴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わり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⽔中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⾳ </a:t>
            </a:r>
            <a:r>
              <a:rPr sz="1150" spc="-130" dirty="0">
                <a:solidFill>
                  <a:srgbClr val="3797F0"/>
                </a:solidFill>
                <a:latin typeface="Comic Sans MS"/>
                <a:cs typeface="Comic Sans MS"/>
              </a:rPr>
              <a:t>#70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パ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セント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⽔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しの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科学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知識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健康雑学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⾳楽療法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で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感</a:t>
            </a:r>
            <a:r>
              <a:rPr sz="1150" spc="-100" dirty="0">
                <a:solidFill>
                  <a:srgbClr val="3797F0"/>
                </a:solidFill>
                <a:latin typeface="SimSun"/>
                <a:cs typeface="SimSun"/>
              </a:rPr>
              <a:t>じる</a:t>
            </a:r>
            <a:endParaRPr sz="1150" dirty="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31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3"/>
            <a:ext cx="7061834" cy="9347835"/>
            <a:chOff x="352425" y="352423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75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7"/>
                  </a:moveTo>
                  <a:lnTo>
                    <a:pt x="0" y="9342547"/>
                  </a:lnTo>
                  <a:lnTo>
                    <a:pt x="0" y="102317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68"/>
                  </a:lnTo>
                  <a:lnTo>
                    <a:pt x="7031026" y="37128"/>
                  </a:lnTo>
                  <a:lnTo>
                    <a:pt x="7052437" y="74228"/>
                  </a:lnTo>
                  <a:lnTo>
                    <a:pt x="7056536" y="91246"/>
                  </a:lnTo>
                  <a:lnTo>
                    <a:pt x="7056536" y="93425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21"/>
                  </a:lnTo>
                  <a:lnTo>
                    <a:pt x="7034009" y="33528"/>
                  </a:lnTo>
                  <a:lnTo>
                    <a:pt x="7033603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84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25895" y="41821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3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7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15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9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723899" y="304799"/>
                </a:moveTo>
                <a:lnTo>
                  <a:pt x="152399" y="304799"/>
                </a:lnTo>
                <a:lnTo>
                  <a:pt x="144912" y="304606"/>
                </a:lnTo>
                <a:lnTo>
                  <a:pt x="101066" y="295861"/>
                </a:lnTo>
                <a:lnTo>
                  <a:pt x="61607" y="274780"/>
                </a:lnTo>
                <a:lnTo>
                  <a:pt x="29995" y="243145"/>
                </a:lnTo>
                <a:lnTo>
                  <a:pt x="8904" y="203695"/>
                </a:lnTo>
                <a:lnTo>
                  <a:pt x="183" y="159878"/>
                </a:lnTo>
                <a:lnTo>
                  <a:pt x="0" y="152399"/>
                </a:lnTo>
                <a:lnTo>
                  <a:pt x="183" y="144898"/>
                </a:lnTo>
                <a:lnTo>
                  <a:pt x="8904" y="101047"/>
                </a:lnTo>
                <a:lnTo>
                  <a:pt x="29995" y="61557"/>
                </a:lnTo>
                <a:lnTo>
                  <a:pt x="61607" y="29981"/>
                </a:lnTo>
                <a:lnTo>
                  <a:pt x="101066" y="8893"/>
                </a:lnTo>
                <a:lnTo>
                  <a:pt x="144912" y="185"/>
                </a:lnTo>
                <a:lnTo>
                  <a:pt x="152399" y="0"/>
                </a:lnTo>
                <a:lnTo>
                  <a:pt x="723899" y="0"/>
                </a:lnTo>
                <a:lnTo>
                  <a:pt x="768139" y="6553"/>
                </a:lnTo>
                <a:lnTo>
                  <a:pt x="808568" y="25669"/>
                </a:lnTo>
                <a:lnTo>
                  <a:pt x="841707" y="55677"/>
                </a:lnTo>
                <a:lnTo>
                  <a:pt x="864698" y="94059"/>
                </a:lnTo>
                <a:lnTo>
                  <a:pt x="875567" y="137438"/>
                </a:lnTo>
                <a:lnTo>
                  <a:pt x="876299" y="152399"/>
                </a:lnTo>
                <a:lnTo>
                  <a:pt x="876116" y="159875"/>
                </a:lnTo>
                <a:lnTo>
                  <a:pt x="867394" y="203694"/>
                </a:lnTo>
                <a:lnTo>
                  <a:pt x="846304" y="243169"/>
                </a:lnTo>
                <a:lnTo>
                  <a:pt x="814692" y="274780"/>
                </a:lnTo>
                <a:lnTo>
                  <a:pt x="775233" y="295861"/>
                </a:lnTo>
                <a:lnTo>
                  <a:pt x="731386" y="304606"/>
                </a:lnTo>
                <a:lnTo>
                  <a:pt x="7238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673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知識提供型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32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500120" cy="8391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⽇本⼈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なぜ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たちは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される</a:t>
            </a:r>
            <a:r>
              <a:rPr sz="1250" spc="-120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か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⻄洋⼈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⽇本⼈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違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うって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ってました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⻄洋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308100">
              <a:lnSpc>
                <a:spcPct val="14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はコントロ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ルするもの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楽器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純化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明瞭度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重視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調和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するもの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楽器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特性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尺⼋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琵琶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三味線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…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⽬⽴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つよりも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融合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本⼈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古来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四季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ろいを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美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じてきた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にある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4"/>
            <a:ext cx="7063105" cy="3820160"/>
            <a:chOff x="352425" y="352424"/>
            <a:chExt cx="7063105" cy="3820160"/>
          </a:xfrm>
        </p:grpSpPr>
        <p:sp>
          <p:nvSpPr>
            <p:cNvPr id="3" name="object 3"/>
            <p:cNvSpPr/>
            <p:nvPr/>
          </p:nvSpPr>
          <p:spPr>
            <a:xfrm>
              <a:off x="357187" y="352425"/>
              <a:ext cx="7058025" cy="3815079"/>
            </a:xfrm>
            <a:custGeom>
              <a:avLst/>
              <a:gdLst/>
              <a:ahLst/>
              <a:cxnLst/>
              <a:rect l="l" t="t" r="r" b="b"/>
              <a:pathLst>
                <a:path w="7058025" h="3815079">
                  <a:moveTo>
                    <a:pt x="6955678" y="3814743"/>
                  </a:moveTo>
                  <a:lnTo>
                    <a:pt x="102346" y="3814743"/>
                  </a:lnTo>
                  <a:lnTo>
                    <a:pt x="95221" y="3814038"/>
                  </a:lnTo>
                  <a:lnTo>
                    <a:pt x="54663" y="3800255"/>
                  </a:lnTo>
                  <a:lnTo>
                    <a:pt x="22459" y="3772033"/>
                  </a:lnTo>
                  <a:lnTo>
                    <a:pt x="3505" y="3733609"/>
                  </a:lnTo>
                  <a:lnTo>
                    <a:pt x="0" y="3712406"/>
                  </a:lnTo>
                  <a:lnTo>
                    <a:pt x="0" y="3705225"/>
                  </a:lnTo>
                  <a:lnTo>
                    <a:pt x="0" y="0"/>
                  </a:lnTo>
                  <a:lnTo>
                    <a:pt x="7058025" y="0"/>
                  </a:lnTo>
                  <a:lnTo>
                    <a:pt x="7058025" y="3712406"/>
                  </a:lnTo>
                  <a:lnTo>
                    <a:pt x="7046937" y="3753764"/>
                  </a:lnTo>
                  <a:lnTo>
                    <a:pt x="7020858" y="3787749"/>
                  </a:lnTo>
                  <a:lnTo>
                    <a:pt x="6983758" y="3809142"/>
                  </a:lnTo>
                  <a:lnTo>
                    <a:pt x="6962803" y="3814038"/>
                  </a:lnTo>
                  <a:lnTo>
                    <a:pt x="6955678" y="38147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820160"/>
            </a:xfrm>
            <a:custGeom>
              <a:avLst/>
              <a:gdLst/>
              <a:ahLst/>
              <a:cxnLst/>
              <a:rect l="l" t="t" r="r" b="b"/>
              <a:pathLst>
                <a:path w="7061834" h="3820160">
                  <a:moveTo>
                    <a:pt x="7061289" y="0"/>
                  </a:moveTo>
                  <a:lnTo>
                    <a:pt x="7058025" y="0"/>
                  </a:lnTo>
                  <a:lnTo>
                    <a:pt x="7058025" y="3705225"/>
                  </a:lnTo>
                  <a:lnTo>
                    <a:pt x="7057517" y="3715550"/>
                  </a:lnTo>
                  <a:lnTo>
                    <a:pt x="7045630" y="3754666"/>
                  </a:lnTo>
                  <a:lnTo>
                    <a:pt x="7026834" y="3779774"/>
                  </a:lnTo>
                  <a:lnTo>
                    <a:pt x="6993344" y="3802037"/>
                  </a:lnTo>
                  <a:lnTo>
                    <a:pt x="6953250" y="3810012"/>
                  </a:lnTo>
                  <a:lnTo>
                    <a:pt x="114300" y="3810012"/>
                  </a:lnTo>
                  <a:lnTo>
                    <a:pt x="74193" y="3802037"/>
                  </a:lnTo>
                  <a:lnTo>
                    <a:pt x="40690" y="3779786"/>
                  </a:lnTo>
                  <a:lnTo>
                    <a:pt x="33261" y="3771671"/>
                  </a:lnTo>
                  <a:lnTo>
                    <a:pt x="14008" y="3735603"/>
                  </a:lnTo>
                  <a:lnTo>
                    <a:pt x="9525" y="370522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705225"/>
                  </a:lnTo>
                  <a:lnTo>
                    <a:pt x="533" y="3716490"/>
                  </a:lnTo>
                  <a:lnTo>
                    <a:pt x="13500" y="3759162"/>
                  </a:lnTo>
                  <a:lnTo>
                    <a:pt x="33515" y="3786022"/>
                  </a:lnTo>
                  <a:lnTo>
                    <a:pt x="70548" y="3810838"/>
                  </a:lnTo>
                  <a:lnTo>
                    <a:pt x="114300" y="3819537"/>
                  </a:lnTo>
                  <a:lnTo>
                    <a:pt x="6953250" y="3819537"/>
                  </a:lnTo>
                  <a:lnTo>
                    <a:pt x="6996989" y="3810838"/>
                  </a:lnTo>
                  <a:lnTo>
                    <a:pt x="6998729" y="3810012"/>
                  </a:lnTo>
                  <a:lnTo>
                    <a:pt x="7007174" y="3806025"/>
                  </a:lnTo>
                  <a:lnTo>
                    <a:pt x="7016763" y="3800297"/>
                  </a:lnTo>
                  <a:lnTo>
                    <a:pt x="7025716" y="3793642"/>
                  </a:lnTo>
                  <a:lnTo>
                    <a:pt x="7033565" y="3786505"/>
                  </a:lnTo>
                  <a:lnTo>
                    <a:pt x="7034060" y="3786060"/>
                  </a:lnTo>
                  <a:lnTo>
                    <a:pt x="7041642" y="3777704"/>
                  </a:lnTo>
                  <a:lnTo>
                    <a:pt x="7048297" y="3768750"/>
                  </a:lnTo>
                  <a:lnTo>
                    <a:pt x="7054024" y="3759162"/>
                  </a:lnTo>
                  <a:lnTo>
                    <a:pt x="7058838" y="3748963"/>
                  </a:lnTo>
                  <a:lnTo>
                    <a:pt x="7061289" y="374214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5000" y="543895"/>
            <a:ext cx="6445250" cy="328993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だからこそ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くと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かしい</a:t>
            </a:r>
            <a:r>
              <a:rPr sz="1250" spc="74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それは</a:t>
            </a:r>
            <a:r>
              <a:rPr sz="1300" spc="-114" dirty="0">
                <a:solidFill>
                  <a:srgbClr val="333333"/>
                </a:solidFill>
                <a:latin typeface="Comic Sans MS"/>
                <a:cs typeface="Comic Sans MS"/>
              </a:rPr>
              <a:t>DNA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刻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まれた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⽇本⼈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なのかもしれません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4349115">
              <a:lnSpc>
                <a:spcPts val="2100"/>
              </a:lnSpc>
              <a:spcBef>
                <a:spcPts val="95"/>
              </a:spcBef>
            </a:pP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かした</a:t>
            </a:r>
            <a:r>
              <a:rPr sz="1250" spc="-2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詳しくはプロフィ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860"/>
              </a:spcBef>
            </a:pP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⽇本⼈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感性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896EF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和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55" dirty="0">
                <a:solidFill>
                  <a:srgbClr val="3896EF"/>
                </a:solidFill>
                <a:latin typeface="メイリオ"/>
                <a:cs typeface="メイリオ"/>
              </a:rPr>
              <a:t>⼼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896EF"/>
                </a:solidFill>
                <a:latin typeface="メイリオ"/>
                <a:cs typeface="メイリオ"/>
              </a:rPr>
              <a:t>⽇本⽂化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四</a:t>
            </a:r>
            <a:r>
              <a:rPr sz="1100" spc="-145" dirty="0">
                <a:solidFill>
                  <a:srgbClr val="3896EF"/>
                </a:solidFill>
                <a:latin typeface="SimSun"/>
                <a:cs typeface="SimSun"/>
              </a:rPr>
              <a:t>季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伝統楽</a:t>
            </a:r>
            <a:r>
              <a:rPr sz="1100" spc="-145" dirty="0">
                <a:solidFill>
                  <a:srgbClr val="3896EF"/>
                </a:solidFill>
                <a:latin typeface="SimSun"/>
                <a:cs typeface="SimSun"/>
              </a:rPr>
              <a:t>器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尺⼋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琵琶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⾃然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との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調</a:t>
            </a:r>
            <a:r>
              <a:rPr sz="1100" spc="-145" dirty="0">
                <a:solidFill>
                  <a:srgbClr val="3896EF"/>
                </a:solidFill>
                <a:latin typeface="SimSun"/>
                <a:cs typeface="SimSun"/>
              </a:rPr>
              <a:t>和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癒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しの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⽂化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229" dirty="0">
                <a:solidFill>
                  <a:srgbClr val="3896EF"/>
                </a:solidFill>
                <a:latin typeface="SimSun"/>
                <a:cs typeface="SimSun"/>
              </a:rPr>
              <a:t>サウ</a:t>
            </a:r>
            <a:r>
              <a:rPr sz="1150" spc="-165" dirty="0">
                <a:solidFill>
                  <a:srgbClr val="3896EF"/>
                </a:solidFill>
                <a:latin typeface="SimSun"/>
                <a:cs typeface="SimSun"/>
              </a:rPr>
              <a:t>ンドヒ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896EF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⽇本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896EF"/>
                </a:solidFill>
                <a:latin typeface="メイリオ"/>
                <a:cs typeface="メイリオ"/>
              </a:rPr>
              <a:t>美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896EF"/>
                </a:solidFill>
                <a:latin typeface="メイリオ"/>
                <a:cs typeface="メイリオ"/>
              </a:rPr>
              <a:t>感性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⾍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896EF"/>
                </a:solidFill>
                <a:latin typeface="メイリオ"/>
                <a:cs typeface="メイリオ"/>
              </a:rPr>
              <a:t>声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季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節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896EF"/>
                </a:solidFill>
                <a:latin typeface="メイリオ"/>
                <a:cs typeface="メイリオ"/>
              </a:rPr>
              <a:t>⾳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33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2"/>
            <a:ext cx="7061834" cy="9347835"/>
            <a:chOff x="352425" y="352392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43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8"/>
                  </a:moveTo>
                  <a:lnTo>
                    <a:pt x="0" y="9342548"/>
                  </a:lnTo>
                  <a:lnTo>
                    <a:pt x="0" y="102336"/>
                  </a:lnTo>
                  <a:lnTo>
                    <a:pt x="11090" y="60921"/>
                  </a:lnTo>
                  <a:lnTo>
                    <a:pt x="37168" y="26974"/>
                  </a:lnTo>
                  <a:lnTo>
                    <a:pt x="74264" y="5562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68"/>
                  </a:lnTo>
                  <a:lnTo>
                    <a:pt x="7031026" y="37128"/>
                  </a:lnTo>
                  <a:lnTo>
                    <a:pt x="7052437" y="74228"/>
                  </a:lnTo>
                  <a:lnTo>
                    <a:pt x="7056536" y="91246"/>
                  </a:lnTo>
                  <a:lnTo>
                    <a:pt x="7056536" y="9342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48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72" y="39801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3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55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16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8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723899" y="304799"/>
                </a:moveTo>
                <a:lnTo>
                  <a:pt x="152399" y="304799"/>
                </a:lnTo>
                <a:lnTo>
                  <a:pt x="144912" y="304606"/>
                </a:lnTo>
                <a:lnTo>
                  <a:pt x="101066" y="295872"/>
                </a:lnTo>
                <a:lnTo>
                  <a:pt x="61607" y="274780"/>
                </a:lnTo>
                <a:lnTo>
                  <a:pt x="29995" y="243161"/>
                </a:lnTo>
                <a:lnTo>
                  <a:pt x="8904" y="203695"/>
                </a:lnTo>
                <a:lnTo>
                  <a:pt x="183" y="159878"/>
                </a:lnTo>
                <a:lnTo>
                  <a:pt x="0" y="152399"/>
                </a:lnTo>
                <a:lnTo>
                  <a:pt x="183" y="144909"/>
                </a:lnTo>
                <a:lnTo>
                  <a:pt x="8904" y="101050"/>
                </a:lnTo>
                <a:lnTo>
                  <a:pt x="29995" y="61563"/>
                </a:lnTo>
                <a:lnTo>
                  <a:pt x="61607" y="29962"/>
                </a:lnTo>
                <a:lnTo>
                  <a:pt x="101066" y="8884"/>
                </a:lnTo>
                <a:lnTo>
                  <a:pt x="144912" y="182"/>
                </a:lnTo>
                <a:lnTo>
                  <a:pt x="152399" y="0"/>
                </a:lnTo>
                <a:lnTo>
                  <a:pt x="723899" y="0"/>
                </a:lnTo>
                <a:lnTo>
                  <a:pt x="768139" y="6557"/>
                </a:lnTo>
                <a:lnTo>
                  <a:pt x="808568" y="25650"/>
                </a:lnTo>
                <a:lnTo>
                  <a:pt x="841707" y="55672"/>
                </a:lnTo>
                <a:lnTo>
                  <a:pt x="864698" y="94040"/>
                </a:lnTo>
                <a:lnTo>
                  <a:pt x="875567" y="137452"/>
                </a:lnTo>
                <a:lnTo>
                  <a:pt x="876299" y="152399"/>
                </a:lnTo>
                <a:lnTo>
                  <a:pt x="876116" y="159878"/>
                </a:lnTo>
                <a:lnTo>
                  <a:pt x="867394" y="203695"/>
                </a:lnTo>
                <a:lnTo>
                  <a:pt x="846304" y="243161"/>
                </a:lnTo>
                <a:lnTo>
                  <a:pt x="814692" y="274780"/>
                </a:lnTo>
                <a:lnTo>
                  <a:pt x="775233" y="295872"/>
                </a:lnTo>
                <a:lnTo>
                  <a:pt x="731386" y="304606"/>
                </a:lnTo>
                <a:lnTo>
                  <a:pt x="7238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673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知識提供型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34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785870" cy="821186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仕組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endParaRPr sz="1250" dirty="0">
              <a:latin typeface="メイリオ"/>
              <a:cs typeface="メイリオ"/>
            </a:endParaRPr>
          </a:p>
          <a:p>
            <a:pPr marL="12700" marR="1743075">
              <a:lnSpc>
                <a:spcPct val="135000"/>
              </a:lnSpc>
              <a:spcBef>
                <a:spcPts val="21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ってよく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聞</a:t>
            </a:r>
            <a:r>
              <a:rPr sz="1250" spc="-685" dirty="0">
                <a:solidFill>
                  <a:srgbClr val="333333"/>
                </a:solidFill>
                <a:latin typeface="SimSun"/>
                <a:cs typeface="SimSun"/>
              </a:rPr>
              <a:t>くけ</a:t>
            </a: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                          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ど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実際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どういうもの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わかりやすく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1588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戦闘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アップ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⾎圧上昇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緊張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集中状態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⽇中活動時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優位</a:t>
            </a:r>
            <a:endParaRPr sz="1250" dirty="0">
              <a:latin typeface="メイリオ"/>
              <a:cs typeface="メイリオ"/>
            </a:endParaRPr>
          </a:p>
          <a:p>
            <a:pPr marL="12700" marR="1158875">
              <a:lnSpc>
                <a:spcPct val="135000"/>
              </a:lnSpc>
              <a:spcBef>
                <a:spcPts val="210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休息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拍数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下がる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⾎圧</a:t>
            </a:r>
            <a:r>
              <a:rPr lang="ja-JP" altLang="en-US" sz="1250" spc="-105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リラックス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夜間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休息時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優位</a:t>
            </a:r>
            <a:endParaRPr sz="1250" dirty="0">
              <a:latin typeface="メイリオ"/>
              <a:cs typeface="メイリオ"/>
            </a:endParaRPr>
          </a:p>
          <a:p>
            <a:pPr marL="12700" marR="1158875">
              <a:lnSpc>
                <a:spcPct val="135000"/>
              </a:lnSpc>
              <a:spcBef>
                <a:spcPts val="210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現代⼈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問題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くの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交感神経優位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のまま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69"/>
            <a:ext cx="7063105" cy="4867910"/>
            <a:chOff x="352425" y="352369"/>
            <a:chExt cx="7063105" cy="4867910"/>
          </a:xfrm>
        </p:grpSpPr>
        <p:sp>
          <p:nvSpPr>
            <p:cNvPr id="3" name="object 3"/>
            <p:cNvSpPr/>
            <p:nvPr/>
          </p:nvSpPr>
          <p:spPr>
            <a:xfrm>
              <a:off x="357187" y="352412"/>
              <a:ext cx="7058025" cy="4862830"/>
            </a:xfrm>
            <a:custGeom>
              <a:avLst/>
              <a:gdLst/>
              <a:ahLst/>
              <a:cxnLst/>
              <a:rect l="l" t="t" r="r" b="b"/>
              <a:pathLst>
                <a:path w="7058025" h="4862830">
                  <a:moveTo>
                    <a:pt x="6955678" y="4862512"/>
                  </a:moveTo>
                  <a:lnTo>
                    <a:pt x="102345" y="4862512"/>
                  </a:lnTo>
                  <a:lnTo>
                    <a:pt x="95221" y="4861807"/>
                  </a:lnTo>
                  <a:lnTo>
                    <a:pt x="54661" y="4847967"/>
                  </a:lnTo>
                  <a:lnTo>
                    <a:pt x="22456" y="4819763"/>
                  </a:lnTo>
                  <a:lnTo>
                    <a:pt x="3507" y="4781359"/>
                  </a:lnTo>
                  <a:lnTo>
                    <a:pt x="0" y="4760156"/>
                  </a:lnTo>
                  <a:lnTo>
                    <a:pt x="0" y="47529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760156"/>
                  </a:lnTo>
                  <a:lnTo>
                    <a:pt x="7046932" y="4801494"/>
                  </a:lnTo>
                  <a:lnTo>
                    <a:pt x="7020855" y="4835461"/>
                  </a:lnTo>
                  <a:lnTo>
                    <a:pt x="6983759" y="4856892"/>
                  </a:lnTo>
                  <a:lnTo>
                    <a:pt x="6962802" y="4861807"/>
                  </a:lnTo>
                  <a:lnTo>
                    <a:pt x="6955678" y="4862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73"/>
              <a:ext cx="7061834" cy="4867910"/>
            </a:xfrm>
            <a:custGeom>
              <a:avLst/>
              <a:gdLst/>
              <a:ahLst/>
              <a:cxnLst/>
              <a:rect l="l" t="t" r="r" b="b"/>
              <a:pathLst>
                <a:path w="7061834" h="4867910">
                  <a:moveTo>
                    <a:pt x="7061289" y="0"/>
                  </a:moveTo>
                  <a:lnTo>
                    <a:pt x="7058012" y="0"/>
                  </a:lnTo>
                  <a:lnTo>
                    <a:pt x="7058012" y="4752987"/>
                  </a:lnTo>
                  <a:lnTo>
                    <a:pt x="7057517" y="4763313"/>
                  </a:lnTo>
                  <a:lnTo>
                    <a:pt x="7045630" y="4802429"/>
                  </a:lnTo>
                  <a:lnTo>
                    <a:pt x="7026821" y="4827536"/>
                  </a:lnTo>
                  <a:lnTo>
                    <a:pt x="6993344" y="4849800"/>
                  </a:lnTo>
                  <a:lnTo>
                    <a:pt x="6953237" y="4857775"/>
                  </a:lnTo>
                  <a:lnTo>
                    <a:pt x="114300" y="4857775"/>
                  </a:lnTo>
                  <a:lnTo>
                    <a:pt x="74193" y="4849800"/>
                  </a:lnTo>
                  <a:lnTo>
                    <a:pt x="40703" y="4827549"/>
                  </a:lnTo>
                  <a:lnTo>
                    <a:pt x="33261" y="4819421"/>
                  </a:lnTo>
                  <a:lnTo>
                    <a:pt x="14008" y="4783353"/>
                  </a:lnTo>
                  <a:lnTo>
                    <a:pt x="9525" y="47529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752987"/>
                  </a:lnTo>
                  <a:lnTo>
                    <a:pt x="533" y="4764252"/>
                  </a:lnTo>
                  <a:lnTo>
                    <a:pt x="13500" y="4806924"/>
                  </a:lnTo>
                  <a:lnTo>
                    <a:pt x="33515" y="4833785"/>
                  </a:lnTo>
                  <a:lnTo>
                    <a:pt x="70548" y="4858601"/>
                  </a:lnTo>
                  <a:lnTo>
                    <a:pt x="114300" y="4867300"/>
                  </a:lnTo>
                  <a:lnTo>
                    <a:pt x="6953237" y="4867300"/>
                  </a:lnTo>
                  <a:lnTo>
                    <a:pt x="6996989" y="4858601"/>
                  </a:lnTo>
                  <a:lnTo>
                    <a:pt x="6998729" y="4857775"/>
                  </a:lnTo>
                  <a:lnTo>
                    <a:pt x="7007174" y="4853787"/>
                  </a:lnTo>
                  <a:lnTo>
                    <a:pt x="7016763" y="4848060"/>
                  </a:lnTo>
                  <a:lnTo>
                    <a:pt x="7025716" y="4841405"/>
                  </a:lnTo>
                  <a:lnTo>
                    <a:pt x="7033552" y="4834280"/>
                  </a:lnTo>
                  <a:lnTo>
                    <a:pt x="7034060" y="4833823"/>
                  </a:lnTo>
                  <a:lnTo>
                    <a:pt x="7041642" y="4825466"/>
                  </a:lnTo>
                  <a:lnTo>
                    <a:pt x="7048297" y="4816500"/>
                  </a:lnTo>
                  <a:lnTo>
                    <a:pt x="7054024" y="4806924"/>
                  </a:lnTo>
                  <a:lnTo>
                    <a:pt x="7058838" y="4796726"/>
                  </a:lnTo>
                  <a:lnTo>
                    <a:pt x="7061289" y="47898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37630" cy="4585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258435">
              <a:lnSpc>
                <a:spcPct val="135000"/>
              </a:lnSpc>
              <a:spcBef>
                <a:spcPts val="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常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緊張状態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まらない</a:t>
            </a:r>
            <a:r>
              <a:rPr sz="1250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解決策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くと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休息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3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解説中</a:t>
            </a:r>
            <a:endParaRPr sz="1250">
              <a:latin typeface="メイリオ"/>
              <a:cs typeface="メイリオ"/>
            </a:endParaRPr>
          </a:p>
          <a:p>
            <a:pPr marL="12700" marR="5080">
              <a:lnSpc>
                <a:spcPct val="152200"/>
              </a:lnSpc>
              <a:spcBef>
                <a:spcPts val="944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⾃律神経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交感神経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副交感神経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⾃律神経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を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整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える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リラックス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休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息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モ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ド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現代⼈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悩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ストレス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社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会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⼼拍数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健康知識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セルフケア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仕組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わかりやすく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解説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健康法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35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4"/>
            <a:ext cx="7061834" cy="9347835"/>
            <a:chOff x="352425" y="35239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45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8"/>
                  </a:moveTo>
                  <a:lnTo>
                    <a:pt x="0" y="9342548"/>
                  </a:lnTo>
                  <a:lnTo>
                    <a:pt x="0" y="102317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87"/>
                  </a:lnTo>
                  <a:lnTo>
                    <a:pt x="7031026" y="37128"/>
                  </a:lnTo>
                  <a:lnTo>
                    <a:pt x="7052437" y="74266"/>
                  </a:lnTo>
                  <a:lnTo>
                    <a:pt x="7056536" y="91238"/>
                  </a:lnTo>
                  <a:lnTo>
                    <a:pt x="7056536" y="93425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08"/>
                  </a:lnTo>
                  <a:lnTo>
                    <a:pt x="7034009" y="33528"/>
                  </a:lnTo>
                  <a:lnTo>
                    <a:pt x="7033590" y="33058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85" y="33007"/>
                  </a:lnTo>
                  <a:lnTo>
                    <a:pt x="33477" y="33477"/>
                  </a:lnTo>
                  <a:lnTo>
                    <a:pt x="25895" y="41808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0665" y="39801"/>
                  </a:lnTo>
                  <a:lnTo>
                    <a:pt x="74193" y="1750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859" y="39801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2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56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17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7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723899" y="304799"/>
                </a:moveTo>
                <a:lnTo>
                  <a:pt x="152399" y="304799"/>
                </a:lnTo>
                <a:lnTo>
                  <a:pt x="144912" y="304596"/>
                </a:lnTo>
                <a:lnTo>
                  <a:pt x="101066" y="295885"/>
                </a:lnTo>
                <a:lnTo>
                  <a:pt x="61607" y="274788"/>
                </a:lnTo>
                <a:lnTo>
                  <a:pt x="29995" y="243180"/>
                </a:lnTo>
                <a:lnTo>
                  <a:pt x="8904" y="203670"/>
                </a:lnTo>
                <a:lnTo>
                  <a:pt x="183" y="159880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1037"/>
                </a:lnTo>
                <a:lnTo>
                  <a:pt x="29995" y="61603"/>
                </a:lnTo>
                <a:lnTo>
                  <a:pt x="61607" y="29937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723899" y="0"/>
                </a:lnTo>
                <a:lnTo>
                  <a:pt x="768139" y="6542"/>
                </a:lnTo>
                <a:lnTo>
                  <a:pt x="808568" y="25631"/>
                </a:lnTo>
                <a:lnTo>
                  <a:pt x="841707" y="55717"/>
                </a:lnTo>
                <a:lnTo>
                  <a:pt x="864698" y="94059"/>
                </a:lnTo>
                <a:lnTo>
                  <a:pt x="875567" y="137445"/>
                </a:lnTo>
                <a:lnTo>
                  <a:pt x="876299" y="152399"/>
                </a:lnTo>
                <a:lnTo>
                  <a:pt x="876116" y="159880"/>
                </a:lnTo>
                <a:lnTo>
                  <a:pt x="867394" y="203670"/>
                </a:lnTo>
                <a:lnTo>
                  <a:pt x="846304" y="243180"/>
                </a:lnTo>
                <a:lnTo>
                  <a:pt x="814692" y="274788"/>
                </a:lnTo>
                <a:lnTo>
                  <a:pt x="775233" y="295885"/>
                </a:lnTo>
                <a:lnTo>
                  <a:pt x="731386" y="304596"/>
                </a:lnTo>
                <a:lnTo>
                  <a:pt x="7238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673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知識提供型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36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3443604" cy="804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60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つの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健康法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協会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50" dirty="0">
                <a:solidFill>
                  <a:srgbClr val="333333"/>
                </a:solidFill>
                <a:latin typeface="メイリオ"/>
                <a:cs typeface="メイリオ"/>
              </a:rPr>
              <a:t>提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案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になる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⼀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つじゃない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協会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推奨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紹介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40" dirty="0">
                <a:solidFill>
                  <a:srgbClr val="333333"/>
                </a:solidFill>
                <a:latin typeface="SimSun"/>
                <a:cs typeface="SimSun"/>
              </a:rPr>
              <a:t>①</a:t>
            </a:r>
            <a:r>
              <a:rPr sz="1300" spc="-40" dirty="0">
                <a:solidFill>
                  <a:srgbClr val="333333"/>
                </a:solidFill>
                <a:latin typeface="Comic Sans MS"/>
                <a:cs typeface="Comic Sans MS"/>
              </a:rPr>
              <a:t>Harmonic</a:t>
            </a:r>
            <a:r>
              <a:rPr sz="1300" spc="-3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Ambience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環境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のリズムを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561465">
              <a:lnSpc>
                <a:spcPct val="137800"/>
              </a:lnSpc>
            </a:pP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すだけで</a:t>
            </a:r>
            <a:r>
              <a:rPr sz="1300" spc="-70" dirty="0">
                <a:solidFill>
                  <a:srgbClr val="333333"/>
                </a:solidFill>
                <a:latin typeface="Comic Sans MS"/>
                <a:cs typeface="Comic Sans MS"/>
              </a:rPr>
              <a:t>OK</a:t>
            </a:r>
            <a:r>
              <a:rPr sz="125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最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⼿軽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められます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50" spc="-40" dirty="0">
                <a:solidFill>
                  <a:srgbClr val="333333"/>
                </a:solidFill>
                <a:latin typeface="SimSun"/>
                <a:cs typeface="SimSun"/>
              </a:rPr>
              <a:t>②</a:t>
            </a:r>
            <a:r>
              <a:rPr sz="1300" spc="-40" dirty="0">
                <a:solidFill>
                  <a:srgbClr val="333333"/>
                </a:solidFill>
                <a:latin typeface="Comic Sans MS"/>
                <a:cs typeface="Comic Sans MS"/>
              </a:rPr>
              <a:t>Harmonic</a:t>
            </a:r>
            <a:r>
              <a:rPr sz="1300" spc="-3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Massage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体感⾳響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ぶ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レベルのマッサ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ジ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83007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直接伝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いリラックスを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実現</a:t>
            </a:r>
            <a:r>
              <a:rPr sz="125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55" dirty="0">
                <a:solidFill>
                  <a:srgbClr val="333333"/>
                </a:solidFill>
                <a:latin typeface="SimSun"/>
                <a:cs typeface="SimSun"/>
              </a:rPr>
              <a:t>③</a:t>
            </a: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Voice</a:t>
            </a:r>
            <a:r>
              <a:rPr sz="130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Prayer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69"/>
            <a:ext cx="7063105" cy="4601210"/>
            <a:chOff x="352425" y="352369"/>
            <a:chExt cx="7063105" cy="4601210"/>
          </a:xfrm>
        </p:grpSpPr>
        <p:sp>
          <p:nvSpPr>
            <p:cNvPr id="3" name="object 3"/>
            <p:cNvSpPr/>
            <p:nvPr/>
          </p:nvSpPr>
          <p:spPr>
            <a:xfrm>
              <a:off x="357187" y="352412"/>
              <a:ext cx="7058025" cy="4596130"/>
            </a:xfrm>
            <a:custGeom>
              <a:avLst/>
              <a:gdLst/>
              <a:ahLst/>
              <a:cxnLst/>
              <a:rect l="l" t="t" r="r" b="b"/>
              <a:pathLst>
                <a:path w="7058025" h="4596130">
                  <a:moveTo>
                    <a:pt x="6955678" y="4595812"/>
                  </a:moveTo>
                  <a:lnTo>
                    <a:pt x="102345" y="4595812"/>
                  </a:lnTo>
                  <a:lnTo>
                    <a:pt x="95221" y="4595107"/>
                  </a:lnTo>
                  <a:lnTo>
                    <a:pt x="54661" y="4581305"/>
                  </a:lnTo>
                  <a:lnTo>
                    <a:pt x="22456" y="4553102"/>
                  </a:lnTo>
                  <a:lnTo>
                    <a:pt x="3507" y="4514659"/>
                  </a:lnTo>
                  <a:lnTo>
                    <a:pt x="0" y="4493456"/>
                  </a:lnTo>
                  <a:lnTo>
                    <a:pt x="0" y="44862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493456"/>
                  </a:lnTo>
                  <a:lnTo>
                    <a:pt x="7046932" y="4534794"/>
                  </a:lnTo>
                  <a:lnTo>
                    <a:pt x="7020855" y="4568799"/>
                  </a:lnTo>
                  <a:lnTo>
                    <a:pt x="6983759" y="4590230"/>
                  </a:lnTo>
                  <a:lnTo>
                    <a:pt x="6962802" y="4595107"/>
                  </a:lnTo>
                  <a:lnTo>
                    <a:pt x="6955678" y="4595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73"/>
              <a:ext cx="7061834" cy="4601210"/>
            </a:xfrm>
            <a:custGeom>
              <a:avLst/>
              <a:gdLst/>
              <a:ahLst/>
              <a:cxnLst/>
              <a:rect l="l" t="t" r="r" b="b"/>
              <a:pathLst>
                <a:path w="7061834" h="4601210">
                  <a:moveTo>
                    <a:pt x="7061289" y="0"/>
                  </a:moveTo>
                  <a:lnTo>
                    <a:pt x="7058012" y="0"/>
                  </a:lnTo>
                  <a:lnTo>
                    <a:pt x="7058012" y="4486287"/>
                  </a:lnTo>
                  <a:lnTo>
                    <a:pt x="7057517" y="4496613"/>
                  </a:lnTo>
                  <a:lnTo>
                    <a:pt x="7045630" y="4535729"/>
                  </a:lnTo>
                  <a:lnTo>
                    <a:pt x="7026821" y="4560836"/>
                  </a:lnTo>
                  <a:lnTo>
                    <a:pt x="6993344" y="4583100"/>
                  </a:lnTo>
                  <a:lnTo>
                    <a:pt x="6953237" y="4591075"/>
                  </a:lnTo>
                  <a:lnTo>
                    <a:pt x="114300" y="4591075"/>
                  </a:lnTo>
                  <a:lnTo>
                    <a:pt x="74206" y="4583100"/>
                  </a:lnTo>
                  <a:lnTo>
                    <a:pt x="40703" y="4560849"/>
                  </a:lnTo>
                  <a:lnTo>
                    <a:pt x="33261" y="4552721"/>
                  </a:lnTo>
                  <a:lnTo>
                    <a:pt x="14008" y="4516653"/>
                  </a:lnTo>
                  <a:lnTo>
                    <a:pt x="9525" y="44862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486287"/>
                  </a:lnTo>
                  <a:lnTo>
                    <a:pt x="533" y="4497552"/>
                  </a:lnTo>
                  <a:lnTo>
                    <a:pt x="13500" y="4540224"/>
                  </a:lnTo>
                  <a:lnTo>
                    <a:pt x="33515" y="4567085"/>
                  </a:lnTo>
                  <a:lnTo>
                    <a:pt x="70548" y="4591901"/>
                  </a:lnTo>
                  <a:lnTo>
                    <a:pt x="114300" y="4600600"/>
                  </a:lnTo>
                  <a:lnTo>
                    <a:pt x="6953237" y="4600600"/>
                  </a:lnTo>
                  <a:lnTo>
                    <a:pt x="6996976" y="4591901"/>
                  </a:lnTo>
                  <a:lnTo>
                    <a:pt x="7033552" y="4567580"/>
                  </a:lnTo>
                  <a:lnTo>
                    <a:pt x="7034060" y="4567123"/>
                  </a:lnTo>
                  <a:lnTo>
                    <a:pt x="7041642" y="4558766"/>
                  </a:lnTo>
                  <a:lnTo>
                    <a:pt x="7048297" y="4549800"/>
                  </a:lnTo>
                  <a:lnTo>
                    <a:pt x="7054024" y="4540224"/>
                  </a:lnTo>
                  <a:lnTo>
                    <a:pt x="7058838" y="4530026"/>
                  </a:lnTo>
                  <a:lnTo>
                    <a:pt x="7061289" y="45231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45"/>
            <a:ext cx="6487795" cy="43186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まずは①から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めて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徐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250" spc="-165" dirty="0">
                <a:solidFill>
                  <a:srgbClr val="333333"/>
                </a:solidFill>
                <a:latin typeface="SimSun"/>
                <a:cs typeface="SimSun"/>
              </a:rPr>
              <a:t>にステップアップ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あなたに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つけてみてください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2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各⽅法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詳細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3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リング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協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会 </a:t>
            </a:r>
            <a:r>
              <a:rPr sz="1150" spc="-175" dirty="0">
                <a:solidFill>
                  <a:srgbClr val="3797F0"/>
                </a:solidFill>
                <a:latin typeface="Comic Sans MS"/>
                <a:cs typeface="Comic Sans MS"/>
              </a:rPr>
              <a:t>#3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つの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⽅法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体感⾳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ボイスワ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ク </a:t>
            </a:r>
            <a:r>
              <a:rPr sz="1150" spc="-60" dirty="0">
                <a:solidFill>
                  <a:srgbClr val="3797F0"/>
                </a:solidFill>
                <a:latin typeface="Comic Sans MS"/>
                <a:cs typeface="Comic Sans MS"/>
              </a:rPr>
              <a:t>#Harmonic</a:t>
            </a:r>
            <a:r>
              <a:rPr sz="1150" spc="-135" dirty="0">
                <a:solidFill>
                  <a:srgbClr val="3797F0"/>
                </a:solidFill>
                <a:latin typeface="Comic Sans MS"/>
                <a:cs typeface="Comic Sans MS"/>
              </a:rPr>
              <a:t> 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健康法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健康法 </a:t>
            </a:r>
            <a:r>
              <a:rPr sz="1150" spc="-44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セルフケア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始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め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リラックス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し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ウェルネス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⼼⾝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健康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選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び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⽅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37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6"/>
            <a:ext cx="7061834" cy="9347835"/>
            <a:chOff x="352425" y="352396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46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49"/>
                  </a:moveTo>
                  <a:lnTo>
                    <a:pt x="0" y="9342549"/>
                  </a:lnTo>
                  <a:lnTo>
                    <a:pt x="0" y="102317"/>
                  </a:lnTo>
                  <a:lnTo>
                    <a:pt x="11090" y="60940"/>
                  </a:lnTo>
                  <a:lnTo>
                    <a:pt x="18460" y="48701"/>
                  </a:lnTo>
                  <a:lnTo>
                    <a:pt x="22456" y="42671"/>
                  </a:lnTo>
                  <a:lnTo>
                    <a:pt x="54661" y="14477"/>
                  </a:lnTo>
                  <a:lnTo>
                    <a:pt x="95221" y="704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87"/>
                  </a:lnTo>
                  <a:lnTo>
                    <a:pt x="7031026" y="37128"/>
                  </a:lnTo>
                  <a:lnTo>
                    <a:pt x="7052437" y="74228"/>
                  </a:lnTo>
                  <a:lnTo>
                    <a:pt x="7056536" y="91238"/>
                  </a:lnTo>
                  <a:lnTo>
                    <a:pt x="7056536" y="9342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08"/>
                  </a:lnTo>
                  <a:lnTo>
                    <a:pt x="7034009" y="33528"/>
                  </a:lnTo>
                  <a:lnTo>
                    <a:pt x="7033590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84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85" y="33007"/>
                  </a:lnTo>
                  <a:lnTo>
                    <a:pt x="33477" y="33477"/>
                  </a:lnTo>
                  <a:lnTo>
                    <a:pt x="25895" y="41808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1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58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18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6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723899" y="304799"/>
                </a:moveTo>
                <a:lnTo>
                  <a:pt x="152399" y="304799"/>
                </a:lnTo>
                <a:lnTo>
                  <a:pt x="144912" y="304597"/>
                </a:lnTo>
                <a:lnTo>
                  <a:pt x="101066" y="295853"/>
                </a:lnTo>
                <a:lnTo>
                  <a:pt x="61607" y="274787"/>
                </a:lnTo>
                <a:lnTo>
                  <a:pt x="29995" y="243121"/>
                </a:lnTo>
                <a:lnTo>
                  <a:pt x="8904" y="203687"/>
                </a:lnTo>
                <a:lnTo>
                  <a:pt x="183" y="159892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1058"/>
                </a:lnTo>
                <a:lnTo>
                  <a:pt x="29995" y="61565"/>
                </a:lnTo>
                <a:lnTo>
                  <a:pt x="61607" y="29957"/>
                </a:lnTo>
                <a:lnTo>
                  <a:pt x="101066" y="8842"/>
                </a:lnTo>
                <a:lnTo>
                  <a:pt x="144912" y="182"/>
                </a:lnTo>
                <a:lnTo>
                  <a:pt x="152399" y="0"/>
                </a:lnTo>
                <a:lnTo>
                  <a:pt x="723899" y="0"/>
                </a:lnTo>
                <a:lnTo>
                  <a:pt x="768139" y="6509"/>
                </a:lnTo>
                <a:lnTo>
                  <a:pt x="808568" y="25603"/>
                </a:lnTo>
                <a:lnTo>
                  <a:pt x="841707" y="55684"/>
                </a:lnTo>
                <a:lnTo>
                  <a:pt x="864698" y="94059"/>
                </a:lnTo>
                <a:lnTo>
                  <a:pt x="875567" y="137445"/>
                </a:lnTo>
                <a:lnTo>
                  <a:pt x="876299" y="152399"/>
                </a:lnTo>
                <a:lnTo>
                  <a:pt x="876116" y="159892"/>
                </a:lnTo>
                <a:lnTo>
                  <a:pt x="867394" y="203687"/>
                </a:lnTo>
                <a:lnTo>
                  <a:pt x="846304" y="243121"/>
                </a:lnTo>
                <a:lnTo>
                  <a:pt x="814692" y="274787"/>
                </a:lnTo>
                <a:lnTo>
                  <a:pt x="775233" y="295853"/>
                </a:lnTo>
                <a:lnTo>
                  <a:pt x="731386" y="304597"/>
                </a:lnTo>
                <a:lnTo>
                  <a:pt x="72389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67310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知識提供型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38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2763520" cy="829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植物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反応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驚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くべき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endParaRPr sz="1250">
              <a:latin typeface="メイリオ"/>
              <a:cs typeface="メイリオ"/>
            </a:endParaRPr>
          </a:p>
          <a:p>
            <a:pPr marL="12700" marR="860425">
              <a:lnSpc>
                <a:spcPct val="135000"/>
              </a:lnSpc>
              <a:spcBef>
                <a:spcPts val="21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⼈間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だけに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そう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っていませんか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植物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にも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劇的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があるんです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3652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条件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部屋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⽤意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⽚⽅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だけに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33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あり</a:t>
            </a:r>
            <a:endParaRPr sz="1250">
              <a:latin typeface="SimSun"/>
              <a:cs typeface="SimSun"/>
            </a:endParaRPr>
          </a:p>
          <a:p>
            <a:pPr marL="231775" indent="-219075">
              <a:lnSpc>
                <a:spcPct val="100000"/>
              </a:lnSpc>
              <a:spcBef>
                <a:spcPts val="525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endParaRPr sz="1250">
              <a:latin typeface="SimSun"/>
              <a:cs typeface="SimSun"/>
            </a:endParaRPr>
          </a:p>
          <a:p>
            <a:pPr marL="231775" indent="-219075">
              <a:lnSpc>
                <a:spcPct val="100000"/>
              </a:lnSpc>
              <a:spcBef>
                <a:spcPts val="600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新芽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成⻑</a:t>
            </a:r>
            <a:endParaRPr sz="1250">
              <a:latin typeface="メイリオ"/>
              <a:cs typeface="メイリオ"/>
            </a:endParaRPr>
          </a:p>
          <a:p>
            <a:pPr marL="231775" indent="-219075">
              <a:lnSpc>
                <a:spcPct val="100000"/>
              </a:lnSpc>
              <a:spcBef>
                <a:spcPts val="525"/>
              </a:spcBef>
              <a:buFont typeface="BIZ UDP"/>
              <a:buChar char="✓"/>
              <a:tabLst>
                <a:tab pos="231775" algn="l"/>
              </a:tabLst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透明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なし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050" spc="-165" dirty="0">
                <a:solidFill>
                  <a:srgbClr val="333333"/>
                </a:solidFill>
                <a:latin typeface="ＭＳ Ｐゴシック"/>
                <a:cs typeface="ＭＳ Ｐゴシック"/>
              </a:rPr>
              <a:t>✗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枯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れる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050" spc="-155" dirty="0">
                <a:solidFill>
                  <a:srgbClr val="333333"/>
                </a:solidFill>
                <a:latin typeface="ＭＳ Ｐゴシック"/>
                <a:cs typeface="ＭＳ Ｐゴシック"/>
              </a:rPr>
              <a:t>✗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茎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170" dirty="0">
                <a:solidFill>
                  <a:srgbClr val="333333"/>
                </a:solidFill>
                <a:latin typeface="ＭＳ Ｐゴシック"/>
                <a:cs typeface="ＭＳ Ｐゴシック"/>
              </a:rPr>
              <a:t>✗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濁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60" dirty="0">
                <a:solidFill>
                  <a:srgbClr val="333333"/>
                </a:solidFill>
                <a:latin typeface="Comic Sans MS"/>
                <a:cs typeface="Comic Sans MS"/>
              </a:rPr>
              <a:t>48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⽇後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70"/>
            <a:ext cx="7063105" cy="4867910"/>
            <a:chOff x="352425" y="352370"/>
            <a:chExt cx="7063105" cy="4867910"/>
          </a:xfrm>
        </p:grpSpPr>
        <p:sp>
          <p:nvSpPr>
            <p:cNvPr id="3" name="object 3"/>
            <p:cNvSpPr/>
            <p:nvPr/>
          </p:nvSpPr>
          <p:spPr>
            <a:xfrm>
              <a:off x="357187" y="352411"/>
              <a:ext cx="7058025" cy="4862830"/>
            </a:xfrm>
            <a:custGeom>
              <a:avLst/>
              <a:gdLst/>
              <a:ahLst/>
              <a:cxnLst/>
              <a:rect l="l" t="t" r="r" b="b"/>
              <a:pathLst>
                <a:path w="7058025" h="4862830">
                  <a:moveTo>
                    <a:pt x="6955678" y="4862474"/>
                  </a:moveTo>
                  <a:lnTo>
                    <a:pt x="102345" y="4862474"/>
                  </a:lnTo>
                  <a:lnTo>
                    <a:pt x="95221" y="4861769"/>
                  </a:lnTo>
                  <a:lnTo>
                    <a:pt x="54661" y="4848005"/>
                  </a:lnTo>
                  <a:lnTo>
                    <a:pt x="22456" y="4819763"/>
                  </a:lnTo>
                  <a:lnTo>
                    <a:pt x="3507" y="4781359"/>
                  </a:lnTo>
                  <a:lnTo>
                    <a:pt x="0" y="4760156"/>
                  </a:lnTo>
                  <a:lnTo>
                    <a:pt x="0" y="47529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760156"/>
                  </a:lnTo>
                  <a:lnTo>
                    <a:pt x="7046932" y="4801494"/>
                  </a:lnTo>
                  <a:lnTo>
                    <a:pt x="7020855" y="4835461"/>
                  </a:lnTo>
                  <a:lnTo>
                    <a:pt x="6983759" y="4856854"/>
                  </a:lnTo>
                  <a:lnTo>
                    <a:pt x="6962802" y="4861769"/>
                  </a:lnTo>
                  <a:lnTo>
                    <a:pt x="6955678" y="4862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73"/>
              <a:ext cx="7061834" cy="4867910"/>
            </a:xfrm>
            <a:custGeom>
              <a:avLst/>
              <a:gdLst/>
              <a:ahLst/>
              <a:cxnLst/>
              <a:rect l="l" t="t" r="r" b="b"/>
              <a:pathLst>
                <a:path w="7061834" h="4867910">
                  <a:moveTo>
                    <a:pt x="7061289" y="0"/>
                  </a:moveTo>
                  <a:lnTo>
                    <a:pt x="7058012" y="0"/>
                  </a:lnTo>
                  <a:lnTo>
                    <a:pt x="7058012" y="4752987"/>
                  </a:lnTo>
                  <a:lnTo>
                    <a:pt x="7057517" y="4763313"/>
                  </a:lnTo>
                  <a:lnTo>
                    <a:pt x="7045630" y="4802429"/>
                  </a:lnTo>
                  <a:lnTo>
                    <a:pt x="7026821" y="4827536"/>
                  </a:lnTo>
                  <a:lnTo>
                    <a:pt x="6993344" y="4849800"/>
                  </a:lnTo>
                  <a:lnTo>
                    <a:pt x="6953237" y="4857775"/>
                  </a:lnTo>
                  <a:lnTo>
                    <a:pt x="114300" y="4857775"/>
                  </a:lnTo>
                  <a:lnTo>
                    <a:pt x="74193" y="4849800"/>
                  </a:lnTo>
                  <a:lnTo>
                    <a:pt x="40703" y="4827549"/>
                  </a:lnTo>
                  <a:lnTo>
                    <a:pt x="33261" y="4819421"/>
                  </a:lnTo>
                  <a:lnTo>
                    <a:pt x="14008" y="4783353"/>
                  </a:lnTo>
                  <a:lnTo>
                    <a:pt x="9525" y="47529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752987"/>
                  </a:lnTo>
                  <a:lnTo>
                    <a:pt x="533" y="4764252"/>
                  </a:lnTo>
                  <a:lnTo>
                    <a:pt x="13500" y="4806924"/>
                  </a:lnTo>
                  <a:lnTo>
                    <a:pt x="33515" y="4833785"/>
                  </a:lnTo>
                  <a:lnTo>
                    <a:pt x="70548" y="4858601"/>
                  </a:lnTo>
                  <a:lnTo>
                    <a:pt x="114300" y="4867300"/>
                  </a:lnTo>
                  <a:lnTo>
                    <a:pt x="6953237" y="4867300"/>
                  </a:lnTo>
                  <a:lnTo>
                    <a:pt x="6996989" y="4858601"/>
                  </a:lnTo>
                  <a:lnTo>
                    <a:pt x="6998729" y="4857775"/>
                  </a:lnTo>
                  <a:lnTo>
                    <a:pt x="7007174" y="4853787"/>
                  </a:lnTo>
                  <a:lnTo>
                    <a:pt x="7016763" y="4848060"/>
                  </a:lnTo>
                  <a:lnTo>
                    <a:pt x="7025716" y="4841405"/>
                  </a:lnTo>
                  <a:lnTo>
                    <a:pt x="7033552" y="4834280"/>
                  </a:lnTo>
                  <a:lnTo>
                    <a:pt x="7034060" y="4833823"/>
                  </a:lnTo>
                  <a:lnTo>
                    <a:pt x="7041642" y="4825466"/>
                  </a:lnTo>
                  <a:lnTo>
                    <a:pt x="7048297" y="4816500"/>
                  </a:lnTo>
                  <a:lnTo>
                    <a:pt x="7054024" y="4806924"/>
                  </a:lnTo>
                  <a:lnTo>
                    <a:pt x="7058838" y="4796726"/>
                  </a:lnTo>
                  <a:lnTo>
                    <a:pt x="7061289" y="47898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440170" cy="43376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菊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消費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活発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成⻑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⽣命⼒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そのものに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きかけているのかもしれない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植物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元気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になる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3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公開中</a:t>
            </a:r>
            <a:endParaRPr sz="1250">
              <a:latin typeface="メイリオ"/>
              <a:cs typeface="メイリオ"/>
            </a:endParaRPr>
          </a:p>
          <a:p>
            <a:pPr marL="12700" marR="5080">
              <a:lnSpc>
                <a:spcPct val="152200"/>
              </a:lnSpc>
              <a:spcBef>
                <a:spcPts val="944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植物実験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⽣命⼒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菊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実験結果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科学的検証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効果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不思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植物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⾃然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エビデンス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驚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きの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効果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⽣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き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物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と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39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8"/>
            <a:ext cx="7061834" cy="9347835"/>
            <a:chOff x="352425" y="352398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47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0"/>
                  </a:moveTo>
                  <a:lnTo>
                    <a:pt x="0" y="9342550"/>
                  </a:lnTo>
                  <a:lnTo>
                    <a:pt x="0" y="102355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125"/>
                  </a:lnTo>
                  <a:lnTo>
                    <a:pt x="7031026" y="37166"/>
                  </a:lnTo>
                  <a:lnTo>
                    <a:pt x="7052437" y="74228"/>
                  </a:lnTo>
                  <a:lnTo>
                    <a:pt x="7056536" y="91255"/>
                  </a:lnTo>
                  <a:lnTo>
                    <a:pt x="7056536" y="9342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08"/>
                  </a:lnTo>
                  <a:lnTo>
                    <a:pt x="7034009" y="33528"/>
                  </a:lnTo>
                  <a:lnTo>
                    <a:pt x="7033590" y="33070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84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85" y="33007"/>
                  </a:lnTo>
                  <a:lnTo>
                    <a:pt x="33477" y="33477"/>
                  </a:lnTo>
                  <a:lnTo>
                    <a:pt x="25895" y="41808"/>
                  </a:lnTo>
                  <a:lnTo>
                    <a:pt x="19240" y="50774"/>
                  </a:lnTo>
                  <a:lnTo>
                    <a:pt x="2171" y="91986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74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1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59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19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6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981074" y="304799"/>
                </a:moveTo>
                <a:lnTo>
                  <a:pt x="152399" y="304799"/>
                </a:lnTo>
                <a:lnTo>
                  <a:pt x="144912" y="304612"/>
                </a:lnTo>
                <a:lnTo>
                  <a:pt x="101066" y="295847"/>
                </a:lnTo>
                <a:lnTo>
                  <a:pt x="61607" y="274750"/>
                </a:lnTo>
                <a:lnTo>
                  <a:pt x="29995" y="243141"/>
                </a:lnTo>
                <a:lnTo>
                  <a:pt x="8904" y="203686"/>
                </a:lnTo>
                <a:lnTo>
                  <a:pt x="183" y="159865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59"/>
                </a:lnTo>
                <a:lnTo>
                  <a:pt x="29995" y="61560"/>
                </a:lnTo>
                <a:lnTo>
                  <a:pt x="61607" y="29973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981074" y="0"/>
                </a:lnTo>
                <a:lnTo>
                  <a:pt x="1025314" y="6542"/>
                </a:lnTo>
                <a:lnTo>
                  <a:pt x="1065743" y="25669"/>
                </a:lnTo>
                <a:lnTo>
                  <a:pt x="1098882" y="55660"/>
                </a:lnTo>
                <a:lnTo>
                  <a:pt x="1121874" y="94059"/>
                </a:lnTo>
                <a:lnTo>
                  <a:pt x="1132742" y="137464"/>
                </a:lnTo>
                <a:lnTo>
                  <a:pt x="1133474" y="152399"/>
                </a:lnTo>
                <a:lnTo>
                  <a:pt x="1133291" y="159865"/>
                </a:lnTo>
                <a:lnTo>
                  <a:pt x="1124570" y="203686"/>
                </a:lnTo>
                <a:lnTo>
                  <a:pt x="1103479" y="243125"/>
                </a:lnTo>
                <a:lnTo>
                  <a:pt x="1071867" y="274750"/>
                </a:lnTo>
                <a:lnTo>
                  <a:pt x="1032408" y="295847"/>
                </a:lnTo>
                <a:lnTo>
                  <a:pt x="988561" y="304612"/>
                </a:lnTo>
                <a:lnTo>
                  <a:pt x="981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9321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引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専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⾨</a:t>
            </a:r>
            <a:r>
              <a:rPr sz="1100" spc="-575" dirty="0">
                <a:solidFill>
                  <a:srgbClr val="666666"/>
                </a:solidFill>
                <a:latin typeface="SimSun"/>
                <a:cs typeface="SimSun"/>
              </a:rPr>
              <a:t>家型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40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9600" y="1357296"/>
            <a:ext cx="4343400" cy="826132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55" dirty="0" err="1">
                <a:solidFill>
                  <a:srgbClr val="333333"/>
                </a:solidFill>
                <a:latin typeface="SimSun"/>
                <a:cs typeface="SimSun"/>
              </a:rPr>
              <a:t>ゲイナ</a:t>
            </a:r>
            <a:r>
              <a:rPr sz="1250" spc="-6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⾔葉</a:t>
            </a:r>
            <a:r>
              <a:rPr lang="ja-JP" altLang="en-US" sz="1250" spc="1025" dirty="0">
                <a:solidFill>
                  <a:srgbClr val="333333"/>
                </a:solidFill>
                <a:latin typeface="BIZ UDPゴシック"/>
                <a:cs typeface="メイリオ"/>
              </a:rPr>
              <a:t>　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宇宙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lang="ja-JP" altLang="en-US" sz="1250" spc="-114" dirty="0">
                <a:solidFill>
                  <a:srgbClr val="333333"/>
                </a:solidFill>
                <a:latin typeface="SimSun"/>
                <a:cs typeface="SimSun"/>
              </a:rPr>
              <a:t>知る</a:t>
            </a:r>
            <a:endParaRPr lang="en-US" sz="1250" spc="-114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ja-JP" altLang="en-US" sz="1100" dirty="0">
              <a:latin typeface="SimSun"/>
              <a:cs typeface="SimSun"/>
            </a:endParaRPr>
          </a:p>
          <a:p>
            <a:pPr marL="12700" marR="2177415">
              <a:lnSpc>
                <a:spcPct val="135000"/>
              </a:lnSpc>
            </a:pP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ミッチェル</a:t>
            </a:r>
            <a:r>
              <a:rPr lang="ja-JP" altLang="en-US"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lang="ja-JP" altLang="en-US" sz="1250" spc="-160" dirty="0">
                <a:solidFill>
                  <a:srgbClr val="333333"/>
                </a:solidFill>
                <a:latin typeface="SimSun"/>
                <a:cs typeface="SimSun"/>
              </a:rPr>
              <a:t>ゲイナ</a:t>
            </a:r>
            <a:r>
              <a:rPr lang="ja-JP" altLang="en-US"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lang="ja-JP" altLang="en-US" sz="1250" spc="-145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lang="ja-JP" altLang="en-US"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lang="en-US" altLang="ja-JP" sz="1250" spc="635" dirty="0">
              <a:solidFill>
                <a:srgbClr val="333333"/>
              </a:solidFill>
              <a:latin typeface="BIZ UDPゴシック"/>
              <a:cs typeface="BIZ UDPゴシック"/>
            </a:endParaRPr>
          </a:p>
          <a:p>
            <a:pPr marL="12700" marR="2177415">
              <a:lnSpc>
                <a:spcPct val="135000"/>
              </a:lnSpc>
            </a:pP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がん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予防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センタ</a:t>
            </a:r>
            <a:r>
              <a:rPr lang="ja-JP" altLang="en-US"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lang="ja-JP" altLang="en-US" sz="1250" spc="-5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endParaRPr lang="ja-JP" altLang="en-US" sz="1250" dirty="0">
              <a:latin typeface="SimSun"/>
              <a:cs typeface="SimSun"/>
            </a:endParaRPr>
          </a:p>
          <a:p>
            <a:pPr marL="12700" marR="1879600">
              <a:lnSpc>
                <a:spcPts val="2100"/>
              </a:lnSpc>
              <a:spcBef>
                <a:spcPts val="95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統合医療</a:t>
            </a: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プログラム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所⻑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務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めた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世界的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医師</a:t>
            </a:r>
            <a:r>
              <a:rPr sz="1250" spc="-180" dirty="0" err="1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4382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lang="en-US" sz="1250" spc="-12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1438275">
              <a:lnSpc>
                <a:spcPct val="135000"/>
              </a:lnSpc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 err="1">
                <a:solidFill>
                  <a:srgbClr val="333333"/>
                </a:solidFill>
                <a:latin typeface="メイリオ"/>
                <a:cs typeface="メイリオ"/>
              </a:rPr>
              <a:t>⾔葉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60325" marR="1901189" indent="-48260">
              <a:lnSpc>
                <a:spcPct val="135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はすべて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顕現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してくるもの</a:t>
            </a:r>
            <a:r>
              <a:rPr sz="1250" spc="-125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みなもとであり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…</a:t>
            </a:r>
            <a:endParaRPr sz="1250" dirty="0">
              <a:latin typeface="BIZ UDPゴシック"/>
              <a:cs typeface="BIZ UDPゴシック"/>
            </a:endParaRPr>
          </a:p>
          <a:p>
            <a:pPr marL="60325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全宇宙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である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1438275">
              <a:lnSpc>
                <a:spcPct val="270000"/>
              </a:lnSpc>
              <a:spcBef>
                <a:spcPts val="7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lang="en-US" sz="1250" spc="-12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1438275">
              <a:lnSpc>
                <a:spcPct val="270000"/>
              </a:lnSpc>
              <a:spcBef>
                <a:spcPts val="75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治療</a:t>
            </a:r>
            <a:r>
              <a:rPr sz="1250" spc="-5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ja-JP" altLang="en-US" sz="1300" spc="-40" dirty="0">
                <a:solidFill>
                  <a:srgbClr val="333333"/>
                </a:solidFill>
                <a:latin typeface="Comic Sans MS"/>
                <a:cs typeface="Comic Sans MS"/>
              </a:rPr>
              <a:t>「自然音と体感音響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216662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波⻑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えることで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ストレスを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治療効果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めていました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60325" marR="1445260" indent="-48260">
              <a:lnSpc>
                <a:spcPct val="135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本質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波⻑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がずれている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250" spc="-12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元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戻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すことだと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230695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本来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250" spc="-54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ずれている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70"/>
            <a:ext cx="7063105" cy="4344035"/>
            <a:chOff x="352425" y="352370"/>
            <a:chExt cx="7063105" cy="4344035"/>
          </a:xfrm>
        </p:grpSpPr>
        <p:sp>
          <p:nvSpPr>
            <p:cNvPr id="3" name="object 3"/>
            <p:cNvSpPr/>
            <p:nvPr/>
          </p:nvSpPr>
          <p:spPr>
            <a:xfrm>
              <a:off x="357187" y="352410"/>
              <a:ext cx="7058025" cy="4338955"/>
            </a:xfrm>
            <a:custGeom>
              <a:avLst/>
              <a:gdLst/>
              <a:ahLst/>
              <a:cxnLst/>
              <a:rect l="l" t="t" r="r" b="b"/>
              <a:pathLst>
                <a:path w="7058025" h="4338955">
                  <a:moveTo>
                    <a:pt x="6955678" y="4338637"/>
                  </a:moveTo>
                  <a:lnTo>
                    <a:pt x="102345" y="4338637"/>
                  </a:lnTo>
                  <a:lnTo>
                    <a:pt x="95221" y="4337932"/>
                  </a:lnTo>
                  <a:lnTo>
                    <a:pt x="54661" y="4324092"/>
                  </a:lnTo>
                  <a:lnTo>
                    <a:pt x="22456" y="4295888"/>
                  </a:lnTo>
                  <a:lnTo>
                    <a:pt x="3507" y="4257522"/>
                  </a:lnTo>
                  <a:lnTo>
                    <a:pt x="0" y="4236281"/>
                  </a:lnTo>
                  <a:lnTo>
                    <a:pt x="0" y="42290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236281"/>
                  </a:lnTo>
                  <a:lnTo>
                    <a:pt x="7046932" y="4277658"/>
                  </a:lnTo>
                  <a:lnTo>
                    <a:pt x="7020855" y="4311586"/>
                  </a:lnTo>
                  <a:lnTo>
                    <a:pt x="6983759" y="4333017"/>
                  </a:lnTo>
                  <a:lnTo>
                    <a:pt x="6962802" y="4337932"/>
                  </a:lnTo>
                  <a:lnTo>
                    <a:pt x="6955678" y="43386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73"/>
              <a:ext cx="7061834" cy="4344035"/>
            </a:xfrm>
            <a:custGeom>
              <a:avLst/>
              <a:gdLst/>
              <a:ahLst/>
              <a:cxnLst/>
              <a:rect l="l" t="t" r="r" b="b"/>
              <a:pathLst>
                <a:path w="7061834" h="4344035">
                  <a:moveTo>
                    <a:pt x="7061289" y="0"/>
                  </a:moveTo>
                  <a:lnTo>
                    <a:pt x="7058012" y="0"/>
                  </a:lnTo>
                  <a:lnTo>
                    <a:pt x="7058012" y="4229112"/>
                  </a:lnTo>
                  <a:lnTo>
                    <a:pt x="7057517" y="4239438"/>
                  </a:lnTo>
                  <a:lnTo>
                    <a:pt x="7045630" y="4278554"/>
                  </a:lnTo>
                  <a:lnTo>
                    <a:pt x="7026821" y="4303661"/>
                  </a:lnTo>
                  <a:lnTo>
                    <a:pt x="6993344" y="4325925"/>
                  </a:lnTo>
                  <a:lnTo>
                    <a:pt x="6953237" y="4333900"/>
                  </a:lnTo>
                  <a:lnTo>
                    <a:pt x="114300" y="4333900"/>
                  </a:lnTo>
                  <a:lnTo>
                    <a:pt x="74193" y="4325925"/>
                  </a:lnTo>
                  <a:lnTo>
                    <a:pt x="40703" y="4303674"/>
                  </a:lnTo>
                  <a:lnTo>
                    <a:pt x="33261" y="4295546"/>
                  </a:lnTo>
                  <a:lnTo>
                    <a:pt x="14008" y="4259491"/>
                  </a:lnTo>
                  <a:lnTo>
                    <a:pt x="9525" y="4229112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229112"/>
                  </a:lnTo>
                  <a:lnTo>
                    <a:pt x="533" y="4240377"/>
                  </a:lnTo>
                  <a:lnTo>
                    <a:pt x="13500" y="4283049"/>
                  </a:lnTo>
                  <a:lnTo>
                    <a:pt x="33515" y="4309910"/>
                  </a:lnTo>
                  <a:lnTo>
                    <a:pt x="70548" y="4334726"/>
                  </a:lnTo>
                  <a:lnTo>
                    <a:pt x="114300" y="4343425"/>
                  </a:lnTo>
                  <a:lnTo>
                    <a:pt x="6953237" y="4343425"/>
                  </a:lnTo>
                  <a:lnTo>
                    <a:pt x="6996989" y="4334726"/>
                  </a:lnTo>
                  <a:lnTo>
                    <a:pt x="6998729" y="4333900"/>
                  </a:lnTo>
                  <a:lnTo>
                    <a:pt x="7007174" y="4329912"/>
                  </a:lnTo>
                  <a:lnTo>
                    <a:pt x="7016763" y="4324185"/>
                  </a:lnTo>
                  <a:lnTo>
                    <a:pt x="7025716" y="4317530"/>
                  </a:lnTo>
                  <a:lnTo>
                    <a:pt x="7033552" y="4310405"/>
                  </a:lnTo>
                  <a:lnTo>
                    <a:pt x="7034060" y="4309948"/>
                  </a:lnTo>
                  <a:lnTo>
                    <a:pt x="7041642" y="4301591"/>
                  </a:lnTo>
                  <a:lnTo>
                    <a:pt x="7048297" y="4292625"/>
                  </a:lnTo>
                  <a:lnTo>
                    <a:pt x="7054024" y="4283049"/>
                  </a:lnTo>
                  <a:lnTo>
                    <a:pt x="7058838" y="4272851"/>
                  </a:lnTo>
                  <a:lnTo>
                    <a:pt x="7061289" y="4266031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449060" cy="381381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波⻑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えてくれる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存在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 marR="3822065">
              <a:lnSpc>
                <a:spcPts val="4130"/>
              </a:lnSpc>
              <a:spcBef>
                <a:spcPts val="49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世界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医師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認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あなたも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してみませんか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治療法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について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しくは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9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ミッチェルゲイナ</a:t>
            </a:r>
            <a:r>
              <a:rPr sz="1100" spc="-135" dirty="0">
                <a:solidFill>
                  <a:srgbClr val="3797F0"/>
                </a:solidFill>
                <a:latin typeface="SimSun"/>
                <a:cs typeface="SimSun"/>
              </a:rPr>
              <a:t>ー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統合医療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がん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治療 </a:t>
            </a:r>
            <a:r>
              <a:rPr sz="1150" spc="-60" dirty="0">
                <a:solidFill>
                  <a:srgbClr val="3797F0"/>
                </a:solidFill>
                <a:latin typeface="Comic Sans MS"/>
                <a:cs typeface="Comic Sans MS"/>
              </a:rPr>
              <a:t>#HealingVibration</a:t>
            </a:r>
            <a:r>
              <a:rPr sz="1150" spc="-135" dirty="0">
                <a:solidFill>
                  <a:srgbClr val="3797F0"/>
                </a:solidFill>
                <a:latin typeface="Comic Sans MS"/>
                <a:cs typeface="Comic Sans MS"/>
              </a:rPr>
              <a:t> #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名⾔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医師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⾔葉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波⻑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00" dirty="0">
                <a:solidFill>
                  <a:srgbClr val="3797F0"/>
                </a:solidFill>
                <a:latin typeface="SimSun"/>
                <a:cs typeface="SimSun"/>
              </a:rPr>
              <a:t>リン</a:t>
            </a:r>
            <a:r>
              <a:rPr sz="1150" spc="-185" dirty="0">
                <a:solidFill>
                  <a:srgbClr val="3797F0"/>
                </a:solidFill>
                <a:latin typeface="SimSun"/>
                <a:cs typeface="SimSun"/>
              </a:rPr>
              <a:t>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神秘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宇宙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本質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世界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専⾨家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権威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41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0"/>
            <a:ext cx="7061834" cy="9347835"/>
            <a:chOff x="352425" y="352400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48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0"/>
                  </a:moveTo>
                  <a:lnTo>
                    <a:pt x="0" y="9342550"/>
                  </a:lnTo>
                  <a:lnTo>
                    <a:pt x="0" y="102317"/>
                  </a:lnTo>
                  <a:lnTo>
                    <a:pt x="11090" y="60979"/>
                  </a:lnTo>
                  <a:lnTo>
                    <a:pt x="37168" y="26974"/>
                  </a:lnTo>
                  <a:lnTo>
                    <a:pt x="74264" y="554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166"/>
                  </a:lnTo>
                  <a:lnTo>
                    <a:pt x="7052437" y="74266"/>
                  </a:lnTo>
                  <a:lnTo>
                    <a:pt x="7056536" y="91238"/>
                  </a:lnTo>
                  <a:lnTo>
                    <a:pt x="7056536" y="93425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21"/>
                  </a:lnTo>
                  <a:lnTo>
                    <a:pt x="7033552" y="32994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00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33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85" y="33007"/>
                  </a:lnTo>
                  <a:lnTo>
                    <a:pt x="33858" y="33121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6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60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20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5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981074" y="304799"/>
                </a:moveTo>
                <a:lnTo>
                  <a:pt x="152399" y="304799"/>
                </a:lnTo>
                <a:lnTo>
                  <a:pt x="144912" y="304617"/>
                </a:lnTo>
                <a:lnTo>
                  <a:pt x="101066" y="295853"/>
                </a:lnTo>
                <a:lnTo>
                  <a:pt x="61607" y="274766"/>
                </a:lnTo>
                <a:lnTo>
                  <a:pt x="29995" y="243105"/>
                </a:lnTo>
                <a:lnTo>
                  <a:pt x="8904" y="203675"/>
                </a:lnTo>
                <a:lnTo>
                  <a:pt x="183" y="159887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64"/>
                </a:lnTo>
                <a:lnTo>
                  <a:pt x="29995" y="61581"/>
                </a:lnTo>
                <a:lnTo>
                  <a:pt x="61607" y="29937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981074" y="0"/>
                </a:lnTo>
                <a:lnTo>
                  <a:pt x="1025314" y="6542"/>
                </a:lnTo>
                <a:lnTo>
                  <a:pt x="1065743" y="25631"/>
                </a:lnTo>
                <a:lnTo>
                  <a:pt x="1098882" y="55689"/>
                </a:lnTo>
                <a:lnTo>
                  <a:pt x="1121874" y="94059"/>
                </a:lnTo>
                <a:lnTo>
                  <a:pt x="1132742" y="137464"/>
                </a:lnTo>
                <a:lnTo>
                  <a:pt x="1133474" y="152399"/>
                </a:lnTo>
                <a:lnTo>
                  <a:pt x="1133291" y="159887"/>
                </a:lnTo>
                <a:lnTo>
                  <a:pt x="1124570" y="203675"/>
                </a:lnTo>
                <a:lnTo>
                  <a:pt x="1103479" y="243121"/>
                </a:lnTo>
                <a:lnTo>
                  <a:pt x="1071867" y="274766"/>
                </a:lnTo>
                <a:lnTo>
                  <a:pt x="1032408" y="295853"/>
                </a:lnTo>
                <a:lnTo>
                  <a:pt x="988561" y="304617"/>
                </a:lnTo>
                <a:lnTo>
                  <a:pt x="981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9321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引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専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⾨</a:t>
            </a:r>
            <a:r>
              <a:rPr sz="1100" spc="-575" dirty="0">
                <a:solidFill>
                  <a:srgbClr val="666666"/>
                </a:solidFill>
                <a:latin typeface="SimSun"/>
                <a:cs typeface="SimSun"/>
              </a:rPr>
              <a:t>家型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42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3400" y="1357296"/>
            <a:ext cx="3735069" cy="79630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5" dirty="0" err="1">
                <a:solidFill>
                  <a:srgbClr val="333333"/>
                </a:solidFill>
                <a:latin typeface="SimSun"/>
                <a:cs typeface="SimSun"/>
              </a:rPr>
              <a:t>アンド</a:t>
            </a:r>
            <a:r>
              <a:rPr lang="ja-JP" altLang="en-US" sz="1250" spc="-125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250" spc="480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ワイル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博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⼠</a:t>
            </a:r>
            <a:r>
              <a:rPr lang="ja-JP" altLang="en-US" sz="1250" spc="1025" dirty="0">
                <a:solidFill>
                  <a:srgbClr val="333333"/>
                </a:solidFill>
                <a:latin typeface="BIZ UDPゴシック"/>
                <a:cs typeface="メイリオ"/>
              </a:rPr>
              <a:t>　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発的治癒⼒</a:t>
            </a:r>
            <a:r>
              <a:rPr sz="1250" spc="-114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と</a:t>
            </a:r>
            <a:r>
              <a:rPr lang="ja-JP" altLang="en-US" sz="1250" spc="-114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音</a:t>
            </a:r>
            <a:endParaRPr lang="en-US" altLang="ja-JP" sz="1250" spc="-114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lang="en-US" sz="1250" spc="-114" dirty="0">
              <a:solidFill>
                <a:srgbClr val="333333"/>
              </a:solidFill>
              <a:latin typeface="メイリオ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統合医療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⽗</a:t>
            </a:r>
            <a:r>
              <a:rPr lang="ja-JP" altLang="en-US" sz="1250" spc="-114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250" spc="-685" dirty="0" err="1">
                <a:solidFill>
                  <a:srgbClr val="333333"/>
                </a:solidFill>
                <a:latin typeface="SimSun"/>
                <a:cs typeface="SimSun"/>
              </a:rPr>
              <a:t>ば</a:t>
            </a: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 </a:t>
            </a:r>
            <a:r>
              <a:rPr lang="ja-JP" altLang="en-US" sz="1250" spc="-60" dirty="0">
                <a:solidFill>
                  <a:srgbClr val="333333"/>
                </a:solidFill>
                <a:latin typeface="SimSun"/>
                <a:cs typeface="SimSun"/>
              </a:rPr>
              <a:t>れる</a:t>
            </a:r>
            <a:endParaRPr lang="en-US" altLang="ja-JP" sz="1250" spc="-6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25" dirty="0" err="1">
                <a:solidFill>
                  <a:srgbClr val="333333"/>
                </a:solidFill>
                <a:latin typeface="SimSun"/>
                <a:cs typeface="SimSun"/>
              </a:rPr>
              <a:t>アンド</a:t>
            </a:r>
            <a:r>
              <a:rPr lang="ja-JP" altLang="en-US" sz="1250" spc="-125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250" spc="480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ワイル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提唱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⾃発的治癒⼒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0064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ワイル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病気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すのは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備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わった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治癒⼒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である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2024380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症状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抑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えるもの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本当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すのは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たち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関係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2743835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古代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精神性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endParaRPr sz="1250" dirty="0">
              <a:latin typeface="SimSun"/>
              <a:cs typeface="SimSun"/>
            </a:endParaRPr>
          </a:p>
          <a:p>
            <a:pPr marL="12700" marR="17303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治癒⼒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促進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するために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われてきました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低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共鳴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弛緩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意識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覚醒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71"/>
            <a:ext cx="7063105" cy="4601210"/>
            <a:chOff x="352425" y="352371"/>
            <a:chExt cx="7063105" cy="4601210"/>
          </a:xfrm>
        </p:grpSpPr>
        <p:sp>
          <p:nvSpPr>
            <p:cNvPr id="3" name="object 3"/>
            <p:cNvSpPr/>
            <p:nvPr/>
          </p:nvSpPr>
          <p:spPr>
            <a:xfrm>
              <a:off x="357187" y="352410"/>
              <a:ext cx="7058025" cy="4596130"/>
            </a:xfrm>
            <a:custGeom>
              <a:avLst/>
              <a:gdLst/>
              <a:ahLst/>
              <a:cxnLst/>
              <a:rect l="l" t="t" r="r" b="b"/>
              <a:pathLst>
                <a:path w="7058025" h="4596130">
                  <a:moveTo>
                    <a:pt x="6955678" y="4595774"/>
                  </a:moveTo>
                  <a:lnTo>
                    <a:pt x="102345" y="4595774"/>
                  </a:lnTo>
                  <a:lnTo>
                    <a:pt x="95221" y="4595069"/>
                  </a:lnTo>
                  <a:lnTo>
                    <a:pt x="54661" y="4581305"/>
                  </a:lnTo>
                  <a:lnTo>
                    <a:pt x="22456" y="4553063"/>
                  </a:lnTo>
                  <a:lnTo>
                    <a:pt x="3507" y="4514630"/>
                  </a:lnTo>
                  <a:lnTo>
                    <a:pt x="0" y="4493456"/>
                  </a:lnTo>
                  <a:lnTo>
                    <a:pt x="0" y="44862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493456"/>
                  </a:lnTo>
                  <a:lnTo>
                    <a:pt x="7046932" y="4534833"/>
                  </a:lnTo>
                  <a:lnTo>
                    <a:pt x="7020855" y="4568799"/>
                  </a:lnTo>
                  <a:lnTo>
                    <a:pt x="6983759" y="4590192"/>
                  </a:lnTo>
                  <a:lnTo>
                    <a:pt x="6962802" y="4595069"/>
                  </a:lnTo>
                  <a:lnTo>
                    <a:pt x="6955678" y="4595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73"/>
              <a:ext cx="7061834" cy="4601210"/>
            </a:xfrm>
            <a:custGeom>
              <a:avLst/>
              <a:gdLst/>
              <a:ahLst/>
              <a:cxnLst/>
              <a:rect l="l" t="t" r="r" b="b"/>
              <a:pathLst>
                <a:path w="7061834" h="4601210">
                  <a:moveTo>
                    <a:pt x="7061289" y="0"/>
                  </a:moveTo>
                  <a:lnTo>
                    <a:pt x="7058012" y="0"/>
                  </a:lnTo>
                  <a:lnTo>
                    <a:pt x="7058012" y="4486287"/>
                  </a:lnTo>
                  <a:lnTo>
                    <a:pt x="7057517" y="4496613"/>
                  </a:lnTo>
                  <a:lnTo>
                    <a:pt x="7045630" y="4535729"/>
                  </a:lnTo>
                  <a:lnTo>
                    <a:pt x="7026821" y="4560849"/>
                  </a:lnTo>
                  <a:lnTo>
                    <a:pt x="6993344" y="4583112"/>
                  </a:lnTo>
                  <a:lnTo>
                    <a:pt x="6953237" y="4591088"/>
                  </a:lnTo>
                  <a:lnTo>
                    <a:pt x="114300" y="4591088"/>
                  </a:lnTo>
                  <a:lnTo>
                    <a:pt x="74206" y="4583112"/>
                  </a:lnTo>
                  <a:lnTo>
                    <a:pt x="40703" y="4560862"/>
                  </a:lnTo>
                  <a:lnTo>
                    <a:pt x="33261" y="4552734"/>
                  </a:lnTo>
                  <a:lnTo>
                    <a:pt x="14008" y="4516666"/>
                  </a:lnTo>
                  <a:lnTo>
                    <a:pt x="9525" y="44862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486287"/>
                  </a:lnTo>
                  <a:lnTo>
                    <a:pt x="533" y="4497552"/>
                  </a:lnTo>
                  <a:lnTo>
                    <a:pt x="13500" y="4540224"/>
                  </a:lnTo>
                  <a:lnTo>
                    <a:pt x="33528" y="4567085"/>
                  </a:lnTo>
                  <a:lnTo>
                    <a:pt x="70548" y="4591913"/>
                  </a:lnTo>
                  <a:lnTo>
                    <a:pt x="114300" y="4600613"/>
                  </a:lnTo>
                  <a:lnTo>
                    <a:pt x="6953237" y="4600613"/>
                  </a:lnTo>
                  <a:lnTo>
                    <a:pt x="6996976" y="4591913"/>
                  </a:lnTo>
                  <a:lnTo>
                    <a:pt x="7034060" y="4567136"/>
                  </a:lnTo>
                  <a:lnTo>
                    <a:pt x="7041642" y="4558766"/>
                  </a:lnTo>
                  <a:lnTo>
                    <a:pt x="7048297" y="4549800"/>
                  </a:lnTo>
                  <a:lnTo>
                    <a:pt x="7054024" y="4540224"/>
                  </a:lnTo>
                  <a:lnTo>
                    <a:pt x="7058838" y="4530026"/>
                  </a:lnTo>
                  <a:lnTo>
                    <a:pt x="7061289" y="4523206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431280" cy="40709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⼈⼯⾳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不快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快適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さを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快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刺激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⾃然治癒⼒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す鍵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はこれから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更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社会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貢献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していくでしょう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50" spc="-1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⾃然治癒⼒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しくは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19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0" dirty="0">
                <a:solidFill>
                  <a:srgbClr val="3797F0"/>
                </a:solidFill>
                <a:latin typeface="SimSun"/>
                <a:cs typeface="SimSun"/>
              </a:rPr>
              <a:t>アンドリュ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ワイル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統合医療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⾃発的治癒⼒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5" dirty="0">
                <a:solidFill>
                  <a:srgbClr val="3797F0"/>
                </a:solidFill>
                <a:latin typeface="メイリオ"/>
                <a:cs typeface="メイリオ"/>
              </a:rPr>
              <a:t>⾃然治癒⼒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ホリスティック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代替医療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⾳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5" dirty="0">
                <a:solidFill>
                  <a:srgbClr val="3797F0"/>
                </a:solidFill>
                <a:latin typeface="SimSun"/>
                <a:cs typeface="SimSun"/>
              </a:rPr>
              <a:t>サウ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ンドヒ</a:t>
            </a:r>
            <a:r>
              <a:rPr sz="1100" spc="-9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専⾨家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医学博⼠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健康哲学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体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90" dirty="0">
                <a:solidFill>
                  <a:srgbClr val="3797F0"/>
                </a:solidFill>
                <a:latin typeface="SimSun"/>
                <a:cs typeface="SimSun"/>
              </a:rPr>
              <a:t>し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⾃然療法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権威</a:t>
            </a:r>
            <a:r>
              <a:rPr sz="1150" spc="-140" dirty="0">
                <a:solidFill>
                  <a:srgbClr val="3797F0"/>
                </a:solidFill>
                <a:latin typeface="SimSun"/>
                <a:cs typeface="SimSun"/>
              </a:rPr>
              <a:t>ある</a:t>
            </a:r>
            <a:r>
              <a:rPr sz="1100" spc="-90" dirty="0">
                <a:solidFill>
                  <a:srgbClr val="3797F0"/>
                </a:solidFill>
                <a:latin typeface="メイリオ"/>
                <a:cs typeface="メイリオ"/>
              </a:rPr>
              <a:t>声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43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2"/>
            <a:ext cx="7061834" cy="9347835"/>
            <a:chOff x="352425" y="352402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50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1"/>
                  </a:moveTo>
                  <a:lnTo>
                    <a:pt x="0" y="9342551"/>
                  </a:lnTo>
                  <a:lnTo>
                    <a:pt x="0" y="102317"/>
                  </a:lnTo>
                  <a:lnTo>
                    <a:pt x="11090" y="60912"/>
                  </a:lnTo>
                  <a:lnTo>
                    <a:pt x="37168" y="26936"/>
                  </a:lnTo>
                  <a:lnTo>
                    <a:pt x="74264" y="554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099"/>
                  </a:lnTo>
                  <a:lnTo>
                    <a:pt x="7052437" y="74190"/>
                  </a:lnTo>
                  <a:lnTo>
                    <a:pt x="7056536" y="91217"/>
                  </a:lnTo>
                  <a:lnTo>
                    <a:pt x="7056536" y="9342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59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61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21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4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981074" y="304799"/>
                </a:moveTo>
                <a:lnTo>
                  <a:pt x="152399" y="304799"/>
                </a:lnTo>
                <a:lnTo>
                  <a:pt x="144912" y="304617"/>
                </a:lnTo>
                <a:lnTo>
                  <a:pt x="101066" y="295853"/>
                </a:lnTo>
                <a:lnTo>
                  <a:pt x="61607" y="274750"/>
                </a:lnTo>
                <a:lnTo>
                  <a:pt x="29995" y="243105"/>
                </a:lnTo>
                <a:lnTo>
                  <a:pt x="8904" y="203670"/>
                </a:lnTo>
                <a:lnTo>
                  <a:pt x="183" y="159886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21"/>
                </a:lnTo>
                <a:lnTo>
                  <a:pt x="29995" y="61581"/>
                </a:lnTo>
                <a:lnTo>
                  <a:pt x="61607" y="29969"/>
                </a:lnTo>
                <a:lnTo>
                  <a:pt x="101066" y="8898"/>
                </a:lnTo>
                <a:lnTo>
                  <a:pt x="144912" y="182"/>
                </a:lnTo>
                <a:lnTo>
                  <a:pt x="152399" y="0"/>
                </a:lnTo>
                <a:lnTo>
                  <a:pt x="981074" y="0"/>
                </a:lnTo>
                <a:lnTo>
                  <a:pt x="1025314" y="6572"/>
                </a:lnTo>
                <a:lnTo>
                  <a:pt x="1065743" y="25669"/>
                </a:lnTo>
                <a:lnTo>
                  <a:pt x="1098882" y="55689"/>
                </a:lnTo>
                <a:lnTo>
                  <a:pt x="1121874" y="94021"/>
                </a:lnTo>
                <a:lnTo>
                  <a:pt x="1132742" y="137464"/>
                </a:lnTo>
                <a:lnTo>
                  <a:pt x="1133474" y="152399"/>
                </a:lnTo>
                <a:lnTo>
                  <a:pt x="1133291" y="159886"/>
                </a:lnTo>
                <a:lnTo>
                  <a:pt x="1124570" y="203670"/>
                </a:lnTo>
                <a:lnTo>
                  <a:pt x="1103479" y="243121"/>
                </a:lnTo>
                <a:lnTo>
                  <a:pt x="1071867" y="274750"/>
                </a:lnTo>
                <a:lnTo>
                  <a:pt x="1032408" y="295853"/>
                </a:lnTo>
                <a:lnTo>
                  <a:pt x="988561" y="304617"/>
                </a:lnTo>
                <a:lnTo>
                  <a:pt x="981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9321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引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専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⾨</a:t>
            </a:r>
            <a:r>
              <a:rPr sz="1100" spc="-575" dirty="0">
                <a:solidFill>
                  <a:srgbClr val="666666"/>
                </a:solidFill>
                <a:latin typeface="SimSun"/>
                <a:cs typeface="SimSun"/>
              </a:rPr>
              <a:t>家型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44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496310" cy="829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⻄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條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⼀⽌博⼠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瞬時⼼拍数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真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筑波⼤学名誉教授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條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⼀⽌博⼠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73799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⾃律神経研究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第⼀⼈者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86931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研究⽅法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448435">
              <a:lnSpc>
                <a:spcPct val="140000"/>
              </a:lnSpc>
            </a:pP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瞬時⼼拍数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変動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lang="ja-JP" altLang="en-US" sz="1250" spc="-114" dirty="0">
                <a:solidFill>
                  <a:srgbClr val="333333"/>
                </a:solidFill>
                <a:latin typeface="SimSun"/>
                <a:cs typeface="SimSun"/>
              </a:rPr>
              <a:t>観察</a:t>
            </a:r>
            <a:endParaRPr lang="en-US" sz="1250" spc="-685" dirty="0">
              <a:solidFill>
                <a:srgbClr val="333333"/>
              </a:solidFill>
              <a:latin typeface="メイリオ"/>
              <a:cs typeface="メイリオ"/>
            </a:endParaRPr>
          </a:p>
          <a:p>
            <a:pPr marL="12700" marR="1448435">
              <a:lnSpc>
                <a:spcPct val="140000"/>
              </a:lnSpc>
            </a:pP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これで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 err="1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きが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リアルタイムでわかる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86931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05" dirty="0">
                <a:solidFill>
                  <a:srgbClr val="333333"/>
                </a:solidFill>
                <a:latin typeface="メイリオ"/>
                <a:cs typeface="メイリオ"/>
              </a:rPr>
              <a:t>研究結果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くと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5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同時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回復⼒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聞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くことで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のバランスが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⾏動⼒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がアップします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5"/>
            <a:ext cx="7063105" cy="3562985"/>
            <a:chOff x="352425" y="352405"/>
            <a:chExt cx="7063105" cy="3562985"/>
          </a:xfrm>
        </p:grpSpPr>
        <p:sp>
          <p:nvSpPr>
            <p:cNvPr id="3" name="object 3"/>
            <p:cNvSpPr/>
            <p:nvPr/>
          </p:nvSpPr>
          <p:spPr>
            <a:xfrm>
              <a:off x="357187" y="352409"/>
              <a:ext cx="7058025" cy="3557904"/>
            </a:xfrm>
            <a:custGeom>
              <a:avLst/>
              <a:gdLst/>
              <a:ahLst/>
              <a:cxnLst/>
              <a:rect l="l" t="t" r="r" b="b"/>
              <a:pathLst>
                <a:path w="7058025" h="3557904">
                  <a:moveTo>
                    <a:pt x="6955678" y="3557587"/>
                  </a:moveTo>
                  <a:lnTo>
                    <a:pt x="102345" y="3557587"/>
                  </a:lnTo>
                  <a:lnTo>
                    <a:pt x="95221" y="3556882"/>
                  </a:lnTo>
                  <a:lnTo>
                    <a:pt x="54661" y="3543080"/>
                  </a:lnTo>
                  <a:lnTo>
                    <a:pt x="22456" y="3514877"/>
                  </a:lnTo>
                  <a:lnTo>
                    <a:pt x="3507" y="3476434"/>
                  </a:lnTo>
                  <a:lnTo>
                    <a:pt x="0" y="3455231"/>
                  </a:lnTo>
                  <a:lnTo>
                    <a:pt x="0" y="34480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455231"/>
                  </a:lnTo>
                  <a:lnTo>
                    <a:pt x="7046932" y="3496570"/>
                  </a:lnTo>
                  <a:lnTo>
                    <a:pt x="7020855" y="3530536"/>
                  </a:lnTo>
                  <a:lnTo>
                    <a:pt x="6983759" y="3551929"/>
                  </a:lnTo>
                  <a:lnTo>
                    <a:pt x="6962802" y="3556882"/>
                  </a:lnTo>
                  <a:lnTo>
                    <a:pt x="6955678" y="35575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3562985"/>
            </a:xfrm>
            <a:custGeom>
              <a:avLst/>
              <a:gdLst/>
              <a:ahLst/>
              <a:cxnLst/>
              <a:rect l="l" t="t" r="r" b="b"/>
              <a:pathLst>
                <a:path w="7061834" h="3562985">
                  <a:moveTo>
                    <a:pt x="7061289" y="0"/>
                  </a:moveTo>
                  <a:lnTo>
                    <a:pt x="7058012" y="0"/>
                  </a:lnTo>
                  <a:lnTo>
                    <a:pt x="7058012" y="3448062"/>
                  </a:lnTo>
                  <a:lnTo>
                    <a:pt x="7057517" y="3458387"/>
                  </a:lnTo>
                  <a:lnTo>
                    <a:pt x="7045630" y="3497503"/>
                  </a:lnTo>
                  <a:lnTo>
                    <a:pt x="7026834" y="3522599"/>
                  </a:lnTo>
                  <a:lnTo>
                    <a:pt x="6993344" y="3544874"/>
                  </a:lnTo>
                  <a:lnTo>
                    <a:pt x="6953237" y="3552850"/>
                  </a:lnTo>
                  <a:lnTo>
                    <a:pt x="114300" y="3552850"/>
                  </a:lnTo>
                  <a:lnTo>
                    <a:pt x="74193" y="3544874"/>
                  </a:lnTo>
                  <a:lnTo>
                    <a:pt x="40690" y="3522611"/>
                  </a:lnTo>
                  <a:lnTo>
                    <a:pt x="33261" y="3514496"/>
                  </a:lnTo>
                  <a:lnTo>
                    <a:pt x="14008" y="3478428"/>
                  </a:lnTo>
                  <a:lnTo>
                    <a:pt x="9525" y="3448062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448062"/>
                  </a:lnTo>
                  <a:lnTo>
                    <a:pt x="533" y="3459327"/>
                  </a:lnTo>
                  <a:lnTo>
                    <a:pt x="13500" y="3501999"/>
                  </a:lnTo>
                  <a:lnTo>
                    <a:pt x="33515" y="3528860"/>
                  </a:lnTo>
                  <a:lnTo>
                    <a:pt x="70548" y="3553676"/>
                  </a:lnTo>
                  <a:lnTo>
                    <a:pt x="114300" y="3562375"/>
                  </a:lnTo>
                  <a:lnTo>
                    <a:pt x="6953237" y="3562375"/>
                  </a:lnTo>
                  <a:lnTo>
                    <a:pt x="6996989" y="3553676"/>
                  </a:lnTo>
                  <a:lnTo>
                    <a:pt x="6998729" y="3552850"/>
                  </a:lnTo>
                  <a:lnTo>
                    <a:pt x="7007174" y="3548862"/>
                  </a:lnTo>
                  <a:lnTo>
                    <a:pt x="7016763" y="3543135"/>
                  </a:lnTo>
                  <a:lnTo>
                    <a:pt x="7025716" y="3536480"/>
                  </a:lnTo>
                  <a:lnTo>
                    <a:pt x="7033565" y="3529342"/>
                  </a:lnTo>
                  <a:lnTo>
                    <a:pt x="7034060" y="3528898"/>
                  </a:lnTo>
                  <a:lnTo>
                    <a:pt x="7041642" y="3520541"/>
                  </a:lnTo>
                  <a:lnTo>
                    <a:pt x="7048297" y="3511575"/>
                  </a:lnTo>
                  <a:lnTo>
                    <a:pt x="7054024" y="3501999"/>
                  </a:lnTo>
                  <a:lnTo>
                    <a:pt x="7058838" y="3491801"/>
                  </a:lnTo>
                  <a:lnTo>
                    <a:pt x="7061289" y="348496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543895"/>
            <a:ext cx="6436360" cy="303276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ポイントは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だけ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ではなく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両⽅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のバランス</a:t>
            </a:r>
            <a:r>
              <a:rPr sz="1250" spc="520" dirty="0">
                <a:solidFill>
                  <a:srgbClr val="333333"/>
                </a:solidFill>
                <a:latin typeface="BIZ UDPゴシック"/>
                <a:cs typeface="BIZ UDPゴシック"/>
              </a:rPr>
              <a:t>」。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安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らぎの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両⽅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得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られるのが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特徴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博⼠監修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⻄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條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⼀⽌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筑波⼤学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⾃律神経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瞬時⼼拍数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医学博⼠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究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科学的根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エビデンス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バランス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活⼒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安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らぎ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専⾨家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監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修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⽇本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50" dirty="0">
                <a:solidFill>
                  <a:srgbClr val="3797F0"/>
                </a:solidFill>
                <a:latin typeface="SimSun"/>
                <a:cs typeface="SimSun"/>
              </a:rPr>
              <a:t>究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45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8"/>
            <a:ext cx="7061834" cy="9347835"/>
            <a:chOff x="352425" y="352438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4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2"/>
                  </a:moveTo>
                  <a:lnTo>
                    <a:pt x="0" y="9342552"/>
                  </a:lnTo>
                  <a:lnTo>
                    <a:pt x="0" y="102317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128"/>
                  </a:lnTo>
                  <a:lnTo>
                    <a:pt x="7052437" y="74228"/>
                  </a:lnTo>
                  <a:lnTo>
                    <a:pt x="7056536" y="91217"/>
                  </a:lnTo>
                  <a:lnTo>
                    <a:pt x="7056536" y="9342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81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6998729" y="9525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712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48"/>
                  </a:lnTo>
                  <a:lnTo>
                    <a:pt x="0" y="114287"/>
                  </a:lnTo>
                  <a:lnTo>
                    <a:pt x="0" y="9347289"/>
                  </a:lnTo>
                  <a:lnTo>
                    <a:pt x="9525" y="9347289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20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78"/>
                  </a:lnTo>
                  <a:lnTo>
                    <a:pt x="7050037" y="74193"/>
                  </a:lnTo>
                  <a:lnTo>
                    <a:pt x="7058012" y="114287"/>
                  </a:lnTo>
                  <a:lnTo>
                    <a:pt x="7058012" y="9347289"/>
                  </a:lnTo>
                  <a:lnTo>
                    <a:pt x="7061289" y="9347289"/>
                  </a:lnTo>
                  <a:lnTo>
                    <a:pt x="7061289" y="77381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58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6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22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4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981074" y="304799"/>
                </a:moveTo>
                <a:lnTo>
                  <a:pt x="152399" y="304799"/>
                </a:lnTo>
                <a:lnTo>
                  <a:pt x="144912" y="304596"/>
                </a:lnTo>
                <a:lnTo>
                  <a:pt x="101066" y="295852"/>
                </a:lnTo>
                <a:lnTo>
                  <a:pt x="61607" y="274766"/>
                </a:lnTo>
                <a:lnTo>
                  <a:pt x="29995" y="243121"/>
                </a:lnTo>
                <a:lnTo>
                  <a:pt x="8904" y="203654"/>
                </a:lnTo>
                <a:lnTo>
                  <a:pt x="183" y="159880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1020"/>
                </a:lnTo>
                <a:lnTo>
                  <a:pt x="29995" y="61565"/>
                </a:lnTo>
                <a:lnTo>
                  <a:pt x="61607" y="29937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981074" y="0"/>
                </a:lnTo>
                <a:lnTo>
                  <a:pt x="1025314" y="6542"/>
                </a:lnTo>
                <a:lnTo>
                  <a:pt x="1065743" y="25631"/>
                </a:lnTo>
                <a:lnTo>
                  <a:pt x="1098882" y="55684"/>
                </a:lnTo>
                <a:lnTo>
                  <a:pt x="1121874" y="94021"/>
                </a:lnTo>
                <a:lnTo>
                  <a:pt x="1132742" y="137445"/>
                </a:lnTo>
                <a:lnTo>
                  <a:pt x="1133474" y="152399"/>
                </a:lnTo>
                <a:lnTo>
                  <a:pt x="1133291" y="159880"/>
                </a:lnTo>
                <a:lnTo>
                  <a:pt x="1124570" y="203654"/>
                </a:lnTo>
                <a:lnTo>
                  <a:pt x="1103479" y="243121"/>
                </a:lnTo>
                <a:lnTo>
                  <a:pt x="1071867" y="274766"/>
                </a:lnTo>
                <a:lnTo>
                  <a:pt x="1032408" y="295852"/>
                </a:lnTo>
                <a:lnTo>
                  <a:pt x="988561" y="304596"/>
                </a:lnTo>
                <a:lnTo>
                  <a:pt x="981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9321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引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専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⾨</a:t>
            </a:r>
            <a:r>
              <a:rPr sz="1100" spc="-575" dirty="0">
                <a:solidFill>
                  <a:srgbClr val="666666"/>
                </a:solidFill>
                <a:latin typeface="SimSun"/>
                <a:cs typeface="SimSun"/>
              </a:rPr>
              <a:t>家型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46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898265" cy="8042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ロン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235" dirty="0">
                <a:solidFill>
                  <a:srgbClr val="333333"/>
                </a:solidFill>
                <a:latin typeface="SimSun"/>
                <a:cs typeface="SimSun"/>
              </a:rPr>
              <a:t>ピ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250" spc="-2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レベルで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き 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かける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アメリカで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活躍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ロナルド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235" dirty="0">
                <a:solidFill>
                  <a:srgbClr val="333333"/>
                </a:solidFill>
                <a:latin typeface="SimSun"/>
                <a:cs typeface="SimSun"/>
              </a:rPr>
              <a:t>ピ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250" spc="-2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214122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関係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しています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127254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推薦⽂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より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SimSun"/>
              <a:cs typeface="SimSun"/>
            </a:endParaRPr>
          </a:p>
          <a:p>
            <a:pPr marL="60325" marR="2534920" indent="-48260">
              <a:lnSpc>
                <a:spcPct val="14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レベル</a:t>
            </a:r>
            <a:r>
              <a:rPr sz="1250" spc="-102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常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活動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しており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>
              <a:latin typeface="BIZ UDPゴシック"/>
              <a:cs typeface="BIZ UDPゴシック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はその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活動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をサポ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トする</a:t>
            </a:r>
            <a:endParaRPr sz="125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『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快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刺激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機能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 marR="1272540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ひとつひとつが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反応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している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事実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>
              <a:latin typeface="SimSun"/>
              <a:cs typeface="SimSun"/>
            </a:endParaRPr>
          </a:p>
          <a:p>
            <a:pPr marL="12700" marR="2430780">
              <a:lnSpc>
                <a:spcPts val="2100"/>
              </a:lnSpc>
              <a:spcBef>
                <a:spcPts val="9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のゆらぎ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できる</a:t>
            </a:r>
            <a:r>
              <a:rPr sz="1250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⽤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しは</a:t>
            </a:r>
            <a:endParaRPr sz="1250">
              <a:latin typeface="SimSun"/>
              <a:cs typeface="SimSun"/>
            </a:endParaRPr>
          </a:p>
          <a:p>
            <a:pPr marL="60325" marR="2387600">
              <a:lnSpc>
                <a:spcPts val="2100"/>
              </a:lnSpc>
              <a:spcBef>
                <a:spcPts val="3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のバランスを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効果的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894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5"/>
            <a:ext cx="7063105" cy="3820160"/>
            <a:chOff x="352425" y="352405"/>
            <a:chExt cx="7063105" cy="3820160"/>
          </a:xfrm>
        </p:grpSpPr>
        <p:sp>
          <p:nvSpPr>
            <p:cNvPr id="3" name="object 3"/>
            <p:cNvSpPr/>
            <p:nvPr/>
          </p:nvSpPr>
          <p:spPr>
            <a:xfrm>
              <a:off x="357187" y="352408"/>
              <a:ext cx="7058025" cy="3815079"/>
            </a:xfrm>
            <a:custGeom>
              <a:avLst/>
              <a:gdLst/>
              <a:ahLst/>
              <a:cxnLst/>
              <a:rect l="l" t="t" r="r" b="b"/>
              <a:pathLst>
                <a:path w="7058025" h="3815079">
                  <a:moveTo>
                    <a:pt x="6955678" y="3814762"/>
                  </a:moveTo>
                  <a:lnTo>
                    <a:pt x="102345" y="3814762"/>
                  </a:lnTo>
                  <a:lnTo>
                    <a:pt x="95221" y="3814057"/>
                  </a:lnTo>
                  <a:lnTo>
                    <a:pt x="54661" y="3800217"/>
                  </a:lnTo>
                  <a:lnTo>
                    <a:pt x="22456" y="3772014"/>
                  </a:lnTo>
                  <a:lnTo>
                    <a:pt x="3507" y="3733647"/>
                  </a:lnTo>
                  <a:lnTo>
                    <a:pt x="0" y="3712406"/>
                  </a:lnTo>
                  <a:lnTo>
                    <a:pt x="0" y="370522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712406"/>
                  </a:lnTo>
                  <a:lnTo>
                    <a:pt x="7046932" y="3753783"/>
                  </a:lnTo>
                  <a:lnTo>
                    <a:pt x="7020855" y="3787711"/>
                  </a:lnTo>
                  <a:lnTo>
                    <a:pt x="6983759" y="3809142"/>
                  </a:lnTo>
                  <a:lnTo>
                    <a:pt x="6962802" y="3814057"/>
                  </a:lnTo>
                  <a:lnTo>
                    <a:pt x="6955678" y="3814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3820160"/>
            </a:xfrm>
            <a:custGeom>
              <a:avLst/>
              <a:gdLst/>
              <a:ahLst/>
              <a:cxnLst/>
              <a:rect l="l" t="t" r="r" b="b"/>
              <a:pathLst>
                <a:path w="7061834" h="3820160">
                  <a:moveTo>
                    <a:pt x="7061289" y="0"/>
                  </a:moveTo>
                  <a:lnTo>
                    <a:pt x="7058012" y="0"/>
                  </a:lnTo>
                  <a:lnTo>
                    <a:pt x="7058012" y="3705237"/>
                  </a:lnTo>
                  <a:lnTo>
                    <a:pt x="7057517" y="3715562"/>
                  </a:lnTo>
                  <a:lnTo>
                    <a:pt x="7045630" y="3754678"/>
                  </a:lnTo>
                  <a:lnTo>
                    <a:pt x="7026834" y="3779774"/>
                  </a:lnTo>
                  <a:lnTo>
                    <a:pt x="6993344" y="3802049"/>
                  </a:lnTo>
                  <a:lnTo>
                    <a:pt x="6953237" y="3810038"/>
                  </a:lnTo>
                  <a:lnTo>
                    <a:pt x="114300" y="3810038"/>
                  </a:lnTo>
                  <a:lnTo>
                    <a:pt x="74193" y="3802049"/>
                  </a:lnTo>
                  <a:lnTo>
                    <a:pt x="40690" y="3779786"/>
                  </a:lnTo>
                  <a:lnTo>
                    <a:pt x="33261" y="3771671"/>
                  </a:lnTo>
                  <a:lnTo>
                    <a:pt x="14008" y="3735603"/>
                  </a:lnTo>
                  <a:lnTo>
                    <a:pt x="9525" y="370523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705237"/>
                  </a:lnTo>
                  <a:lnTo>
                    <a:pt x="533" y="3716502"/>
                  </a:lnTo>
                  <a:lnTo>
                    <a:pt x="13500" y="3759174"/>
                  </a:lnTo>
                  <a:lnTo>
                    <a:pt x="33515" y="3786035"/>
                  </a:lnTo>
                  <a:lnTo>
                    <a:pt x="70548" y="3810851"/>
                  </a:lnTo>
                  <a:lnTo>
                    <a:pt x="114300" y="3819563"/>
                  </a:lnTo>
                  <a:lnTo>
                    <a:pt x="6953237" y="3819563"/>
                  </a:lnTo>
                  <a:lnTo>
                    <a:pt x="6996989" y="3810851"/>
                  </a:lnTo>
                  <a:lnTo>
                    <a:pt x="7033565" y="3786517"/>
                  </a:lnTo>
                  <a:lnTo>
                    <a:pt x="7034060" y="3786073"/>
                  </a:lnTo>
                  <a:lnTo>
                    <a:pt x="7041642" y="3777716"/>
                  </a:lnTo>
                  <a:lnTo>
                    <a:pt x="7048297" y="3768750"/>
                  </a:lnTo>
                  <a:lnTo>
                    <a:pt x="7054024" y="3759174"/>
                  </a:lnTo>
                  <a:lnTo>
                    <a:pt x="7058838" y="3748976"/>
                  </a:lnTo>
                  <a:lnTo>
                    <a:pt x="7061289" y="374214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359849"/>
            <a:ext cx="6417945" cy="34740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SimSun"/>
              <a:cs typeface="SimSun"/>
            </a:endParaRPr>
          </a:p>
          <a:p>
            <a:pPr marL="12700" marR="552831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わず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副作⽤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もなく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内側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それが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4672965">
              <a:lnSpc>
                <a:spcPts val="2100"/>
              </a:lnSpc>
              <a:spcBef>
                <a:spcPts val="95"/>
              </a:spcBef>
            </a:pP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博⼠推薦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00" spc="-25" dirty="0">
                <a:solidFill>
                  <a:srgbClr val="333333"/>
                </a:solidFill>
                <a:latin typeface="Comic Sans MS"/>
                <a:cs typeface="Comic Sans MS"/>
              </a:rPr>
              <a:t>CD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86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ロンピ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タ</a:t>
            </a:r>
            <a:r>
              <a:rPr sz="1100" spc="-22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ズ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医学博⼠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細胞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レベル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⾃律神経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推薦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科学的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快刺激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⼼拍変動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アメリカ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統合医療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専⾨家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エビデンス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50" dirty="0">
                <a:solidFill>
                  <a:srgbClr val="3797F0"/>
                </a:solidFill>
                <a:latin typeface="SimSun"/>
                <a:cs typeface="SimSun"/>
              </a:rPr>
              <a:t>究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47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0"/>
            <a:ext cx="7061834" cy="9347835"/>
            <a:chOff x="352425" y="352440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5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2"/>
                  </a:moveTo>
                  <a:lnTo>
                    <a:pt x="0" y="9342552"/>
                  </a:lnTo>
                  <a:lnTo>
                    <a:pt x="0" y="102355"/>
                  </a:lnTo>
                  <a:lnTo>
                    <a:pt x="11090" y="60912"/>
                  </a:lnTo>
                  <a:lnTo>
                    <a:pt x="37168" y="26936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10"/>
                  </a:lnTo>
                  <a:lnTo>
                    <a:pt x="7031026" y="37099"/>
                  </a:lnTo>
                  <a:lnTo>
                    <a:pt x="7052437" y="74228"/>
                  </a:lnTo>
                  <a:lnTo>
                    <a:pt x="7056536" y="91255"/>
                  </a:lnTo>
                  <a:lnTo>
                    <a:pt x="7056536" y="93425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4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795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33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58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7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23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3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981074" y="304799"/>
                </a:moveTo>
                <a:lnTo>
                  <a:pt x="152399" y="304799"/>
                </a:lnTo>
                <a:lnTo>
                  <a:pt x="144912" y="304617"/>
                </a:lnTo>
                <a:lnTo>
                  <a:pt x="101066" y="295853"/>
                </a:lnTo>
                <a:lnTo>
                  <a:pt x="61607" y="274750"/>
                </a:lnTo>
                <a:lnTo>
                  <a:pt x="29995" y="243105"/>
                </a:lnTo>
                <a:lnTo>
                  <a:pt x="8904" y="203654"/>
                </a:lnTo>
                <a:lnTo>
                  <a:pt x="183" y="159865"/>
                </a:lnTo>
                <a:lnTo>
                  <a:pt x="0" y="152399"/>
                </a:lnTo>
                <a:lnTo>
                  <a:pt x="183" y="144907"/>
                </a:lnTo>
                <a:lnTo>
                  <a:pt x="8904" y="101059"/>
                </a:lnTo>
                <a:lnTo>
                  <a:pt x="29995" y="61544"/>
                </a:lnTo>
                <a:lnTo>
                  <a:pt x="61607" y="29973"/>
                </a:lnTo>
                <a:lnTo>
                  <a:pt x="101066" y="8875"/>
                </a:lnTo>
                <a:lnTo>
                  <a:pt x="144912" y="182"/>
                </a:lnTo>
                <a:lnTo>
                  <a:pt x="152399" y="0"/>
                </a:lnTo>
                <a:lnTo>
                  <a:pt x="981074" y="0"/>
                </a:lnTo>
                <a:lnTo>
                  <a:pt x="1025314" y="6562"/>
                </a:lnTo>
                <a:lnTo>
                  <a:pt x="1065743" y="25669"/>
                </a:lnTo>
                <a:lnTo>
                  <a:pt x="1098882" y="55655"/>
                </a:lnTo>
                <a:lnTo>
                  <a:pt x="1121874" y="94021"/>
                </a:lnTo>
                <a:lnTo>
                  <a:pt x="1132742" y="137450"/>
                </a:lnTo>
                <a:lnTo>
                  <a:pt x="1133474" y="152399"/>
                </a:lnTo>
                <a:lnTo>
                  <a:pt x="1133291" y="159864"/>
                </a:lnTo>
                <a:lnTo>
                  <a:pt x="1124570" y="203654"/>
                </a:lnTo>
                <a:lnTo>
                  <a:pt x="1103479" y="243121"/>
                </a:lnTo>
                <a:lnTo>
                  <a:pt x="1071867" y="274750"/>
                </a:lnTo>
                <a:lnTo>
                  <a:pt x="1032408" y="295853"/>
                </a:lnTo>
                <a:lnTo>
                  <a:pt x="988561" y="304617"/>
                </a:lnTo>
                <a:lnTo>
                  <a:pt x="981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9321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引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専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⾨</a:t>
            </a:r>
            <a:r>
              <a:rPr sz="1100" spc="-575" dirty="0">
                <a:solidFill>
                  <a:srgbClr val="666666"/>
                </a:solidFill>
                <a:latin typeface="SimSun"/>
                <a:cs typeface="SimSun"/>
              </a:rPr>
              <a:t>家型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48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500120" cy="84818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傳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⽥光洋博⼠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第三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5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ている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24669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資⽣堂研究員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傳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⽥光洋博⼠</a:t>
            </a:r>
            <a:r>
              <a:rPr sz="1250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88785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⽪膚科学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専⾨家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語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事実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然⾳</a:t>
            </a:r>
            <a:r>
              <a:rPr sz="1250" spc="-12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の</a:t>
            </a:r>
            <a:r>
              <a:rPr lang="ja-JP" altLang="en-US" sz="1250" spc="-12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高い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周波数</a:t>
            </a:r>
            <a:r>
              <a:rPr sz="1250" spc="-50" dirty="0" err="1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sz="1300" spc="-85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85" dirty="0">
                <a:solidFill>
                  <a:srgbClr val="333333"/>
                </a:solidFill>
                <a:latin typeface="Comic Sans MS"/>
                <a:cs typeface="Comic Sans MS"/>
              </a:rPr>
              <a:t>,000Hz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00" spc="-85" dirty="0">
                <a:solidFill>
                  <a:srgbClr val="333333"/>
                </a:solidFill>
                <a:latin typeface="Comic Sans MS"/>
                <a:cs typeface="Comic Sans MS"/>
              </a:rPr>
              <a:t>20,000Hz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ぶ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帯域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12700" marR="2177415">
              <a:lnSpc>
                <a:spcPct val="135000"/>
              </a:lnSpc>
              <a:spcBef>
                <a:spcPts val="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よりも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250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じやすい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874394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によると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第三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515" dirty="0">
                <a:solidFill>
                  <a:srgbClr val="333333"/>
                </a:solidFill>
                <a:latin typeface="BIZ UDPゴシック"/>
                <a:cs typeface="BIZ UDPゴシック"/>
              </a:rPr>
              <a:t>」。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2032635">
              <a:lnSpc>
                <a:spcPct val="135000"/>
              </a:lnSpc>
            </a:pP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光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温度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685" dirty="0">
                <a:solidFill>
                  <a:srgbClr val="333333"/>
                </a:solidFill>
                <a:latin typeface="メイリオ"/>
                <a:cs typeface="メイリオ"/>
              </a:rPr>
              <a:t>湿度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…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様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情報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感知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えている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874394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だから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びる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6"/>
            <a:ext cx="7063105" cy="4867910"/>
            <a:chOff x="352425" y="352406"/>
            <a:chExt cx="7063105" cy="4867910"/>
          </a:xfrm>
        </p:grpSpPr>
        <p:sp>
          <p:nvSpPr>
            <p:cNvPr id="3" name="object 3"/>
            <p:cNvSpPr/>
            <p:nvPr/>
          </p:nvSpPr>
          <p:spPr>
            <a:xfrm>
              <a:off x="357187" y="352408"/>
              <a:ext cx="7058025" cy="4862830"/>
            </a:xfrm>
            <a:custGeom>
              <a:avLst/>
              <a:gdLst/>
              <a:ahLst/>
              <a:cxnLst/>
              <a:rect l="l" t="t" r="r" b="b"/>
              <a:pathLst>
                <a:path w="7058025" h="4862830">
                  <a:moveTo>
                    <a:pt x="6955678" y="4862512"/>
                  </a:moveTo>
                  <a:lnTo>
                    <a:pt x="102345" y="4862512"/>
                  </a:lnTo>
                  <a:lnTo>
                    <a:pt x="95221" y="4861807"/>
                  </a:lnTo>
                  <a:lnTo>
                    <a:pt x="54661" y="4847967"/>
                  </a:lnTo>
                  <a:lnTo>
                    <a:pt x="22456" y="4819763"/>
                  </a:lnTo>
                  <a:lnTo>
                    <a:pt x="3507" y="4781359"/>
                  </a:lnTo>
                  <a:lnTo>
                    <a:pt x="0" y="4760156"/>
                  </a:lnTo>
                  <a:lnTo>
                    <a:pt x="0" y="475297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760156"/>
                  </a:lnTo>
                  <a:lnTo>
                    <a:pt x="7046932" y="4801494"/>
                  </a:lnTo>
                  <a:lnTo>
                    <a:pt x="7020855" y="4835461"/>
                  </a:lnTo>
                  <a:lnTo>
                    <a:pt x="6983759" y="4856854"/>
                  </a:lnTo>
                  <a:lnTo>
                    <a:pt x="6962802" y="4861807"/>
                  </a:lnTo>
                  <a:lnTo>
                    <a:pt x="6955678" y="4862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4867910"/>
            </a:xfrm>
            <a:custGeom>
              <a:avLst/>
              <a:gdLst/>
              <a:ahLst/>
              <a:cxnLst/>
              <a:rect l="l" t="t" r="r" b="b"/>
              <a:pathLst>
                <a:path w="7061834" h="4867910">
                  <a:moveTo>
                    <a:pt x="7061289" y="0"/>
                  </a:moveTo>
                  <a:lnTo>
                    <a:pt x="7058012" y="0"/>
                  </a:lnTo>
                  <a:lnTo>
                    <a:pt x="7058012" y="4752987"/>
                  </a:lnTo>
                  <a:lnTo>
                    <a:pt x="7057517" y="4763313"/>
                  </a:lnTo>
                  <a:lnTo>
                    <a:pt x="7045630" y="4802429"/>
                  </a:lnTo>
                  <a:lnTo>
                    <a:pt x="7026834" y="4827536"/>
                  </a:lnTo>
                  <a:lnTo>
                    <a:pt x="6993344" y="4849812"/>
                  </a:lnTo>
                  <a:lnTo>
                    <a:pt x="6953237" y="4857788"/>
                  </a:lnTo>
                  <a:lnTo>
                    <a:pt x="114300" y="4857788"/>
                  </a:lnTo>
                  <a:lnTo>
                    <a:pt x="74193" y="4849812"/>
                  </a:lnTo>
                  <a:lnTo>
                    <a:pt x="40690" y="4827549"/>
                  </a:lnTo>
                  <a:lnTo>
                    <a:pt x="33261" y="4819421"/>
                  </a:lnTo>
                  <a:lnTo>
                    <a:pt x="14008" y="4783366"/>
                  </a:lnTo>
                  <a:lnTo>
                    <a:pt x="9525" y="47529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752987"/>
                  </a:lnTo>
                  <a:lnTo>
                    <a:pt x="533" y="4764252"/>
                  </a:lnTo>
                  <a:lnTo>
                    <a:pt x="13500" y="4806924"/>
                  </a:lnTo>
                  <a:lnTo>
                    <a:pt x="33528" y="4833785"/>
                  </a:lnTo>
                  <a:lnTo>
                    <a:pt x="70548" y="4858613"/>
                  </a:lnTo>
                  <a:lnTo>
                    <a:pt x="114300" y="4867313"/>
                  </a:lnTo>
                  <a:lnTo>
                    <a:pt x="6953237" y="4867313"/>
                  </a:lnTo>
                  <a:lnTo>
                    <a:pt x="6996989" y="4858613"/>
                  </a:lnTo>
                  <a:lnTo>
                    <a:pt x="6998729" y="4857788"/>
                  </a:lnTo>
                  <a:lnTo>
                    <a:pt x="7007174" y="4853800"/>
                  </a:lnTo>
                  <a:lnTo>
                    <a:pt x="7016763" y="4848060"/>
                  </a:lnTo>
                  <a:lnTo>
                    <a:pt x="7025716" y="4841405"/>
                  </a:lnTo>
                  <a:lnTo>
                    <a:pt x="7034060" y="4833836"/>
                  </a:lnTo>
                  <a:lnTo>
                    <a:pt x="7041642" y="4825466"/>
                  </a:lnTo>
                  <a:lnTo>
                    <a:pt x="7048297" y="4816500"/>
                  </a:lnTo>
                  <a:lnTo>
                    <a:pt x="7054024" y="4806924"/>
                  </a:lnTo>
                  <a:lnTo>
                    <a:pt x="7058838" y="4796726"/>
                  </a:lnTo>
                  <a:lnTo>
                    <a:pt x="7061289" y="4789906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357098"/>
            <a:ext cx="6446520" cy="4524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まりやすい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483870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だけで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くのではなく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体全体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4551045">
              <a:lnSpc>
                <a:spcPct val="135000"/>
              </a:lnSpc>
            </a:pP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それがサウンドヒ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リングの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本質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スピ</a:t>
            </a:r>
            <a:r>
              <a:rPr sz="1250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近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くで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浴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びてみてください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効果的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しくは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 dirty="0">
              <a:latin typeface="SimSun"/>
              <a:cs typeface="SimSun"/>
            </a:endParaRPr>
          </a:p>
          <a:p>
            <a:pPr marL="12700" marR="5080">
              <a:lnSpc>
                <a:spcPct val="152200"/>
              </a:lnSpc>
              <a:spcBef>
                <a:spcPts val="944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傳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⽥光洋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⽪膚科学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第三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資⽣堂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研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究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⽪膚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で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聴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周波数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全⾝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で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感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じる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科学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驚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きの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事実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体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で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聴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新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しい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発⾒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専⾨家</a:t>
            </a:r>
            <a:endParaRPr sz="1100" dirty="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49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5283" y="355282"/>
            <a:ext cx="7061834" cy="9347835"/>
            <a:chOff x="352425" y="352442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7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3"/>
                  </a:moveTo>
                  <a:lnTo>
                    <a:pt x="0" y="9342553"/>
                  </a:lnTo>
                  <a:lnTo>
                    <a:pt x="0" y="102355"/>
                  </a:lnTo>
                  <a:lnTo>
                    <a:pt x="11090" y="60940"/>
                  </a:lnTo>
                  <a:lnTo>
                    <a:pt x="37168" y="26974"/>
                  </a:lnTo>
                  <a:lnTo>
                    <a:pt x="74264" y="5581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166"/>
                  </a:lnTo>
                  <a:lnTo>
                    <a:pt x="7052437" y="74228"/>
                  </a:lnTo>
                  <a:lnTo>
                    <a:pt x="7056536" y="91255"/>
                  </a:lnTo>
                  <a:lnTo>
                    <a:pt x="7056536" y="9342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4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57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98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24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2"/>
            <a:ext cx="1133475" cy="304800"/>
          </a:xfrm>
          <a:custGeom>
            <a:avLst/>
            <a:gdLst/>
            <a:ahLst/>
            <a:cxnLst/>
            <a:rect l="l" t="t" r="r" b="b"/>
            <a:pathLst>
              <a:path w="1133475" h="304800">
                <a:moveTo>
                  <a:pt x="981074" y="304799"/>
                </a:moveTo>
                <a:lnTo>
                  <a:pt x="152399" y="304799"/>
                </a:lnTo>
                <a:lnTo>
                  <a:pt x="144912" y="304617"/>
                </a:lnTo>
                <a:lnTo>
                  <a:pt x="101066" y="295853"/>
                </a:lnTo>
                <a:lnTo>
                  <a:pt x="61607" y="274728"/>
                </a:lnTo>
                <a:lnTo>
                  <a:pt x="29995" y="243125"/>
                </a:lnTo>
                <a:lnTo>
                  <a:pt x="8904" y="203632"/>
                </a:lnTo>
                <a:lnTo>
                  <a:pt x="183" y="159880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59"/>
                </a:lnTo>
                <a:lnTo>
                  <a:pt x="29995" y="61565"/>
                </a:lnTo>
                <a:lnTo>
                  <a:pt x="61607" y="29973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981074" y="0"/>
                </a:lnTo>
                <a:lnTo>
                  <a:pt x="1025314" y="6557"/>
                </a:lnTo>
                <a:lnTo>
                  <a:pt x="1065743" y="25669"/>
                </a:lnTo>
                <a:lnTo>
                  <a:pt x="1098882" y="55684"/>
                </a:lnTo>
                <a:lnTo>
                  <a:pt x="1121874" y="94021"/>
                </a:lnTo>
                <a:lnTo>
                  <a:pt x="1132742" y="137460"/>
                </a:lnTo>
                <a:lnTo>
                  <a:pt x="1133474" y="152399"/>
                </a:lnTo>
                <a:lnTo>
                  <a:pt x="1133291" y="159880"/>
                </a:lnTo>
                <a:lnTo>
                  <a:pt x="1124570" y="203632"/>
                </a:lnTo>
                <a:lnTo>
                  <a:pt x="1103479" y="243125"/>
                </a:lnTo>
                <a:lnTo>
                  <a:pt x="1071867" y="274728"/>
                </a:lnTo>
                <a:lnTo>
                  <a:pt x="1032408" y="295847"/>
                </a:lnTo>
                <a:lnTo>
                  <a:pt x="988561" y="304612"/>
                </a:lnTo>
                <a:lnTo>
                  <a:pt x="981074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9206"/>
            <a:ext cx="93218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引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935" dirty="0">
                <a:solidFill>
                  <a:srgbClr val="666666"/>
                </a:solidFill>
                <a:latin typeface="HGP行書体"/>
                <a:cs typeface="HGP行書体"/>
              </a:rPr>
              <a:t>・</a:t>
            </a:r>
            <a:r>
              <a:rPr sz="1100" spc="-90" dirty="0">
                <a:solidFill>
                  <a:srgbClr val="666666"/>
                </a:solidFill>
                <a:latin typeface="SimSun"/>
                <a:cs typeface="SimSun"/>
              </a:rPr>
              <a:t>専</a:t>
            </a:r>
            <a:r>
              <a:rPr sz="1100" spc="-90" dirty="0">
                <a:solidFill>
                  <a:srgbClr val="666666"/>
                </a:solidFill>
                <a:latin typeface="メイリオ"/>
                <a:cs typeface="メイリオ"/>
              </a:rPr>
              <a:t>⾨</a:t>
            </a:r>
            <a:r>
              <a:rPr sz="1100" spc="-575" dirty="0">
                <a:solidFill>
                  <a:srgbClr val="666666"/>
                </a:solidFill>
                <a:latin typeface="SimSun"/>
                <a:cs typeface="SimSun"/>
              </a:rPr>
              <a:t>家型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50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48"/>
            <a:ext cx="3493135" cy="829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理事⻑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メッセ</a:t>
            </a:r>
            <a:r>
              <a:rPr sz="1250" spc="-7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ジ</a:t>
            </a:r>
            <a:r>
              <a:rPr lang="en-US" sz="1250" spc="-12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然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尊</a:t>
            </a:r>
            <a:r>
              <a:rPr sz="1250" spc="-180" dirty="0" err="1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250" spc="63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つながりを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深める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734820">
              <a:lnSpc>
                <a:spcPct val="135000"/>
              </a:lnSpc>
            </a:pP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協会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理事⻑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喜⽥圭⼀郎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より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866140">
              <a:lnSpc>
                <a:spcPct val="1317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 </a:t>
            </a:r>
            <a:r>
              <a:rPr sz="1300" spc="-30" dirty="0">
                <a:solidFill>
                  <a:srgbClr val="333333"/>
                </a:solidFill>
                <a:latin typeface="Comic Sans MS"/>
                <a:cs typeface="Comic Sans MS"/>
              </a:rPr>
              <a:t>Harmonic</a:t>
            </a:r>
            <a:r>
              <a:rPr sz="1300" spc="-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Revolution</a:t>
            </a:r>
            <a:endParaRPr sz="13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すべての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尊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 dirty="0">
              <a:latin typeface="BIZ UDPゴシック"/>
              <a:cs typeface="BIZ UDPゴシック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つながりを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 dirty="0">
              <a:latin typeface="BIZ UDPゴシック"/>
              <a:cs typeface="BIZ UDPゴシック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60325" marR="962660">
              <a:lnSpc>
                <a:spcPct val="135000"/>
              </a:lnSpc>
              <a:spcBef>
                <a:spcPts val="75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未来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地球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調和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星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保</a:t>
            </a:r>
            <a:r>
              <a:rPr sz="1250" spc="-114" dirty="0" err="1">
                <a:solidFill>
                  <a:srgbClr val="333333"/>
                </a:solidFill>
                <a:latin typeface="SimSun"/>
                <a:cs typeface="SimSun"/>
              </a:rPr>
              <a:t>つために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今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00" dirty="0" err="1">
                <a:solidFill>
                  <a:srgbClr val="333333"/>
                </a:solidFill>
                <a:latin typeface="SimSun"/>
                <a:cs typeface="SimSun"/>
              </a:rPr>
              <a:t>たちに</a:t>
            </a:r>
            <a:r>
              <a:rPr lang="ja-JP" altLang="en-US" sz="1250" spc="-100" dirty="0">
                <a:solidFill>
                  <a:srgbClr val="333333"/>
                </a:solidFill>
                <a:latin typeface="SimSun"/>
                <a:cs typeface="SimSun"/>
              </a:rPr>
              <a:t>できること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の一つ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だと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たちは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⼀部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様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⽣命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によって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かされている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ことを思い出し</a:t>
            </a:r>
            <a:r>
              <a:rPr lang="ja-JP" altLang="en-US" sz="1250" spc="-85" dirty="0">
                <a:solidFill>
                  <a:srgbClr val="333333"/>
                </a:solidFill>
                <a:latin typeface="SimSun"/>
                <a:cs typeface="SimSun"/>
              </a:rPr>
              <a:t>、人と自然に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やさしい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ちませんか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250" dirty="0">
              <a:latin typeface="BIZ UDPゴシック"/>
              <a:cs typeface="BIZ UDPゴシック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明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未来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創造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⾏動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⼀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緒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やりましょう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4"/>
            <a:ext cx="7063105" cy="3305810"/>
            <a:chOff x="352425" y="352424"/>
            <a:chExt cx="7063105" cy="3305810"/>
          </a:xfrm>
        </p:grpSpPr>
        <p:sp>
          <p:nvSpPr>
            <p:cNvPr id="3" name="object 3"/>
            <p:cNvSpPr/>
            <p:nvPr/>
          </p:nvSpPr>
          <p:spPr>
            <a:xfrm>
              <a:off x="357187" y="352425"/>
              <a:ext cx="7058025" cy="3300729"/>
            </a:xfrm>
            <a:custGeom>
              <a:avLst/>
              <a:gdLst/>
              <a:ahLst/>
              <a:cxnLst/>
              <a:rect l="l" t="t" r="r" b="b"/>
              <a:pathLst>
                <a:path w="7058025" h="3300729">
                  <a:moveTo>
                    <a:pt x="6955678" y="3300412"/>
                  </a:moveTo>
                  <a:lnTo>
                    <a:pt x="102346" y="3300412"/>
                  </a:lnTo>
                  <a:lnTo>
                    <a:pt x="95221" y="3299707"/>
                  </a:lnTo>
                  <a:lnTo>
                    <a:pt x="54663" y="3285867"/>
                  </a:lnTo>
                  <a:lnTo>
                    <a:pt x="22459" y="3257664"/>
                  </a:lnTo>
                  <a:lnTo>
                    <a:pt x="3505" y="3219230"/>
                  </a:lnTo>
                  <a:lnTo>
                    <a:pt x="0" y="3198056"/>
                  </a:lnTo>
                  <a:lnTo>
                    <a:pt x="0" y="3190875"/>
                  </a:lnTo>
                  <a:lnTo>
                    <a:pt x="0" y="0"/>
                  </a:lnTo>
                  <a:lnTo>
                    <a:pt x="7058025" y="0"/>
                  </a:lnTo>
                  <a:lnTo>
                    <a:pt x="7058025" y="3198056"/>
                  </a:lnTo>
                  <a:lnTo>
                    <a:pt x="7046937" y="3239395"/>
                  </a:lnTo>
                  <a:lnTo>
                    <a:pt x="7020858" y="3273361"/>
                  </a:lnTo>
                  <a:lnTo>
                    <a:pt x="6983758" y="3294792"/>
                  </a:lnTo>
                  <a:lnTo>
                    <a:pt x="6962803" y="3299707"/>
                  </a:lnTo>
                  <a:lnTo>
                    <a:pt x="6955678" y="33004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24"/>
              <a:ext cx="7061834" cy="3305810"/>
            </a:xfrm>
            <a:custGeom>
              <a:avLst/>
              <a:gdLst/>
              <a:ahLst/>
              <a:cxnLst/>
              <a:rect l="l" t="t" r="r" b="b"/>
              <a:pathLst>
                <a:path w="7061834" h="3305810">
                  <a:moveTo>
                    <a:pt x="7061289" y="0"/>
                  </a:moveTo>
                  <a:lnTo>
                    <a:pt x="7058025" y="0"/>
                  </a:lnTo>
                  <a:lnTo>
                    <a:pt x="7058025" y="3190875"/>
                  </a:lnTo>
                  <a:lnTo>
                    <a:pt x="7057517" y="3201200"/>
                  </a:lnTo>
                  <a:lnTo>
                    <a:pt x="7045630" y="3240316"/>
                  </a:lnTo>
                  <a:lnTo>
                    <a:pt x="7026834" y="3265424"/>
                  </a:lnTo>
                  <a:lnTo>
                    <a:pt x="6993344" y="3287699"/>
                  </a:lnTo>
                  <a:lnTo>
                    <a:pt x="6953250" y="3295675"/>
                  </a:lnTo>
                  <a:lnTo>
                    <a:pt x="114300" y="3295675"/>
                  </a:lnTo>
                  <a:lnTo>
                    <a:pt x="74193" y="3287699"/>
                  </a:lnTo>
                  <a:lnTo>
                    <a:pt x="40690" y="3265436"/>
                  </a:lnTo>
                  <a:lnTo>
                    <a:pt x="33261" y="3257321"/>
                  </a:lnTo>
                  <a:lnTo>
                    <a:pt x="14008" y="3221253"/>
                  </a:lnTo>
                  <a:lnTo>
                    <a:pt x="9525" y="319087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190875"/>
                  </a:lnTo>
                  <a:lnTo>
                    <a:pt x="533" y="3202140"/>
                  </a:lnTo>
                  <a:lnTo>
                    <a:pt x="13500" y="3244812"/>
                  </a:lnTo>
                  <a:lnTo>
                    <a:pt x="33528" y="3271672"/>
                  </a:lnTo>
                  <a:lnTo>
                    <a:pt x="70548" y="3296488"/>
                  </a:lnTo>
                  <a:lnTo>
                    <a:pt x="114300" y="3305200"/>
                  </a:lnTo>
                  <a:lnTo>
                    <a:pt x="6953250" y="3305200"/>
                  </a:lnTo>
                  <a:lnTo>
                    <a:pt x="6996989" y="3296488"/>
                  </a:lnTo>
                  <a:lnTo>
                    <a:pt x="7034060" y="3271723"/>
                  </a:lnTo>
                  <a:lnTo>
                    <a:pt x="7041642" y="3263354"/>
                  </a:lnTo>
                  <a:lnTo>
                    <a:pt x="7048297" y="3254400"/>
                  </a:lnTo>
                  <a:lnTo>
                    <a:pt x="7054024" y="3244812"/>
                  </a:lnTo>
                  <a:lnTo>
                    <a:pt x="7058838" y="3234613"/>
                  </a:lnTo>
                  <a:lnTo>
                    <a:pt x="7061289" y="32277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5000" y="543895"/>
            <a:ext cx="6441440" cy="2766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979670">
              <a:lnSpc>
                <a:spcPct val="140000"/>
              </a:lnSpc>
              <a:spcBef>
                <a:spcPts val="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10" dirty="0" err="1">
                <a:solidFill>
                  <a:srgbClr val="333333"/>
                </a:solidFill>
                <a:latin typeface="SimSun"/>
                <a:cs typeface="SimSun"/>
              </a:rPr>
              <a:t>とつながる</a:t>
            </a:r>
            <a:endParaRPr lang="en-US" sz="1250" spc="-11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4979670">
              <a:lnSpc>
                <a:spcPct val="140000"/>
              </a:lnSpc>
              <a:spcBef>
                <a:spcPts val="90"/>
              </a:spcBef>
            </a:pP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最</a:t>
            </a: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もシンプルな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300" spc="-5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65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然⾳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丁寧に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それが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第⼀歩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になる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協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活動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について詳しくはプロフィ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 dirty="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30"/>
              </a:spcBef>
            </a:pP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喜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⽥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圭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⼀</a:t>
            </a:r>
            <a:r>
              <a:rPr sz="1100" spc="-130" dirty="0">
                <a:solidFill>
                  <a:srgbClr val="3896EF"/>
                </a:solidFill>
                <a:latin typeface="SimSun"/>
                <a:cs typeface="SimSun"/>
              </a:rPr>
              <a:t>郎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896EF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ー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リング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協</a:t>
            </a:r>
            <a:r>
              <a:rPr sz="1100" spc="-40" dirty="0">
                <a:solidFill>
                  <a:srgbClr val="3896EF"/>
                </a:solidFill>
                <a:latin typeface="メイリオ"/>
                <a:cs typeface="メイリオ"/>
              </a:rPr>
              <a:t>会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理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事⻑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メッセ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ー</a:t>
            </a:r>
            <a:r>
              <a:rPr sz="1150" spc="-170" dirty="0">
                <a:solidFill>
                  <a:srgbClr val="3896EF"/>
                </a:solidFill>
                <a:latin typeface="SimSun"/>
                <a:cs typeface="SimSun"/>
              </a:rPr>
              <a:t>ジ </a:t>
            </a:r>
            <a:r>
              <a:rPr sz="1150" spc="-40" dirty="0">
                <a:solidFill>
                  <a:srgbClr val="3896EF"/>
                </a:solidFill>
                <a:latin typeface="Comic Sans MS"/>
                <a:cs typeface="Comic Sans MS"/>
              </a:rPr>
              <a:t>#HarmonicRevolution</a:t>
            </a:r>
            <a:r>
              <a:rPr sz="1150" spc="-130" dirty="0">
                <a:solidFill>
                  <a:srgbClr val="3896EF"/>
                </a:solidFill>
                <a:latin typeface="Comic Sans MS"/>
                <a:cs typeface="Comic Sans MS"/>
              </a:rPr>
              <a:t> 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⾃然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との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調</a:t>
            </a:r>
            <a:r>
              <a:rPr sz="1100" spc="-130" dirty="0">
                <a:solidFill>
                  <a:srgbClr val="3896EF"/>
                </a:solidFill>
                <a:latin typeface="SimSun"/>
                <a:cs typeface="SimSun"/>
              </a:rPr>
              <a:t>和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60" dirty="0">
                <a:solidFill>
                  <a:srgbClr val="3896EF"/>
                </a:solidFill>
                <a:latin typeface="メイリオ"/>
                <a:cs typeface="メイリオ"/>
              </a:rPr>
              <a:t>感謝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50" dirty="0">
                <a:solidFill>
                  <a:srgbClr val="3896EF"/>
                </a:solidFill>
                <a:latin typeface="メイリオ"/>
                <a:cs typeface="メイリオ"/>
              </a:rPr>
              <a:t>未</a:t>
            </a:r>
            <a:r>
              <a:rPr sz="1100" spc="-145" dirty="0">
                <a:solidFill>
                  <a:srgbClr val="3896EF"/>
                </a:solidFill>
                <a:latin typeface="SimSun"/>
                <a:cs typeface="SimSun"/>
              </a:rPr>
              <a:t>来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地</a:t>
            </a:r>
            <a:r>
              <a:rPr sz="1100" spc="-145" dirty="0">
                <a:solidFill>
                  <a:srgbClr val="3896EF"/>
                </a:solidFill>
                <a:latin typeface="SimSun"/>
                <a:cs typeface="SimSun"/>
              </a:rPr>
              <a:t>球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変⾰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哲学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想</a:t>
            </a:r>
            <a:r>
              <a:rPr sz="1150" spc="-180" dirty="0">
                <a:solidFill>
                  <a:srgbClr val="3896EF"/>
                </a:solidFill>
                <a:latin typeface="SimSun"/>
                <a:cs typeface="SimSun"/>
              </a:rPr>
              <a:t>い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175" dirty="0">
                <a:solidFill>
                  <a:srgbClr val="3896EF"/>
                </a:solidFill>
                <a:latin typeface="SimSun"/>
                <a:cs typeface="SimSun"/>
              </a:rPr>
              <a:t>ビジョン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896EF"/>
                </a:solidFill>
                <a:latin typeface="SimSun"/>
                <a:cs typeface="SimSun"/>
              </a:rPr>
              <a:t>ミッション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896EF"/>
                </a:solidFill>
                <a:latin typeface="メイリオ"/>
                <a:cs typeface="メイリオ"/>
              </a:rPr>
              <a:t>活動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⼀緒</a:t>
            </a:r>
            <a:r>
              <a:rPr sz="1150" spc="-50" dirty="0">
                <a:solidFill>
                  <a:srgbClr val="3896EF"/>
                </a:solidFill>
                <a:latin typeface="SimSun"/>
                <a:cs typeface="SimSun"/>
              </a:rPr>
              <a:t>に</a:t>
            </a:r>
            <a:endParaRPr sz="1150" dirty="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51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4"/>
            <a:ext cx="7061834" cy="9347835"/>
            <a:chOff x="352425" y="35244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8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4"/>
                  </a:moveTo>
                  <a:lnTo>
                    <a:pt x="0" y="9342554"/>
                  </a:lnTo>
                  <a:lnTo>
                    <a:pt x="0" y="102317"/>
                  </a:lnTo>
                  <a:lnTo>
                    <a:pt x="11090" y="60912"/>
                  </a:lnTo>
                  <a:lnTo>
                    <a:pt x="37168" y="26936"/>
                  </a:lnTo>
                  <a:lnTo>
                    <a:pt x="74264" y="554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48"/>
                  </a:lnTo>
                  <a:lnTo>
                    <a:pt x="7031026" y="37099"/>
                  </a:lnTo>
                  <a:lnTo>
                    <a:pt x="7052437" y="74228"/>
                  </a:lnTo>
                  <a:lnTo>
                    <a:pt x="7056536" y="91238"/>
                  </a:lnTo>
                  <a:lnTo>
                    <a:pt x="7056536" y="9342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4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56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700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25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1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971549" y="304799"/>
                </a:moveTo>
                <a:lnTo>
                  <a:pt x="152399" y="304799"/>
                </a:lnTo>
                <a:lnTo>
                  <a:pt x="144912" y="304617"/>
                </a:lnTo>
                <a:lnTo>
                  <a:pt x="101066" y="295891"/>
                </a:lnTo>
                <a:lnTo>
                  <a:pt x="61607" y="274825"/>
                </a:lnTo>
                <a:lnTo>
                  <a:pt x="29995" y="243158"/>
                </a:lnTo>
                <a:lnTo>
                  <a:pt x="8904" y="203687"/>
                </a:lnTo>
                <a:lnTo>
                  <a:pt x="183" y="159887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1058"/>
                </a:lnTo>
                <a:lnTo>
                  <a:pt x="29995" y="61565"/>
                </a:lnTo>
                <a:lnTo>
                  <a:pt x="61607" y="29937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971549" y="0"/>
                </a:lnTo>
                <a:lnTo>
                  <a:pt x="1015789" y="6542"/>
                </a:lnTo>
                <a:lnTo>
                  <a:pt x="1056218" y="25631"/>
                </a:lnTo>
                <a:lnTo>
                  <a:pt x="1089357" y="55684"/>
                </a:lnTo>
                <a:lnTo>
                  <a:pt x="1112348" y="94021"/>
                </a:lnTo>
                <a:lnTo>
                  <a:pt x="1123217" y="137445"/>
                </a:lnTo>
                <a:lnTo>
                  <a:pt x="1123949" y="152399"/>
                </a:lnTo>
                <a:lnTo>
                  <a:pt x="1123766" y="159887"/>
                </a:lnTo>
                <a:lnTo>
                  <a:pt x="1115045" y="203687"/>
                </a:lnTo>
                <a:lnTo>
                  <a:pt x="1093954" y="243158"/>
                </a:lnTo>
                <a:lnTo>
                  <a:pt x="1062342" y="274825"/>
                </a:lnTo>
                <a:lnTo>
                  <a:pt x="1022883" y="295891"/>
                </a:lnTo>
                <a:lnTo>
                  <a:pt x="979036" y="304617"/>
                </a:lnTo>
                <a:lnTo>
                  <a:pt x="97154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9207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シ</a:t>
            </a:r>
            <a:r>
              <a:rPr sz="110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ン</a:t>
            </a: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別活</a:t>
            </a:r>
            <a:r>
              <a:rPr sz="1100" spc="-95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-175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52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3156585" cy="83026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のル</a:t>
            </a: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700" dirty="0">
                <a:solidFill>
                  <a:srgbClr val="333333"/>
                </a:solidFill>
                <a:latin typeface="SimSun"/>
                <a:cs typeface="SimSun"/>
              </a:rPr>
              <a:t>ティ</a:t>
            </a:r>
            <a:r>
              <a:rPr sz="1250" spc="-60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ましのアラ</a:t>
            </a:r>
            <a:r>
              <a:rPr sz="125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ムで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不快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気分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起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きていませんか</a:t>
            </a:r>
            <a:r>
              <a:rPr sz="1250" spc="425" dirty="0">
                <a:solidFill>
                  <a:srgbClr val="333333"/>
                </a:solidFill>
                <a:latin typeface="BIZ UDPゴシック"/>
                <a:cs typeface="BIZ UDPゴシック"/>
              </a:rPr>
              <a:t>？」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わります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52959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おすすめの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①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起床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分前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endParaRPr sz="1250" dirty="0">
              <a:latin typeface="SimSun"/>
              <a:cs typeface="SimSun"/>
            </a:endParaRPr>
          </a:p>
          <a:p>
            <a:pPr marL="60325">
              <a:lnSpc>
                <a:spcPct val="100000"/>
              </a:lnSpc>
              <a:spcBef>
                <a:spcPts val="59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⼩⿃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のさえずりを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00" dirty="0">
              <a:latin typeface="SimSun"/>
              <a:cs typeface="SimSun"/>
            </a:endParaRPr>
          </a:p>
          <a:p>
            <a:pPr marL="60325" marR="1544955" indent="-48260">
              <a:lnSpc>
                <a:spcPct val="136700"/>
              </a:lnSpc>
              <a:spcBef>
                <a:spcPts val="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覚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めたら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そのまま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944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SimSun"/>
              <a:cs typeface="SimSun"/>
            </a:endParaRPr>
          </a:p>
          <a:p>
            <a:pPr marL="60325" marR="1977389" indent="-48260">
              <a:lnSpc>
                <a:spcPct val="140000"/>
              </a:lnSpc>
              <a:spcBef>
                <a:spcPts val="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③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深呼吸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しながら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伸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ばす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ポイント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106805">
              <a:lnSpc>
                <a:spcPct val="133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⼩⿃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70" dirty="0">
                <a:solidFill>
                  <a:srgbClr val="333333"/>
                </a:solidFill>
                <a:latin typeface="Comic Sans MS"/>
                <a:cs typeface="Comic Sans MS"/>
              </a:rPr>
              <a:t>3,000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00" spc="-85" dirty="0">
                <a:solidFill>
                  <a:srgbClr val="333333"/>
                </a:solidFill>
                <a:latin typeface="Comic Sans MS"/>
                <a:cs typeface="Comic Sans MS"/>
              </a:rPr>
              <a:t>4,000Hz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周波数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やかに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覚醒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させます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 marR="529590">
              <a:lnSpc>
                <a:spcPts val="4130"/>
              </a:lnSpc>
              <a:spcBef>
                <a:spcPts val="29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突然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きなアラ</a:t>
            </a:r>
            <a:r>
              <a:rPr sz="125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ム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6"/>
            <a:ext cx="7063105" cy="3820160"/>
            <a:chOff x="352425" y="352406"/>
            <a:chExt cx="7063105" cy="3820160"/>
          </a:xfrm>
        </p:grpSpPr>
        <p:sp>
          <p:nvSpPr>
            <p:cNvPr id="3" name="object 3"/>
            <p:cNvSpPr/>
            <p:nvPr/>
          </p:nvSpPr>
          <p:spPr>
            <a:xfrm>
              <a:off x="357187" y="352406"/>
              <a:ext cx="7058025" cy="3815079"/>
            </a:xfrm>
            <a:custGeom>
              <a:avLst/>
              <a:gdLst/>
              <a:ahLst/>
              <a:cxnLst/>
              <a:rect l="l" t="t" r="r" b="b"/>
              <a:pathLst>
                <a:path w="7058025" h="3815079">
                  <a:moveTo>
                    <a:pt x="6955678" y="3814724"/>
                  </a:moveTo>
                  <a:lnTo>
                    <a:pt x="102345" y="3814724"/>
                  </a:lnTo>
                  <a:lnTo>
                    <a:pt x="95221" y="3814019"/>
                  </a:lnTo>
                  <a:lnTo>
                    <a:pt x="54661" y="3800217"/>
                  </a:lnTo>
                  <a:lnTo>
                    <a:pt x="22456" y="3771937"/>
                  </a:lnTo>
                  <a:lnTo>
                    <a:pt x="3507" y="3733580"/>
                  </a:lnTo>
                  <a:lnTo>
                    <a:pt x="0" y="3712368"/>
                  </a:lnTo>
                  <a:lnTo>
                    <a:pt x="0" y="370522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712368"/>
                  </a:lnTo>
                  <a:lnTo>
                    <a:pt x="7046932" y="3753668"/>
                  </a:lnTo>
                  <a:lnTo>
                    <a:pt x="7020855" y="3787711"/>
                  </a:lnTo>
                  <a:lnTo>
                    <a:pt x="6983759" y="3809104"/>
                  </a:lnTo>
                  <a:lnTo>
                    <a:pt x="6962802" y="3814019"/>
                  </a:lnTo>
                  <a:lnTo>
                    <a:pt x="6955678" y="3814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3820160"/>
            </a:xfrm>
            <a:custGeom>
              <a:avLst/>
              <a:gdLst/>
              <a:ahLst/>
              <a:cxnLst/>
              <a:rect l="l" t="t" r="r" b="b"/>
              <a:pathLst>
                <a:path w="7061834" h="3820160">
                  <a:moveTo>
                    <a:pt x="7061289" y="0"/>
                  </a:moveTo>
                  <a:lnTo>
                    <a:pt x="7058012" y="0"/>
                  </a:lnTo>
                  <a:lnTo>
                    <a:pt x="7058012" y="3705237"/>
                  </a:lnTo>
                  <a:lnTo>
                    <a:pt x="7057517" y="3715562"/>
                  </a:lnTo>
                  <a:lnTo>
                    <a:pt x="7045630" y="3754678"/>
                  </a:lnTo>
                  <a:lnTo>
                    <a:pt x="7026834" y="3779786"/>
                  </a:lnTo>
                  <a:lnTo>
                    <a:pt x="6993344" y="3802062"/>
                  </a:lnTo>
                  <a:lnTo>
                    <a:pt x="6953237" y="3810038"/>
                  </a:lnTo>
                  <a:lnTo>
                    <a:pt x="114300" y="3810038"/>
                  </a:lnTo>
                  <a:lnTo>
                    <a:pt x="74193" y="3802062"/>
                  </a:lnTo>
                  <a:lnTo>
                    <a:pt x="40690" y="3779799"/>
                  </a:lnTo>
                  <a:lnTo>
                    <a:pt x="33261" y="3771684"/>
                  </a:lnTo>
                  <a:lnTo>
                    <a:pt x="14008" y="3735616"/>
                  </a:lnTo>
                  <a:lnTo>
                    <a:pt x="9525" y="370523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705237"/>
                  </a:lnTo>
                  <a:lnTo>
                    <a:pt x="533" y="3716502"/>
                  </a:lnTo>
                  <a:lnTo>
                    <a:pt x="13500" y="3759174"/>
                  </a:lnTo>
                  <a:lnTo>
                    <a:pt x="33528" y="3786035"/>
                  </a:lnTo>
                  <a:lnTo>
                    <a:pt x="70548" y="3810863"/>
                  </a:lnTo>
                  <a:lnTo>
                    <a:pt x="114300" y="3819563"/>
                  </a:lnTo>
                  <a:lnTo>
                    <a:pt x="6953237" y="3819563"/>
                  </a:lnTo>
                  <a:lnTo>
                    <a:pt x="6996989" y="3810863"/>
                  </a:lnTo>
                  <a:lnTo>
                    <a:pt x="6998729" y="3810038"/>
                  </a:lnTo>
                  <a:lnTo>
                    <a:pt x="7007174" y="3806050"/>
                  </a:lnTo>
                  <a:lnTo>
                    <a:pt x="7016763" y="3800322"/>
                  </a:lnTo>
                  <a:lnTo>
                    <a:pt x="7025716" y="3793667"/>
                  </a:lnTo>
                  <a:lnTo>
                    <a:pt x="7034060" y="3786086"/>
                  </a:lnTo>
                  <a:lnTo>
                    <a:pt x="7041642" y="3777716"/>
                  </a:lnTo>
                  <a:lnTo>
                    <a:pt x="7048297" y="3768763"/>
                  </a:lnTo>
                  <a:lnTo>
                    <a:pt x="7054024" y="3759174"/>
                  </a:lnTo>
                  <a:lnTo>
                    <a:pt x="7058838" y="3748989"/>
                  </a:lnTo>
                  <a:lnTo>
                    <a:pt x="7061289" y="3742156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357098"/>
            <a:ext cx="6374765" cy="34766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緊急事態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のサイン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めは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のサイン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5340350">
              <a:lnSpc>
                <a:spcPct val="1317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スタ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トの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90" dirty="0">
                <a:solidFill>
                  <a:srgbClr val="333333"/>
                </a:solidFill>
                <a:latin typeface="SimSun"/>
                <a:cs typeface="SimSun"/>
              </a:rPr>
              <a:t>が </a:t>
            </a:r>
            <a:r>
              <a:rPr sz="1300" spc="15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2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4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朝⽤⾃然⾳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プレイリスト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ルリンクからチェック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朝活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モ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ニングル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ティン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⽬覚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め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⼩⿃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のさえずり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習慣 </a:t>
            </a:r>
            <a:r>
              <a:rPr sz="1150" spc="-85" dirty="0">
                <a:solidFill>
                  <a:srgbClr val="3797F0"/>
                </a:solidFill>
                <a:latin typeface="Comic Sans MS"/>
                <a:cs typeface="Comic Sans MS"/>
              </a:rPr>
              <a:t>#1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⽇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始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まり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起</a:t>
            </a:r>
            <a:r>
              <a:rPr sz="1100" spc="-45" dirty="0">
                <a:solidFill>
                  <a:srgbClr val="3797F0"/>
                </a:solidFill>
                <a:latin typeface="メイリオ"/>
                <a:cs typeface="メイリオ"/>
              </a:rPr>
              <a:t>床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35" dirty="0">
                <a:solidFill>
                  <a:srgbClr val="3797F0"/>
                </a:solidFill>
                <a:latin typeface="SimSun"/>
                <a:cs typeface="SimSun"/>
              </a:rPr>
              <a:t>スッキリ</a:t>
            </a: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⽬覚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める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朝時</a:t>
            </a:r>
            <a:r>
              <a:rPr sz="1100" spc="-140" dirty="0">
                <a:solidFill>
                  <a:srgbClr val="3797F0"/>
                </a:solidFill>
                <a:latin typeface="SimSun"/>
                <a:cs typeface="SimSun"/>
              </a:rPr>
              <a:t>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ル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ティン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⽣活習慣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健康習慣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毎朝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53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467" y="-457200"/>
            <a:ext cx="7061834" cy="9347835"/>
            <a:chOff x="352425" y="352446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89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5"/>
                  </a:moveTo>
                  <a:lnTo>
                    <a:pt x="0" y="9342555"/>
                  </a:lnTo>
                  <a:lnTo>
                    <a:pt x="0" y="102355"/>
                  </a:lnTo>
                  <a:lnTo>
                    <a:pt x="11105" y="60912"/>
                  </a:lnTo>
                  <a:lnTo>
                    <a:pt x="37168" y="26974"/>
                  </a:lnTo>
                  <a:lnTo>
                    <a:pt x="74264" y="554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62802" y="704"/>
                  </a:lnTo>
                  <a:lnTo>
                    <a:pt x="6976910" y="3457"/>
                  </a:lnTo>
                  <a:lnTo>
                    <a:pt x="6983759" y="5543"/>
                  </a:lnTo>
                  <a:lnTo>
                    <a:pt x="6990404" y="8334"/>
                  </a:lnTo>
                  <a:lnTo>
                    <a:pt x="6997048" y="11048"/>
                  </a:lnTo>
                  <a:lnTo>
                    <a:pt x="7031026" y="37128"/>
                  </a:lnTo>
                  <a:lnTo>
                    <a:pt x="7052437" y="74228"/>
                  </a:lnTo>
                  <a:lnTo>
                    <a:pt x="7056536" y="91255"/>
                  </a:lnTo>
                  <a:lnTo>
                    <a:pt x="7056536" y="93425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49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87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87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56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701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1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26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81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971549" y="304799"/>
                </a:moveTo>
                <a:lnTo>
                  <a:pt x="152399" y="304799"/>
                </a:lnTo>
                <a:lnTo>
                  <a:pt x="144912" y="304596"/>
                </a:lnTo>
                <a:lnTo>
                  <a:pt x="101066" y="295847"/>
                </a:lnTo>
                <a:lnTo>
                  <a:pt x="61607" y="274750"/>
                </a:lnTo>
                <a:lnTo>
                  <a:pt x="29995" y="243105"/>
                </a:lnTo>
                <a:lnTo>
                  <a:pt x="8904" y="203654"/>
                </a:lnTo>
                <a:lnTo>
                  <a:pt x="183" y="159864"/>
                </a:lnTo>
                <a:lnTo>
                  <a:pt x="0" y="152399"/>
                </a:lnTo>
                <a:lnTo>
                  <a:pt x="183" y="144912"/>
                </a:lnTo>
                <a:lnTo>
                  <a:pt x="8904" y="101059"/>
                </a:lnTo>
                <a:lnTo>
                  <a:pt x="29995" y="61581"/>
                </a:lnTo>
                <a:lnTo>
                  <a:pt x="61607" y="29969"/>
                </a:lnTo>
                <a:lnTo>
                  <a:pt x="101066" y="8898"/>
                </a:lnTo>
                <a:lnTo>
                  <a:pt x="144912" y="182"/>
                </a:lnTo>
                <a:lnTo>
                  <a:pt x="152399" y="0"/>
                </a:lnTo>
                <a:lnTo>
                  <a:pt x="971549" y="0"/>
                </a:lnTo>
                <a:lnTo>
                  <a:pt x="1015789" y="6572"/>
                </a:lnTo>
                <a:lnTo>
                  <a:pt x="1056218" y="25669"/>
                </a:lnTo>
                <a:lnTo>
                  <a:pt x="1089357" y="55689"/>
                </a:lnTo>
                <a:lnTo>
                  <a:pt x="1112348" y="94021"/>
                </a:lnTo>
                <a:lnTo>
                  <a:pt x="1123217" y="137464"/>
                </a:lnTo>
                <a:lnTo>
                  <a:pt x="1123949" y="152399"/>
                </a:lnTo>
                <a:lnTo>
                  <a:pt x="1123766" y="159864"/>
                </a:lnTo>
                <a:lnTo>
                  <a:pt x="1115045" y="203654"/>
                </a:lnTo>
                <a:lnTo>
                  <a:pt x="1093954" y="243105"/>
                </a:lnTo>
                <a:lnTo>
                  <a:pt x="1062342" y="274750"/>
                </a:lnTo>
                <a:lnTo>
                  <a:pt x="1022883" y="295847"/>
                </a:lnTo>
                <a:lnTo>
                  <a:pt x="979036" y="304596"/>
                </a:lnTo>
                <a:lnTo>
                  <a:pt x="97154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62"/>
            <a:ext cx="9207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シ</a:t>
            </a:r>
            <a:r>
              <a:rPr sz="110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ン</a:t>
            </a: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別活</a:t>
            </a:r>
            <a:r>
              <a:rPr sz="1100" spc="-95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-175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54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5188"/>
            <a:ext cx="3298190" cy="83026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仕事中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20%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r>
              <a:rPr sz="1250" spc="-1250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オフィスがうるさくて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集中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できない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在宅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クでダラダラしてしまう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そんな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ありませんか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67119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にすると</a:t>
            </a:r>
            <a:endParaRPr sz="1250" dirty="0">
              <a:latin typeface="SimSun"/>
              <a:cs typeface="SimSun"/>
            </a:endParaRPr>
          </a:p>
          <a:p>
            <a:pPr marL="12700" marR="1367155">
              <a:lnSpc>
                <a:spcPts val="2100"/>
              </a:lnSpc>
              <a:spcBef>
                <a:spcPts val="8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会議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時間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20%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短縮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された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まり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がった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証拠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おすすめの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13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集中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したい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のせせらぎ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2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創造的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作業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2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リフレッシュ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ポイント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量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大きすぎない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SimSun"/>
              </a:rPr>
              <a:t>室内の環境音より少し小さめ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5"/>
            <a:ext cx="7063105" cy="4344035"/>
            <a:chOff x="352425" y="352405"/>
            <a:chExt cx="7063105" cy="4344035"/>
          </a:xfrm>
        </p:grpSpPr>
        <p:sp>
          <p:nvSpPr>
            <p:cNvPr id="3" name="object 3"/>
            <p:cNvSpPr/>
            <p:nvPr/>
          </p:nvSpPr>
          <p:spPr>
            <a:xfrm>
              <a:off x="357187" y="352405"/>
              <a:ext cx="7058025" cy="4338955"/>
            </a:xfrm>
            <a:custGeom>
              <a:avLst/>
              <a:gdLst/>
              <a:ahLst/>
              <a:cxnLst/>
              <a:rect l="l" t="t" r="r" b="b"/>
              <a:pathLst>
                <a:path w="7058025" h="4338955">
                  <a:moveTo>
                    <a:pt x="6955678" y="4338637"/>
                  </a:moveTo>
                  <a:lnTo>
                    <a:pt x="102345" y="4338637"/>
                  </a:lnTo>
                  <a:lnTo>
                    <a:pt x="95221" y="4337932"/>
                  </a:lnTo>
                  <a:lnTo>
                    <a:pt x="54661" y="4324092"/>
                  </a:lnTo>
                  <a:lnTo>
                    <a:pt x="22456" y="4295888"/>
                  </a:lnTo>
                  <a:lnTo>
                    <a:pt x="3507" y="4257484"/>
                  </a:lnTo>
                  <a:lnTo>
                    <a:pt x="0" y="4236281"/>
                  </a:lnTo>
                  <a:lnTo>
                    <a:pt x="0" y="42290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236281"/>
                  </a:lnTo>
                  <a:lnTo>
                    <a:pt x="7046932" y="4277620"/>
                  </a:lnTo>
                  <a:lnTo>
                    <a:pt x="7020855" y="4311586"/>
                  </a:lnTo>
                  <a:lnTo>
                    <a:pt x="6983759" y="4332979"/>
                  </a:lnTo>
                  <a:lnTo>
                    <a:pt x="6962802" y="4337932"/>
                  </a:lnTo>
                  <a:lnTo>
                    <a:pt x="6955678" y="43386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4344035"/>
            </a:xfrm>
            <a:custGeom>
              <a:avLst/>
              <a:gdLst/>
              <a:ahLst/>
              <a:cxnLst/>
              <a:rect l="l" t="t" r="r" b="b"/>
              <a:pathLst>
                <a:path w="7061834" h="4344035">
                  <a:moveTo>
                    <a:pt x="7061289" y="0"/>
                  </a:moveTo>
                  <a:lnTo>
                    <a:pt x="7058012" y="0"/>
                  </a:lnTo>
                  <a:lnTo>
                    <a:pt x="7058012" y="4229125"/>
                  </a:lnTo>
                  <a:lnTo>
                    <a:pt x="7057517" y="4239438"/>
                  </a:lnTo>
                  <a:lnTo>
                    <a:pt x="7045630" y="4278566"/>
                  </a:lnTo>
                  <a:lnTo>
                    <a:pt x="7026834" y="4303661"/>
                  </a:lnTo>
                  <a:lnTo>
                    <a:pt x="6993344" y="4325937"/>
                  </a:lnTo>
                  <a:lnTo>
                    <a:pt x="6953237" y="4333913"/>
                  </a:lnTo>
                  <a:lnTo>
                    <a:pt x="114300" y="4333913"/>
                  </a:lnTo>
                  <a:lnTo>
                    <a:pt x="74193" y="4325937"/>
                  </a:lnTo>
                  <a:lnTo>
                    <a:pt x="40690" y="4303674"/>
                  </a:lnTo>
                  <a:lnTo>
                    <a:pt x="33261" y="4295559"/>
                  </a:lnTo>
                  <a:lnTo>
                    <a:pt x="14008" y="4259491"/>
                  </a:lnTo>
                  <a:lnTo>
                    <a:pt x="9525" y="422912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229125"/>
                  </a:lnTo>
                  <a:lnTo>
                    <a:pt x="533" y="4240377"/>
                  </a:lnTo>
                  <a:lnTo>
                    <a:pt x="13500" y="4283049"/>
                  </a:lnTo>
                  <a:lnTo>
                    <a:pt x="33528" y="4309910"/>
                  </a:lnTo>
                  <a:lnTo>
                    <a:pt x="70548" y="4334738"/>
                  </a:lnTo>
                  <a:lnTo>
                    <a:pt x="114300" y="4343438"/>
                  </a:lnTo>
                  <a:lnTo>
                    <a:pt x="6953237" y="4343438"/>
                  </a:lnTo>
                  <a:lnTo>
                    <a:pt x="6996989" y="4334738"/>
                  </a:lnTo>
                  <a:lnTo>
                    <a:pt x="6998729" y="4333913"/>
                  </a:lnTo>
                  <a:lnTo>
                    <a:pt x="7007174" y="4329925"/>
                  </a:lnTo>
                  <a:lnTo>
                    <a:pt x="7016763" y="4324197"/>
                  </a:lnTo>
                  <a:lnTo>
                    <a:pt x="7025716" y="4317543"/>
                  </a:lnTo>
                  <a:lnTo>
                    <a:pt x="7034060" y="4309961"/>
                  </a:lnTo>
                  <a:lnTo>
                    <a:pt x="7041642" y="4301591"/>
                  </a:lnTo>
                  <a:lnTo>
                    <a:pt x="7048297" y="4292638"/>
                  </a:lnTo>
                  <a:lnTo>
                    <a:pt x="7054024" y="4283049"/>
                  </a:lnTo>
                  <a:lnTo>
                    <a:pt x="7058838" y="4272864"/>
                  </a:lnTo>
                  <a:lnTo>
                    <a:pt x="7061289" y="4266031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357098"/>
            <a:ext cx="6485890" cy="4000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くらいがベスト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⼈⼯的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なノイズを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然⾳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マスキング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それだけで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負担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減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パフォ</a:t>
            </a:r>
            <a:r>
              <a:rPr sz="1250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マンスが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仕事⽤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プレイリストはプロフィ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 dirty="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仕事効率化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集中⼒ </a:t>
            </a:r>
            <a:r>
              <a:rPr sz="1150" spc="-95" dirty="0">
                <a:solidFill>
                  <a:srgbClr val="3797F0"/>
                </a:solidFill>
                <a:latin typeface="Comic Sans MS"/>
                <a:cs typeface="Comic Sans MS"/>
              </a:rPr>
              <a:t>#BGM</a:t>
            </a:r>
            <a:r>
              <a:rPr sz="1150" spc="-140" dirty="0">
                <a:solidFill>
                  <a:srgbClr val="3797F0"/>
                </a:solidFill>
                <a:latin typeface="Comic Sans MS"/>
                <a:cs typeface="Comic Sans MS"/>
              </a:rPr>
              <a:t> 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在宅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ワ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ク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リモ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トワ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ク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オフィス</a:t>
            </a:r>
            <a:r>
              <a:rPr sz="1100" spc="-125" dirty="0">
                <a:solidFill>
                  <a:srgbClr val="3797F0"/>
                </a:solidFill>
                <a:latin typeface="SimSun"/>
                <a:cs typeface="SimSun"/>
              </a:rPr>
              <a:t>環境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川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のせせらぎ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森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⾳ </a:t>
            </a:r>
            <a:r>
              <a:rPr sz="1150" spc="-459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⽣産性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ワ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クスタイル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仕事術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集中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作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業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⽤</a:t>
            </a:r>
            <a:r>
              <a:rPr sz="1150" spc="-25" dirty="0">
                <a:solidFill>
                  <a:srgbClr val="3797F0"/>
                </a:solidFill>
                <a:latin typeface="Comic Sans MS"/>
                <a:cs typeface="Comic Sans MS"/>
              </a:rPr>
              <a:t>BGM</a:t>
            </a:r>
            <a:endParaRPr sz="1150" dirty="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55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2"/>
            <a:ext cx="7061834" cy="9347835"/>
            <a:chOff x="352425" y="352432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60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71"/>
                  </a:moveTo>
                  <a:lnTo>
                    <a:pt x="0" y="9342571"/>
                  </a:lnTo>
                  <a:lnTo>
                    <a:pt x="0" y="102317"/>
                  </a:lnTo>
                  <a:lnTo>
                    <a:pt x="11090" y="60874"/>
                  </a:lnTo>
                  <a:lnTo>
                    <a:pt x="37168" y="26936"/>
                  </a:lnTo>
                  <a:lnTo>
                    <a:pt x="74264" y="554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10"/>
                  </a:lnTo>
                  <a:lnTo>
                    <a:pt x="7031026" y="37128"/>
                  </a:lnTo>
                  <a:lnTo>
                    <a:pt x="7052437" y="74190"/>
                  </a:lnTo>
                  <a:lnTo>
                    <a:pt x="7056536" y="91217"/>
                  </a:lnTo>
                  <a:lnTo>
                    <a:pt x="7056536" y="93425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4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7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00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27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65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971549" y="304799"/>
                </a:moveTo>
                <a:lnTo>
                  <a:pt x="152399" y="304799"/>
                </a:lnTo>
                <a:lnTo>
                  <a:pt x="144912" y="304596"/>
                </a:lnTo>
                <a:lnTo>
                  <a:pt x="101066" y="295852"/>
                </a:lnTo>
                <a:lnTo>
                  <a:pt x="61607" y="274728"/>
                </a:lnTo>
                <a:lnTo>
                  <a:pt x="29995" y="243121"/>
                </a:lnTo>
                <a:lnTo>
                  <a:pt x="8904" y="203638"/>
                </a:lnTo>
                <a:lnTo>
                  <a:pt x="183" y="159865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1037"/>
                </a:lnTo>
                <a:lnTo>
                  <a:pt x="29995" y="61603"/>
                </a:lnTo>
                <a:lnTo>
                  <a:pt x="61607" y="29937"/>
                </a:lnTo>
                <a:lnTo>
                  <a:pt x="101066" y="8880"/>
                </a:lnTo>
                <a:lnTo>
                  <a:pt x="144912" y="202"/>
                </a:lnTo>
                <a:lnTo>
                  <a:pt x="152399" y="0"/>
                </a:lnTo>
                <a:lnTo>
                  <a:pt x="971549" y="0"/>
                </a:lnTo>
                <a:lnTo>
                  <a:pt x="1015789" y="6547"/>
                </a:lnTo>
                <a:lnTo>
                  <a:pt x="1056218" y="25631"/>
                </a:lnTo>
                <a:lnTo>
                  <a:pt x="1089357" y="55717"/>
                </a:lnTo>
                <a:lnTo>
                  <a:pt x="1112348" y="94021"/>
                </a:lnTo>
                <a:lnTo>
                  <a:pt x="1123217" y="137445"/>
                </a:lnTo>
                <a:lnTo>
                  <a:pt x="1123949" y="152399"/>
                </a:lnTo>
                <a:lnTo>
                  <a:pt x="1123766" y="159864"/>
                </a:lnTo>
                <a:lnTo>
                  <a:pt x="1115045" y="203632"/>
                </a:lnTo>
                <a:lnTo>
                  <a:pt x="1093954" y="243121"/>
                </a:lnTo>
                <a:lnTo>
                  <a:pt x="1062342" y="274728"/>
                </a:lnTo>
                <a:lnTo>
                  <a:pt x="1022883" y="295852"/>
                </a:lnTo>
                <a:lnTo>
                  <a:pt x="979036" y="304596"/>
                </a:lnTo>
                <a:lnTo>
                  <a:pt x="97154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47"/>
            <a:ext cx="9207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シ</a:t>
            </a:r>
            <a:r>
              <a:rPr sz="110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ン</a:t>
            </a: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別活</a:t>
            </a:r>
            <a:r>
              <a:rPr sz="1100" spc="-95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-175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56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33"/>
            <a:ext cx="2921000" cy="7696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りを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誘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う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20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れない</a:t>
            </a:r>
            <a:r>
              <a:rPr sz="1250" spc="74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りが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朝起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きても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疲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れが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れない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みを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抱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55" dirty="0">
                <a:solidFill>
                  <a:srgbClr val="333333"/>
                </a:solidFill>
                <a:latin typeface="SimSun"/>
                <a:cs typeface="SimSun"/>
              </a:rPr>
              <a:t>いですよね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実証済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3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ノンレム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割合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1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14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めが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おすすめの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①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就寝</a:t>
            </a:r>
            <a:r>
              <a:rPr sz="1300" spc="-6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会話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より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⼩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さめ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③</a:t>
            </a:r>
            <a:r>
              <a:rPr lang="ja-JP" altLang="en-US" sz="1250" spc="-135" dirty="0">
                <a:solidFill>
                  <a:srgbClr val="333333"/>
                </a:solidFill>
                <a:latin typeface="SimSun"/>
                <a:cs typeface="SimSun"/>
              </a:rPr>
              <a:t>そのまま流し続けるのもお勧めです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におすすめの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9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9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⾬⾳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9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endParaRPr sz="1250" dirty="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78"/>
            <a:ext cx="7063105" cy="4344035"/>
            <a:chOff x="352425" y="352378"/>
            <a:chExt cx="7063105" cy="4344035"/>
          </a:xfrm>
        </p:grpSpPr>
        <p:sp>
          <p:nvSpPr>
            <p:cNvPr id="3" name="object 3"/>
            <p:cNvSpPr/>
            <p:nvPr/>
          </p:nvSpPr>
          <p:spPr>
            <a:xfrm>
              <a:off x="357187" y="352389"/>
              <a:ext cx="7058025" cy="4338955"/>
            </a:xfrm>
            <a:custGeom>
              <a:avLst/>
              <a:gdLst/>
              <a:ahLst/>
              <a:cxnLst/>
              <a:rect l="l" t="t" r="r" b="b"/>
              <a:pathLst>
                <a:path w="7058025" h="4338955">
                  <a:moveTo>
                    <a:pt x="6955678" y="4338599"/>
                  </a:moveTo>
                  <a:lnTo>
                    <a:pt x="102345" y="4338599"/>
                  </a:lnTo>
                  <a:lnTo>
                    <a:pt x="95221" y="4337894"/>
                  </a:lnTo>
                  <a:lnTo>
                    <a:pt x="54661" y="4324092"/>
                  </a:lnTo>
                  <a:lnTo>
                    <a:pt x="22456" y="4295812"/>
                  </a:lnTo>
                  <a:lnTo>
                    <a:pt x="3507" y="4257417"/>
                  </a:lnTo>
                  <a:lnTo>
                    <a:pt x="0" y="4236243"/>
                  </a:lnTo>
                  <a:lnTo>
                    <a:pt x="0" y="422909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4236243"/>
                  </a:lnTo>
                  <a:lnTo>
                    <a:pt x="7046932" y="4277543"/>
                  </a:lnTo>
                  <a:lnTo>
                    <a:pt x="7020855" y="4311586"/>
                  </a:lnTo>
                  <a:lnTo>
                    <a:pt x="6983759" y="4332979"/>
                  </a:lnTo>
                  <a:lnTo>
                    <a:pt x="6962802" y="4337894"/>
                  </a:lnTo>
                  <a:lnTo>
                    <a:pt x="6955678" y="4338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86"/>
              <a:ext cx="7061834" cy="4344035"/>
            </a:xfrm>
            <a:custGeom>
              <a:avLst/>
              <a:gdLst/>
              <a:ahLst/>
              <a:cxnLst/>
              <a:rect l="l" t="t" r="r" b="b"/>
              <a:pathLst>
                <a:path w="7061834" h="4344035">
                  <a:moveTo>
                    <a:pt x="7061289" y="0"/>
                  </a:moveTo>
                  <a:lnTo>
                    <a:pt x="7058012" y="0"/>
                  </a:lnTo>
                  <a:lnTo>
                    <a:pt x="7058012" y="4229125"/>
                  </a:lnTo>
                  <a:lnTo>
                    <a:pt x="7057517" y="4239450"/>
                  </a:lnTo>
                  <a:lnTo>
                    <a:pt x="7045630" y="4278566"/>
                  </a:lnTo>
                  <a:lnTo>
                    <a:pt x="7026834" y="4303674"/>
                  </a:lnTo>
                  <a:lnTo>
                    <a:pt x="6993344" y="4325950"/>
                  </a:lnTo>
                  <a:lnTo>
                    <a:pt x="6953237" y="4333926"/>
                  </a:lnTo>
                  <a:lnTo>
                    <a:pt x="114300" y="4333926"/>
                  </a:lnTo>
                  <a:lnTo>
                    <a:pt x="74193" y="4325950"/>
                  </a:lnTo>
                  <a:lnTo>
                    <a:pt x="40690" y="4303687"/>
                  </a:lnTo>
                  <a:lnTo>
                    <a:pt x="33261" y="4295572"/>
                  </a:lnTo>
                  <a:lnTo>
                    <a:pt x="14008" y="4259504"/>
                  </a:lnTo>
                  <a:lnTo>
                    <a:pt x="9525" y="422912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229125"/>
                  </a:lnTo>
                  <a:lnTo>
                    <a:pt x="533" y="4240390"/>
                  </a:lnTo>
                  <a:lnTo>
                    <a:pt x="13500" y="4283062"/>
                  </a:lnTo>
                  <a:lnTo>
                    <a:pt x="33528" y="4309923"/>
                  </a:lnTo>
                  <a:lnTo>
                    <a:pt x="70548" y="4334751"/>
                  </a:lnTo>
                  <a:lnTo>
                    <a:pt x="114300" y="4343451"/>
                  </a:lnTo>
                  <a:lnTo>
                    <a:pt x="6953237" y="4343451"/>
                  </a:lnTo>
                  <a:lnTo>
                    <a:pt x="6996989" y="4334751"/>
                  </a:lnTo>
                  <a:lnTo>
                    <a:pt x="6998729" y="4333926"/>
                  </a:lnTo>
                  <a:lnTo>
                    <a:pt x="7007174" y="4329938"/>
                  </a:lnTo>
                  <a:lnTo>
                    <a:pt x="7016763" y="4324210"/>
                  </a:lnTo>
                  <a:lnTo>
                    <a:pt x="7025716" y="4317555"/>
                  </a:lnTo>
                  <a:lnTo>
                    <a:pt x="7034060" y="4309973"/>
                  </a:lnTo>
                  <a:lnTo>
                    <a:pt x="7041642" y="4301604"/>
                  </a:lnTo>
                  <a:lnTo>
                    <a:pt x="7048297" y="4292638"/>
                  </a:lnTo>
                  <a:lnTo>
                    <a:pt x="7054024" y="4283062"/>
                  </a:lnTo>
                  <a:lnTo>
                    <a:pt x="7058838" y="4272877"/>
                  </a:lnTo>
                  <a:lnTo>
                    <a:pt x="7061289" y="426604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296229"/>
            <a:ext cx="6433820" cy="40614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低周波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優位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 marR="3806825">
              <a:lnSpc>
                <a:spcPct val="27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スマホのブル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ライトより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ぶ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習慣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えます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睡眠⽤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プレイリストはプロフィ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10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睡眠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眠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れない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睡眠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質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快眠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深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い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眠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り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ノンレム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睡眠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波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⾬⾳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470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寝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る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前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習慣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睡眠改善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不眠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おやすみ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良質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な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睡眠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57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4"/>
            <a:ext cx="7061834" cy="9347835"/>
            <a:chOff x="352425" y="35243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62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71"/>
                  </a:moveTo>
                  <a:lnTo>
                    <a:pt x="0" y="9342571"/>
                  </a:lnTo>
                  <a:lnTo>
                    <a:pt x="0" y="102355"/>
                  </a:lnTo>
                  <a:lnTo>
                    <a:pt x="11105" y="60912"/>
                  </a:lnTo>
                  <a:lnTo>
                    <a:pt x="37168" y="26974"/>
                  </a:lnTo>
                  <a:lnTo>
                    <a:pt x="74264" y="5543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97048" y="11010"/>
                  </a:lnTo>
                  <a:lnTo>
                    <a:pt x="7031026" y="37128"/>
                  </a:lnTo>
                  <a:lnTo>
                    <a:pt x="7052437" y="74228"/>
                  </a:lnTo>
                  <a:lnTo>
                    <a:pt x="7056536" y="91255"/>
                  </a:lnTo>
                  <a:lnTo>
                    <a:pt x="7056536" y="93425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808"/>
                  </a:lnTo>
                  <a:lnTo>
                    <a:pt x="7034022" y="33515"/>
                  </a:lnTo>
                  <a:lnTo>
                    <a:pt x="7033666" y="33134"/>
                  </a:lnTo>
                  <a:lnTo>
                    <a:pt x="7033565" y="33007"/>
                  </a:lnTo>
                  <a:lnTo>
                    <a:pt x="7025716" y="25908"/>
                  </a:lnTo>
                  <a:lnTo>
                    <a:pt x="7016763" y="19253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902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20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87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87"/>
                  </a:lnTo>
                  <a:lnTo>
                    <a:pt x="10020" y="103962"/>
                  </a:lnTo>
                  <a:lnTo>
                    <a:pt x="21907" y="64846"/>
                  </a:lnTo>
                  <a:lnTo>
                    <a:pt x="47853" y="33274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7011" y="39941"/>
                  </a:lnTo>
                  <a:lnTo>
                    <a:pt x="7050037" y="74180"/>
                  </a:lnTo>
                  <a:lnTo>
                    <a:pt x="7058012" y="114287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39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8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00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28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64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971549" y="304799"/>
                </a:moveTo>
                <a:lnTo>
                  <a:pt x="152399" y="304799"/>
                </a:lnTo>
                <a:lnTo>
                  <a:pt x="144912" y="304617"/>
                </a:lnTo>
                <a:lnTo>
                  <a:pt x="101066" y="295853"/>
                </a:lnTo>
                <a:lnTo>
                  <a:pt x="61607" y="274750"/>
                </a:lnTo>
                <a:lnTo>
                  <a:pt x="29995" y="243105"/>
                </a:lnTo>
                <a:lnTo>
                  <a:pt x="8904" y="203654"/>
                </a:lnTo>
                <a:lnTo>
                  <a:pt x="183" y="159865"/>
                </a:lnTo>
                <a:lnTo>
                  <a:pt x="0" y="152399"/>
                </a:lnTo>
                <a:lnTo>
                  <a:pt x="183" y="144907"/>
                </a:lnTo>
                <a:lnTo>
                  <a:pt x="8904" y="101021"/>
                </a:lnTo>
                <a:lnTo>
                  <a:pt x="29995" y="61544"/>
                </a:lnTo>
                <a:lnTo>
                  <a:pt x="61607" y="29973"/>
                </a:lnTo>
                <a:lnTo>
                  <a:pt x="101066" y="8875"/>
                </a:lnTo>
                <a:lnTo>
                  <a:pt x="144912" y="182"/>
                </a:lnTo>
                <a:lnTo>
                  <a:pt x="152399" y="0"/>
                </a:lnTo>
                <a:lnTo>
                  <a:pt x="971549" y="0"/>
                </a:lnTo>
                <a:lnTo>
                  <a:pt x="1015789" y="6532"/>
                </a:lnTo>
                <a:lnTo>
                  <a:pt x="1056218" y="25669"/>
                </a:lnTo>
                <a:lnTo>
                  <a:pt x="1089357" y="55655"/>
                </a:lnTo>
                <a:lnTo>
                  <a:pt x="1112348" y="94021"/>
                </a:lnTo>
                <a:lnTo>
                  <a:pt x="1123217" y="137445"/>
                </a:lnTo>
                <a:lnTo>
                  <a:pt x="1123949" y="152399"/>
                </a:lnTo>
                <a:lnTo>
                  <a:pt x="1123766" y="159864"/>
                </a:lnTo>
                <a:lnTo>
                  <a:pt x="1115045" y="203654"/>
                </a:lnTo>
                <a:lnTo>
                  <a:pt x="1093954" y="243121"/>
                </a:lnTo>
                <a:lnTo>
                  <a:pt x="1062342" y="274750"/>
                </a:lnTo>
                <a:lnTo>
                  <a:pt x="1022883" y="295853"/>
                </a:lnTo>
                <a:lnTo>
                  <a:pt x="979036" y="304617"/>
                </a:lnTo>
                <a:lnTo>
                  <a:pt x="97154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47"/>
            <a:ext cx="9207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シ</a:t>
            </a:r>
            <a:r>
              <a:rPr sz="110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ン</a:t>
            </a: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別活</a:t>
            </a:r>
            <a:r>
              <a:rPr sz="1100" spc="-95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-175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58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33"/>
            <a:ext cx="3500120" cy="85797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育児中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のママへ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ちゃんも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理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由</a:t>
            </a:r>
            <a:endParaRPr sz="12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ちゃんが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まない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夜泣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きがひどい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育児中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のママ</a:t>
            </a:r>
            <a:r>
              <a:rPr sz="125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⼤変</a:t>
            </a:r>
            <a:r>
              <a:rPr sz="1250" spc="-150" dirty="0">
                <a:solidFill>
                  <a:srgbClr val="333333"/>
                </a:solidFill>
                <a:latin typeface="SimSun"/>
                <a:cs typeface="SimSun"/>
              </a:rPr>
              <a:t>ですよね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87376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なぜ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の波の音がいいか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2032000" algn="just">
              <a:lnSpc>
                <a:spcPct val="1375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ちゃんはお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腹</a:t>
            </a:r>
            <a:r>
              <a:rPr lang="ja-JP" altLang="en-US"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lang="ja-JP" altLang="en-US" sz="1250" spc="-13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⺟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 err="1">
                <a:solidFill>
                  <a:srgbClr val="333333"/>
                </a:solidFill>
                <a:latin typeface="メイリオ"/>
                <a:cs typeface="メイリオ"/>
              </a:rPr>
              <a:t>毎⽇聴</a:t>
            </a:r>
            <a:r>
              <a:rPr sz="1250" spc="-135" dirty="0" err="1">
                <a:solidFill>
                  <a:srgbClr val="333333"/>
                </a:solidFill>
                <a:latin typeface="SimSun"/>
                <a:cs typeface="SimSun"/>
              </a:rPr>
              <a:t>いていました</a:t>
            </a:r>
            <a:r>
              <a:rPr sz="1250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1915795">
              <a:lnSpc>
                <a:spcPct val="140000"/>
              </a:lnSpc>
            </a:pPr>
            <a:r>
              <a:rPr sz="1250" spc="-120" dirty="0" err="1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lang="ja-JP" altLang="en-US" sz="1250" spc="-120" dirty="0">
                <a:solidFill>
                  <a:srgbClr val="333333"/>
                </a:solidFill>
                <a:latin typeface="メイリオ"/>
                <a:cs typeface="BIZ UDPゴシック"/>
              </a:rPr>
              <a:t>安定したゆらぎのある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70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安⼼感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覚</a:t>
            </a:r>
            <a:r>
              <a:rPr sz="1250" spc="-170" dirty="0">
                <a:solidFill>
                  <a:srgbClr val="333333"/>
                </a:solidFill>
                <a:latin typeface="SimSun"/>
                <a:cs typeface="SimSun"/>
              </a:rPr>
              <a:t>えるんです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BIZ UDPゴシック"/>
              <a:cs typeface="BIZ UDPゴシック"/>
            </a:endParaRPr>
          </a:p>
          <a:p>
            <a:pPr marL="12700" marR="873760">
              <a:lnSpc>
                <a:spcPct val="14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250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⼼⾳</a:t>
            </a:r>
            <a:r>
              <a:rPr sz="1250" spc="30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300" dirty="0">
                <a:solidFill>
                  <a:srgbClr val="333333"/>
                </a:solidFill>
                <a:latin typeface="Comic Sans MS"/>
                <a:cs typeface="Comic Sans MS"/>
              </a:rPr>
              <a:t>72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拍</a:t>
            </a:r>
            <a:r>
              <a:rPr sz="1300" spc="-135" dirty="0">
                <a:solidFill>
                  <a:srgbClr val="333333"/>
                </a:solidFill>
                <a:latin typeface="Comic Sans MS"/>
                <a:cs typeface="Comic Sans MS"/>
              </a:rPr>
              <a:t>/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新⽣児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泣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いている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時間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endParaRPr sz="12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リラックスして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れた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 dirty="0">
              <a:latin typeface="SimSun"/>
              <a:cs typeface="SimSun"/>
            </a:endParaRPr>
          </a:p>
          <a:p>
            <a:pPr marL="12700" marR="188722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似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低周波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む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 dirty="0">
              <a:latin typeface="SimSun"/>
              <a:cs typeface="SimSun"/>
            </a:endParaRPr>
          </a:p>
          <a:p>
            <a:pPr marL="12700" marR="1452880">
              <a:lnSpc>
                <a:spcPct val="135000"/>
              </a:lnSpc>
              <a:spcBef>
                <a:spcPts val="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ちゃんの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かしい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記憶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起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こすのかもしれません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 dirty="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78"/>
            <a:ext cx="7063105" cy="3820160"/>
            <a:chOff x="352425" y="352378"/>
            <a:chExt cx="7063105" cy="3820160"/>
          </a:xfrm>
        </p:grpSpPr>
        <p:sp>
          <p:nvSpPr>
            <p:cNvPr id="3" name="object 3"/>
            <p:cNvSpPr/>
            <p:nvPr/>
          </p:nvSpPr>
          <p:spPr>
            <a:xfrm>
              <a:off x="357187" y="352389"/>
              <a:ext cx="7058025" cy="3815079"/>
            </a:xfrm>
            <a:custGeom>
              <a:avLst/>
              <a:gdLst/>
              <a:ahLst/>
              <a:cxnLst/>
              <a:rect l="l" t="t" r="r" b="b"/>
              <a:pathLst>
                <a:path w="7058025" h="3815079">
                  <a:moveTo>
                    <a:pt x="6955678" y="3814724"/>
                  </a:moveTo>
                  <a:lnTo>
                    <a:pt x="102345" y="3814724"/>
                  </a:lnTo>
                  <a:lnTo>
                    <a:pt x="95221" y="3814019"/>
                  </a:lnTo>
                  <a:lnTo>
                    <a:pt x="54661" y="3800255"/>
                  </a:lnTo>
                  <a:lnTo>
                    <a:pt x="22456" y="3772052"/>
                  </a:lnTo>
                  <a:lnTo>
                    <a:pt x="3507" y="3733580"/>
                  </a:lnTo>
                  <a:lnTo>
                    <a:pt x="0" y="3712406"/>
                  </a:lnTo>
                  <a:lnTo>
                    <a:pt x="0" y="3705224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712406"/>
                  </a:lnTo>
                  <a:lnTo>
                    <a:pt x="7046932" y="3753745"/>
                  </a:lnTo>
                  <a:lnTo>
                    <a:pt x="7020855" y="3787711"/>
                  </a:lnTo>
                  <a:lnTo>
                    <a:pt x="6983759" y="3809142"/>
                  </a:lnTo>
                  <a:lnTo>
                    <a:pt x="6962802" y="3814019"/>
                  </a:lnTo>
                  <a:lnTo>
                    <a:pt x="6955678" y="3814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86"/>
              <a:ext cx="7061834" cy="3820160"/>
            </a:xfrm>
            <a:custGeom>
              <a:avLst/>
              <a:gdLst/>
              <a:ahLst/>
              <a:cxnLst/>
              <a:rect l="l" t="t" r="r" b="b"/>
              <a:pathLst>
                <a:path w="7061834" h="3820160">
                  <a:moveTo>
                    <a:pt x="7061289" y="0"/>
                  </a:moveTo>
                  <a:lnTo>
                    <a:pt x="7058012" y="0"/>
                  </a:lnTo>
                  <a:lnTo>
                    <a:pt x="7058012" y="3705263"/>
                  </a:lnTo>
                  <a:lnTo>
                    <a:pt x="7057517" y="3715575"/>
                  </a:lnTo>
                  <a:lnTo>
                    <a:pt x="7045630" y="3754691"/>
                  </a:lnTo>
                  <a:lnTo>
                    <a:pt x="7026834" y="3779799"/>
                  </a:lnTo>
                  <a:lnTo>
                    <a:pt x="6993344" y="3802075"/>
                  </a:lnTo>
                  <a:lnTo>
                    <a:pt x="6953237" y="3810050"/>
                  </a:lnTo>
                  <a:lnTo>
                    <a:pt x="114300" y="3810050"/>
                  </a:lnTo>
                  <a:lnTo>
                    <a:pt x="74193" y="3802075"/>
                  </a:lnTo>
                  <a:lnTo>
                    <a:pt x="40690" y="3779812"/>
                  </a:lnTo>
                  <a:lnTo>
                    <a:pt x="33261" y="3771696"/>
                  </a:lnTo>
                  <a:lnTo>
                    <a:pt x="14008" y="3735628"/>
                  </a:lnTo>
                  <a:lnTo>
                    <a:pt x="9525" y="3705263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705263"/>
                  </a:lnTo>
                  <a:lnTo>
                    <a:pt x="533" y="3716515"/>
                  </a:lnTo>
                  <a:lnTo>
                    <a:pt x="13500" y="3759187"/>
                  </a:lnTo>
                  <a:lnTo>
                    <a:pt x="33528" y="3786047"/>
                  </a:lnTo>
                  <a:lnTo>
                    <a:pt x="70548" y="3810876"/>
                  </a:lnTo>
                  <a:lnTo>
                    <a:pt x="114300" y="3819575"/>
                  </a:lnTo>
                  <a:lnTo>
                    <a:pt x="6953237" y="3819575"/>
                  </a:lnTo>
                  <a:lnTo>
                    <a:pt x="6996989" y="3810876"/>
                  </a:lnTo>
                  <a:lnTo>
                    <a:pt x="6998729" y="3810050"/>
                  </a:lnTo>
                  <a:lnTo>
                    <a:pt x="7007174" y="3806063"/>
                  </a:lnTo>
                  <a:lnTo>
                    <a:pt x="7016763" y="3800335"/>
                  </a:lnTo>
                  <a:lnTo>
                    <a:pt x="7025716" y="3793680"/>
                  </a:lnTo>
                  <a:lnTo>
                    <a:pt x="7034060" y="3786098"/>
                  </a:lnTo>
                  <a:lnTo>
                    <a:pt x="7041642" y="3777729"/>
                  </a:lnTo>
                  <a:lnTo>
                    <a:pt x="7048297" y="3768775"/>
                  </a:lnTo>
                  <a:lnTo>
                    <a:pt x="7054024" y="3759187"/>
                  </a:lnTo>
                  <a:lnTo>
                    <a:pt x="7058838" y="3749002"/>
                  </a:lnTo>
                  <a:lnTo>
                    <a:pt x="7061289" y="3742169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617008"/>
            <a:ext cx="6440170" cy="32169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ママも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ちゃんも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⼀緒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にリラックス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味⽅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育児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しくはプロフィ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ルから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30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育児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⾚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ちゃん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夜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泣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き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新⽣児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797F0"/>
                </a:solidFill>
                <a:latin typeface="SimSun"/>
                <a:cs typeface="SimSun"/>
              </a:rPr>
              <a:t>ママ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⼦育</a:t>
            </a:r>
            <a:r>
              <a:rPr sz="1150" spc="-180" dirty="0">
                <a:solidFill>
                  <a:srgbClr val="3797F0"/>
                </a:solidFill>
                <a:latin typeface="SimSun"/>
                <a:cs typeface="SimSun"/>
              </a:rPr>
              <a:t>て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寝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かしつけ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リラックス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胎内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記</a:t>
            </a:r>
            <a:r>
              <a:rPr sz="1100" spc="-55" dirty="0">
                <a:solidFill>
                  <a:srgbClr val="3797F0"/>
                </a:solidFill>
                <a:latin typeface="メイリオ"/>
                <a:cs typeface="メイリオ"/>
              </a:rPr>
              <a:t>憶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0" dirty="0">
                <a:solidFill>
                  <a:srgbClr val="3797F0"/>
                </a:solidFill>
                <a:latin typeface="メイリオ"/>
                <a:cs typeface="メイリオ"/>
              </a:rPr>
              <a:t>⼼⾳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50" dirty="0">
                <a:solidFill>
                  <a:srgbClr val="3797F0"/>
                </a:solidFill>
                <a:latin typeface="SimSun"/>
                <a:cs typeface="SimSun"/>
              </a:rPr>
              <a:t>サ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育児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味⽅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0" dirty="0">
                <a:solidFill>
                  <a:srgbClr val="3797F0"/>
                </a:solidFill>
                <a:latin typeface="メイリオ"/>
                <a:cs typeface="メイリオ"/>
              </a:rPr>
              <a:t>家族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80" dirty="0">
                <a:solidFill>
                  <a:srgbClr val="3797F0"/>
                </a:solidFill>
                <a:latin typeface="メイリオ"/>
                <a:cs typeface="メイリオ"/>
              </a:rPr>
              <a:t>安⼼感</a:t>
            </a:r>
            <a:endParaRPr sz="1100">
              <a:latin typeface="メイリオ"/>
              <a:cs typeface="メイリオ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59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3"/>
            <a:ext cx="7061834" cy="9347835"/>
            <a:chOff x="352425" y="352403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68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34"/>
                  </a:moveTo>
                  <a:lnTo>
                    <a:pt x="0" y="9342534"/>
                  </a:lnTo>
                  <a:lnTo>
                    <a:pt x="0" y="102317"/>
                  </a:lnTo>
                  <a:lnTo>
                    <a:pt x="11090" y="60836"/>
                  </a:lnTo>
                  <a:lnTo>
                    <a:pt x="37168" y="26898"/>
                  </a:lnTo>
                  <a:lnTo>
                    <a:pt x="74264" y="5505"/>
                  </a:lnTo>
                  <a:lnTo>
                    <a:pt x="102345" y="0"/>
                  </a:lnTo>
                  <a:lnTo>
                    <a:pt x="6955678" y="0"/>
                  </a:lnTo>
                  <a:lnTo>
                    <a:pt x="6962417" y="666"/>
                  </a:lnTo>
                  <a:lnTo>
                    <a:pt x="6962607" y="666"/>
                  </a:lnTo>
                  <a:lnTo>
                    <a:pt x="7003361" y="14363"/>
                  </a:lnTo>
                  <a:lnTo>
                    <a:pt x="7035566" y="42567"/>
                  </a:lnTo>
                  <a:lnTo>
                    <a:pt x="7054515" y="81038"/>
                  </a:lnTo>
                  <a:lnTo>
                    <a:pt x="7056536" y="91195"/>
                  </a:lnTo>
                  <a:lnTo>
                    <a:pt x="7056536" y="93425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11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795"/>
                  </a:lnTo>
                  <a:lnTo>
                    <a:pt x="7034022" y="33515"/>
                  </a:lnTo>
                  <a:lnTo>
                    <a:pt x="7033742" y="33197"/>
                  </a:lnTo>
                  <a:lnTo>
                    <a:pt x="7033565" y="32994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46"/>
                  </a:lnTo>
                  <a:lnTo>
                    <a:pt x="6953237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85" y="33020"/>
                  </a:lnTo>
                  <a:lnTo>
                    <a:pt x="33782" y="33197"/>
                  </a:lnTo>
                  <a:lnTo>
                    <a:pt x="33477" y="33477"/>
                  </a:lnTo>
                  <a:lnTo>
                    <a:pt x="8699" y="70535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49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37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12" y="114274"/>
                  </a:lnTo>
                  <a:lnTo>
                    <a:pt x="7058012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699" y="1171538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6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476999" y="0"/>
                  </a:lnTo>
                  <a:lnTo>
                    <a:pt x="6476999" y="9524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56"/>
              <a:ext cx="380999" cy="380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800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29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4" y="685763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971549" y="304799"/>
                </a:moveTo>
                <a:lnTo>
                  <a:pt x="152399" y="304799"/>
                </a:lnTo>
                <a:lnTo>
                  <a:pt x="144912" y="304590"/>
                </a:lnTo>
                <a:lnTo>
                  <a:pt x="101066" y="295814"/>
                </a:lnTo>
                <a:lnTo>
                  <a:pt x="61607" y="274712"/>
                </a:lnTo>
                <a:lnTo>
                  <a:pt x="29995" y="243158"/>
                </a:lnTo>
                <a:lnTo>
                  <a:pt x="8904" y="203670"/>
                </a:lnTo>
                <a:lnTo>
                  <a:pt x="183" y="159886"/>
                </a:lnTo>
                <a:lnTo>
                  <a:pt x="0" y="152399"/>
                </a:lnTo>
                <a:lnTo>
                  <a:pt x="183" y="144906"/>
                </a:lnTo>
                <a:lnTo>
                  <a:pt x="8904" y="100999"/>
                </a:lnTo>
                <a:lnTo>
                  <a:pt x="29995" y="61565"/>
                </a:lnTo>
                <a:lnTo>
                  <a:pt x="61607" y="29937"/>
                </a:lnTo>
                <a:lnTo>
                  <a:pt x="101066" y="8880"/>
                </a:lnTo>
                <a:lnTo>
                  <a:pt x="144912" y="182"/>
                </a:lnTo>
                <a:lnTo>
                  <a:pt x="152399" y="0"/>
                </a:lnTo>
                <a:lnTo>
                  <a:pt x="971549" y="0"/>
                </a:lnTo>
                <a:lnTo>
                  <a:pt x="1015789" y="6542"/>
                </a:lnTo>
                <a:lnTo>
                  <a:pt x="1056218" y="25631"/>
                </a:lnTo>
                <a:lnTo>
                  <a:pt x="1089357" y="55684"/>
                </a:lnTo>
                <a:lnTo>
                  <a:pt x="1112348" y="94021"/>
                </a:lnTo>
                <a:lnTo>
                  <a:pt x="1123217" y="137445"/>
                </a:lnTo>
                <a:lnTo>
                  <a:pt x="1123949" y="152399"/>
                </a:lnTo>
                <a:lnTo>
                  <a:pt x="1123766" y="159886"/>
                </a:lnTo>
                <a:lnTo>
                  <a:pt x="1115045" y="203670"/>
                </a:lnTo>
                <a:lnTo>
                  <a:pt x="1093954" y="243158"/>
                </a:lnTo>
                <a:lnTo>
                  <a:pt x="1062342" y="274712"/>
                </a:lnTo>
                <a:lnTo>
                  <a:pt x="1022883" y="295814"/>
                </a:lnTo>
                <a:lnTo>
                  <a:pt x="979036" y="304590"/>
                </a:lnTo>
                <a:lnTo>
                  <a:pt x="971549" y="304799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4" y="727247"/>
            <a:ext cx="9207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シ</a:t>
            </a:r>
            <a:r>
              <a:rPr sz="110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ン</a:t>
            </a: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別活</a:t>
            </a:r>
            <a:r>
              <a:rPr sz="1100" spc="-95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-175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60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4999" y="1328633"/>
            <a:ext cx="3355340" cy="8299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ペットにも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⽝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250" spc="-1205" dirty="0">
                <a:solidFill>
                  <a:srgbClr val="333333"/>
                </a:solidFill>
                <a:latin typeface="メイリオ"/>
                <a:cs typeface="メイリオ"/>
              </a:rPr>
              <a:t>理</a:t>
            </a:r>
            <a:r>
              <a:rPr sz="1250" spc="-40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由</a:t>
            </a:r>
            <a:endParaRPr sz="12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うちの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雷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怖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がる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きがない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ペットのストレスにも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効果的</a:t>
            </a:r>
            <a:r>
              <a:rPr sz="1250" spc="-180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 marR="72898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動物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聴覚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可聴域</a:t>
            </a:r>
            <a:r>
              <a:rPr sz="1250" spc="13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30" dirty="0">
                <a:solidFill>
                  <a:srgbClr val="333333"/>
                </a:solidFill>
                <a:latin typeface="Comic Sans MS"/>
                <a:cs typeface="Comic Sans MS"/>
              </a:rPr>
              <a:t>25Hz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75,000Hz</a:t>
            </a:r>
            <a:endParaRPr sz="1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可聴域</a:t>
            </a:r>
            <a:r>
              <a:rPr sz="1250" spc="13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130" dirty="0">
                <a:solidFill>
                  <a:srgbClr val="333333"/>
                </a:solidFill>
                <a:latin typeface="Comic Sans MS"/>
                <a:cs typeface="Comic Sans MS"/>
              </a:rPr>
              <a:t>65Hz</a:t>
            </a:r>
            <a:r>
              <a:rPr sz="125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00" spc="-10" dirty="0">
                <a:solidFill>
                  <a:srgbClr val="333333"/>
                </a:solidFill>
                <a:latin typeface="Comic Sans MS"/>
                <a:cs typeface="Comic Sans MS"/>
              </a:rPr>
              <a:t>50,000Hz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⼈間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よりはるかに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範囲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いている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実際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されている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2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4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室内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植物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やペットが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元気</a:t>
            </a:r>
            <a:r>
              <a:rPr sz="1250" spc="-105" dirty="0">
                <a:solidFill>
                  <a:srgbClr val="333333"/>
                </a:solidFill>
                <a:latin typeface="SimSun"/>
                <a:cs typeface="SimSun"/>
              </a:rPr>
              <a:t>になった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5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⽝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いて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過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ごせるようになった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2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⾷欲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endParaRPr sz="1250">
              <a:latin typeface="SimSun"/>
              <a:cs typeface="SimSun"/>
            </a:endParaRPr>
          </a:p>
          <a:p>
            <a:pPr marL="12700" marR="728980">
              <a:lnSpc>
                <a:spcPct val="270000"/>
              </a:lnSpc>
              <a:spcBef>
                <a:spcPts val="7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動物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進化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してきた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存在</a:t>
            </a:r>
            <a:r>
              <a:rPr sz="125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 marL="12700" marR="1452880">
              <a:lnSpc>
                <a:spcPct val="135000"/>
              </a:lnSpc>
              <a:spcBef>
                <a:spcPts val="7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安⼼感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覚</a:t>
            </a:r>
            <a:r>
              <a:rPr sz="1250" spc="-125" dirty="0">
                <a:solidFill>
                  <a:srgbClr val="333333"/>
                </a:solidFill>
                <a:latin typeface="SimSun"/>
                <a:cs typeface="SimSun"/>
              </a:rPr>
              <a:t>えるのは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当然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のことかもしれません</a:t>
            </a:r>
            <a:r>
              <a:rPr sz="125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46"/>
            <a:ext cx="7063105" cy="3562985"/>
            <a:chOff x="352425" y="352346"/>
            <a:chExt cx="7063105" cy="3562985"/>
          </a:xfrm>
        </p:grpSpPr>
        <p:sp>
          <p:nvSpPr>
            <p:cNvPr id="3" name="object 3"/>
            <p:cNvSpPr/>
            <p:nvPr/>
          </p:nvSpPr>
          <p:spPr>
            <a:xfrm>
              <a:off x="357187" y="352388"/>
              <a:ext cx="7058025" cy="3557904"/>
            </a:xfrm>
            <a:custGeom>
              <a:avLst/>
              <a:gdLst/>
              <a:ahLst/>
              <a:cxnLst/>
              <a:rect l="l" t="t" r="r" b="b"/>
              <a:pathLst>
                <a:path w="7058025" h="3557904">
                  <a:moveTo>
                    <a:pt x="6955678" y="3557549"/>
                  </a:moveTo>
                  <a:lnTo>
                    <a:pt x="102345" y="3557549"/>
                  </a:lnTo>
                  <a:lnTo>
                    <a:pt x="95221" y="3556844"/>
                  </a:lnTo>
                  <a:lnTo>
                    <a:pt x="54661" y="3543042"/>
                  </a:lnTo>
                  <a:lnTo>
                    <a:pt x="22456" y="3514839"/>
                  </a:lnTo>
                  <a:lnTo>
                    <a:pt x="3507" y="3476405"/>
                  </a:lnTo>
                  <a:lnTo>
                    <a:pt x="0" y="3455231"/>
                  </a:lnTo>
                  <a:lnTo>
                    <a:pt x="0" y="3448049"/>
                  </a:lnTo>
                  <a:lnTo>
                    <a:pt x="0" y="0"/>
                  </a:lnTo>
                  <a:lnTo>
                    <a:pt x="7058024" y="0"/>
                  </a:lnTo>
                  <a:lnTo>
                    <a:pt x="7058023" y="3455231"/>
                  </a:lnTo>
                  <a:lnTo>
                    <a:pt x="7046932" y="3496531"/>
                  </a:lnTo>
                  <a:lnTo>
                    <a:pt x="7020855" y="3530536"/>
                  </a:lnTo>
                  <a:lnTo>
                    <a:pt x="6983759" y="3551967"/>
                  </a:lnTo>
                  <a:lnTo>
                    <a:pt x="6962802" y="3556844"/>
                  </a:lnTo>
                  <a:lnTo>
                    <a:pt x="6955678" y="3557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48"/>
              <a:ext cx="7061834" cy="3562985"/>
            </a:xfrm>
            <a:custGeom>
              <a:avLst/>
              <a:gdLst/>
              <a:ahLst/>
              <a:cxnLst/>
              <a:rect l="l" t="t" r="r" b="b"/>
              <a:pathLst>
                <a:path w="7061834" h="3562985">
                  <a:moveTo>
                    <a:pt x="7061289" y="0"/>
                  </a:moveTo>
                  <a:lnTo>
                    <a:pt x="7058012" y="0"/>
                  </a:lnTo>
                  <a:lnTo>
                    <a:pt x="7058012" y="3448088"/>
                  </a:lnTo>
                  <a:lnTo>
                    <a:pt x="7057517" y="3458413"/>
                  </a:lnTo>
                  <a:lnTo>
                    <a:pt x="7045630" y="3497529"/>
                  </a:lnTo>
                  <a:lnTo>
                    <a:pt x="7026834" y="3522624"/>
                  </a:lnTo>
                  <a:lnTo>
                    <a:pt x="6993344" y="3544913"/>
                  </a:lnTo>
                  <a:lnTo>
                    <a:pt x="6953237" y="3552888"/>
                  </a:lnTo>
                  <a:lnTo>
                    <a:pt x="114300" y="3552888"/>
                  </a:lnTo>
                  <a:lnTo>
                    <a:pt x="74193" y="3544913"/>
                  </a:lnTo>
                  <a:lnTo>
                    <a:pt x="40690" y="3522637"/>
                  </a:lnTo>
                  <a:lnTo>
                    <a:pt x="33261" y="3514521"/>
                  </a:lnTo>
                  <a:lnTo>
                    <a:pt x="14008" y="3478453"/>
                  </a:lnTo>
                  <a:lnTo>
                    <a:pt x="9525" y="3448088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448088"/>
                  </a:lnTo>
                  <a:lnTo>
                    <a:pt x="533" y="3459353"/>
                  </a:lnTo>
                  <a:lnTo>
                    <a:pt x="13500" y="3502025"/>
                  </a:lnTo>
                  <a:lnTo>
                    <a:pt x="33528" y="3528885"/>
                  </a:lnTo>
                  <a:lnTo>
                    <a:pt x="70548" y="3553714"/>
                  </a:lnTo>
                  <a:lnTo>
                    <a:pt x="114300" y="3562413"/>
                  </a:lnTo>
                  <a:lnTo>
                    <a:pt x="6953237" y="3562413"/>
                  </a:lnTo>
                  <a:lnTo>
                    <a:pt x="6996989" y="3553714"/>
                  </a:lnTo>
                  <a:lnTo>
                    <a:pt x="6998729" y="3552888"/>
                  </a:lnTo>
                  <a:lnTo>
                    <a:pt x="7007174" y="3548900"/>
                  </a:lnTo>
                  <a:lnTo>
                    <a:pt x="7016763" y="3543160"/>
                  </a:lnTo>
                  <a:lnTo>
                    <a:pt x="7025716" y="3536505"/>
                  </a:lnTo>
                  <a:lnTo>
                    <a:pt x="7034060" y="3528936"/>
                  </a:lnTo>
                  <a:lnTo>
                    <a:pt x="7041642" y="3520567"/>
                  </a:lnTo>
                  <a:lnTo>
                    <a:pt x="7048297" y="3511600"/>
                  </a:lnTo>
                  <a:lnTo>
                    <a:pt x="7054024" y="3502025"/>
                  </a:lnTo>
                  <a:lnTo>
                    <a:pt x="7058838" y="3491827"/>
                  </a:lnTo>
                  <a:lnTo>
                    <a:pt x="7061289" y="34849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4999" y="617008"/>
            <a:ext cx="6432550" cy="2959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であるペットにも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のプレゼント</a:t>
            </a:r>
            <a:r>
              <a:rPr sz="125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⼀緒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されてみませんか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1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250" spc="-10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ペット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について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しくは</a:t>
            </a:r>
            <a:r>
              <a:rPr sz="1300" spc="-45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endParaRPr sz="1250">
              <a:latin typeface="SimSun"/>
              <a:cs typeface="SimSun"/>
            </a:endParaRPr>
          </a:p>
          <a:p>
            <a:pPr marL="12700" marR="5080">
              <a:lnSpc>
                <a:spcPct val="146700"/>
              </a:lnSpc>
              <a:spcBef>
                <a:spcPts val="1095"/>
              </a:spcBef>
            </a:pP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ペット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⽝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50" dirty="0">
                <a:solidFill>
                  <a:srgbClr val="3797F0"/>
                </a:solidFill>
                <a:latin typeface="メイリオ"/>
                <a:cs typeface="メイリオ"/>
              </a:rPr>
              <a:t>猫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ペットの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健康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動物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797F0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5" dirty="0">
                <a:solidFill>
                  <a:srgbClr val="3797F0"/>
                </a:solidFill>
                <a:latin typeface="SimSun"/>
                <a:cs typeface="SimSun"/>
              </a:rPr>
              <a:t>ストレス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軽減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落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ち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着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797F0"/>
                </a:solidFill>
                <a:latin typeface="SimSun"/>
                <a:cs typeface="SimSun"/>
              </a:rPr>
              <a:t>ー</a:t>
            </a:r>
            <a:r>
              <a:rPr sz="1150" spc="-160" dirty="0">
                <a:solidFill>
                  <a:srgbClr val="3797F0"/>
                </a:solidFill>
                <a:latin typeface="SimSun"/>
                <a:cs typeface="SimSun"/>
              </a:rPr>
              <a:t>リング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30" dirty="0">
                <a:solidFill>
                  <a:srgbClr val="3797F0"/>
                </a:solidFill>
                <a:latin typeface="SimSun"/>
                <a:cs typeface="SimSun"/>
              </a:rPr>
              <a:t>ペットケア</a:t>
            </a:r>
            <a:r>
              <a:rPr sz="1150" spc="-50" dirty="0">
                <a:solidFill>
                  <a:srgbClr val="3797F0"/>
                </a:solidFill>
                <a:latin typeface="SimSun"/>
                <a:cs typeface="SimSun"/>
              </a:rPr>
              <a:t>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797F0"/>
                </a:solidFill>
                <a:latin typeface="メイリオ"/>
                <a:cs typeface="メイリオ"/>
              </a:rPr>
              <a:t>家族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動物好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き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癒</a:t>
            </a:r>
            <a:r>
              <a:rPr sz="1150" spc="-175" dirty="0">
                <a:solidFill>
                  <a:srgbClr val="3797F0"/>
                </a:solidFill>
                <a:latin typeface="SimSun"/>
                <a:cs typeface="SimSun"/>
              </a:rPr>
              <a:t>し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55" dirty="0">
                <a:solidFill>
                  <a:srgbClr val="3797F0"/>
                </a:solidFill>
                <a:latin typeface="SimSun"/>
                <a:cs typeface="SimSun"/>
              </a:rPr>
              <a:t>リラックス </a:t>
            </a:r>
            <a:r>
              <a:rPr sz="1150" spc="-305" dirty="0">
                <a:solidFill>
                  <a:srgbClr val="3797F0"/>
                </a:solidFill>
                <a:latin typeface="Comic Sans MS"/>
                <a:cs typeface="Comic Sans MS"/>
              </a:rPr>
              <a:t>#</a:t>
            </a:r>
            <a:r>
              <a:rPr sz="1150" spc="-145" dirty="0">
                <a:solidFill>
                  <a:srgbClr val="3797F0"/>
                </a:solidFill>
                <a:latin typeface="SimSun"/>
                <a:cs typeface="SimSun"/>
              </a:rPr>
              <a:t>ペットとの</a:t>
            </a:r>
            <a:r>
              <a:rPr sz="1100" spc="-95" dirty="0">
                <a:solidFill>
                  <a:srgbClr val="3797F0"/>
                </a:solidFill>
                <a:latin typeface="メイリオ"/>
                <a:cs typeface="メイリオ"/>
              </a:rPr>
              <a:t>暮</a:t>
            </a:r>
            <a:r>
              <a:rPr sz="1150" spc="-100" dirty="0">
                <a:solidFill>
                  <a:srgbClr val="3797F0"/>
                </a:solidFill>
                <a:latin typeface="SimSun"/>
                <a:cs typeface="SimSun"/>
              </a:rPr>
              <a:t>らし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61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6"/>
            <a:ext cx="7061834" cy="9347835"/>
            <a:chOff x="352425" y="352426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57187" y="357171"/>
              <a:ext cx="7056755" cy="9342755"/>
            </a:xfrm>
            <a:custGeom>
              <a:avLst/>
              <a:gdLst/>
              <a:ahLst/>
              <a:cxnLst/>
              <a:rect l="l" t="t" r="r" b="b"/>
              <a:pathLst>
                <a:path w="7056755" h="9342755">
                  <a:moveTo>
                    <a:pt x="7056536" y="9342551"/>
                  </a:moveTo>
                  <a:lnTo>
                    <a:pt x="0" y="9342551"/>
                  </a:lnTo>
                  <a:lnTo>
                    <a:pt x="0" y="102355"/>
                  </a:lnTo>
                  <a:lnTo>
                    <a:pt x="11102" y="60912"/>
                  </a:lnTo>
                  <a:lnTo>
                    <a:pt x="18459" y="48663"/>
                  </a:lnTo>
                  <a:lnTo>
                    <a:pt x="22459" y="42643"/>
                  </a:lnTo>
                  <a:lnTo>
                    <a:pt x="26993" y="37099"/>
                  </a:lnTo>
                  <a:lnTo>
                    <a:pt x="32080" y="32070"/>
                  </a:lnTo>
                  <a:lnTo>
                    <a:pt x="37166" y="26974"/>
                  </a:lnTo>
                  <a:lnTo>
                    <a:pt x="42700" y="22431"/>
                  </a:lnTo>
                  <a:lnTo>
                    <a:pt x="48682" y="18459"/>
                  </a:lnTo>
                  <a:lnTo>
                    <a:pt x="54663" y="14401"/>
                  </a:lnTo>
                  <a:lnTo>
                    <a:pt x="95221" y="666"/>
                  </a:lnTo>
                  <a:lnTo>
                    <a:pt x="102346" y="0"/>
                  </a:lnTo>
                  <a:lnTo>
                    <a:pt x="6955679" y="0"/>
                  </a:lnTo>
                  <a:lnTo>
                    <a:pt x="6997046" y="11010"/>
                  </a:lnTo>
                  <a:lnTo>
                    <a:pt x="7009343" y="18459"/>
                  </a:lnTo>
                  <a:lnTo>
                    <a:pt x="7015324" y="22431"/>
                  </a:lnTo>
                  <a:lnTo>
                    <a:pt x="7020858" y="26974"/>
                  </a:lnTo>
                  <a:lnTo>
                    <a:pt x="7025945" y="32070"/>
                  </a:lnTo>
                  <a:lnTo>
                    <a:pt x="7031031" y="37099"/>
                  </a:lnTo>
                  <a:lnTo>
                    <a:pt x="7052434" y="74228"/>
                  </a:lnTo>
                  <a:lnTo>
                    <a:pt x="7056536" y="91274"/>
                  </a:lnTo>
                  <a:lnTo>
                    <a:pt x="7056536" y="9342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437"/>
              <a:ext cx="7061834" cy="9347835"/>
            </a:xfrm>
            <a:custGeom>
              <a:avLst/>
              <a:gdLst/>
              <a:ahLst/>
              <a:cxnLst/>
              <a:rect l="l" t="t" r="r" b="b"/>
              <a:pathLst>
                <a:path w="7061834" h="9347835">
                  <a:moveTo>
                    <a:pt x="7061289" y="77368"/>
                  </a:moveTo>
                  <a:lnTo>
                    <a:pt x="7041642" y="41795"/>
                  </a:lnTo>
                  <a:lnTo>
                    <a:pt x="7034022" y="33528"/>
                  </a:lnTo>
                  <a:lnTo>
                    <a:pt x="7033603" y="33070"/>
                  </a:lnTo>
                  <a:lnTo>
                    <a:pt x="7025716" y="25895"/>
                  </a:lnTo>
                  <a:lnTo>
                    <a:pt x="7016763" y="19240"/>
                  </a:lnTo>
                  <a:lnTo>
                    <a:pt x="7007174" y="13512"/>
                  </a:lnTo>
                  <a:lnTo>
                    <a:pt x="6998729" y="9525"/>
                  </a:lnTo>
                  <a:lnTo>
                    <a:pt x="6996989" y="8699"/>
                  </a:lnTo>
                  <a:lnTo>
                    <a:pt x="6986371" y="4889"/>
                  </a:lnTo>
                  <a:lnTo>
                    <a:pt x="6975551" y="2171"/>
                  </a:lnTo>
                  <a:lnTo>
                    <a:pt x="6964502" y="533"/>
                  </a:lnTo>
                  <a:lnTo>
                    <a:pt x="6953250" y="0"/>
                  </a:lnTo>
                  <a:lnTo>
                    <a:pt x="114300" y="0"/>
                  </a:lnTo>
                  <a:lnTo>
                    <a:pt x="70548" y="8699"/>
                  </a:lnTo>
                  <a:lnTo>
                    <a:pt x="33972" y="33007"/>
                  </a:lnTo>
                  <a:lnTo>
                    <a:pt x="33464" y="33477"/>
                  </a:lnTo>
                  <a:lnTo>
                    <a:pt x="25895" y="41795"/>
                  </a:lnTo>
                  <a:lnTo>
                    <a:pt x="19240" y="50761"/>
                  </a:lnTo>
                  <a:lnTo>
                    <a:pt x="2171" y="91973"/>
                  </a:lnTo>
                  <a:lnTo>
                    <a:pt x="0" y="114274"/>
                  </a:lnTo>
                  <a:lnTo>
                    <a:pt x="0" y="9347276"/>
                  </a:lnTo>
                  <a:lnTo>
                    <a:pt x="9525" y="9347276"/>
                  </a:lnTo>
                  <a:lnTo>
                    <a:pt x="9525" y="114274"/>
                  </a:lnTo>
                  <a:lnTo>
                    <a:pt x="10020" y="103962"/>
                  </a:lnTo>
                  <a:lnTo>
                    <a:pt x="21907" y="64833"/>
                  </a:lnTo>
                  <a:lnTo>
                    <a:pt x="47853" y="33261"/>
                  </a:lnTo>
                  <a:lnTo>
                    <a:pt x="83921" y="14008"/>
                  </a:lnTo>
                  <a:lnTo>
                    <a:pt x="114300" y="9525"/>
                  </a:lnTo>
                  <a:lnTo>
                    <a:pt x="6953250" y="9525"/>
                  </a:lnTo>
                  <a:lnTo>
                    <a:pt x="6993344" y="17500"/>
                  </a:lnTo>
                  <a:lnTo>
                    <a:pt x="7026935" y="39865"/>
                  </a:lnTo>
                  <a:lnTo>
                    <a:pt x="7050037" y="74180"/>
                  </a:lnTo>
                  <a:lnTo>
                    <a:pt x="7058025" y="114274"/>
                  </a:lnTo>
                  <a:lnTo>
                    <a:pt x="7058025" y="9347276"/>
                  </a:lnTo>
                  <a:lnTo>
                    <a:pt x="7061289" y="9347276"/>
                  </a:lnTo>
                  <a:lnTo>
                    <a:pt x="7061289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7700" y="1171559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6477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6477000" y="0"/>
                  </a:lnTo>
                  <a:lnTo>
                    <a:pt x="6477000" y="9525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700" y="647684"/>
              <a:ext cx="381000" cy="381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16855" y="703976"/>
            <a:ext cx="242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575" y="685808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971550" y="304800"/>
                </a:moveTo>
                <a:lnTo>
                  <a:pt x="152400" y="304800"/>
                </a:lnTo>
                <a:lnTo>
                  <a:pt x="144911" y="304591"/>
                </a:lnTo>
                <a:lnTo>
                  <a:pt x="101067" y="295815"/>
                </a:lnTo>
                <a:lnTo>
                  <a:pt x="61606" y="274750"/>
                </a:lnTo>
                <a:lnTo>
                  <a:pt x="29992" y="243105"/>
                </a:lnTo>
                <a:lnTo>
                  <a:pt x="8904" y="203670"/>
                </a:lnTo>
                <a:lnTo>
                  <a:pt x="182" y="159886"/>
                </a:lnTo>
                <a:lnTo>
                  <a:pt x="0" y="152400"/>
                </a:lnTo>
                <a:lnTo>
                  <a:pt x="182" y="144884"/>
                </a:lnTo>
                <a:lnTo>
                  <a:pt x="8904" y="100982"/>
                </a:lnTo>
                <a:lnTo>
                  <a:pt x="29992" y="61565"/>
                </a:lnTo>
                <a:lnTo>
                  <a:pt x="61606" y="29936"/>
                </a:lnTo>
                <a:lnTo>
                  <a:pt x="101067" y="8877"/>
                </a:lnTo>
                <a:lnTo>
                  <a:pt x="144911" y="182"/>
                </a:lnTo>
                <a:lnTo>
                  <a:pt x="152400" y="0"/>
                </a:lnTo>
                <a:lnTo>
                  <a:pt x="971550" y="0"/>
                </a:lnTo>
                <a:lnTo>
                  <a:pt x="1015788" y="6543"/>
                </a:lnTo>
                <a:lnTo>
                  <a:pt x="1056217" y="25631"/>
                </a:lnTo>
                <a:lnTo>
                  <a:pt x="1089359" y="55684"/>
                </a:lnTo>
                <a:lnTo>
                  <a:pt x="1112348" y="93983"/>
                </a:lnTo>
                <a:lnTo>
                  <a:pt x="1123220" y="137412"/>
                </a:lnTo>
                <a:lnTo>
                  <a:pt x="1123950" y="152400"/>
                </a:lnTo>
                <a:lnTo>
                  <a:pt x="1123767" y="159887"/>
                </a:lnTo>
                <a:lnTo>
                  <a:pt x="1115045" y="203675"/>
                </a:lnTo>
                <a:lnTo>
                  <a:pt x="1093953" y="243121"/>
                </a:lnTo>
                <a:lnTo>
                  <a:pt x="1062343" y="274750"/>
                </a:lnTo>
                <a:lnTo>
                  <a:pt x="1022882" y="295815"/>
                </a:lnTo>
                <a:lnTo>
                  <a:pt x="979038" y="304591"/>
                </a:lnTo>
                <a:lnTo>
                  <a:pt x="971550" y="30480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73175" y="727248"/>
            <a:ext cx="9207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シ</a:t>
            </a:r>
            <a:r>
              <a:rPr sz="1100" dirty="0">
                <a:solidFill>
                  <a:srgbClr val="666666"/>
                </a:solidFill>
                <a:latin typeface="HGP行書体"/>
                <a:cs typeface="HGP行書体"/>
              </a:rPr>
              <a:t>ー</a:t>
            </a:r>
            <a:r>
              <a:rPr sz="1150" spc="-145" dirty="0">
                <a:solidFill>
                  <a:srgbClr val="666666"/>
                </a:solidFill>
                <a:latin typeface="SimSun"/>
                <a:cs typeface="SimSun"/>
              </a:rPr>
              <a:t>ン</a:t>
            </a:r>
            <a:r>
              <a:rPr sz="1100" spc="-95" dirty="0">
                <a:solidFill>
                  <a:srgbClr val="666666"/>
                </a:solidFill>
                <a:latin typeface="SimSun"/>
                <a:cs typeface="SimSun"/>
              </a:rPr>
              <a:t>別活</a:t>
            </a:r>
            <a:r>
              <a:rPr sz="1100" spc="-95" dirty="0">
                <a:solidFill>
                  <a:srgbClr val="666666"/>
                </a:solidFill>
                <a:latin typeface="メイリオ"/>
                <a:cs typeface="メイリオ"/>
              </a:rPr>
              <a:t>⽤</a:t>
            </a:r>
            <a:r>
              <a:rPr sz="1100" spc="-175" dirty="0">
                <a:solidFill>
                  <a:srgbClr val="666666"/>
                </a:solidFill>
                <a:latin typeface="SimSun"/>
                <a:cs typeface="SimSun"/>
              </a:rPr>
              <a:t>型</a:t>
            </a:r>
            <a:endParaRPr sz="1100">
              <a:latin typeface="SimSun"/>
              <a:cs typeface="SimSu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62</a:t>
            </a:fld>
            <a:r>
              <a:rPr spc="-10" dirty="0"/>
              <a:t>/135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5000" y="1328633"/>
            <a:ext cx="3633470" cy="8299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料理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が美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味</a:t>
            </a:r>
            <a:r>
              <a:rPr sz="1250" spc="-130" dirty="0">
                <a:solidFill>
                  <a:srgbClr val="333333"/>
                </a:solidFill>
                <a:latin typeface="SimSun"/>
                <a:cs typeface="SimSun"/>
              </a:rPr>
              <a:t>しくなる</a:t>
            </a:r>
            <a:r>
              <a:rPr sz="125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？】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キッチンで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250" spc="-875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250" spc="-50" dirty="0">
                <a:solidFill>
                  <a:srgbClr val="333333"/>
                </a:solidFill>
                <a:latin typeface="メイリオ"/>
                <a:cs typeface="メイリオ"/>
              </a:rPr>
              <a:t> 果</a:t>
            </a:r>
            <a:endParaRPr sz="1250">
              <a:latin typeface="メイリオ"/>
              <a:cs typeface="メイリオ"/>
            </a:endParaRPr>
          </a:p>
          <a:p>
            <a:pPr marL="12700" marR="1155700">
              <a:lnSpc>
                <a:spcPct val="135000"/>
              </a:lnSpc>
              <a:spcBef>
                <a:spcPts val="2100"/>
              </a:spcBef>
            </a:pPr>
            <a:r>
              <a:rPr sz="1250" spc="1025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35" dirty="0">
                <a:solidFill>
                  <a:srgbClr val="333333"/>
                </a:solidFill>
                <a:latin typeface="SimSun"/>
                <a:cs typeface="SimSun"/>
              </a:rPr>
              <a:t>すと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料理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味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14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わる</a:t>
            </a:r>
            <a:r>
              <a:rPr sz="125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信じられますか</a:t>
            </a:r>
            <a:r>
              <a:rPr sz="125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65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実際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250" spc="-160" dirty="0">
                <a:solidFill>
                  <a:srgbClr val="333333"/>
                </a:solidFill>
                <a:latin typeface="SimSun"/>
                <a:cs typeface="SimSun"/>
              </a:rPr>
              <a:t>があるんです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 marR="10064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━━━━━━━━━━━━━━━━━━ある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体験談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250" spc="-114" dirty="0">
                <a:solidFill>
                  <a:srgbClr val="333333"/>
                </a:solidFill>
                <a:latin typeface="SimSun"/>
                <a:cs typeface="SimSun"/>
              </a:rPr>
              <a:t>めてから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2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料理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250" spc="-100" dirty="0">
                <a:solidFill>
                  <a:srgbClr val="333333"/>
                </a:solidFill>
                <a:latin typeface="SimSun"/>
                <a:cs typeface="SimSun"/>
              </a:rPr>
              <a:t>上した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50" spc="125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家庭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雰囲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気が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120" dirty="0">
                <a:solidFill>
                  <a:srgbClr val="333333"/>
                </a:solidFill>
                <a:latin typeface="Cambria"/>
                <a:cs typeface="Cambria"/>
              </a:rPr>
              <a:t>▶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会話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250" spc="-85" dirty="0">
                <a:solidFill>
                  <a:srgbClr val="333333"/>
                </a:solidFill>
                <a:latin typeface="SimSun"/>
                <a:cs typeface="SimSun"/>
              </a:rPr>
              <a:t>えた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SimSun"/>
              <a:cs typeface="SimSun"/>
            </a:endParaRPr>
          </a:p>
          <a:p>
            <a:pPr marL="12700" marR="1006475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えられる</a:t>
            </a:r>
            <a:r>
              <a:rPr sz="1250" spc="-85" dirty="0">
                <a:solidFill>
                  <a:srgbClr val="333333"/>
                </a:solidFill>
                <a:latin typeface="メイリオ"/>
                <a:cs typeface="メイリオ"/>
              </a:rPr>
              <a:t>理由</a:t>
            </a:r>
            <a:endParaRPr sz="12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①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がリラックス</a:t>
            </a:r>
            <a:endParaRPr sz="1250">
              <a:latin typeface="SimSun"/>
              <a:cs typeface="SimSun"/>
            </a:endParaRPr>
          </a:p>
          <a:p>
            <a:pPr marL="157480">
              <a:lnSpc>
                <a:spcPct val="100000"/>
              </a:lnSpc>
              <a:spcBef>
                <a:spcPts val="600"/>
              </a:spcBef>
            </a:pPr>
            <a:r>
              <a:rPr sz="1250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→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丁寧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るようになる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②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がリラックス</a:t>
            </a:r>
            <a:endParaRPr sz="1250">
              <a:latin typeface="SimSun"/>
              <a:cs typeface="SimSun"/>
            </a:endParaRPr>
          </a:p>
          <a:p>
            <a:pPr marL="157480">
              <a:lnSpc>
                <a:spcPct val="100000"/>
              </a:lnSpc>
              <a:spcBef>
                <a:spcPts val="600"/>
              </a:spcBef>
            </a:pPr>
            <a:r>
              <a:rPr sz="1250" spc="-40" dirty="0">
                <a:solidFill>
                  <a:srgbClr val="333333"/>
                </a:solidFill>
                <a:latin typeface="BIZ UDPゴシック"/>
                <a:cs typeface="BIZ UDPゴシック"/>
              </a:rPr>
              <a:t>→ 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美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しく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250" spc="-110" dirty="0">
                <a:solidFill>
                  <a:srgbClr val="333333"/>
                </a:solidFill>
                <a:latin typeface="SimSun"/>
                <a:cs typeface="SimSun"/>
              </a:rPr>
              <a:t>じやすくなる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③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影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endParaRPr sz="1250">
              <a:latin typeface="SimSun"/>
              <a:cs typeface="SimSun"/>
            </a:endParaRPr>
          </a:p>
          <a:p>
            <a:pPr marL="157480">
              <a:lnSpc>
                <a:spcPct val="100000"/>
              </a:lnSpc>
              <a:spcBef>
                <a:spcPts val="600"/>
              </a:spcBef>
            </a:pPr>
            <a:r>
              <a:rPr sz="1250" spc="-40" dirty="0">
                <a:solidFill>
                  <a:srgbClr val="333333"/>
                </a:solidFill>
                <a:latin typeface="BIZ UDPゴシック"/>
                <a:cs typeface="BIZ UDPゴシック"/>
              </a:rPr>
              <a:t>→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25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？（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250" spc="97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250">
              <a:latin typeface="BIZ UDPゴシック"/>
              <a:cs typeface="BIZ UDPゴシック"/>
            </a:endParaRPr>
          </a:p>
          <a:p>
            <a:pPr marL="12700" marR="1006475">
              <a:lnSpc>
                <a:spcPts val="4130"/>
              </a:lnSpc>
              <a:spcBef>
                <a:spcPts val="300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解明</a:t>
            </a:r>
            <a:r>
              <a:rPr sz="1250" spc="-5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endParaRPr sz="125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4"/>
            <a:ext cx="7063105" cy="4601210"/>
            <a:chOff x="352425" y="352394"/>
            <a:chExt cx="7063105" cy="4601210"/>
          </a:xfrm>
        </p:grpSpPr>
        <p:sp>
          <p:nvSpPr>
            <p:cNvPr id="3" name="object 3"/>
            <p:cNvSpPr/>
            <p:nvPr/>
          </p:nvSpPr>
          <p:spPr>
            <a:xfrm>
              <a:off x="357187" y="352409"/>
              <a:ext cx="7058025" cy="4596130"/>
            </a:xfrm>
            <a:custGeom>
              <a:avLst/>
              <a:gdLst/>
              <a:ahLst/>
              <a:cxnLst/>
              <a:rect l="l" t="t" r="r" b="b"/>
              <a:pathLst>
                <a:path w="7058025" h="4596130">
                  <a:moveTo>
                    <a:pt x="6955678" y="4595812"/>
                  </a:moveTo>
                  <a:lnTo>
                    <a:pt x="102346" y="4595812"/>
                  </a:lnTo>
                  <a:lnTo>
                    <a:pt x="95221" y="4595107"/>
                  </a:lnTo>
                  <a:lnTo>
                    <a:pt x="54663" y="4581267"/>
                  </a:lnTo>
                  <a:lnTo>
                    <a:pt x="22459" y="4553064"/>
                  </a:lnTo>
                  <a:lnTo>
                    <a:pt x="3505" y="4514659"/>
                  </a:lnTo>
                  <a:lnTo>
                    <a:pt x="0" y="4493456"/>
                  </a:lnTo>
                  <a:lnTo>
                    <a:pt x="0" y="4486275"/>
                  </a:lnTo>
                  <a:lnTo>
                    <a:pt x="0" y="0"/>
                  </a:lnTo>
                  <a:lnTo>
                    <a:pt x="7058025" y="0"/>
                  </a:lnTo>
                  <a:lnTo>
                    <a:pt x="7058025" y="4493456"/>
                  </a:lnTo>
                  <a:lnTo>
                    <a:pt x="7046937" y="4534795"/>
                  </a:lnTo>
                  <a:lnTo>
                    <a:pt x="7020858" y="4568761"/>
                  </a:lnTo>
                  <a:lnTo>
                    <a:pt x="6983758" y="4590192"/>
                  </a:lnTo>
                  <a:lnTo>
                    <a:pt x="6962803" y="4595107"/>
                  </a:lnTo>
                  <a:lnTo>
                    <a:pt x="6955678" y="4595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52425" y="352399"/>
              <a:ext cx="7061834" cy="4601210"/>
            </a:xfrm>
            <a:custGeom>
              <a:avLst/>
              <a:gdLst/>
              <a:ahLst/>
              <a:cxnLst/>
              <a:rect l="l" t="t" r="r" b="b"/>
              <a:pathLst>
                <a:path w="7061834" h="4601210">
                  <a:moveTo>
                    <a:pt x="7061289" y="0"/>
                  </a:moveTo>
                  <a:lnTo>
                    <a:pt x="7058025" y="0"/>
                  </a:lnTo>
                  <a:lnTo>
                    <a:pt x="7058025" y="4486287"/>
                  </a:lnTo>
                  <a:lnTo>
                    <a:pt x="7057517" y="4496613"/>
                  </a:lnTo>
                  <a:lnTo>
                    <a:pt x="7045630" y="4535729"/>
                  </a:lnTo>
                  <a:lnTo>
                    <a:pt x="7026834" y="4560836"/>
                  </a:lnTo>
                  <a:lnTo>
                    <a:pt x="6993344" y="4583112"/>
                  </a:lnTo>
                  <a:lnTo>
                    <a:pt x="6953250" y="4591088"/>
                  </a:lnTo>
                  <a:lnTo>
                    <a:pt x="114300" y="4591088"/>
                  </a:lnTo>
                  <a:lnTo>
                    <a:pt x="74193" y="4583112"/>
                  </a:lnTo>
                  <a:lnTo>
                    <a:pt x="40690" y="4560849"/>
                  </a:lnTo>
                  <a:lnTo>
                    <a:pt x="33261" y="4552721"/>
                  </a:lnTo>
                  <a:lnTo>
                    <a:pt x="14008" y="4516666"/>
                  </a:lnTo>
                  <a:lnTo>
                    <a:pt x="9525" y="448628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486287"/>
                  </a:lnTo>
                  <a:lnTo>
                    <a:pt x="533" y="4497552"/>
                  </a:lnTo>
                  <a:lnTo>
                    <a:pt x="13500" y="4540224"/>
                  </a:lnTo>
                  <a:lnTo>
                    <a:pt x="33528" y="4567085"/>
                  </a:lnTo>
                  <a:lnTo>
                    <a:pt x="70548" y="4591901"/>
                  </a:lnTo>
                  <a:lnTo>
                    <a:pt x="114300" y="4600613"/>
                  </a:lnTo>
                  <a:lnTo>
                    <a:pt x="6953250" y="4600613"/>
                  </a:lnTo>
                  <a:lnTo>
                    <a:pt x="6996989" y="4591901"/>
                  </a:lnTo>
                  <a:lnTo>
                    <a:pt x="7034060" y="4567136"/>
                  </a:lnTo>
                  <a:lnTo>
                    <a:pt x="7041642" y="4558766"/>
                  </a:lnTo>
                  <a:lnTo>
                    <a:pt x="7048297" y="4549800"/>
                  </a:lnTo>
                  <a:lnTo>
                    <a:pt x="7054024" y="4540224"/>
                  </a:lnTo>
                  <a:lnTo>
                    <a:pt x="7058838" y="4530026"/>
                  </a:lnTo>
                  <a:lnTo>
                    <a:pt x="7061289" y="4523194"/>
                  </a:lnTo>
                  <a:lnTo>
                    <a:pt x="706128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5000" y="357083"/>
            <a:ext cx="6482715" cy="4257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まだこれから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 marR="4878070">
              <a:lnSpc>
                <a:spcPct val="135000"/>
              </a:lnSpc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250" spc="65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試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してみる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価値</a:t>
            </a:r>
            <a:r>
              <a:rPr sz="1250" spc="-969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ありそうです</a:t>
            </a:r>
            <a:r>
              <a:rPr sz="1250" spc="600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50">
              <a:latin typeface="SimSun"/>
              <a:cs typeface="SimSun"/>
            </a:endParaRPr>
          </a:p>
          <a:p>
            <a:pPr marL="12700" marR="4746625">
              <a:lnSpc>
                <a:spcPct val="135000"/>
              </a:lnSpc>
            </a:pP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キッチンで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250" spc="-235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250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新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しい習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慣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endParaRPr sz="12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取り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250" spc="-145" dirty="0">
                <a:solidFill>
                  <a:srgbClr val="333333"/>
                </a:solidFill>
                <a:latin typeface="SimSun"/>
                <a:cs typeface="SimSun"/>
              </a:rPr>
              <a:t>れてみませんか</a:t>
            </a:r>
            <a:r>
              <a:rPr sz="125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2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1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</a:pPr>
            <a:r>
              <a:rPr sz="1250" spc="-65" dirty="0">
                <a:solidFill>
                  <a:srgbClr val="333333"/>
                </a:solidFill>
                <a:latin typeface="SimSun"/>
                <a:cs typeface="SimSun"/>
              </a:rPr>
              <a:t>━━━━━━━━━━━━━━━━━━</a:t>
            </a:r>
            <a:endParaRPr sz="1250">
              <a:latin typeface="SimSun"/>
              <a:cs typeface="SimSun"/>
            </a:endParaRPr>
          </a:p>
          <a:p>
            <a:pPr marL="12700" marR="4391025">
              <a:lnSpc>
                <a:spcPts val="2100"/>
              </a:lnSpc>
              <a:spcBef>
                <a:spcPts val="95"/>
              </a:spcBef>
            </a:pPr>
            <a:r>
              <a:rPr sz="1250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▼ 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常で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250" spc="-14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250" spc="-12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250" spc="-215" dirty="0">
                <a:solidFill>
                  <a:srgbClr val="333333"/>
                </a:solidFill>
                <a:latin typeface="メイリオ"/>
                <a:cs typeface="メイリオ"/>
              </a:rPr>
              <a:t>活⽤法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詳しくは</a:t>
            </a:r>
            <a:r>
              <a:rPr sz="1300" spc="-50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250" spc="-12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250" spc="-100" dirty="0">
                <a:solidFill>
                  <a:srgbClr val="333333"/>
                </a:solidFill>
                <a:latin typeface="メイリオ"/>
                <a:cs typeface="メイリオ"/>
              </a:rPr>
              <a:t>公開中</a:t>
            </a:r>
            <a:endParaRPr sz="1250">
              <a:latin typeface="メイリオ"/>
              <a:cs typeface="メイリオ"/>
            </a:endParaRPr>
          </a:p>
          <a:p>
            <a:pPr marL="12700" marR="5080" indent="-635">
              <a:lnSpc>
                <a:spcPct val="146700"/>
              </a:lnSpc>
              <a:spcBef>
                <a:spcPts val="860"/>
              </a:spcBef>
            </a:pP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125" dirty="0">
                <a:solidFill>
                  <a:srgbClr val="3896EF"/>
                </a:solidFill>
                <a:latin typeface="SimSun"/>
                <a:cs typeface="SimSun"/>
              </a:rPr>
              <a:t>料理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170" dirty="0">
                <a:solidFill>
                  <a:srgbClr val="3896EF"/>
                </a:solidFill>
                <a:latin typeface="SimSun"/>
                <a:cs typeface="SimSun"/>
              </a:rPr>
              <a:t>キッチン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896EF"/>
                </a:solidFill>
                <a:latin typeface="メイリオ"/>
                <a:cs typeface="メイリオ"/>
              </a:rPr>
              <a:t>⾃然⾳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896EF"/>
                </a:solidFill>
                <a:latin typeface="メイリオ"/>
                <a:cs typeface="メイリオ"/>
              </a:rPr>
              <a:t>家庭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65" dirty="0">
                <a:solidFill>
                  <a:srgbClr val="3896EF"/>
                </a:solidFill>
                <a:latin typeface="メイリオ"/>
                <a:cs typeface="メイリオ"/>
              </a:rPr>
              <a:t>⾷卓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美味</a:t>
            </a:r>
            <a:r>
              <a:rPr sz="1150" spc="-165" dirty="0">
                <a:solidFill>
                  <a:srgbClr val="3896EF"/>
                </a:solidFill>
                <a:latin typeface="SimSun"/>
                <a:cs typeface="SimSun"/>
              </a:rPr>
              <a:t>しい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家族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時</a:t>
            </a:r>
            <a:r>
              <a:rPr sz="1100" spc="-140" dirty="0">
                <a:solidFill>
                  <a:srgbClr val="3896EF"/>
                </a:solidFill>
                <a:latin typeface="SimSun"/>
                <a:cs typeface="SimSun"/>
              </a:rPr>
              <a:t>間 </a:t>
            </a:r>
            <a:r>
              <a:rPr sz="1150" spc="-105" dirty="0">
                <a:solidFill>
                  <a:srgbClr val="3896EF"/>
                </a:solidFill>
                <a:latin typeface="Comic Sans MS"/>
                <a:cs typeface="Comic Sans MS"/>
              </a:rPr>
              <a:t>#BGM</a:t>
            </a:r>
            <a:r>
              <a:rPr sz="1150" spc="-140" dirty="0">
                <a:solidFill>
                  <a:srgbClr val="3896EF"/>
                </a:solidFill>
                <a:latin typeface="Comic Sans MS"/>
                <a:cs typeface="Comic Sans MS"/>
              </a:rPr>
              <a:t> 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暮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らしを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整</a:t>
            </a:r>
            <a:r>
              <a:rPr sz="1150" spc="-180" dirty="0">
                <a:solidFill>
                  <a:srgbClr val="3896EF"/>
                </a:solidFill>
                <a:latin typeface="SimSun"/>
                <a:cs typeface="SimSun"/>
              </a:rPr>
              <a:t>える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896EF"/>
                </a:solidFill>
                <a:latin typeface="SimSun"/>
                <a:cs typeface="SimSun"/>
              </a:rPr>
              <a:t>サウンドヒ</a:t>
            </a:r>
            <a:r>
              <a:rPr sz="1100" spc="-95" dirty="0">
                <a:solidFill>
                  <a:srgbClr val="3896EF"/>
                </a:solidFill>
                <a:latin typeface="SimSun"/>
                <a:cs typeface="SimSun"/>
              </a:rPr>
              <a:t>ー</a:t>
            </a:r>
            <a:r>
              <a:rPr sz="1150" spc="-114" dirty="0">
                <a:solidFill>
                  <a:srgbClr val="3896EF"/>
                </a:solidFill>
                <a:latin typeface="SimSun"/>
                <a:cs typeface="SimSun"/>
              </a:rPr>
              <a:t>リング</a:t>
            </a:r>
            <a:r>
              <a:rPr sz="1150" spc="-50" dirty="0">
                <a:solidFill>
                  <a:srgbClr val="3896EF"/>
                </a:solidFill>
                <a:latin typeface="SimSun"/>
                <a:cs typeface="SimSun"/>
              </a:rPr>
              <a:t>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896EF"/>
                </a:solidFill>
                <a:latin typeface="メイリオ"/>
                <a:cs typeface="メイリオ"/>
              </a:rPr>
              <a:t>⽇常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75" dirty="0">
                <a:solidFill>
                  <a:srgbClr val="3896EF"/>
                </a:solidFill>
                <a:latin typeface="メイリオ"/>
                <a:cs typeface="メイリオ"/>
              </a:rPr>
              <a:t>習慣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50" spc="-160" dirty="0">
                <a:solidFill>
                  <a:srgbClr val="3896EF"/>
                </a:solidFill>
                <a:latin typeface="SimSun"/>
                <a:cs typeface="SimSun"/>
              </a:rPr>
              <a:t>キッチン</a:t>
            </a:r>
            <a:r>
              <a:rPr sz="1150" dirty="0">
                <a:solidFill>
                  <a:srgbClr val="3896EF"/>
                </a:solidFill>
                <a:latin typeface="Comic Sans MS"/>
                <a:cs typeface="Comic Sans MS"/>
              </a:rPr>
              <a:t>BGM</a:t>
            </a:r>
            <a:r>
              <a:rPr sz="1150" spc="-150" dirty="0">
                <a:solidFill>
                  <a:srgbClr val="3896EF"/>
                </a:solidFill>
                <a:latin typeface="Comic Sans MS"/>
                <a:cs typeface="Comic Sans MS"/>
              </a:rPr>
              <a:t> 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家庭</a:t>
            </a:r>
            <a:r>
              <a:rPr sz="1150" spc="-145" dirty="0">
                <a:solidFill>
                  <a:srgbClr val="3896EF"/>
                </a:solidFill>
                <a:latin typeface="SimSun"/>
                <a:cs typeface="SimSun"/>
              </a:rPr>
              <a:t>の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雰囲</a:t>
            </a:r>
            <a:r>
              <a:rPr sz="1100" spc="-150" dirty="0">
                <a:solidFill>
                  <a:srgbClr val="3896EF"/>
                </a:solidFill>
                <a:latin typeface="SimSun"/>
                <a:cs typeface="SimSun"/>
              </a:rPr>
              <a:t>気 </a:t>
            </a:r>
            <a:r>
              <a:rPr sz="1150" spc="-305" dirty="0">
                <a:solidFill>
                  <a:srgbClr val="3896EF"/>
                </a:solidFill>
                <a:latin typeface="Comic Sans MS"/>
                <a:cs typeface="Comic Sans MS"/>
              </a:rPr>
              <a:t>#</a:t>
            </a:r>
            <a:r>
              <a:rPr sz="1100" spc="-95" dirty="0">
                <a:solidFill>
                  <a:srgbClr val="3896EF"/>
                </a:solidFill>
                <a:latin typeface="メイリオ"/>
                <a:cs typeface="メイリオ"/>
              </a:rPr>
              <a:t>暮</a:t>
            </a:r>
            <a:r>
              <a:rPr sz="1150" spc="-100" dirty="0">
                <a:solidFill>
                  <a:srgbClr val="3896EF"/>
                </a:solidFill>
                <a:latin typeface="SimSun"/>
                <a:cs typeface="SimSun"/>
              </a:rPr>
              <a:t>らし</a:t>
            </a:r>
            <a:endParaRPr sz="1150">
              <a:latin typeface="SimSun"/>
              <a:cs typeface="SimSu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63</a:t>
            </a:fld>
            <a:r>
              <a:rPr spc="-10" dirty="0"/>
              <a:t>/135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733409"/>
            <a:ext cx="7061298" cy="1676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Part</a:t>
            </a:r>
            <a:r>
              <a:rPr spc="-385" dirty="0"/>
              <a:t> </a:t>
            </a:r>
            <a:r>
              <a:rPr spc="-295" dirty="0"/>
              <a:t>2:</a:t>
            </a:r>
            <a:r>
              <a:rPr spc="-385" dirty="0"/>
              <a:t> </a:t>
            </a:r>
            <a:r>
              <a:rPr sz="2650" spc="-265" dirty="0">
                <a:latin typeface="BIZ UDPゴシック"/>
                <a:cs typeface="BIZ UDPゴシック"/>
              </a:rPr>
              <a:t>無料</a:t>
            </a:r>
            <a:r>
              <a:rPr spc="-20" dirty="0"/>
              <a:t>note</a:t>
            </a:r>
            <a:r>
              <a:rPr sz="2650" spc="-290" dirty="0">
                <a:latin typeface="BIZ UDPゴシック"/>
                <a:cs typeface="BIZ UDPゴシック"/>
              </a:rPr>
              <a:t>記事</a:t>
            </a:r>
            <a:endParaRPr sz="2650">
              <a:latin typeface="BIZ UDPゴシック"/>
              <a:cs typeface="BIZ UDPゴシック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64</a:t>
            </a:fld>
            <a:r>
              <a:rPr spc="-10" dirty="0"/>
              <a:t>/135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9349" y="1764756"/>
            <a:ext cx="4533900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件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note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記事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サンプル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（各</a:t>
            </a: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1,500-2,500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⽂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字相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当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構成</a:t>
            </a:r>
            <a:r>
              <a:rPr sz="1300" spc="-50" dirty="0">
                <a:solidFill>
                  <a:srgbClr val="FFFFFF"/>
                </a:solidFill>
                <a:latin typeface="SimSun"/>
                <a:cs typeface="SimSun"/>
              </a:rPr>
              <a:t>）</a:t>
            </a:r>
            <a:endParaRPr sz="130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7"/>
            <a:ext cx="7061834" cy="9347835"/>
            <a:chOff x="352425" y="352427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209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13"/>
                  </a:moveTo>
                  <a:lnTo>
                    <a:pt x="0" y="9342513"/>
                  </a:lnTo>
                  <a:lnTo>
                    <a:pt x="0" y="102317"/>
                  </a:lnTo>
                  <a:lnTo>
                    <a:pt x="9163" y="60874"/>
                  </a:lnTo>
                  <a:lnTo>
                    <a:pt x="30708" y="26898"/>
                  </a:lnTo>
                  <a:lnTo>
                    <a:pt x="67008" y="3419"/>
                  </a:lnTo>
                  <a:lnTo>
                    <a:pt x="84543" y="0"/>
                  </a:lnTo>
                  <a:lnTo>
                    <a:pt x="6936629" y="0"/>
                  </a:lnTo>
                  <a:lnTo>
                    <a:pt x="6943368" y="666"/>
                  </a:lnTo>
                  <a:lnTo>
                    <a:pt x="6943558" y="666"/>
                  </a:lnTo>
                  <a:lnTo>
                    <a:pt x="6984311" y="14363"/>
                  </a:lnTo>
                  <a:lnTo>
                    <a:pt x="7016515" y="42567"/>
                  </a:lnTo>
                  <a:lnTo>
                    <a:pt x="7035470" y="81076"/>
                  </a:lnTo>
                  <a:lnTo>
                    <a:pt x="7037486" y="91215"/>
                  </a:lnTo>
                  <a:lnTo>
                    <a:pt x="7037486" y="9342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68"/>
                  </a:moveTo>
                  <a:lnTo>
                    <a:pt x="6979425" y="41795"/>
                  </a:lnTo>
                  <a:lnTo>
                    <a:pt x="6972262" y="34010"/>
                  </a:lnTo>
                  <a:lnTo>
                    <a:pt x="6971855" y="33477"/>
                  </a:lnTo>
                  <a:lnTo>
                    <a:pt x="6971385" y="33070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33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33" y="9525"/>
                  </a:lnTo>
                  <a:lnTo>
                    <a:pt x="6931126" y="17500"/>
                  </a:lnTo>
                  <a:lnTo>
                    <a:pt x="6964718" y="39865"/>
                  </a:lnTo>
                  <a:lnTo>
                    <a:pt x="6987819" y="74180"/>
                  </a:lnTo>
                  <a:lnTo>
                    <a:pt x="6995808" y="114274"/>
                  </a:lnTo>
                  <a:lnTo>
                    <a:pt x="6995808" y="9347276"/>
                  </a:lnTo>
                  <a:lnTo>
                    <a:pt x="6999071" y="934727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3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4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2" y="58064"/>
                  </a:lnTo>
                  <a:lnTo>
                    <a:pt x="33476" y="20982"/>
                  </a:lnTo>
                  <a:lnTo>
                    <a:pt x="62523" y="0"/>
                  </a:lnTo>
                  <a:lnTo>
                    <a:pt x="88529" y="5196"/>
                  </a:lnTo>
                  <a:lnTo>
                    <a:pt x="82838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5"/>
                  </a:lnTo>
                  <a:lnTo>
                    <a:pt x="47624" y="101806"/>
                  </a:lnTo>
                  <a:lnTo>
                    <a:pt x="47664" y="9334804"/>
                  </a:lnTo>
                  <a:close/>
                </a:path>
              </a:pathLst>
            </a:custGeom>
            <a:solidFill>
              <a:srgbClr val="41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166685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900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6438900" y="0"/>
                  </a:lnTo>
                  <a:lnTo>
                    <a:pt x="6438900" y="1905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82882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0" y="838123"/>
                  </a:moveTo>
                  <a:lnTo>
                    <a:pt x="71199" y="838123"/>
                  </a:lnTo>
                  <a:lnTo>
                    <a:pt x="66236" y="837638"/>
                  </a:lnTo>
                  <a:lnTo>
                    <a:pt x="29708" y="822531"/>
                  </a:lnTo>
                  <a:lnTo>
                    <a:pt x="3886" y="786441"/>
                  </a:lnTo>
                  <a:lnTo>
                    <a:pt x="0" y="766943"/>
                  </a:lnTo>
                  <a:lnTo>
                    <a:pt x="0" y="761961"/>
                  </a:lnTo>
                  <a:lnTo>
                    <a:pt x="0" y="71142"/>
                  </a:lnTo>
                  <a:lnTo>
                    <a:pt x="15621" y="29575"/>
                  </a:lnTo>
                  <a:lnTo>
                    <a:pt x="51663" y="3790"/>
                  </a:lnTo>
                  <a:lnTo>
                    <a:pt x="71199" y="0"/>
                  </a:lnTo>
                  <a:lnTo>
                    <a:pt x="6367700" y="0"/>
                  </a:lnTo>
                  <a:lnTo>
                    <a:pt x="6409191" y="15516"/>
                  </a:lnTo>
                  <a:lnTo>
                    <a:pt x="6435013" y="51530"/>
                  </a:lnTo>
                  <a:lnTo>
                    <a:pt x="6438900" y="71142"/>
                  </a:lnTo>
                  <a:lnTo>
                    <a:pt x="6438900" y="766943"/>
                  </a:lnTo>
                  <a:lnTo>
                    <a:pt x="6423279" y="808434"/>
                  </a:lnTo>
                  <a:lnTo>
                    <a:pt x="6387236" y="834218"/>
                  </a:lnTo>
                  <a:lnTo>
                    <a:pt x="6372663" y="837638"/>
                  </a:lnTo>
                  <a:lnTo>
                    <a:pt x="6367700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" y="2857486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97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00" y="5676884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90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6438900" y="0"/>
                  </a:lnTo>
                  <a:lnTo>
                    <a:pt x="6438900" y="838200"/>
                  </a:lnTo>
                  <a:close/>
                </a:path>
              </a:pathLst>
            </a:custGeom>
            <a:solidFill>
              <a:srgbClr val="EFF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800" y="5676887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28575" y="1028700"/>
                  </a:moveTo>
                  <a:lnTo>
                    <a:pt x="0" y="1028700"/>
                  </a:lnTo>
                  <a:lnTo>
                    <a:pt x="0" y="1323975"/>
                  </a:lnTo>
                  <a:lnTo>
                    <a:pt x="28575" y="1323975"/>
                  </a:lnTo>
                  <a:lnTo>
                    <a:pt x="28575" y="1028700"/>
                  </a:lnTo>
                  <a:close/>
                </a:path>
                <a:path w="38100" h="1323975">
                  <a:moveTo>
                    <a:pt x="381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8100" y="838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97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0562" y="8662971"/>
              <a:ext cx="6429375" cy="1036955"/>
            </a:xfrm>
            <a:custGeom>
              <a:avLst/>
              <a:gdLst/>
              <a:ahLst/>
              <a:cxnLst/>
              <a:rect l="l" t="t" r="r" b="b"/>
              <a:pathLst>
                <a:path w="6429375" h="1036954">
                  <a:moveTo>
                    <a:pt x="6429375" y="1036751"/>
                  </a:moveTo>
                  <a:lnTo>
                    <a:pt x="0" y="1036751"/>
                  </a:lnTo>
                  <a:lnTo>
                    <a:pt x="0" y="66713"/>
                  </a:lnTo>
                  <a:lnTo>
                    <a:pt x="14649" y="27755"/>
                  </a:lnTo>
                  <a:lnTo>
                    <a:pt x="48434" y="3609"/>
                  </a:lnTo>
                  <a:lnTo>
                    <a:pt x="66751" y="0"/>
                  </a:lnTo>
                  <a:lnTo>
                    <a:pt x="6362623" y="0"/>
                  </a:lnTo>
                  <a:lnTo>
                    <a:pt x="6401524" y="14582"/>
                  </a:lnTo>
                  <a:lnTo>
                    <a:pt x="6425736" y="48367"/>
                  </a:lnTo>
                  <a:lnTo>
                    <a:pt x="6429375" y="66713"/>
                  </a:lnTo>
                  <a:lnTo>
                    <a:pt x="6429375" y="1036751"/>
                  </a:lnTo>
                  <a:close/>
                </a:path>
              </a:pathLst>
            </a:custGeom>
            <a:solidFill>
              <a:srgbClr val="FFF8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800" y="8658237"/>
              <a:ext cx="6438900" cy="1042035"/>
            </a:xfrm>
            <a:custGeom>
              <a:avLst/>
              <a:gdLst/>
              <a:ahLst/>
              <a:cxnLst/>
              <a:rect l="l" t="t" r="r" b="b"/>
              <a:pathLst>
                <a:path w="6438900" h="1042034">
                  <a:moveTo>
                    <a:pt x="6438900" y="76174"/>
                  </a:moveTo>
                  <a:lnTo>
                    <a:pt x="6426060" y="33832"/>
                  </a:lnTo>
                  <a:lnTo>
                    <a:pt x="6416535" y="22352"/>
                  </a:lnTo>
                  <a:lnTo>
                    <a:pt x="6416180" y="21971"/>
                  </a:lnTo>
                  <a:lnTo>
                    <a:pt x="6416078" y="21844"/>
                  </a:lnTo>
                  <a:lnTo>
                    <a:pt x="6411011" y="17259"/>
                  </a:lnTo>
                  <a:lnTo>
                    <a:pt x="6405042" y="12827"/>
                  </a:lnTo>
                  <a:lnTo>
                    <a:pt x="6399517" y="9525"/>
                  </a:lnTo>
                  <a:lnTo>
                    <a:pt x="6398654" y="9004"/>
                  </a:lnTo>
                  <a:lnTo>
                    <a:pt x="6362700" y="0"/>
                  </a:lnTo>
                  <a:lnTo>
                    <a:pt x="76200" y="0"/>
                  </a:lnTo>
                  <a:lnTo>
                    <a:pt x="33845" y="12827"/>
                  </a:lnTo>
                  <a:lnTo>
                    <a:pt x="22809" y="21856"/>
                  </a:lnTo>
                  <a:lnTo>
                    <a:pt x="22313" y="22313"/>
                  </a:lnTo>
                  <a:lnTo>
                    <a:pt x="1447" y="61302"/>
                  </a:lnTo>
                  <a:lnTo>
                    <a:pt x="0" y="76174"/>
                  </a:lnTo>
                  <a:lnTo>
                    <a:pt x="0" y="1041476"/>
                  </a:lnTo>
                  <a:lnTo>
                    <a:pt x="9525" y="1041476"/>
                  </a:lnTo>
                  <a:lnTo>
                    <a:pt x="9525" y="76174"/>
                  </a:lnTo>
                  <a:lnTo>
                    <a:pt x="9829" y="69608"/>
                  </a:lnTo>
                  <a:lnTo>
                    <a:pt x="24625" y="33896"/>
                  </a:lnTo>
                  <a:lnTo>
                    <a:pt x="56870" y="12369"/>
                  </a:lnTo>
                  <a:lnTo>
                    <a:pt x="76200" y="9525"/>
                  </a:lnTo>
                  <a:lnTo>
                    <a:pt x="6362700" y="9525"/>
                  </a:lnTo>
                  <a:lnTo>
                    <a:pt x="6399746" y="20751"/>
                  </a:lnTo>
                  <a:lnTo>
                    <a:pt x="6424295" y="50660"/>
                  </a:lnTo>
                  <a:lnTo>
                    <a:pt x="6429375" y="76174"/>
                  </a:lnTo>
                  <a:lnTo>
                    <a:pt x="6429375" y="1041476"/>
                  </a:lnTo>
                  <a:lnTo>
                    <a:pt x="6438900" y="1041476"/>
                  </a:lnTo>
                  <a:lnTo>
                    <a:pt x="6438900" y="76174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800" y="647686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83"/>
                  </a:moveTo>
                  <a:lnTo>
                    <a:pt x="365379" y="29730"/>
                  </a:lnTo>
                  <a:lnTo>
                    <a:pt x="329336" y="3873"/>
                  </a:lnTo>
                  <a:lnTo>
                    <a:pt x="309791" y="0"/>
                  </a:lnTo>
                  <a:lnTo>
                    <a:pt x="71196" y="0"/>
                  </a:lnTo>
                  <a:lnTo>
                    <a:pt x="29705" y="15633"/>
                  </a:lnTo>
                  <a:lnTo>
                    <a:pt x="3886" y="51650"/>
                  </a:lnTo>
                  <a:lnTo>
                    <a:pt x="0" y="71183"/>
                  </a:lnTo>
                  <a:lnTo>
                    <a:pt x="0" y="304800"/>
                  </a:lnTo>
                  <a:lnTo>
                    <a:pt x="0" y="309753"/>
                  </a:lnTo>
                  <a:lnTo>
                    <a:pt x="15621" y="351243"/>
                  </a:lnTo>
                  <a:lnTo>
                    <a:pt x="51663" y="377063"/>
                  </a:lnTo>
                  <a:lnTo>
                    <a:pt x="71196" y="381000"/>
                  </a:lnTo>
                  <a:lnTo>
                    <a:pt x="309791" y="381000"/>
                  </a:lnTo>
                  <a:lnTo>
                    <a:pt x="351282" y="365340"/>
                  </a:lnTo>
                  <a:lnTo>
                    <a:pt x="377113" y="329285"/>
                  </a:lnTo>
                  <a:lnTo>
                    <a:pt x="381000" y="309753"/>
                  </a:lnTo>
                  <a:lnTo>
                    <a:pt x="381000" y="71183"/>
                  </a:lnTo>
                  <a:close/>
                </a:path>
                <a:path w="1057275" h="381000">
                  <a:moveTo>
                    <a:pt x="1057275" y="190525"/>
                  </a:moveTo>
                  <a:lnTo>
                    <a:pt x="1052131" y="148780"/>
                  </a:lnTo>
                  <a:lnTo>
                    <a:pt x="1037031" y="109651"/>
                  </a:lnTo>
                  <a:lnTo>
                    <a:pt x="1012863" y="75336"/>
                  </a:lnTo>
                  <a:lnTo>
                    <a:pt x="981075" y="47879"/>
                  </a:lnTo>
                  <a:lnTo>
                    <a:pt x="943571" y="29044"/>
                  </a:lnTo>
                  <a:lnTo>
                    <a:pt x="902627" y="19926"/>
                  </a:lnTo>
                  <a:lnTo>
                    <a:pt x="885825" y="19075"/>
                  </a:lnTo>
                  <a:lnTo>
                    <a:pt x="695325" y="19075"/>
                  </a:lnTo>
                  <a:lnTo>
                    <a:pt x="653643" y="24193"/>
                  </a:lnTo>
                  <a:lnTo>
                    <a:pt x="614502" y="39255"/>
                  </a:lnTo>
                  <a:lnTo>
                    <a:pt x="580186" y="63398"/>
                  </a:lnTo>
                  <a:lnTo>
                    <a:pt x="552767" y="95161"/>
                  </a:lnTo>
                  <a:lnTo>
                    <a:pt x="533882" y="132689"/>
                  </a:lnTo>
                  <a:lnTo>
                    <a:pt x="524687" y="173659"/>
                  </a:lnTo>
                  <a:lnTo>
                    <a:pt x="523875" y="190525"/>
                  </a:lnTo>
                  <a:lnTo>
                    <a:pt x="524078" y="198932"/>
                  </a:lnTo>
                  <a:lnTo>
                    <a:pt x="531253" y="240233"/>
                  </a:lnTo>
                  <a:lnTo>
                    <a:pt x="548259" y="278561"/>
                  </a:lnTo>
                  <a:lnTo>
                    <a:pt x="574090" y="311683"/>
                  </a:lnTo>
                  <a:lnTo>
                    <a:pt x="607187" y="337464"/>
                  </a:lnTo>
                  <a:lnTo>
                    <a:pt x="645553" y="354469"/>
                  </a:lnTo>
                  <a:lnTo>
                    <a:pt x="686892" y="361746"/>
                  </a:lnTo>
                  <a:lnTo>
                    <a:pt x="695325" y="361975"/>
                  </a:lnTo>
                  <a:lnTo>
                    <a:pt x="885825" y="361975"/>
                  </a:lnTo>
                  <a:lnTo>
                    <a:pt x="927493" y="356730"/>
                  </a:lnTo>
                  <a:lnTo>
                    <a:pt x="966635" y="341604"/>
                  </a:lnTo>
                  <a:lnTo>
                    <a:pt x="1000950" y="317461"/>
                  </a:lnTo>
                  <a:lnTo>
                    <a:pt x="1028369" y="285661"/>
                  </a:lnTo>
                  <a:lnTo>
                    <a:pt x="1047254" y="248196"/>
                  </a:lnTo>
                  <a:lnTo>
                    <a:pt x="1056449" y="207302"/>
                  </a:lnTo>
                  <a:lnTo>
                    <a:pt x="1057275" y="190525"/>
                  </a:lnTo>
                  <a:close/>
                </a:path>
              </a:pathLst>
            </a:custGeom>
            <a:solidFill>
              <a:srgbClr val="41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100" y="713318"/>
            <a:ext cx="6451600" cy="86125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【完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750" b="1" dirty="0">
                <a:solidFill>
                  <a:srgbClr val="333333"/>
                </a:solidFill>
                <a:latin typeface="BIZ UDPゴシック"/>
                <a:cs typeface="BIZ UDPゴシック"/>
              </a:rPr>
              <a:t>ガイド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80" dirty="0">
                <a:solidFill>
                  <a:srgbClr val="333333"/>
                </a:solidFill>
                <a:latin typeface="BIZ UDPゴシック"/>
                <a:cs typeface="BIZ UDPゴシック"/>
              </a:rPr>
              <a:t>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リングとは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？初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者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が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知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るべき</a:t>
            </a:r>
            <a:r>
              <a:rPr sz="1800" b="1" spc="-185" dirty="0">
                <a:solidFill>
                  <a:srgbClr val="333333"/>
                </a:solidFill>
                <a:latin typeface="Verdana"/>
                <a:cs typeface="Verdana"/>
              </a:rPr>
              <a:t>5</a:t>
            </a:r>
            <a:r>
              <a:rPr sz="1750" b="1" spc="-560" dirty="0">
                <a:solidFill>
                  <a:srgbClr val="333333"/>
                </a:solidFill>
                <a:latin typeface="BIZ UDPゴシック"/>
                <a:cs typeface="BIZ UDPゴシック"/>
              </a:rPr>
              <a:t>つの</a:t>
            </a:r>
            <a:r>
              <a:rPr sz="1700" b="1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基本</a:t>
            </a:r>
            <a:endParaRPr sz="17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4940" marR="43307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リングって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怪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しい</a:t>
            </a:r>
            <a:r>
              <a:rPr sz="1350" i="1" spc="-290" dirty="0">
                <a:solidFill>
                  <a:srgbClr val="333333"/>
                </a:solidFill>
                <a:latin typeface="メイリオ"/>
                <a:cs typeface="メイリオ"/>
              </a:rPr>
              <a:t>？」「本当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あるの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？」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そんな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疑問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400" i="1" spc="-170" dirty="0">
                <a:solidFill>
                  <a:srgbClr val="333333"/>
                </a:solidFill>
                <a:latin typeface="メイリオ"/>
                <a:cs typeface="メイリオ"/>
              </a:rPr>
              <a:t>つあなた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へ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。科学的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なエビデンスを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えながら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わかりやすく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メイリオ"/>
              <a:cs typeface="メイリオ"/>
            </a:endParaRPr>
          </a:p>
          <a:p>
            <a:pPr marL="358140" indent="-221615">
              <a:lnSpc>
                <a:spcPct val="100000"/>
              </a:lnSpc>
              <a:buSzPct val="106896"/>
              <a:buFont typeface="Comic Sans MS"/>
              <a:buAutoNum type="arabicPeriod"/>
              <a:tabLst>
                <a:tab pos="358140" algn="l"/>
              </a:tabLst>
            </a:pPr>
            <a:r>
              <a:rPr sz="1450" b="1" spc="-75" dirty="0">
                <a:solidFill>
                  <a:srgbClr val="2C5A27"/>
                </a:solidFill>
                <a:latin typeface="BIZ UDPゴシック"/>
                <a:cs typeface="BIZ UDPゴシック"/>
              </a:rPr>
              <a:t>サウンドヒーリングの定義</a:t>
            </a:r>
            <a:endParaRPr sz="1450">
              <a:latin typeface="BIZ UDPゴシック"/>
              <a:cs typeface="BIZ UDPゴシック"/>
            </a:endParaRPr>
          </a:p>
          <a:p>
            <a:pPr marL="12700" marR="48260" algn="just">
              <a:lnSpc>
                <a:spcPct val="131900"/>
              </a:lnSpc>
              <a:spcBef>
                <a:spcPts val="825"/>
              </a:spcBef>
            </a:pP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300" spc="13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リングとは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⼼⾝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のバランスを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健康法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-130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古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世界各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地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されてきた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⼿法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であり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現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によってその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740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証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されつつあります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endParaRPr sz="13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HGP行書体"/>
              <a:cs typeface="HGP行書体"/>
            </a:endParaRPr>
          </a:p>
          <a:p>
            <a:pPr marL="358140" indent="-221615">
              <a:lnSpc>
                <a:spcPct val="100000"/>
              </a:lnSpc>
              <a:buSzPct val="106896"/>
              <a:buFont typeface="Comic Sans MS"/>
              <a:buAutoNum type="arabicPeriod" startAt="2"/>
              <a:tabLst>
                <a:tab pos="358140" algn="l"/>
              </a:tabLst>
            </a:pPr>
            <a:r>
              <a:rPr sz="1450" b="1" spc="-140" dirty="0">
                <a:solidFill>
                  <a:srgbClr val="2C5A27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⾳</a:t>
            </a:r>
            <a:r>
              <a:rPr sz="1450" b="1" spc="-110" dirty="0">
                <a:solidFill>
                  <a:srgbClr val="2C5A27"/>
                </a:solidFill>
                <a:latin typeface="BIZ UDPゴシック"/>
                <a:cs typeface="BIZ UDPゴシック"/>
              </a:rPr>
              <a:t>が体に効くのか</a:t>
            </a:r>
            <a:endParaRPr sz="1450">
              <a:latin typeface="BIZ UDPゴシック"/>
              <a:cs typeface="BIZ UDPゴシック"/>
            </a:endParaRPr>
          </a:p>
          <a:p>
            <a:pPr marL="12700" marR="75565" algn="just">
              <a:lnSpc>
                <a:spcPct val="131900"/>
              </a:lnSpc>
              <a:spcBef>
                <a:spcPts val="825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50" spc="-60" dirty="0">
                <a:solidFill>
                  <a:srgbClr val="333333"/>
                </a:solidFill>
                <a:latin typeface="Comic Sans MS"/>
                <a:cs typeface="Comic Sans MS"/>
              </a:rPr>
              <a:t>70%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⽔分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構成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されています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であり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空気中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倍以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速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わります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つまり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えやすい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構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造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になっているのです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78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だけでなく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届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いています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endParaRPr sz="13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HGP行書体"/>
              <a:cs typeface="HGP行書体"/>
            </a:endParaRPr>
          </a:p>
          <a:p>
            <a:pPr marL="193675" marR="154940">
              <a:lnSpc>
                <a:spcPct val="134300"/>
              </a:lnSpc>
            </a:pP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波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⾝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ると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共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振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こり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組織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健康回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復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強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役⽴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つと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えられている</a:t>
            </a: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」</a:t>
            </a:r>
            <a:endParaRPr sz="13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</a:pPr>
            <a:endParaRPr sz="12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HGP行書体"/>
              <a:cs typeface="HGP行書体"/>
            </a:endParaRPr>
          </a:p>
          <a:p>
            <a:pPr marL="358140" indent="-221615">
              <a:lnSpc>
                <a:spcPct val="100000"/>
              </a:lnSpc>
              <a:buSzPct val="106896"/>
              <a:buFont typeface="Comic Sans MS"/>
              <a:buAutoNum type="arabicPeriod" startAt="3"/>
              <a:tabLst>
                <a:tab pos="358140" algn="l"/>
              </a:tabLst>
            </a:pPr>
            <a:r>
              <a:rPr sz="1450" b="1" spc="-140" dirty="0">
                <a:solidFill>
                  <a:srgbClr val="2C5A27"/>
                </a:solidFill>
                <a:latin typeface="BIZ UDPゴシック"/>
                <a:cs typeface="BIZ UDPゴシック"/>
              </a:rPr>
              <a:t>期待できる効</a:t>
            </a:r>
            <a:r>
              <a:rPr sz="1450" b="1" spc="-50" dirty="0">
                <a:solidFill>
                  <a:srgbClr val="2C5A27"/>
                </a:solidFill>
                <a:latin typeface="メイリオ"/>
                <a:cs typeface="メイリオ"/>
              </a:rPr>
              <a:t>果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のバランス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質向上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リラックス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HGP行書体"/>
                <a:cs typeface="HGP行書体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中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アップ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SimSun"/>
              <a:cs typeface="SimSun"/>
            </a:endParaRPr>
          </a:p>
          <a:p>
            <a:pPr marL="165100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5100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第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78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回⽇本温泉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候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学会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発表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成⼈⼥性</a:t>
            </a:r>
            <a:r>
              <a:rPr sz="1350" spc="6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中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9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拍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65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4"/>
            <a:ext cx="7063105" cy="4115435"/>
            <a:chOff x="352425" y="352394"/>
            <a:chExt cx="7063105" cy="4115435"/>
          </a:xfrm>
        </p:grpSpPr>
        <p:sp>
          <p:nvSpPr>
            <p:cNvPr id="3" name="object 3"/>
            <p:cNvSpPr/>
            <p:nvPr/>
          </p:nvSpPr>
          <p:spPr>
            <a:xfrm>
              <a:off x="376237" y="352409"/>
              <a:ext cx="7038975" cy="4110354"/>
            </a:xfrm>
            <a:custGeom>
              <a:avLst/>
              <a:gdLst/>
              <a:ahLst/>
              <a:cxnLst/>
              <a:rect l="l" t="t" r="r" b="b"/>
              <a:pathLst>
                <a:path w="7038975" h="4110354">
                  <a:moveTo>
                    <a:pt x="6936628" y="4109999"/>
                  </a:moveTo>
                  <a:lnTo>
                    <a:pt x="84543" y="4109999"/>
                  </a:lnTo>
                  <a:lnTo>
                    <a:pt x="78657" y="4109294"/>
                  </a:lnTo>
                  <a:lnTo>
                    <a:pt x="35271" y="4087529"/>
                  </a:lnTo>
                  <a:lnTo>
                    <a:pt x="11944" y="4055268"/>
                  </a:lnTo>
                  <a:lnTo>
                    <a:pt x="581" y="4014787"/>
                  </a:lnTo>
                  <a:lnTo>
                    <a:pt x="0" y="4007681"/>
                  </a:lnTo>
                  <a:lnTo>
                    <a:pt x="0" y="4000500"/>
                  </a:lnTo>
                  <a:lnTo>
                    <a:pt x="0" y="0"/>
                  </a:lnTo>
                  <a:lnTo>
                    <a:pt x="7038975" y="0"/>
                  </a:lnTo>
                  <a:lnTo>
                    <a:pt x="7038975" y="4007681"/>
                  </a:lnTo>
                  <a:lnTo>
                    <a:pt x="7027887" y="4048982"/>
                  </a:lnTo>
                  <a:lnTo>
                    <a:pt x="7001808" y="4082986"/>
                  </a:lnTo>
                  <a:lnTo>
                    <a:pt x="6964708" y="4104379"/>
                  </a:lnTo>
                  <a:lnTo>
                    <a:pt x="6943753" y="4109294"/>
                  </a:lnTo>
                  <a:lnTo>
                    <a:pt x="6936628" y="4109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99"/>
              <a:ext cx="6999605" cy="4115435"/>
            </a:xfrm>
            <a:custGeom>
              <a:avLst/>
              <a:gdLst/>
              <a:ahLst/>
              <a:cxnLst/>
              <a:rect l="l" t="t" r="r" b="b"/>
              <a:pathLst>
                <a:path w="6999605" h="4115435">
                  <a:moveTo>
                    <a:pt x="6999071" y="0"/>
                  </a:moveTo>
                  <a:lnTo>
                    <a:pt x="6995808" y="0"/>
                  </a:lnTo>
                  <a:lnTo>
                    <a:pt x="6995808" y="4000512"/>
                  </a:lnTo>
                  <a:lnTo>
                    <a:pt x="6995300" y="4010837"/>
                  </a:lnTo>
                  <a:lnTo>
                    <a:pt x="6983412" y="4049953"/>
                  </a:lnTo>
                  <a:lnTo>
                    <a:pt x="6964616" y="4075061"/>
                  </a:lnTo>
                  <a:lnTo>
                    <a:pt x="6931126" y="4097337"/>
                  </a:lnTo>
                  <a:lnTo>
                    <a:pt x="6891033" y="4105313"/>
                  </a:lnTo>
                  <a:lnTo>
                    <a:pt x="52082" y="4105313"/>
                  </a:lnTo>
                  <a:lnTo>
                    <a:pt x="26085" y="4096982"/>
                  </a:lnTo>
                  <a:lnTo>
                    <a:pt x="0" y="4102201"/>
                  </a:lnTo>
                  <a:lnTo>
                    <a:pt x="40817" y="4114292"/>
                  </a:lnTo>
                  <a:lnTo>
                    <a:pt x="52082" y="4114838"/>
                  </a:lnTo>
                  <a:lnTo>
                    <a:pt x="6891033" y="4114838"/>
                  </a:lnTo>
                  <a:lnTo>
                    <a:pt x="6934771" y="4106138"/>
                  </a:lnTo>
                  <a:lnTo>
                    <a:pt x="6936511" y="4105313"/>
                  </a:lnTo>
                  <a:lnTo>
                    <a:pt x="6944957" y="4101325"/>
                  </a:lnTo>
                  <a:lnTo>
                    <a:pt x="6954545" y="4095585"/>
                  </a:lnTo>
                  <a:lnTo>
                    <a:pt x="6963499" y="4088930"/>
                  </a:lnTo>
                  <a:lnTo>
                    <a:pt x="6971855" y="4081361"/>
                  </a:lnTo>
                  <a:lnTo>
                    <a:pt x="6972300" y="4080853"/>
                  </a:lnTo>
                  <a:lnTo>
                    <a:pt x="6979425" y="4072991"/>
                  </a:lnTo>
                  <a:lnTo>
                    <a:pt x="6986079" y="4064025"/>
                  </a:lnTo>
                  <a:lnTo>
                    <a:pt x="6991807" y="4054449"/>
                  </a:lnTo>
                  <a:lnTo>
                    <a:pt x="6996620" y="4044264"/>
                  </a:lnTo>
                  <a:lnTo>
                    <a:pt x="6999071" y="4037431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94"/>
              <a:ext cx="88900" cy="4102735"/>
            </a:xfrm>
            <a:custGeom>
              <a:avLst/>
              <a:gdLst/>
              <a:ahLst/>
              <a:cxnLst/>
              <a:rect l="l" t="t" r="r" b="b"/>
              <a:pathLst>
                <a:path w="88900" h="4102735">
                  <a:moveTo>
                    <a:pt x="62523" y="4102321"/>
                  </a:moveTo>
                  <a:lnTo>
                    <a:pt x="25899" y="4072990"/>
                  </a:lnTo>
                  <a:lnTo>
                    <a:pt x="4892" y="4033645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4000515"/>
                  </a:lnTo>
                  <a:lnTo>
                    <a:pt x="47942" y="4010835"/>
                  </a:lnTo>
                  <a:lnTo>
                    <a:pt x="55506" y="4049955"/>
                  </a:lnTo>
                  <a:lnTo>
                    <a:pt x="77250" y="4087648"/>
                  </a:lnTo>
                  <a:lnTo>
                    <a:pt x="88530" y="4097124"/>
                  </a:lnTo>
                  <a:lnTo>
                    <a:pt x="62523" y="4102321"/>
                  </a:lnTo>
                  <a:close/>
                </a:path>
              </a:pathLst>
            </a:custGeom>
            <a:solidFill>
              <a:srgbClr val="41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0562" y="352409"/>
              <a:ext cx="6429375" cy="424180"/>
            </a:xfrm>
            <a:custGeom>
              <a:avLst/>
              <a:gdLst/>
              <a:ahLst/>
              <a:cxnLst/>
              <a:rect l="l" t="t" r="r" b="b"/>
              <a:pathLst>
                <a:path w="6429375" h="424180">
                  <a:moveTo>
                    <a:pt x="6362623" y="423862"/>
                  </a:moveTo>
                  <a:lnTo>
                    <a:pt x="66751" y="423862"/>
                  </a:lnTo>
                  <a:lnTo>
                    <a:pt x="62102" y="423414"/>
                  </a:lnTo>
                  <a:lnTo>
                    <a:pt x="24241" y="406222"/>
                  </a:lnTo>
                  <a:lnTo>
                    <a:pt x="2286" y="370913"/>
                  </a:lnTo>
                  <a:lnTo>
                    <a:pt x="0" y="357073"/>
                  </a:lnTo>
                  <a:lnTo>
                    <a:pt x="0" y="352425"/>
                  </a:lnTo>
                  <a:lnTo>
                    <a:pt x="0" y="0"/>
                  </a:lnTo>
                  <a:lnTo>
                    <a:pt x="6429375" y="0"/>
                  </a:lnTo>
                  <a:lnTo>
                    <a:pt x="6429375" y="357073"/>
                  </a:lnTo>
                  <a:lnTo>
                    <a:pt x="6414725" y="395954"/>
                  </a:lnTo>
                  <a:lnTo>
                    <a:pt x="6380940" y="420176"/>
                  </a:lnTo>
                  <a:lnTo>
                    <a:pt x="6367272" y="423376"/>
                  </a:lnTo>
                  <a:lnTo>
                    <a:pt x="6362623" y="423862"/>
                  </a:lnTo>
                  <a:close/>
                </a:path>
              </a:pathLst>
            </a:custGeom>
            <a:solidFill>
              <a:srgbClr val="FFF8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352399"/>
              <a:ext cx="6438900" cy="429259"/>
            </a:xfrm>
            <a:custGeom>
              <a:avLst/>
              <a:gdLst/>
              <a:ahLst/>
              <a:cxnLst/>
              <a:rect l="l" t="t" r="r" b="b"/>
              <a:pathLst>
                <a:path w="6438900" h="429259">
                  <a:moveTo>
                    <a:pt x="6438900" y="12"/>
                  </a:moveTo>
                  <a:lnTo>
                    <a:pt x="6429375" y="0"/>
                  </a:lnTo>
                  <a:lnTo>
                    <a:pt x="6429375" y="352437"/>
                  </a:lnTo>
                  <a:lnTo>
                    <a:pt x="6429057" y="359003"/>
                  </a:lnTo>
                  <a:lnTo>
                    <a:pt x="6414262" y="394716"/>
                  </a:lnTo>
                  <a:lnTo>
                    <a:pt x="6409347" y="400037"/>
                  </a:lnTo>
                  <a:lnTo>
                    <a:pt x="6369266" y="418820"/>
                  </a:lnTo>
                  <a:lnTo>
                    <a:pt x="6362700" y="419138"/>
                  </a:lnTo>
                  <a:lnTo>
                    <a:pt x="76200" y="419138"/>
                  </a:lnTo>
                  <a:lnTo>
                    <a:pt x="39141" y="407911"/>
                  </a:lnTo>
                  <a:lnTo>
                    <a:pt x="29527" y="400050"/>
                  </a:lnTo>
                  <a:lnTo>
                    <a:pt x="24625" y="394716"/>
                  </a:lnTo>
                  <a:lnTo>
                    <a:pt x="9829" y="359003"/>
                  </a:lnTo>
                  <a:lnTo>
                    <a:pt x="9525" y="352437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52437"/>
                  </a:lnTo>
                  <a:lnTo>
                    <a:pt x="355" y="359943"/>
                  </a:lnTo>
                  <a:lnTo>
                    <a:pt x="17259" y="400761"/>
                  </a:lnTo>
                  <a:lnTo>
                    <a:pt x="22352" y="406298"/>
                  </a:lnTo>
                  <a:lnTo>
                    <a:pt x="61328" y="427215"/>
                  </a:lnTo>
                  <a:lnTo>
                    <a:pt x="76200" y="428663"/>
                  </a:lnTo>
                  <a:lnTo>
                    <a:pt x="6362700" y="428663"/>
                  </a:lnTo>
                  <a:lnTo>
                    <a:pt x="6405042" y="415823"/>
                  </a:lnTo>
                  <a:lnTo>
                    <a:pt x="6416078" y="406781"/>
                  </a:lnTo>
                  <a:lnTo>
                    <a:pt x="6416573" y="406336"/>
                  </a:lnTo>
                  <a:lnTo>
                    <a:pt x="6421628" y="400761"/>
                  </a:lnTo>
                  <a:lnTo>
                    <a:pt x="6426060" y="394779"/>
                  </a:lnTo>
                  <a:lnTo>
                    <a:pt x="6438900" y="352437"/>
                  </a:lnTo>
                  <a:lnTo>
                    <a:pt x="6438900" y="12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" y="971536"/>
              <a:ext cx="28575" cy="1438275"/>
            </a:xfrm>
            <a:custGeom>
              <a:avLst/>
              <a:gdLst/>
              <a:ahLst/>
              <a:cxnLst/>
              <a:rect l="l" t="t" r="r" b="b"/>
              <a:pathLst>
                <a:path w="28575" h="14382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1438275">
                  <a:moveTo>
                    <a:pt x="2857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28575" y="2952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97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3238484"/>
              <a:ext cx="6438900" cy="9334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3100" y="357997"/>
            <a:ext cx="6418580" cy="2661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優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になることが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されました</a:t>
            </a:r>
            <a:r>
              <a:rPr sz="1300" spc="44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endParaRPr sz="13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</a:pPr>
            <a:endParaRPr sz="12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HGP行書体"/>
              <a:cs typeface="HGP行書体"/>
            </a:endParaRPr>
          </a:p>
          <a:p>
            <a:pPr marL="358140" indent="-221615">
              <a:lnSpc>
                <a:spcPct val="100000"/>
              </a:lnSpc>
              <a:buSzPct val="106896"/>
              <a:buFont typeface="Comic Sans MS"/>
              <a:buAutoNum type="arabicPeriod" startAt="4"/>
              <a:tabLst>
                <a:tab pos="358140" algn="l"/>
              </a:tabLst>
            </a:pPr>
            <a:r>
              <a:rPr sz="1450" b="1" spc="-140" dirty="0">
                <a:solidFill>
                  <a:srgbClr val="2C5A27"/>
                </a:solidFill>
                <a:latin typeface="BIZ UDPゴシック"/>
                <a:cs typeface="BIZ UDPゴシック"/>
              </a:rPr>
              <a:t>始め</a:t>
            </a:r>
            <a:r>
              <a:rPr sz="1450" b="1" spc="-50" dirty="0">
                <a:solidFill>
                  <a:srgbClr val="2C5A27"/>
                </a:solidFill>
                <a:latin typeface="メイリオ"/>
                <a:cs typeface="メイリオ"/>
              </a:rPr>
              <a:t>⽅</a:t>
            </a:r>
            <a:endParaRPr sz="1450">
              <a:latin typeface="メイリオ"/>
              <a:cs typeface="メイリオ"/>
            </a:endParaRPr>
          </a:p>
          <a:p>
            <a:pPr marL="12700" marR="49530">
              <a:lnSpc>
                <a:spcPct val="134300"/>
              </a:lnSpc>
              <a:spcBef>
                <a:spcPts val="710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まずは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くことから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めましょう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をしながら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じて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聴</a:t>
            </a:r>
            <a:r>
              <a:rPr sz="1350" spc="-8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とより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効果的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44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endParaRPr sz="1300">
              <a:latin typeface="HGP行書体"/>
              <a:cs typeface="HGP行書体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HGP行書体"/>
              <a:cs typeface="HGP行書体"/>
            </a:endParaRPr>
          </a:p>
          <a:p>
            <a:pPr marL="358140" indent="-221615">
              <a:lnSpc>
                <a:spcPct val="100000"/>
              </a:lnSpc>
              <a:buSzPct val="106896"/>
              <a:buFont typeface="Comic Sans MS"/>
              <a:buAutoNum type="arabicPeriod" startAt="5"/>
              <a:tabLst>
                <a:tab pos="358140" algn="l"/>
              </a:tabLst>
            </a:pPr>
            <a:r>
              <a:rPr sz="1450" b="1" spc="-110" dirty="0">
                <a:solidFill>
                  <a:srgbClr val="2C5A27"/>
                </a:solidFill>
                <a:latin typeface="BIZ UDPゴシック"/>
                <a:cs typeface="BIZ UDPゴシック"/>
              </a:rPr>
              <a:t>注意点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34300"/>
              </a:lnSpc>
              <a:spcBef>
                <a:spcPts val="785"/>
              </a:spcBef>
            </a:pP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300" spc="130" dirty="0">
                <a:solidFill>
                  <a:srgbClr val="333333"/>
                </a:solidFill>
                <a:latin typeface="HGP行書体"/>
                <a:cs typeface="HGP行書体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リングは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療⾏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為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ではありません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病気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師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相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440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300" spc="490" dirty="0">
                <a:solidFill>
                  <a:srgbClr val="333333"/>
                </a:solidFill>
                <a:latin typeface="HGP行書体"/>
                <a:cs typeface="HGP行書体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補完的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れてください</a:t>
            </a:r>
            <a:r>
              <a:rPr sz="1300" spc="440" dirty="0">
                <a:solidFill>
                  <a:srgbClr val="333333"/>
                </a:solidFill>
                <a:latin typeface="HGP行書体"/>
                <a:cs typeface="HGP行書体"/>
              </a:rPr>
              <a:t>。</a:t>
            </a:r>
            <a:endParaRPr sz="1300">
              <a:latin typeface="HGP行書体"/>
              <a:cs typeface="HGP行書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66</a:t>
            </a:fld>
            <a:r>
              <a:rPr spc="-10" dirty="0"/>
              <a:t>/135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31058" y="3369604"/>
            <a:ext cx="2948305" cy="5740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さらに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しく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学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びたい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⽅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は</a:t>
            </a:r>
            <a:endParaRPr sz="13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「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⼊⾨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ガイド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」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送信</a:t>
            </a:r>
            <a:r>
              <a:rPr sz="1350" spc="-175" dirty="0">
                <a:solidFill>
                  <a:srgbClr val="FFFFFF"/>
                </a:solidFill>
                <a:latin typeface="SimSun"/>
                <a:cs typeface="SimSun"/>
              </a:rPr>
              <a:t>してください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7"/>
            <a:ext cx="7061834" cy="9347835"/>
            <a:chOff x="352425" y="352427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171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51"/>
                  </a:moveTo>
                  <a:lnTo>
                    <a:pt x="0" y="9342551"/>
                  </a:lnTo>
                  <a:lnTo>
                    <a:pt x="0" y="102317"/>
                  </a:lnTo>
                  <a:lnTo>
                    <a:pt x="9163" y="60912"/>
                  </a:lnTo>
                  <a:lnTo>
                    <a:pt x="30708" y="26936"/>
                  </a:lnTo>
                  <a:lnTo>
                    <a:pt x="67008" y="3457"/>
                  </a:lnTo>
                  <a:lnTo>
                    <a:pt x="84543" y="0"/>
                  </a:lnTo>
                  <a:lnTo>
                    <a:pt x="6936629" y="0"/>
                  </a:lnTo>
                  <a:lnTo>
                    <a:pt x="6977996" y="11010"/>
                  </a:lnTo>
                  <a:lnTo>
                    <a:pt x="7011981" y="37099"/>
                  </a:lnTo>
                  <a:lnTo>
                    <a:pt x="7033384" y="74190"/>
                  </a:lnTo>
                  <a:lnTo>
                    <a:pt x="7037486" y="91236"/>
                  </a:lnTo>
                  <a:lnTo>
                    <a:pt x="7037486" y="93425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68"/>
                  </a:moveTo>
                  <a:lnTo>
                    <a:pt x="6979425" y="41795"/>
                  </a:lnTo>
                  <a:lnTo>
                    <a:pt x="6972262" y="34010"/>
                  </a:lnTo>
                  <a:lnTo>
                    <a:pt x="6971855" y="33477"/>
                  </a:lnTo>
                  <a:lnTo>
                    <a:pt x="6971385" y="33070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33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33" y="9525"/>
                  </a:lnTo>
                  <a:lnTo>
                    <a:pt x="6931126" y="17500"/>
                  </a:lnTo>
                  <a:lnTo>
                    <a:pt x="6964718" y="39865"/>
                  </a:lnTo>
                  <a:lnTo>
                    <a:pt x="6987819" y="74180"/>
                  </a:lnTo>
                  <a:lnTo>
                    <a:pt x="6995808" y="114274"/>
                  </a:lnTo>
                  <a:lnTo>
                    <a:pt x="6995808" y="9347276"/>
                  </a:lnTo>
                  <a:lnTo>
                    <a:pt x="6999071" y="934727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3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4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2" y="58064"/>
                  </a:lnTo>
                  <a:lnTo>
                    <a:pt x="33476" y="20982"/>
                  </a:lnTo>
                  <a:lnTo>
                    <a:pt x="62523" y="0"/>
                  </a:lnTo>
                  <a:lnTo>
                    <a:pt x="88529" y="5196"/>
                  </a:lnTo>
                  <a:lnTo>
                    <a:pt x="82838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5"/>
                  </a:lnTo>
                  <a:lnTo>
                    <a:pt x="47624" y="101806"/>
                  </a:lnTo>
                  <a:lnTo>
                    <a:pt x="47664" y="9334804"/>
                  </a:lnTo>
                  <a:close/>
                </a:path>
              </a:pathLst>
            </a:custGeom>
            <a:solidFill>
              <a:srgbClr val="41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166685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900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6438900" y="0"/>
                  </a:lnTo>
                  <a:lnTo>
                    <a:pt x="6438900" y="1905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828784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0" y="838161"/>
                  </a:moveTo>
                  <a:lnTo>
                    <a:pt x="71199" y="838161"/>
                  </a:lnTo>
                  <a:lnTo>
                    <a:pt x="66236" y="837676"/>
                  </a:lnTo>
                  <a:lnTo>
                    <a:pt x="29708" y="822502"/>
                  </a:lnTo>
                  <a:lnTo>
                    <a:pt x="3886" y="786441"/>
                  </a:lnTo>
                  <a:lnTo>
                    <a:pt x="0" y="767019"/>
                  </a:lnTo>
                  <a:lnTo>
                    <a:pt x="0" y="762000"/>
                  </a:lnTo>
                  <a:lnTo>
                    <a:pt x="0" y="71180"/>
                  </a:lnTo>
                  <a:lnTo>
                    <a:pt x="15621" y="29651"/>
                  </a:lnTo>
                  <a:lnTo>
                    <a:pt x="51663" y="3829"/>
                  </a:lnTo>
                  <a:lnTo>
                    <a:pt x="71199" y="0"/>
                  </a:lnTo>
                  <a:lnTo>
                    <a:pt x="6367700" y="0"/>
                  </a:lnTo>
                  <a:lnTo>
                    <a:pt x="6409191" y="15554"/>
                  </a:lnTo>
                  <a:lnTo>
                    <a:pt x="6435013" y="51606"/>
                  </a:lnTo>
                  <a:lnTo>
                    <a:pt x="6438900" y="71180"/>
                  </a:lnTo>
                  <a:lnTo>
                    <a:pt x="6438900" y="767019"/>
                  </a:lnTo>
                  <a:lnTo>
                    <a:pt x="6423279" y="808434"/>
                  </a:lnTo>
                  <a:lnTo>
                    <a:pt x="6387236" y="834218"/>
                  </a:lnTo>
                  <a:lnTo>
                    <a:pt x="6372663" y="837676"/>
                  </a:lnTo>
                  <a:lnTo>
                    <a:pt x="6367700" y="838161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" y="2857486"/>
              <a:ext cx="28575" cy="2847975"/>
            </a:xfrm>
            <a:custGeom>
              <a:avLst/>
              <a:gdLst/>
              <a:ahLst/>
              <a:cxnLst/>
              <a:rect l="l" t="t" r="r" b="b"/>
              <a:pathLst>
                <a:path w="28575" h="2847975">
                  <a:moveTo>
                    <a:pt x="28575" y="2543175"/>
                  </a:moveTo>
                  <a:lnTo>
                    <a:pt x="0" y="2543175"/>
                  </a:lnTo>
                  <a:lnTo>
                    <a:pt x="0" y="2847975"/>
                  </a:lnTo>
                  <a:lnTo>
                    <a:pt x="28575" y="2847975"/>
                  </a:lnTo>
                  <a:lnTo>
                    <a:pt x="28575" y="2543175"/>
                  </a:lnTo>
                  <a:close/>
                </a:path>
                <a:path w="28575" h="28479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28479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97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00" y="6543659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438900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6438900" y="0"/>
                  </a:lnTo>
                  <a:lnTo>
                    <a:pt x="6438900" y="828675"/>
                  </a:lnTo>
                  <a:close/>
                </a:path>
              </a:pathLst>
            </a:custGeom>
            <a:solidFill>
              <a:srgbClr val="EFF7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800" y="6543661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28575" y="1019175"/>
                  </a:moveTo>
                  <a:lnTo>
                    <a:pt x="0" y="1019175"/>
                  </a:lnTo>
                  <a:lnTo>
                    <a:pt x="0" y="1323975"/>
                  </a:lnTo>
                  <a:lnTo>
                    <a:pt x="28575" y="1323975"/>
                  </a:lnTo>
                  <a:lnTo>
                    <a:pt x="28575" y="1019175"/>
                  </a:lnTo>
                  <a:close/>
                </a:path>
                <a:path w="38100" h="1323975">
                  <a:moveTo>
                    <a:pt x="38100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38100" y="8286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97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800" y="647686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83"/>
                  </a:moveTo>
                  <a:lnTo>
                    <a:pt x="365379" y="29616"/>
                  </a:lnTo>
                  <a:lnTo>
                    <a:pt x="329336" y="3873"/>
                  </a:lnTo>
                  <a:lnTo>
                    <a:pt x="309791" y="0"/>
                  </a:lnTo>
                  <a:lnTo>
                    <a:pt x="71196" y="0"/>
                  </a:lnTo>
                  <a:lnTo>
                    <a:pt x="29705" y="15519"/>
                  </a:lnTo>
                  <a:lnTo>
                    <a:pt x="3886" y="51574"/>
                  </a:lnTo>
                  <a:lnTo>
                    <a:pt x="0" y="71183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21" y="351205"/>
                  </a:lnTo>
                  <a:lnTo>
                    <a:pt x="51663" y="377024"/>
                  </a:lnTo>
                  <a:lnTo>
                    <a:pt x="71196" y="380961"/>
                  </a:lnTo>
                  <a:lnTo>
                    <a:pt x="309791" y="380961"/>
                  </a:lnTo>
                  <a:lnTo>
                    <a:pt x="351282" y="365264"/>
                  </a:lnTo>
                  <a:lnTo>
                    <a:pt x="377113" y="329222"/>
                  </a:lnTo>
                  <a:lnTo>
                    <a:pt x="381000" y="309791"/>
                  </a:lnTo>
                  <a:lnTo>
                    <a:pt x="381000" y="71183"/>
                  </a:lnTo>
                  <a:close/>
                </a:path>
                <a:path w="1057275" h="381000">
                  <a:moveTo>
                    <a:pt x="1057275" y="190525"/>
                  </a:moveTo>
                  <a:lnTo>
                    <a:pt x="1052131" y="148805"/>
                  </a:lnTo>
                  <a:lnTo>
                    <a:pt x="1037031" y="109677"/>
                  </a:lnTo>
                  <a:lnTo>
                    <a:pt x="1012863" y="75374"/>
                  </a:lnTo>
                  <a:lnTo>
                    <a:pt x="981075" y="47879"/>
                  </a:lnTo>
                  <a:lnTo>
                    <a:pt x="943571" y="29044"/>
                  </a:lnTo>
                  <a:lnTo>
                    <a:pt x="902627" y="19888"/>
                  </a:lnTo>
                  <a:lnTo>
                    <a:pt x="885825" y="19075"/>
                  </a:lnTo>
                  <a:lnTo>
                    <a:pt x="695325" y="19075"/>
                  </a:lnTo>
                  <a:lnTo>
                    <a:pt x="653643" y="24193"/>
                  </a:lnTo>
                  <a:lnTo>
                    <a:pt x="614502" y="39230"/>
                  </a:lnTo>
                  <a:lnTo>
                    <a:pt x="580186" y="63436"/>
                  </a:lnTo>
                  <a:lnTo>
                    <a:pt x="552767" y="95237"/>
                  </a:lnTo>
                  <a:lnTo>
                    <a:pt x="533882" y="132715"/>
                  </a:lnTo>
                  <a:lnTo>
                    <a:pt x="524687" y="173697"/>
                  </a:lnTo>
                  <a:lnTo>
                    <a:pt x="523875" y="190525"/>
                  </a:lnTo>
                  <a:lnTo>
                    <a:pt x="524078" y="198958"/>
                  </a:lnTo>
                  <a:lnTo>
                    <a:pt x="531253" y="240233"/>
                  </a:lnTo>
                  <a:lnTo>
                    <a:pt x="548259" y="278574"/>
                  </a:lnTo>
                  <a:lnTo>
                    <a:pt x="574090" y="311759"/>
                  </a:lnTo>
                  <a:lnTo>
                    <a:pt x="607187" y="337540"/>
                  </a:lnTo>
                  <a:lnTo>
                    <a:pt x="645553" y="354571"/>
                  </a:lnTo>
                  <a:lnTo>
                    <a:pt x="686892" y="361759"/>
                  </a:lnTo>
                  <a:lnTo>
                    <a:pt x="695325" y="361975"/>
                  </a:lnTo>
                  <a:lnTo>
                    <a:pt x="885825" y="361975"/>
                  </a:lnTo>
                  <a:lnTo>
                    <a:pt x="927493" y="356819"/>
                  </a:lnTo>
                  <a:lnTo>
                    <a:pt x="966635" y="341680"/>
                  </a:lnTo>
                  <a:lnTo>
                    <a:pt x="1000950" y="317538"/>
                  </a:lnTo>
                  <a:lnTo>
                    <a:pt x="1028369" y="285699"/>
                  </a:lnTo>
                  <a:lnTo>
                    <a:pt x="1047254" y="248208"/>
                  </a:lnTo>
                  <a:lnTo>
                    <a:pt x="1056449" y="207340"/>
                  </a:lnTo>
                  <a:lnTo>
                    <a:pt x="1057275" y="190525"/>
                  </a:lnTo>
                  <a:close/>
                </a:path>
              </a:pathLst>
            </a:custGeom>
            <a:solidFill>
              <a:srgbClr val="41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5000" y="713318"/>
            <a:ext cx="6553200" cy="7344831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30"/>
              </a:spcBef>
              <a:tabLst>
                <a:tab pos="688340" algn="l"/>
                <a:tab pos="12026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508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って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何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乱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れる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原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因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93675" marR="26035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なんとなくだるい</a:t>
            </a:r>
            <a:r>
              <a:rPr sz="1350" i="1" spc="-370" dirty="0">
                <a:solidFill>
                  <a:srgbClr val="333333"/>
                </a:solidFill>
                <a:latin typeface="メイリオ"/>
                <a:cs typeface="メイリオ"/>
              </a:rPr>
              <a:t>」「眠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れない</a:t>
            </a:r>
            <a:r>
              <a:rPr sz="1350" i="1" spc="-470" dirty="0">
                <a:solidFill>
                  <a:srgbClr val="333333"/>
                </a:solidFill>
                <a:latin typeface="メイリオ"/>
                <a:cs typeface="メイリオ"/>
              </a:rPr>
              <a:t>」「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イライラする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その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原因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乱</a:t>
            </a:r>
            <a:r>
              <a:rPr sz="1400" i="1" spc="-185" dirty="0">
                <a:solidFill>
                  <a:srgbClr val="333333"/>
                </a:solidFill>
                <a:latin typeface="メイリオ"/>
                <a:cs typeface="メイリオ"/>
              </a:rPr>
              <a:t>れかもしれま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せん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。⾃律神経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基本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った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え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73990">
              <a:lnSpc>
                <a:spcPct val="100000"/>
              </a:lnSpc>
            </a:pP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⾃律神経</a:t>
            </a:r>
            <a:r>
              <a:rPr sz="1450" b="1" spc="-90" dirty="0">
                <a:solidFill>
                  <a:srgbClr val="2C5A27"/>
                </a:solidFill>
                <a:latin typeface="BIZ UDPゴシック"/>
                <a:cs typeface="BIZ UDPゴシック"/>
              </a:rPr>
              <a:t>とは</a:t>
            </a:r>
            <a:endParaRPr sz="1450" dirty="0">
              <a:latin typeface="BIZ UDPゴシック"/>
              <a:cs typeface="BIZ UDPゴシック"/>
            </a:endParaRPr>
          </a:p>
          <a:p>
            <a:pPr marL="50800" marR="118110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意志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調整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している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神経系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⿎動</a:t>
            </a:r>
            <a:r>
              <a:rPr sz="1300" spc="-57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消化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体温調節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⽣命維持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かせない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をコントロ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ルしています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73990">
              <a:lnSpc>
                <a:spcPct val="100000"/>
              </a:lnSpc>
            </a:pP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交感神経</a:t>
            </a:r>
            <a:r>
              <a:rPr sz="1450" b="1" spc="-95" dirty="0">
                <a:solidFill>
                  <a:srgbClr val="2C5A27"/>
                </a:solidFill>
                <a:latin typeface="BIZ UDPゴシック"/>
                <a:cs typeface="BIZ UDPゴシック"/>
              </a:rPr>
              <a:t>と</a:t>
            </a:r>
            <a:r>
              <a:rPr sz="1450" b="1" spc="-125" dirty="0">
                <a:solidFill>
                  <a:srgbClr val="2C5A27"/>
                </a:solidFill>
                <a:latin typeface="メイリオ"/>
                <a:cs typeface="メイリオ"/>
              </a:rPr>
              <a:t>副交感神経</a:t>
            </a:r>
            <a:endParaRPr sz="1450" dirty="0">
              <a:latin typeface="メイリオ"/>
              <a:cs typeface="メイリオ"/>
            </a:endParaRPr>
          </a:p>
          <a:p>
            <a:pPr marL="508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：「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戦闘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300" spc="580" dirty="0">
                <a:solidFill>
                  <a:srgbClr val="333333"/>
                </a:solidFill>
                <a:latin typeface="BIZ UDPゴシック"/>
                <a:cs typeface="BIZ UDPゴシック"/>
              </a:rPr>
              <a:t>」。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350" spc="-250" dirty="0">
                <a:solidFill>
                  <a:srgbClr val="333333"/>
                </a:solidFill>
                <a:latin typeface="SimSun"/>
                <a:cs typeface="SimSun"/>
              </a:rPr>
              <a:t>アップ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⾎圧上昇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張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95" dirty="0">
                <a:solidFill>
                  <a:srgbClr val="333333"/>
                </a:solidFill>
                <a:latin typeface="メイリオ"/>
                <a:cs typeface="メイリオ"/>
              </a:rPr>
              <a:t>集中状態</a:t>
            </a:r>
            <a:endParaRPr sz="1300" dirty="0">
              <a:latin typeface="メイリオ"/>
              <a:cs typeface="メイリオ"/>
            </a:endParaRPr>
          </a:p>
          <a:p>
            <a:pPr marL="50800" marR="1477645">
              <a:lnSpc>
                <a:spcPct val="1343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：「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休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息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300" spc="580" dirty="0">
                <a:solidFill>
                  <a:srgbClr val="333333"/>
                </a:solidFill>
                <a:latin typeface="BIZ UDPゴシック"/>
                <a:cs typeface="BIZ UDPゴシック"/>
              </a:rPr>
              <a:t>」。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拍数</a:t>
            </a:r>
            <a:r>
              <a:rPr lang="ja-JP" altLang="en-US"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下がる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⾎圧</a:t>
            </a:r>
            <a:r>
              <a:rPr lang="ja-JP" altLang="en-US"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760" dirty="0" err="1">
                <a:solidFill>
                  <a:srgbClr val="333333"/>
                </a:solidFill>
                <a:latin typeface="SimSun"/>
                <a:cs typeface="SimSun"/>
              </a:rPr>
              <a:t>リラ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ックス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つがバランスよく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くことで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維持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でき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73990">
              <a:lnSpc>
                <a:spcPct val="100000"/>
              </a:lnSpc>
              <a:spcBef>
                <a:spcPts val="5"/>
              </a:spcBef>
            </a:pP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現</a:t>
            </a:r>
            <a:r>
              <a:rPr sz="1450" b="1" spc="-140" dirty="0">
                <a:solidFill>
                  <a:srgbClr val="2C5A27"/>
                </a:solidFill>
                <a:latin typeface="BIZ UDPゴシック"/>
                <a:cs typeface="BIZ UDPゴシック"/>
              </a:rPr>
              <a:t>代</a:t>
            </a: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⼈</a:t>
            </a:r>
            <a:r>
              <a:rPr sz="1450" b="1" spc="-140" dirty="0">
                <a:solidFill>
                  <a:srgbClr val="2C5A27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問</a:t>
            </a:r>
            <a:r>
              <a:rPr sz="1450" b="1" spc="-50" dirty="0">
                <a:solidFill>
                  <a:srgbClr val="2C5A27"/>
                </a:solidFill>
                <a:latin typeface="BIZ UDPゴシック"/>
                <a:cs typeface="BIZ UDPゴシック"/>
              </a:rPr>
              <a:t>題</a:t>
            </a:r>
            <a:endParaRPr sz="1450" dirty="0">
              <a:latin typeface="BIZ UDPゴシック"/>
              <a:cs typeface="BIZ UDPゴシック"/>
            </a:endParaRPr>
          </a:p>
          <a:p>
            <a:pPr marL="50800" marR="130175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くの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現代⼈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⽣活習慣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れにより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優位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350" spc="-300" dirty="0">
                <a:solidFill>
                  <a:srgbClr val="333333"/>
                </a:solidFill>
                <a:latin typeface="SimSun"/>
                <a:cs typeface="SimSun"/>
              </a:rPr>
              <a:t>いています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戦闘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休</a:t>
            </a:r>
            <a:r>
              <a:rPr sz="1350" spc="-240" dirty="0">
                <a:solidFill>
                  <a:srgbClr val="333333"/>
                </a:solidFill>
                <a:latin typeface="SimSun"/>
                <a:cs typeface="SimSun"/>
              </a:rPr>
              <a:t>まらず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様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不調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現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れます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231140">
              <a:lnSpc>
                <a:spcPct val="100000"/>
              </a:lnSpc>
              <a:spcBef>
                <a:spcPts val="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聞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くことで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のバランスが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555" dirty="0">
                <a:solidFill>
                  <a:srgbClr val="333333"/>
                </a:solidFill>
                <a:latin typeface="メイリオ"/>
                <a:cs typeface="メイリオ"/>
              </a:rPr>
              <a:t>⾏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 動</a:t>
            </a:r>
            <a:endParaRPr sz="1300" dirty="0">
              <a:latin typeface="メイリオ"/>
              <a:cs typeface="メイリオ"/>
            </a:endParaRPr>
          </a:p>
          <a:p>
            <a:pPr marL="231140" algn="l">
              <a:lnSpc>
                <a:spcPct val="100000"/>
              </a:lnSpc>
              <a:spcBef>
                <a:spcPts val="480"/>
              </a:spcBef>
              <a:tabLst>
                <a:tab pos="3832860" algn="l"/>
              </a:tabLst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がア</a:t>
            </a:r>
            <a:r>
              <a:rPr sz="1350" spc="-240" dirty="0" err="1">
                <a:solidFill>
                  <a:srgbClr val="333333"/>
                </a:solidFill>
                <a:latin typeface="SimSun"/>
                <a:cs typeface="SimSun"/>
              </a:rPr>
              <a:t>ッ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プします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⻄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條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⼀⽌博⼠</a:t>
            </a:r>
            <a:r>
              <a:rPr lang="ja-JP" altLang="en-US" sz="1300" spc="-105" dirty="0">
                <a:solidFill>
                  <a:srgbClr val="333333"/>
                </a:solidFill>
                <a:latin typeface="メイリオ"/>
                <a:cs typeface="メイリオ"/>
              </a:rPr>
              <a:t>（国立大学筑波技術大学名誉教授</a:t>
            </a:r>
            <a:r>
              <a:rPr sz="1200" spc="1090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）</a:t>
            </a:r>
            <a:endParaRPr sz="1200" dirty="0">
              <a:latin typeface="BIZ UDPゴシック" panose="020B0400000000000000" pitchFamily="50" charset="-128"/>
              <a:ea typeface="BIZ UDPゴシック" panose="020B0400000000000000" pitchFamily="50" charset="-128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 panose="020B0400000000000000" pitchFamily="50" charset="-128"/>
              <a:ea typeface="BIZ UDPゴシック" panose="020B0400000000000000" pitchFamily="50" charset="-128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74625">
              <a:lnSpc>
                <a:spcPct val="100000"/>
              </a:lnSpc>
              <a:spcBef>
                <a:spcPts val="5"/>
              </a:spcBef>
            </a:pP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⾳</a:t>
            </a:r>
            <a:r>
              <a:rPr sz="1450" b="1" spc="-140" dirty="0">
                <a:solidFill>
                  <a:srgbClr val="2C5A27"/>
                </a:solidFill>
                <a:latin typeface="BIZ UDPゴシック"/>
                <a:cs typeface="BIZ UDPゴシック"/>
              </a:rPr>
              <a:t>で</a:t>
            </a:r>
            <a:r>
              <a:rPr sz="1450" b="1" spc="-140" dirty="0">
                <a:solidFill>
                  <a:srgbClr val="2C5A27"/>
                </a:solidFill>
                <a:latin typeface="メイリオ"/>
                <a:cs typeface="メイリオ"/>
              </a:rPr>
              <a:t>整</a:t>
            </a:r>
            <a:r>
              <a:rPr sz="1450" b="1" spc="-125" dirty="0">
                <a:solidFill>
                  <a:srgbClr val="2C5A27"/>
                </a:solidFill>
                <a:latin typeface="BIZ UDPゴシック"/>
                <a:cs typeface="BIZ UDPゴシック"/>
              </a:rPr>
              <a:t>える</a:t>
            </a:r>
            <a:r>
              <a:rPr sz="1450" b="1" spc="-95" dirty="0">
                <a:solidFill>
                  <a:srgbClr val="2C5A27"/>
                </a:solidFill>
                <a:latin typeface="メイリオ"/>
                <a:cs typeface="メイリオ"/>
              </a:rPr>
              <a:t>⽅法</a:t>
            </a:r>
            <a:endParaRPr sz="1450" dirty="0">
              <a:latin typeface="メイリオ"/>
              <a:cs typeface="メイリオ"/>
            </a:endParaRPr>
          </a:p>
          <a:p>
            <a:pPr marL="50800" marR="60960">
              <a:lnSpc>
                <a:spcPct val="134300"/>
              </a:lnSpc>
              <a:spcBef>
                <a:spcPts val="80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6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944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くだけで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両⽅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適切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くようになることが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されています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67</a:t>
            </a:fld>
            <a:r>
              <a:rPr spc="-10" dirty="0"/>
              <a:t>/135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2100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4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0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48"/>
            <a:ext cx="7063105" cy="1229360"/>
            <a:chOff x="352425" y="352348"/>
            <a:chExt cx="7063105" cy="1229360"/>
          </a:xfrm>
        </p:grpSpPr>
        <p:sp>
          <p:nvSpPr>
            <p:cNvPr id="3" name="object 3"/>
            <p:cNvSpPr/>
            <p:nvPr/>
          </p:nvSpPr>
          <p:spPr>
            <a:xfrm>
              <a:off x="376237" y="352386"/>
              <a:ext cx="7038975" cy="1224280"/>
            </a:xfrm>
            <a:custGeom>
              <a:avLst/>
              <a:gdLst/>
              <a:ahLst/>
              <a:cxnLst/>
              <a:rect l="l" t="t" r="r" b="b"/>
              <a:pathLst>
                <a:path w="7038975" h="1224280">
                  <a:moveTo>
                    <a:pt x="6936628" y="1223962"/>
                  </a:moveTo>
                  <a:lnTo>
                    <a:pt x="84545" y="1223962"/>
                  </a:lnTo>
                  <a:lnTo>
                    <a:pt x="78661" y="1223219"/>
                  </a:lnTo>
                  <a:lnTo>
                    <a:pt x="35275" y="1201492"/>
                  </a:lnTo>
                  <a:lnTo>
                    <a:pt x="11948" y="1169193"/>
                  </a:lnTo>
                  <a:lnTo>
                    <a:pt x="579" y="1128712"/>
                  </a:lnTo>
                  <a:lnTo>
                    <a:pt x="0" y="1121644"/>
                  </a:lnTo>
                  <a:lnTo>
                    <a:pt x="0" y="1114424"/>
                  </a:lnTo>
                  <a:lnTo>
                    <a:pt x="0" y="0"/>
                  </a:lnTo>
                  <a:lnTo>
                    <a:pt x="7038974" y="0"/>
                  </a:lnTo>
                  <a:lnTo>
                    <a:pt x="7038973" y="1121644"/>
                  </a:lnTo>
                  <a:lnTo>
                    <a:pt x="7027882" y="1162869"/>
                  </a:lnTo>
                  <a:lnTo>
                    <a:pt x="7001805" y="1196949"/>
                  </a:lnTo>
                  <a:lnTo>
                    <a:pt x="6964709" y="1218304"/>
                  </a:lnTo>
                  <a:lnTo>
                    <a:pt x="6943752" y="1223219"/>
                  </a:lnTo>
                  <a:lnTo>
                    <a:pt x="6936628" y="1223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48"/>
              <a:ext cx="6999605" cy="1229360"/>
            </a:xfrm>
            <a:custGeom>
              <a:avLst/>
              <a:gdLst/>
              <a:ahLst/>
              <a:cxnLst/>
              <a:rect l="l" t="t" r="r" b="b"/>
              <a:pathLst>
                <a:path w="6999605" h="1229360">
                  <a:moveTo>
                    <a:pt x="6999071" y="0"/>
                  </a:moveTo>
                  <a:lnTo>
                    <a:pt x="6995795" y="0"/>
                  </a:lnTo>
                  <a:lnTo>
                    <a:pt x="6995795" y="1114463"/>
                  </a:lnTo>
                  <a:lnTo>
                    <a:pt x="6995300" y="1124788"/>
                  </a:lnTo>
                  <a:lnTo>
                    <a:pt x="6983412" y="1163904"/>
                  </a:lnTo>
                  <a:lnTo>
                    <a:pt x="6964616" y="1189012"/>
                  </a:lnTo>
                  <a:lnTo>
                    <a:pt x="6931126" y="1211287"/>
                  </a:lnTo>
                  <a:lnTo>
                    <a:pt x="6891020" y="1219263"/>
                  </a:lnTo>
                  <a:lnTo>
                    <a:pt x="52082" y="1219263"/>
                  </a:lnTo>
                  <a:lnTo>
                    <a:pt x="26085" y="1210945"/>
                  </a:lnTo>
                  <a:lnTo>
                    <a:pt x="0" y="1216152"/>
                  </a:lnTo>
                  <a:lnTo>
                    <a:pt x="40817" y="1228255"/>
                  </a:lnTo>
                  <a:lnTo>
                    <a:pt x="52082" y="1228788"/>
                  </a:lnTo>
                  <a:lnTo>
                    <a:pt x="6891020" y="1228788"/>
                  </a:lnTo>
                  <a:lnTo>
                    <a:pt x="6934771" y="1220089"/>
                  </a:lnTo>
                  <a:lnTo>
                    <a:pt x="6936511" y="1219263"/>
                  </a:lnTo>
                  <a:lnTo>
                    <a:pt x="6944957" y="1215275"/>
                  </a:lnTo>
                  <a:lnTo>
                    <a:pt x="6954545" y="1209548"/>
                  </a:lnTo>
                  <a:lnTo>
                    <a:pt x="6963499" y="1202893"/>
                  </a:lnTo>
                  <a:lnTo>
                    <a:pt x="6971843" y="1195311"/>
                  </a:lnTo>
                  <a:lnTo>
                    <a:pt x="6972300" y="1194816"/>
                  </a:lnTo>
                  <a:lnTo>
                    <a:pt x="6979425" y="1186942"/>
                  </a:lnTo>
                  <a:lnTo>
                    <a:pt x="6986079" y="1177975"/>
                  </a:lnTo>
                  <a:lnTo>
                    <a:pt x="6991807" y="1168400"/>
                  </a:lnTo>
                  <a:lnTo>
                    <a:pt x="6996620" y="1158214"/>
                  </a:lnTo>
                  <a:lnTo>
                    <a:pt x="6999071" y="1151382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48"/>
              <a:ext cx="88900" cy="1216660"/>
            </a:xfrm>
            <a:custGeom>
              <a:avLst/>
              <a:gdLst/>
              <a:ahLst/>
              <a:cxnLst/>
              <a:rect l="l" t="t" r="r" b="b"/>
              <a:pathLst>
                <a:path w="88900" h="1216660">
                  <a:moveTo>
                    <a:pt x="62522" y="1216270"/>
                  </a:moveTo>
                  <a:lnTo>
                    <a:pt x="25900" y="1186939"/>
                  </a:lnTo>
                  <a:lnTo>
                    <a:pt x="4894" y="1147593"/>
                  </a:lnTo>
                  <a:lnTo>
                    <a:pt x="0" y="1114463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1114463"/>
                  </a:lnTo>
                  <a:lnTo>
                    <a:pt x="47942" y="1124785"/>
                  </a:lnTo>
                  <a:lnTo>
                    <a:pt x="55506" y="1163904"/>
                  </a:lnTo>
                  <a:lnTo>
                    <a:pt x="77250" y="1201597"/>
                  </a:lnTo>
                  <a:lnTo>
                    <a:pt x="88528" y="1211073"/>
                  </a:lnTo>
                  <a:lnTo>
                    <a:pt x="62522" y="121627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352387"/>
              <a:ext cx="6438899" cy="933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73945" y="479515"/>
            <a:ext cx="2463165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3510" marR="5080" indent="-131445">
              <a:lnSpc>
                <a:spcPct val="134300"/>
              </a:lnSpc>
              <a:spcBef>
                <a:spcPts val="9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⾃律神経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チェックリスト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付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き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PDF</a:t>
            </a:r>
            <a:r>
              <a:rPr sz="1350" spc="-60" dirty="0">
                <a:solidFill>
                  <a:srgbClr val="FFFFFF"/>
                </a:solidFill>
                <a:latin typeface="SimSun"/>
                <a:cs typeface="SimSun"/>
              </a:rPr>
              <a:t>を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登録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者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プレゼント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68</a:t>
            </a:fld>
            <a:r>
              <a:rPr spc="-10" dirty="0"/>
              <a:t>/135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2"/>
            <a:ext cx="7061834" cy="9347835"/>
            <a:chOff x="352425" y="352412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136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75"/>
                  </a:moveTo>
                  <a:lnTo>
                    <a:pt x="0" y="9342575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26503" y="31994"/>
                  </a:lnTo>
                  <a:lnTo>
                    <a:pt x="30704" y="26860"/>
                  </a:lnTo>
                  <a:lnTo>
                    <a:pt x="35275" y="22326"/>
                  </a:lnTo>
                  <a:lnTo>
                    <a:pt x="40308" y="18307"/>
                  </a:lnTo>
                  <a:lnTo>
                    <a:pt x="45155" y="14363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06890" y="31994"/>
                  </a:lnTo>
                  <a:lnTo>
                    <a:pt x="7011976" y="37061"/>
                  </a:lnTo>
                  <a:lnTo>
                    <a:pt x="7016516" y="42567"/>
                  </a:lnTo>
                  <a:lnTo>
                    <a:pt x="7020462" y="48520"/>
                  </a:lnTo>
                  <a:lnTo>
                    <a:pt x="7024508" y="54549"/>
                  </a:lnTo>
                  <a:lnTo>
                    <a:pt x="7027882" y="60874"/>
                  </a:lnTo>
                  <a:lnTo>
                    <a:pt x="7030635" y="67570"/>
                  </a:lnTo>
                  <a:lnTo>
                    <a:pt x="7033387" y="74190"/>
                  </a:lnTo>
                  <a:lnTo>
                    <a:pt x="7035465" y="81038"/>
                  </a:lnTo>
                  <a:lnTo>
                    <a:pt x="7037486" y="91217"/>
                  </a:lnTo>
                  <a:lnTo>
                    <a:pt x="7037486" y="9342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68"/>
                  </a:moveTo>
                  <a:lnTo>
                    <a:pt x="6979425" y="41808"/>
                  </a:lnTo>
                  <a:lnTo>
                    <a:pt x="6972262" y="34023"/>
                  </a:lnTo>
                  <a:lnTo>
                    <a:pt x="6971843" y="33477"/>
                  </a:lnTo>
                  <a:lnTo>
                    <a:pt x="6971449" y="33134"/>
                  </a:lnTo>
                  <a:lnTo>
                    <a:pt x="6971347" y="3300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13334" y="2184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712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4794" y="39941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9347276"/>
                  </a:lnTo>
                  <a:lnTo>
                    <a:pt x="6999071" y="934727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1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5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64" y="9334805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6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5405397"/>
              <a:ext cx="6429375" cy="1400175"/>
            </a:xfrm>
            <a:custGeom>
              <a:avLst/>
              <a:gdLst/>
              <a:ahLst/>
              <a:cxnLst/>
              <a:rect l="l" t="t" r="r" b="b"/>
              <a:pathLst>
                <a:path w="6429375" h="1400175">
                  <a:moveTo>
                    <a:pt x="6362626" y="1400098"/>
                  </a:moveTo>
                  <a:lnTo>
                    <a:pt x="66746" y="1400098"/>
                  </a:lnTo>
                  <a:lnTo>
                    <a:pt x="62101" y="1399651"/>
                  </a:lnTo>
                  <a:lnTo>
                    <a:pt x="24240" y="1382467"/>
                  </a:lnTo>
                  <a:lnTo>
                    <a:pt x="2287" y="1347263"/>
                  </a:lnTo>
                  <a:lnTo>
                    <a:pt x="0" y="1333423"/>
                  </a:lnTo>
                  <a:lnTo>
                    <a:pt x="0" y="1328737"/>
                  </a:lnTo>
                  <a:lnTo>
                    <a:pt x="0" y="66751"/>
                  </a:lnTo>
                  <a:lnTo>
                    <a:pt x="14645" y="27755"/>
                  </a:lnTo>
                  <a:lnTo>
                    <a:pt x="48433" y="3648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1333423"/>
                  </a:lnTo>
                  <a:lnTo>
                    <a:pt x="6414728" y="1372266"/>
                  </a:lnTo>
                  <a:lnTo>
                    <a:pt x="6380940" y="1396450"/>
                  </a:lnTo>
                  <a:lnTo>
                    <a:pt x="6367272" y="1399651"/>
                  </a:lnTo>
                  <a:lnTo>
                    <a:pt x="6362626" y="14000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5405397"/>
              <a:ext cx="6429375" cy="1400175"/>
            </a:xfrm>
            <a:custGeom>
              <a:avLst/>
              <a:gdLst/>
              <a:ahLst/>
              <a:cxnLst/>
              <a:rect l="l" t="t" r="r" b="b"/>
              <a:pathLst>
                <a:path w="6429375" h="1400175">
                  <a:moveTo>
                    <a:pt x="0" y="13287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835"/>
                  </a:lnTo>
                  <a:lnTo>
                    <a:pt x="3642" y="48367"/>
                  </a:lnTo>
                  <a:lnTo>
                    <a:pt x="5437" y="44053"/>
                  </a:lnTo>
                  <a:lnTo>
                    <a:pt x="7232" y="39662"/>
                  </a:lnTo>
                  <a:lnTo>
                    <a:pt x="9433" y="35566"/>
                  </a:lnTo>
                  <a:lnTo>
                    <a:pt x="12039" y="31699"/>
                  </a:lnTo>
                  <a:lnTo>
                    <a:pt x="14645" y="27755"/>
                  </a:lnTo>
                  <a:lnTo>
                    <a:pt x="17606" y="24183"/>
                  </a:lnTo>
                  <a:lnTo>
                    <a:pt x="20923" y="20907"/>
                  </a:lnTo>
                  <a:lnTo>
                    <a:pt x="24240" y="17564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57500" y="1409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409"/>
                  </a:lnTo>
                  <a:lnTo>
                    <a:pt x="6376473" y="2305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564"/>
                  </a:lnTo>
                  <a:lnTo>
                    <a:pt x="6408450" y="20907"/>
                  </a:lnTo>
                  <a:lnTo>
                    <a:pt x="6411767" y="24183"/>
                  </a:lnTo>
                  <a:lnTo>
                    <a:pt x="6414728" y="27755"/>
                  </a:lnTo>
                  <a:lnTo>
                    <a:pt x="6417334" y="31699"/>
                  </a:lnTo>
                  <a:lnTo>
                    <a:pt x="6419940" y="35566"/>
                  </a:lnTo>
                  <a:lnTo>
                    <a:pt x="6422141" y="39662"/>
                  </a:lnTo>
                  <a:lnTo>
                    <a:pt x="6423936" y="44053"/>
                  </a:lnTo>
                  <a:lnTo>
                    <a:pt x="6425731" y="48367"/>
                  </a:lnTo>
                  <a:lnTo>
                    <a:pt x="6429374" y="71437"/>
                  </a:lnTo>
                  <a:lnTo>
                    <a:pt x="6429374" y="1328737"/>
                  </a:lnTo>
                  <a:lnTo>
                    <a:pt x="6423936" y="1355969"/>
                  </a:lnTo>
                  <a:lnTo>
                    <a:pt x="6422141" y="1360293"/>
                  </a:lnTo>
                  <a:lnTo>
                    <a:pt x="6419940" y="1364379"/>
                  </a:lnTo>
                  <a:lnTo>
                    <a:pt x="6417334" y="1368323"/>
                  </a:lnTo>
                  <a:lnTo>
                    <a:pt x="6414728" y="1372266"/>
                  </a:lnTo>
                  <a:lnTo>
                    <a:pt x="6380940" y="1396450"/>
                  </a:lnTo>
                  <a:lnTo>
                    <a:pt x="6371872" y="1398688"/>
                  </a:lnTo>
                  <a:lnTo>
                    <a:pt x="6367272" y="1399651"/>
                  </a:lnTo>
                  <a:lnTo>
                    <a:pt x="6362626" y="1400098"/>
                  </a:lnTo>
                  <a:lnTo>
                    <a:pt x="6357937" y="1400174"/>
                  </a:lnTo>
                  <a:lnTo>
                    <a:pt x="71437" y="1400174"/>
                  </a:lnTo>
                  <a:lnTo>
                    <a:pt x="66746" y="1400098"/>
                  </a:lnTo>
                  <a:lnTo>
                    <a:pt x="62101" y="1399651"/>
                  </a:lnTo>
                  <a:lnTo>
                    <a:pt x="57500" y="1398688"/>
                  </a:lnTo>
                  <a:lnTo>
                    <a:pt x="52900" y="1397793"/>
                  </a:lnTo>
                  <a:lnTo>
                    <a:pt x="17606" y="1375838"/>
                  </a:lnTo>
                  <a:lnTo>
                    <a:pt x="1372" y="1342653"/>
                  </a:lnTo>
                  <a:lnTo>
                    <a:pt x="457" y="1338043"/>
                  </a:lnTo>
                  <a:lnTo>
                    <a:pt x="0" y="1333423"/>
                  </a:lnTo>
                  <a:lnTo>
                    <a:pt x="0" y="13287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7000835"/>
              <a:ext cx="28575" cy="295275"/>
            </a:xfrm>
            <a:custGeom>
              <a:avLst/>
              <a:gdLst/>
              <a:ahLst/>
              <a:cxnLst/>
              <a:rect l="l" t="t" r="r" b="b"/>
              <a:pathLst>
                <a:path w="28575" h="295275">
                  <a:moveTo>
                    <a:pt x="2857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52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799" y="8410535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4388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286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799" y="8410535"/>
              <a:ext cx="38100" cy="828675"/>
            </a:xfrm>
            <a:custGeom>
              <a:avLst/>
              <a:gdLst/>
              <a:ahLst/>
              <a:cxnLst/>
              <a:rect l="l" t="t" r="r" b="b"/>
              <a:pathLst>
                <a:path w="38100" h="828675">
                  <a:moveTo>
                    <a:pt x="380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286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92"/>
                  </a:lnTo>
                  <a:lnTo>
                    <a:pt x="329349" y="3949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633"/>
                  </a:lnTo>
                  <a:lnTo>
                    <a:pt x="3886" y="51650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33" y="351320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79"/>
                  </a:lnTo>
                  <a:lnTo>
                    <a:pt x="377126" y="329222"/>
                  </a:lnTo>
                  <a:lnTo>
                    <a:pt x="381000" y="309791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42"/>
                  </a:lnTo>
                  <a:lnTo>
                    <a:pt x="1037043" y="109562"/>
                  </a:lnTo>
                  <a:lnTo>
                    <a:pt x="1012875" y="75311"/>
                  </a:lnTo>
                  <a:lnTo>
                    <a:pt x="981087" y="47853"/>
                  </a:lnTo>
                  <a:lnTo>
                    <a:pt x="943584" y="29006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204"/>
                  </a:lnTo>
                  <a:lnTo>
                    <a:pt x="580199" y="63411"/>
                  </a:lnTo>
                  <a:lnTo>
                    <a:pt x="552780" y="95097"/>
                  </a:lnTo>
                  <a:lnTo>
                    <a:pt x="533895" y="132664"/>
                  </a:lnTo>
                  <a:lnTo>
                    <a:pt x="524700" y="173672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31"/>
                  </a:lnTo>
                  <a:lnTo>
                    <a:pt x="548271" y="278472"/>
                  </a:lnTo>
                  <a:lnTo>
                    <a:pt x="574103" y="311658"/>
                  </a:lnTo>
                  <a:lnTo>
                    <a:pt x="607199" y="337400"/>
                  </a:lnTo>
                  <a:lnTo>
                    <a:pt x="645566" y="354469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28"/>
                  </a:lnTo>
                  <a:lnTo>
                    <a:pt x="1000963" y="317461"/>
                  </a:lnTo>
                  <a:lnTo>
                    <a:pt x="1028382" y="285597"/>
                  </a:lnTo>
                  <a:lnTo>
                    <a:pt x="1047267" y="248119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3099" y="713318"/>
            <a:ext cx="6451600" cy="751834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なぜ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は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いい</a:t>
            </a:r>
            <a:r>
              <a:rPr sz="1700" b="1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sz="1800" b="1" spc="-114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750" b="1" spc="-180" dirty="0">
                <a:solidFill>
                  <a:srgbClr val="333333"/>
                </a:solidFill>
                <a:latin typeface="BIZ UDPゴシック"/>
                <a:cs typeface="BIZ UDPゴシック"/>
              </a:rPr>
              <a:t>ゆらぎと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科学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25463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のせせらぎ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、⿃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のさえずり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、波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なぜ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たちは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されるのか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その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秘密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</a:t>
            </a:r>
            <a:r>
              <a:rPr sz="1400" i="1" spc="-75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ゆらぎ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「倍⾳」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にありました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550" b="1" spc="-100" dirty="0">
                <a:solidFill>
                  <a:srgbClr val="2D5926"/>
                </a:solidFill>
                <a:latin typeface="Comic Sans MS"/>
                <a:cs typeface="Comic Sans MS"/>
              </a:rPr>
              <a:t>1/f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ゆらぎとは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54610">
              <a:lnSpc>
                <a:spcPct val="131900"/>
              </a:lnSpc>
              <a:spcBef>
                <a:spcPts val="819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ゆらぎ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特性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これは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則的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でありながら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適度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255" dirty="0">
                <a:solidFill>
                  <a:srgbClr val="333333"/>
                </a:solidFill>
                <a:latin typeface="メイリオ"/>
                <a:cs typeface="メイリオ"/>
              </a:rPr>
              <a:t>不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則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のパタ</a:t>
            </a:r>
            <a:r>
              <a:rPr sz="1300" spc="-1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ンのこと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脳波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同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じゆらぎがあり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とこの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リズムに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共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鳴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倍⾳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効果</a:t>
            </a:r>
            <a:endParaRPr sz="1450" dirty="0">
              <a:latin typeface="メイリオ"/>
              <a:cs typeface="メイリオ"/>
            </a:endParaRPr>
          </a:p>
          <a:p>
            <a:pPr marL="12700" marR="53975">
              <a:lnSpc>
                <a:spcPct val="134300"/>
              </a:lnSpc>
              <a:spcBef>
                <a:spcPts val="805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豊富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含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まれています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本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複数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58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                                   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よく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じられ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倍⾳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少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不快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じられます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周波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数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300" b="1" spc="-80" dirty="0">
                <a:solidFill>
                  <a:srgbClr val="333333"/>
                </a:solidFill>
                <a:latin typeface="メイリオ"/>
                <a:cs typeface="メイリオ"/>
              </a:rPr>
              <a:t>特徴</a:t>
            </a:r>
            <a:endParaRPr sz="1300" dirty="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⼩⿃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300" spc="1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35" dirty="0">
                <a:solidFill>
                  <a:srgbClr val="333333"/>
                </a:solidFill>
                <a:latin typeface="Comic Sans MS"/>
                <a:cs typeface="Comic Sans MS"/>
              </a:rPr>
              <a:t>3,000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4,000Hz</a:t>
            </a:r>
            <a:endParaRPr sz="1350" dirty="0">
              <a:latin typeface="Comic Sans MS"/>
              <a:cs typeface="Comic Sans MS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⾃然⾳全体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20Hz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60" dirty="0">
                <a:solidFill>
                  <a:srgbClr val="333333"/>
                </a:solidFill>
                <a:latin typeface="Comic Sans MS"/>
                <a:cs typeface="Comic Sans MS"/>
              </a:rPr>
              <a:t>20,000Hz</a:t>
            </a:r>
            <a:r>
              <a:rPr sz="1300" spc="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可聴域全体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⾼周波成分</a:t>
            </a:r>
            <a:r>
              <a:rPr sz="1300" spc="7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lang="en-US" sz="1350" spc="70" dirty="0">
                <a:solidFill>
                  <a:srgbClr val="333333"/>
                </a:solidFill>
                <a:latin typeface="Comic Sans MS" panose="030F0702030302020204" pitchFamily="66" charset="0"/>
                <a:cs typeface="BIZ UDPゴシック"/>
              </a:rPr>
              <a:t>10</a:t>
            </a:r>
            <a:r>
              <a:rPr sz="1350" spc="70" dirty="0">
                <a:solidFill>
                  <a:srgbClr val="333333"/>
                </a:solidFill>
                <a:latin typeface="Comic Sans MS" panose="030F0702030302020204" pitchFamily="66" charset="0"/>
                <a:cs typeface="Comic Sans MS"/>
              </a:rPr>
              <a:t>,000Hz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以上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よりも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40" dirty="0">
                <a:solidFill>
                  <a:srgbClr val="333333"/>
                </a:solidFill>
                <a:latin typeface="SimSun"/>
                <a:cs typeface="SimSun"/>
              </a:rPr>
              <a:t>じやすい</a:t>
            </a:r>
            <a:endParaRPr sz="13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200" dirty="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endParaRPr lang="en-US" sz="1450" b="1" spc="-140" dirty="0">
              <a:solidFill>
                <a:srgbClr val="2D5926"/>
              </a:solidFill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⼈⼯⾳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との違い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46355" algn="just">
              <a:lnSpc>
                <a:spcPct val="134300"/>
              </a:lnSpc>
              <a:spcBef>
                <a:spcPts val="730"/>
              </a:spcBef>
            </a:pP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機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械⾳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や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電⼦⾳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は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、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周波数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が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単調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で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倍⾳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が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少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ない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傾向</a:t>
            </a:r>
            <a:r>
              <a:rPr sz="1100" spc="-190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があります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。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そのため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、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⻑時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間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聴</a:t>
            </a:r>
            <a:r>
              <a:rPr sz="1100" spc="-760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くと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不快感</a:t>
            </a:r>
            <a:r>
              <a:rPr sz="1100" spc="-18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やストレスを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感</a:t>
            </a:r>
            <a:r>
              <a:rPr sz="1100" spc="-180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じやすくなります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。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⼀⽅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、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⾃然⾳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は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複雑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で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豊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かな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⾳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の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構成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を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持</a:t>
            </a:r>
            <a:r>
              <a:rPr sz="1100" spc="-180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ってい</a:t>
            </a:r>
            <a:r>
              <a:rPr sz="1100" spc="-16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るため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、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⻑時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間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聴</a:t>
            </a:r>
            <a:r>
              <a:rPr sz="1100" spc="-18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いても</a:t>
            </a:r>
            <a:r>
              <a:rPr sz="1100" spc="-10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/>
              </a:rPr>
              <a:t>疲</a:t>
            </a:r>
            <a:r>
              <a:rPr sz="1100" spc="-200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SimSun"/>
              </a:rPr>
              <a:t>れにくいのです</a:t>
            </a:r>
            <a:r>
              <a:rPr sz="1100" spc="675" dirty="0">
                <a:solidFill>
                  <a:srgbClr val="33333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/>
              </a:rPr>
              <a:t>。</a:t>
            </a:r>
            <a:endParaRPr sz="1100" dirty="0">
              <a:latin typeface="BIZ UDPゴシック" panose="020B0400000000000000" pitchFamily="50" charset="-128"/>
              <a:ea typeface="BIZ UDPゴシック" panose="020B0400000000000000" pitchFamily="50" charset="-128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100" dirty="0">
              <a:latin typeface="BIZ UDPゴシック" panose="020B0400000000000000" pitchFamily="50" charset="-128"/>
              <a:ea typeface="BIZ UDPゴシック" panose="020B0400000000000000" pitchFamily="50" charset="-128"/>
              <a:cs typeface="BIZ UDPゴシック"/>
            </a:endParaRPr>
          </a:p>
          <a:p>
            <a:pPr marL="193040" marR="172085">
              <a:lnSpc>
                <a:spcPct val="1296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よさを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じるゆらぎがあり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⾔</a:t>
            </a:r>
            <a:r>
              <a:rPr sz="1350" spc="-355" dirty="0">
                <a:solidFill>
                  <a:srgbClr val="333333"/>
                </a:solidFill>
                <a:latin typeface="SimSun"/>
                <a:cs typeface="SimSun"/>
              </a:rPr>
              <a:t>えるで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しょう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69</a:t>
            </a:fld>
            <a:r>
              <a:rPr spc="-10" dirty="0"/>
              <a:t>/135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48"/>
            <a:ext cx="7063105" cy="1229360"/>
            <a:chOff x="352425" y="352348"/>
            <a:chExt cx="7063105" cy="1229360"/>
          </a:xfrm>
        </p:grpSpPr>
        <p:sp>
          <p:nvSpPr>
            <p:cNvPr id="3" name="object 3"/>
            <p:cNvSpPr/>
            <p:nvPr/>
          </p:nvSpPr>
          <p:spPr>
            <a:xfrm>
              <a:off x="376237" y="352385"/>
              <a:ext cx="7038975" cy="1224280"/>
            </a:xfrm>
            <a:custGeom>
              <a:avLst/>
              <a:gdLst/>
              <a:ahLst/>
              <a:cxnLst/>
              <a:rect l="l" t="t" r="r" b="b"/>
              <a:pathLst>
                <a:path w="7038975" h="1224280">
                  <a:moveTo>
                    <a:pt x="6936628" y="1223962"/>
                  </a:moveTo>
                  <a:lnTo>
                    <a:pt x="84545" y="1223962"/>
                  </a:lnTo>
                  <a:lnTo>
                    <a:pt x="78661" y="1223219"/>
                  </a:lnTo>
                  <a:lnTo>
                    <a:pt x="35275" y="1201416"/>
                  </a:lnTo>
                  <a:lnTo>
                    <a:pt x="11948" y="1169117"/>
                  </a:lnTo>
                  <a:lnTo>
                    <a:pt x="579" y="1128636"/>
                  </a:lnTo>
                  <a:lnTo>
                    <a:pt x="0" y="1121568"/>
                  </a:lnTo>
                  <a:lnTo>
                    <a:pt x="0" y="1114424"/>
                  </a:lnTo>
                  <a:lnTo>
                    <a:pt x="0" y="0"/>
                  </a:lnTo>
                  <a:lnTo>
                    <a:pt x="7038974" y="0"/>
                  </a:lnTo>
                  <a:lnTo>
                    <a:pt x="7038973" y="1121568"/>
                  </a:lnTo>
                  <a:lnTo>
                    <a:pt x="7027882" y="1162869"/>
                  </a:lnTo>
                  <a:lnTo>
                    <a:pt x="7001805" y="1196873"/>
                  </a:lnTo>
                  <a:lnTo>
                    <a:pt x="6964709" y="1218228"/>
                  </a:lnTo>
                  <a:lnTo>
                    <a:pt x="6943752" y="1223219"/>
                  </a:lnTo>
                  <a:lnTo>
                    <a:pt x="6936628" y="1223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48"/>
              <a:ext cx="6999605" cy="1229360"/>
            </a:xfrm>
            <a:custGeom>
              <a:avLst/>
              <a:gdLst/>
              <a:ahLst/>
              <a:cxnLst/>
              <a:rect l="l" t="t" r="r" b="b"/>
              <a:pathLst>
                <a:path w="6999605" h="1229360">
                  <a:moveTo>
                    <a:pt x="6999071" y="0"/>
                  </a:moveTo>
                  <a:lnTo>
                    <a:pt x="6995795" y="0"/>
                  </a:lnTo>
                  <a:lnTo>
                    <a:pt x="6995795" y="1114475"/>
                  </a:lnTo>
                  <a:lnTo>
                    <a:pt x="6995300" y="1124788"/>
                  </a:lnTo>
                  <a:lnTo>
                    <a:pt x="6983412" y="1163904"/>
                  </a:lnTo>
                  <a:lnTo>
                    <a:pt x="6964616" y="1189012"/>
                  </a:lnTo>
                  <a:lnTo>
                    <a:pt x="6931126" y="1211300"/>
                  </a:lnTo>
                  <a:lnTo>
                    <a:pt x="6891020" y="1219276"/>
                  </a:lnTo>
                  <a:lnTo>
                    <a:pt x="52082" y="1219276"/>
                  </a:lnTo>
                  <a:lnTo>
                    <a:pt x="26085" y="1210945"/>
                  </a:lnTo>
                  <a:lnTo>
                    <a:pt x="0" y="1216164"/>
                  </a:lnTo>
                  <a:lnTo>
                    <a:pt x="40817" y="1228255"/>
                  </a:lnTo>
                  <a:lnTo>
                    <a:pt x="52082" y="1228801"/>
                  </a:lnTo>
                  <a:lnTo>
                    <a:pt x="6891020" y="1228801"/>
                  </a:lnTo>
                  <a:lnTo>
                    <a:pt x="6934771" y="1220089"/>
                  </a:lnTo>
                  <a:lnTo>
                    <a:pt x="6971843" y="1195311"/>
                  </a:lnTo>
                  <a:lnTo>
                    <a:pt x="6972300" y="1194816"/>
                  </a:lnTo>
                  <a:lnTo>
                    <a:pt x="6979425" y="1186942"/>
                  </a:lnTo>
                  <a:lnTo>
                    <a:pt x="6986079" y="1177988"/>
                  </a:lnTo>
                  <a:lnTo>
                    <a:pt x="6991807" y="1168400"/>
                  </a:lnTo>
                  <a:lnTo>
                    <a:pt x="6996620" y="1158214"/>
                  </a:lnTo>
                  <a:lnTo>
                    <a:pt x="6999071" y="1151382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48"/>
              <a:ext cx="88900" cy="1216660"/>
            </a:xfrm>
            <a:custGeom>
              <a:avLst/>
              <a:gdLst/>
              <a:ahLst/>
              <a:cxnLst/>
              <a:rect l="l" t="t" r="r" b="b"/>
              <a:pathLst>
                <a:path w="88900" h="1216660">
                  <a:moveTo>
                    <a:pt x="62522" y="1216270"/>
                  </a:moveTo>
                  <a:lnTo>
                    <a:pt x="25900" y="1186940"/>
                  </a:lnTo>
                  <a:lnTo>
                    <a:pt x="4894" y="1147594"/>
                  </a:lnTo>
                  <a:lnTo>
                    <a:pt x="0" y="1114464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1114464"/>
                  </a:lnTo>
                  <a:lnTo>
                    <a:pt x="47942" y="1124785"/>
                  </a:lnTo>
                  <a:lnTo>
                    <a:pt x="55506" y="1163904"/>
                  </a:lnTo>
                  <a:lnTo>
                    <a:pt x="77250" y="1201598"/>
                  </a:lnTo>
                  <a:lnTo>
                    <a:pt x="88528" y="1211074"/>
                  </a:lnTo>
                  <a:lnTo>
                    <a:pt x="62522" y="121627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352388"/>
              <a:ext cx="6438899" cy="933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016398" y="479515"/>
            <a:ext cx="1778000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marR="5080" indent="-246379">
              <a:lnSpc>
                <a:spcPct val="134300"/>
              </a:lnSpc>
              <a:spcBef>
                <a:spcPts val="90"/>
              </a:spcBef>
            </a:pP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1/f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ゆらぎ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⾳源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サンプルを</a:t>
            </a:r>
            <a:r>
              <a:rPr sz="1350" spc="-9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70</a:t>
            </a:fld>
            <a:r>
              <a:rPr spc="-10" dirty="0"/>
              <a:t>/135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4"/>
            <a:ext cx="7061834" cy="9347835"/>
            <a:chOff x="352425" y="352414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137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76"/>
                  </a:moveTo>
                  <a:lnTo>
                    <a:pt x="0" y="934257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26503" y="32070"/>
                  </a:lnTo>
                  <a:lnTo>
                    <a:pt x="30704" y="26936"/>
                  </a:lnTo>
                  <a:lnTo>
                    <a:pt x="35275" y="22402"/>
                  </a:lnTo>
                  <a:lnTo>
                    <a:pt x="40215" y="18459"/>
                  </a:lnTo>
                  <a:lnTo>
                    <a:pt x="45155" y="14439"/>
                  </a:lnTo>
                  <a:lnTo>
                    <a:pt x="50370" y="11010"/>
                  </a:lnTo>
                  <a:lnTo>
                    <a:pt x="61348" y="5505"/>
                  </a:lnTo>
                  <a:lnTo>
                    <a:pt x="67006" y="3419"/>
                  </a:lnTo>
                  <a:lnTo>
                    <a:pt x="72834" y="2085"/>
                  </a:lnTo>
                  <a:lnTo>
                    <a:pt x="78661" y="666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43752" y="666"/>
                  </a:lnTo>
                  <a:lnTo>
                    <a:pt x="6950806" y="2085"/>
                  </a:lnTo>
                  <a:lnTo>
                    <a:pt x="6957860" y="3419"/>
                  </a:lnTo>
                  <a:lnTo>
                    <a:pt x="6964709" y="5505"/>
                  </a:lnTo>
                  <a:lnTo>
                    <a:pt x="6977998" y="11010"/>
                  </a:lnTo>
                  <a:lnTo>
                    <a:pt x="6984311" y="14439"/>
                  </a:lnTo>
                  <a:lnTo>
                    <a:pt x="6990291" y="18459"/>
                  </a:lnTo>
                  <a:lnTo>
                    <a:pt x="6996272" y="22402"/>
                  </a:lnTo>
                  <a:lnTo>
                    <a:pt x="7001805" y="26936"/>
                  </a:lnTo>
                  <a:lnTo>
                    <a:pt x="7006890" y="3207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7486" y="91217"/>
                  </a:lnTo>
                  <a:lnTo>
                    <a:pt x="7037486" y="9342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55"/>
                  </a:moveTo>
                  <a:lnTo>
                    <a:pt x="6979425" y="41795"/>
                  </a:lnTo>
                  <a:lnTo>
                    <a:pt x="6972262" y="34010"/>
                  </a:lnTo>
                  <a:lnTo>
                    <a:pt x="6971843" y="33477"/>
                  </a:lnTo>
                  <a:lnTo>
                    <a:pt x="6971525" y="33197"/>
                  </a:lnTo>
                  <a:lnTo>
                    <a:pt x="6971347" y="32994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4794" y="39928"/>
                  </a:lnTo>
                  <a:lnTo>
                    <a:pt x="6987819" y="74168"/>
                  </a:lnTo>
                  <a:lnTo>
                    <a:pt x="6995795" y="114274"/>
                  </a:lnTo>
                  <a:lnTo>
                    <a:pt x="6995795" y="9347263"/>
                  </a:lnTo>
                  <a:lnTo>
                    <a:pt x="6999071" y="934726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2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5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64" y="9334805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400634"/>
              <a:ext cx="6438900" cy="561975"/>
            </a:xfrm>
            <a:custGeom>
              <a:avLst/>
              <a:gdLst/>
              <a:ahLst/>
              <a:cxnLst/>
              <a:rect l="l" t="t" r="r" b="b"/>
              <a:pathLst>
                <a:path w="6438900" h="561975">
                  <a:moveTo>
                    <a:pt x="64388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5619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400634"/>
              <a:ext cx="38100" cy="561975"/>
            </a:xfrm>
            <a:custGeom>
              <a:avLst/>
              <a:gdLst/>
              <a:ahLst/>
              <a:cxnLst/>
              <a:rect l="l" t="t" r="r" b="b"/>
              <a:pathLst>
                <a:path w="38100" h="561975">
                  <a:moveTo>
                    <a:pt x="380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619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0562" y="6110246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6362626" y="1123873"/>
                  </a:moveTo>
                  <a:lnTo>
                    <a:pt x="66746" y="1123873"/>
                  </a:lnTo>
                  <a:lnTo>
                    <a:pt x="62101" y="1123426"/>
                  </a:lnTo>
                  <a:lnTo>
                    <a:pt x="24240" y="1106309"/>
                  </a:lnTo>
                  <a:lnTo>
                    <a:pt x="2287" y="1070895"/>
                  </a:lnTo>
                  <a:lnTo>
                    <a:pt x="0" y="1057198"/>
                  </a:lnTo>
                  <a:lnTo>
                    <a:pt x="0" y="1052512"/>
                  </a:lnTo>
                  <a:lnTo>
                    <a:pt x="0" y="66751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444"/>
                  </a:lnTo>
                  <a:lnTo>
                    <a:pt x="6429373" y="66751"/>
                  </a:lnTo>
                  <a:lnTo>
                    <a:pt x="6429373" y="1057198"/>
                  </a:lnTo>
                  <a:lnTo>
                    <a:pt x="6414728" y="1096041"/>
                  </a:lnTo>
                  <a:lnTo>
                    <a:pt x="6380940" y="1120225"/>
                  </a:lnTo>
                  <a:lnTo>
                    <a:pt x="6367272" y="1123426"/>
                  </a:lnTo>
                  <a:lnTo>
                    <a:pt x="6362626" y="1123873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0562" y="6110246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0" y="105251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131"/>
                  </a:lnTo>
                  <a:lnTo>
                    <a:pt x="1372" y="57521"/>
                  </a:lnTo>
                  <a:lnTo>
                    <a:pt x="2287" y="52911"/>
                  </a:lnTo>
                  <a:lnTo>
                    <a:pt x="3642" y="48444"/>
                  </a:lnTo>
                  <a:lnTo>
                    <a:pt x="20923" y="20907"/>
                  </a:lnTo>
                  <a:lnTo>
                    <a:pt x="24240" y="17564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564"/>
                  </a:lnTo>
                  <a:lnTo>
                    <a:pt x="6408450" y="20907"/>
                  </a:lnTo>
                  <a:lnTo>
                    <a:pt x="6411767" y="24183"/>
                  </a:lnTo>
                  <a:lnTo>
                    <a:pt x="6428916" y="62131"/>
                  </a:lnTo>
                  <a:lnTo>
                    <a:pt x="6429374" y="71437"/>
                  </a:lnTo>
                  <a:lnTo>
                    <a:pt x="6429374" y="1052512"/>
                  </a:lnTo>
                  <a:lnTo>
                    <a:pt x="6429373" y="1057198"/>
                  </a:lnTo>
                  <a:lnTo>
                    <a:pt x="6428916" y="1061818"/>
                  </a:lnTo>
                  <a:lnTo>
                    <a:pt x="6428001" y="1066352"/>
                  </a:lnTo>
                  <a:lnTo>
                    <a:pt x="6427086" y="1070895"/>
                  </a:lnTo>
                  <a:lnTo>
                    <a:pt x="6405133" y="1106309"/>
                  </a:lnTo>
                  <a:lnTo>
                    <a:pt x="6367272" y="1123426"/>
                  </a:lnTo>
                  <a:lnTo>
                    <a:pt x="6357937" y="1123949"/>
                  </a:lnTo>
                  <a:lnTo>
                    <a:pt x="71437" y="1123949"/>
                  </a:lnTo>
                  <a:lnTo>
                    <a:pt x="31749" y="1111824"/>
                  </a:lnTo>
                  <a:lnTo>
                    <a:pt x="5437" y="1079744"/>
                  </a:lnTo>
                  <a:lnTo>
                    <a:pt x="1372" y="1066352"/>
                  </a:lnTo>
                  <a:lnTo>
                    <a:pt x="457" y="1061818"/>
                  </a:lnTo>
                  <a:lnTo>
                    <a:pt x="0" y="1057198"/>
                  </a:lnTo>
                  <a:lnTo>
                    <a:pt x="0" y="105251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799" y="7429459"/>
              <a:ext cx="28575" cy="295275"/>
            </a:xfrm>
            <a:custGeom>
              <a:avLst/>
              <a:gdLst/>
              <a:ahLst/>
              <a:cxnLst/>
              <a:rect l="l" t="t" r="r" b="b"/>
              <a:pathLst>
                <a:path w="28575" h="295275">
                  <a:moveTo>
                    <a:pt x="2857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52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498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86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626"/>
                  </a:lnTo>
                  <a:lnTo>
                    <a:pt x="1012875" y="75374"/>
                  </a:lnTo>
                  <a:lnTo>
                    <a:pt x="981087" y="47993"/>
                  </a:lnTo>
                  <a:lnTo>
                    <a:pt x="943584" y="29032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255"/>
                  </a:lnTo>
                  <a:lnTo>
                    <a:pt x="580199" y="63461"/>
                  </a:lnTo>
                  <a:lnTo>
                    <a:pt x="552780" y="95250"/>
                  </a:lnTo>
                  <a:lnTo>
                    <a:pt x="533895" y="132664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99"/>
                  </a:lnTo>
                  <a:lnTo>
                    <a:pt x="574103" y="311721"/>
                  </a:lnTo>
                  <a:lnTo>
                    <a:pt x="607199" y="337477"/>
                  </a:lnTo>
                  <a:lnTo>
                    <a:pt x="645566" y="354545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806"/>
                  </a:lnTo>
                  <a:lnTo>
                    <a:pt x="966647" y="341642"/>
                  </a:lnTo>
                  <a:lnTo>
                    <a:pt x="1000963" y="317487"/>
                  </a:lnTo>
                  <a:lnTo>
                    <a:pt x="1028382" y="285673"/>
                  </a:lnTo>
                  <a:lnTo>
                    <a:pt x="1047267" y="248196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3099" y="713318"/>
            <a:ext cx="6451600" cy="817308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4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700" b="1" spc="-16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響</a:t>
            </a:r>
            <a:r>
              <a:rPr sz="1750" b="1" spc="-17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とは</a:t>
            </a:r>
            <a:r>
              <a:rPr sz="1700" b="1" spc="-16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750" b="1" spc="-20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750" b="1" spc="-17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をほぐす</a:t>
            </a: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新</a:t>
            </a:r>
            <a:r>
              <a:rPr sz="1750" b="1" spc="-14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しい</a:t>
            </a:r>
            <a:r>
              <a:rPr lang="ja-JP" altLang="en-US" sz="1750" b="1" spc="-145" dirty="0">
                <a:solidFill>
                  <a:srgbClr val="333333"/>
                </a:solidFill>
                <a:latin typeface="BIZ UDPゴシック"/>
                <a:cs typeface="BIZ UDPゴシック"/>
              </a:rPr>
              <a:t>ヘルスケア</a:t>
            </a:r>
            <a:endParaRPr sz="17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 dirty="0">
              <a:latin typeface="BIZ UDPゴシック"/>
              <a:cs typeface="BIZ UDPゴシック"/>
            </a:endParaRPr>
          </a:p>
          <a:p>
            <a:pPr marL="155575" marR="27305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のではなく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じる</a:t>
            </a:r>
            <a:r>
              <a:rPr sz="1350" i="1" spc="-270" dirty="0">
                <a:solidFill>
                  <a:srgbClr val="333333"/>
                </a:solidFill>
                <a:latin typeface="メイリオ"/>
                <a:cs typeface="メイリオ"/>
              </a:rPr>
              <a:t>」。体感⾳響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、⾳楽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直接体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400" i="1" spc="-150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ことで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、深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いリラクセ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ションを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実現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400" i="1" spc="-270" dirty="0">
                <a:solidFill>
                  <a:srgbClr val="333333"/>
                </a:solidFill>
                <a:latin typeface="メイリオ"/>
                <a:cs typeface="メイリオ"/>
              </a:rPr>
              <a:t>です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体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感⾳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響の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仕組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み</a:t>
            </a:r>
            <a:endParaRPr sz="14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体感振動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直接伝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健康法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専⽤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機器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25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endParaRPr sz="1300" dirty="0">
              <a:latin typeface="BIZ UDPゴシック"/>
              <a:cs typeface="BIZ UDPゴシック"/>
            </a:endParaRPr>
          </a:p>
          <a:p>
            <a:pPr marL="12700" marR="54610">
              <a:lnSpc>
                <a:spcPts val="2180"/>
              </a:lnSpc>
              <a:spcBef>
                <a:spcPts val="8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低⾳成分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変換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えます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これにより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くだけでは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得</a:t>
            </a:r>
            <a:r>
              <a:rPr sz="1350" spc="-285" dirty="0">
                <a:solidFill>
                  <a:srgbClr val="333333"/>
                </a:solidFill>
                <a:latin typeface="SimSun"/>
                <a:cs typeface="SimSun"/>
              </a:rPr>
              <a:t>られない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いリラックス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得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られます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振動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が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効</a:t>
            </a:r>
            <a:r>
              <a:rPr sz="1450" b="1" spc="-65" dirty="0">
                <a:solidFill>
                  <a:srgbClr val="2D5926"/>
                </a:solidFill>
                <a:latin typeface="BIZ UDPゴシック"/>
                <a:cs typeface="BIZ UDPゴシック"/>
              </a:rPr>
              <a:t>くのか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31115">
              <a:lnSpc>
                <a:spcPct val="134300"/>
              </a:lnSpc>
              <a:spcBef>
                <a:spcPts val="805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胎児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頃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⺟親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⿎動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体全体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じていました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315" dirty="0">
                <a:solidFill>
                  <a:srgbClr val="333333"/>
                </a:solidFill>
                <a:latin typeface="メイリオ"/>
                <a:cs typeface="メイリオ"/>
              </a:rPr>
              <a:t>⼤⼈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になっても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残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っており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じると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懐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かしい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安⼼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いのです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93040">
              <a:lnSpc>
                <a:spcPct val="1000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⾝体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直接⾳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体感振動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えると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⾝体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はとても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臨床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 dirty="0">
              <a:latin typeface="BIZ UDPゴシック"/>
              <a:cs typeface="BIZ UDPゴシック"/>
            </a:endParaRPr>
          </a:p>
          <a:p>
            <a:pPr marL="164465" marR="172720">
              <a:lnSpc>
                <a:spcPct val="134300"/>
              </a:lnSpc>
            </a:pP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分障害患者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62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×4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全項⽬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30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30" dirty="0">
                <a:solidFill>
                  <a:srgbClr val="333333"/>
                </a:solidFill>
                <a:latin typeface="Comic Sans MS"/>
                <a:cs typeface="Comic Sans MS"/>
              </a:rPr>
              <a:t>p</a:t>
            </a:r>
            <a:r>
              <a:rPr sz="1300" spc="-130" dirty="0">
                <a:solidFill>
                  <a:srgbClr val="333333"/>
                </a:solidFill>
                <a:latin typeface="Cambria"/>
                <a:cs typeface="Cambria"/>
              </a:rPr>
              <a:t>≦</a:t>
            </a:r>
            <a:r>
              <a:rPr sz="1350" spc="-130" dirty="0">
                <a:solidFill>
                  <a:srgbClr val="333333"/>
                </a:solidFill>
                <a:latin typeface="Comic Sans MS"/>
                <a:cs typeface="Comic Sans MS"/>
              </a:rPr>
              <a:t>0.01</a:t>
            </a:r>
            <a:r>
              <a:rPr sz="1300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されました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特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肩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背中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⼤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がありました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期待できる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効果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⾎液循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300" spc="4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くなった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張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緩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和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のバランス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いリラックス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endParaRPr sz="1300" dirty="0">
              <a:latin typeface="メイリオ"/>
              <a:cs typeface="メイリオ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71</a:t>
            </a:fld>
            <a:r>
              <a:rPr spc="-10" dirty="0"/>
              <a:t>/135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49"/>
            <a:ext cx="7063105" cy="1229360"/>
            <a:chOff x="352425" y="352349"/>
            <a:chExt cx="7063105" cy="1229360"/>
          </a:xfrm>
        </p:grpSpPr>
        <p:sp>
          <p:nvSpPr>
            <p:cNvPr id="3" name="object 3"/>
            <p:cNvSpPr/>
            <p:nvPr/>
          </p:nvSpPr>
          <p:spPr>
            <a:xfrm>
              <a:off x="376237" y="352384"/>
              <a:ext cx="7038975" cy="1224280"/>
            </a:xfrm>
            <a:custGeom>
              <a:avLst/>
              <a:gdLst/>
              <a:ahLst/>
              <a:cxnLst/>
              <a:rect l="l" t="t" r="r" b="b"/>
              <a:pathLst>
                <a:path w="7038975" h="1224280">
                  <a:moveTo>
                    <a:pt x="6936628" y="1223962"/>
                  </a:moveTo>
                  <a:lnTo>
                    <a:pt x="84545" y="1223962"/>
                  </a:lnTo>
                  <a:lnTo>
                    <a:pt x="78661" y="1223295"/>
                  </a:lnTo>
                  <a:lnTo>
                    <a:pt x="35275" y="1201492"/>
                  </a:lnTo>
                  <a:lnTo>
                    <a:pt x="11948" y="1169117"/>
                  </a:lnTo>
                  <a:lnTo>
                    <a:pt x="579" y="1128712"/>
                  </a:lnTo>
                  <a:lnTo>
                    <a:pt x="0" y="1121644"/>
                  </a:lnTo>
                  <a:lnTo>
                    <a:pt x="0" y="1114424"/>
                  </a:lnTo>
                  <a:lnTo>
                    <a:pt x="0" y="0"/>
                  </a:lnTo>
                  <a:lnTo>
                    <a:pt x="7038974" y="0"/>
                  </a:lnTo>
                  <a:lnTo>
                    <a:pt x="7038973" y="1121644"/>
                  </a:lnTo>
                  <a:lnTo>
                    <a:pt x="7027882" y="1162869"/>
                  </a:lnTo>
                  <a:lnTo>
                    <a:pt x="7001805" y="1196949"/>
                  </a:lnTo>
                  <a:lnTo>
                    <a:pt x="6964709" y="1218304"/>
                  </a:lnTo>
                  <a:lnTo>
                    <a:pt x="6943752" y="1223295"/>
                  </a:lnTo>
                  <a:lnTo>
                    <a:pt x="6936628" y="1223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48"/>
              <a:ext cx="6999605" cy="1229360"/>
            </a:xfrm>
            <a:custGeom>
              <a:avLst/>
              <a:gdLst/>
              <a:ahLst/>
              <a:cxnLst/>
              <a:rect l="l" t="t" r="r" b="b"/>
              <a:pathLst>
                <a:path w="6999605" h="1229360">
                  <a:moveTo>
                    <a:pt x="6999071" y="0"/>
                  </a:moveTo>
                  <a:lnTo>
                    <a:pt x="6995795" y="0"/>
                  </a:lnTo>
                  <a:lnTo>
                    <a:pt x="6995795" y="1114475"/>
                  </a:lnTo>
                  <a:lnTo>
                    <a:pt x="6995300" y="1124788"/>
                  </a:lnTo>
                  <a:lnTo>
                    <a:pt x="6983412" y="1163916"/>
                  </a:lnTo>
                  <a:lnTo>
                    <a:pt x="6964616" y="1189012"/>
                  </a:lnTo>
                  <a:lnTo>
                    <a:pt x="6931126" y="1211300"/>
                  </a:lnTo>
                  <a:lnTo>
                    <a:pt x="6891020" y="1219276"/>
                  </a:lnTo>
                  <a:lnTo>
                    <a:pt x="52082" y="1219276"/>
                  </a:lnTo>
                  <a:lnTo>
                    <a:pt x="26085" y="1210945"/>
                  </a:lnTo>
                  <a:lnTo>
                    <a:pt x="0" y="1216164"/>
                  </a:lnTo>
                  <a:lnTo>
                    <a:pt x="40817" y="1228255"/>
                  </a:lnTo>
                  <a:lnTo>
                    <a:pt x="52082" y="1228801"/>
                  </a:lnTo>
                  <a:lnTo>
                    <a:pt x="6891020" y="1228801"/>
                  </a:lnTo>
                  <a:lnTo>
                    <a:pt x="6934771" y="1220101"/>
                  </a:lnTo>
                  <a:lnTo>
                    <a:pt x="6936511" y="1219276"/>
                  </a:lnTo>
                  <a:lnTo>
                    <a:pt x="6944957" y="1215288"/>
                  </a:lnTo>
                  <a:lnTo>
                    <a:pt x="6954545" y="1209548"/>
                  </a:lnTo>
                  <a:lnTo>
                    <a:pt x="6963499" y="1202893"/>
                  </a:lnTo>
                  <a:lnTo>
                    <a:pt x="6971843" y="1195324"/>
                  </a:lnTo>
                  <a:lnTo>
                    <a:pt x="6972300" y="1194816"/>
                  </a:lnTo>
                  <a:lnTo>
                    <a:pt x="6979425" y="1186942"/>
                  </a:lnTo>
                  <a:lnTo>
                    <a:pt x="6986079" y="1177988"/>
                  </a:lnTo>
                  <a:lnTo>
                    <a:pt x="6991807" y="1168400"/>
                  </a:lnTo>
                  <a:lnTo>
                    <a:pt x="6996620" y="1158214"/>
                  </a:lnTo>
                  <a:lnTo>
                    <a:pt x="6999071" y="1151382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49"/>
              <a:ext cx="88900" cy="1216660"/>
            </a:xfrm>
            <a:custGeom>
              <a:avLst/>
              <a:gdLst/>
              <a:ahLst/>
              <a:cxnLst/>
              <a:rect l="l" t="t" r="r" b="b"/>
              <a:pathLst>
                <a:path w="88900" h="1216660">
                  <a:moveTo>
                    <a:pt x="62522" y="1216271"/>
                  </a:moveTo>
                  <a:lnTo>
                    <a:pt x="25900" y="1186941"/>
                  </a:lnTo>
                  <a:lnTo>
                    <a:pt x="4894" y="1147595"/>
                  </a:lnTo>
                  <a:lnTo>
                    <a:pt x="0" y="1114465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1114465"/>
                  </a:lnTo>
                  <a:lnTo>
                    <a:pt x="47942" y="1124786"/>
                  </a:lnTo>
                  <a:lnTo>
                    <a:pt x="55506" y="1163905"/>
                  </a:lnTo>
                  <a:lnTo>
                    <a:pt x="77250" y="1201598"/>
                  </a:lnTo>
                  <a:lnTo>
                    <a:pt x="88528" y="1211074"/>
                  </a:lnTo>
                  <a:lnTo>
                    <a:pt x="62522" y="121627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352389"/>
              <a:ext cx="6438899" cy="933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962225" y="483528"/>
            <a:ext cx="188595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920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体感⾳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響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体験会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情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報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は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でお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知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らせしています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72</a:t>
            </a:fld>
            <a:r>
              <a:rPr spc="-10" dirty="0"/>
              <a:t>/135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4"/>
            <a:ext cx="7061822" cy="9347835"/>
            <a:chOff x="352425" y="352424"/>
            <a:chExt cx="7061822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138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77"/>
                  </a:moveTo>
                  <a:lnTo>
                    <a:pt x="0" y="9342577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26503" y="3199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06890" y="31994"/>
                  </a:lnTo>
                  <a:lnTo>
                    <a:pt x="7011976" y="36985"/>
                  </a:lnTo>
                  <a:lnTo>
                    <a:pt x="7033387" y="74190"/>
                  </a:lnTo>
                  <a:lnTo>
                    <a:pt x="7037486" y="91174"/>
                  </a:lnTo>
                  <a:lnTo>
                    <a:pt x="7037486" y="93425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55"/>
                  </a:moveTo>
                  <a:lnTo>
                    <a:pt x="6979425" y="41795"/>
                  </a:lnTo>
                  <a:lnTo>
                    <a:pt x="6972262" y="34010"/>
                  </a:lnTo>
                  <a:lnTo>
                    <a:pt x="6971843" y="33477"/>
                  </a:lnTo>
                  <a:lnTo>
                    <a:pt x="6971525" y="33197"/>
                  </a:lnTo>
                  <a:lnTo>
                    <a:pt x="6971347" y="32994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4794" y="39928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9347263"/>
                  </a:lnTo>
                  <a:lnTo>
                    <a:pt x="6999071" y="934726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3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5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64" y="9334805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510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3400425"/>
            </a:xfrm>
            <a:custGeom>
              <a:avLst/>
              <a:gdLst/>
              <a:ahLst/>
              <a:cxnLst/>
              <a:rect l="l" t="t" r="r" b="b"/>
              <a:pathLst>
                <a:path w="28575" h="3400425">
                  <a:moveTo>
                    <a:pt x="28575" y="3095625"/>
                  </a:moveTo>
                  <a:lnTo>
                    <a:pt x="0" y="3095625"/>
                  </a:lnTo>
                  <a:lnTo>
                    <a:pt x="0" y="3400425"/>
                  </a:lnTo>
                  <a:lnTo>
                    <a:pt x="28575" y="3400425"/>
                  </a:lnTo>
                  <a:lnTo>
                    <a:pt x="28575" y="3095625"/>
                  </a:lnTo>
                  <a:close/>
                </a:path>
                <a:path w="28575" h="3400425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3400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87" y="7391442"/>
              <a:ext cx="6438912" cy="1076121"/>
            </a:xfrm>
            <a:custGeom>
              <a:avLst/>
              <a:gdLst/>
              <a:ahLst/>
              <a:cxnLst/>
              <a:rect l="l" t="t" r="r" b="b"/>
              <a:pathLst>
                <a:path w="6438900" h="1104900">
                  <a:moveTo>
                    <a:pt x="6438899" y="1104899"/>
                  </a:moveTo>
                  <a:lnTo>
                    <a:pt x="0" y="11048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1048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7639008"/>
              <a:ext cx="38100" cy="1104900"/>
            </a:xfrm>
            <a:custGeom>
              <a:avLst/>
              <a:gdLst/>
              <a:ahLst/>
              <a:cxnLst/>
              <a:rect l="l" t="t" r="r" b="b"/>
              <a:pathLst>
                <a:path w="38100" h="1104900">
                  <a:moveTo>
                    <a:pt x="38099" y="1104899"/>
                  </a:moveTo>
                  <a:lnTo>
                    <a:pt x="0" y="11048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048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8934414"/>
              <a:ext cx="6438899" cy="7652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949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633"/>
                  </a:lnTo>
                  <a:lnTo>
                    <a:pt x="3886" y="51650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307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66"/>
                  </a:lnTo>
                  <a:lnTo>
                    <a:pt x="377126" y="329285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626"/>
                  </a:lnTo>
                  <a:lnTo>
                    <a:pt x="1012875" y="75311"/>
                  </a:lnTo>
                  <a:lnTo>
                    <a:pt x="981087" y="47917"/>
                  </a:lnTo>
                  <a:lnTo>
                    <a:pt x="943584" y="29006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218"/>
                  </a:lnTo>
                  <a:lnTo>
                    <a:pt x="614514" y="39204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664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418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692"/>
                  </a:lnTo>
                  <a:lnTo>
                    <a:pt x="966647" y="341579"/>
                  </a:lnTo>
                  <a:lnTo>
                    <a:pt x="1000963" y="317411"/>
                  </a:lnTo>
                  <a:lnTo>
                    <a:pt x="1028382" y="285673"/>
                  </a:lnTo>
                  <a:lnTo>
                    <a:pt x="1047267" y="248196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13318"/>
            <a:ext cx="6453505" cy="7704032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5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協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とは</a:t>
            </a:r>
            <a:r>
              <a:rPr sz="17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sz="1800" b="1" spc="-60" dirty="0">
                <a:solidFill>
                  <a:srgbClr val="333333"/>
                </a:solidFill>
                <a:latin typeface="Comic Sans MS"/>
                <a:cs typeface="Comic Sans MS"/>
              </a:rPr>
              <a:t>25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年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歩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みと</a:t>
            </a:r>
            <a:r>
              <a:rPr sz="1700" b="1" spc="-135" dirty="0">
                <a:solidFill>
                  <a:srgbClr val="333333"/>
                </a:solidFill>
                <a:latin typeface="メイリオ"/>
                <a:cs typeface="メイリオ"/>
              </a:rPr>
              <a:t>活動内容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362585">
              <a:lnSpc>
                <a:spcPct val="129500"/>
              </a:lnSpc>
            </a:pPr>
            <a:r>
              <a:rPr sz="1400" i="1" spc="-25" dirty="0">
                <a:solidFill>
                  <a:srgbClr val="333333"/>
                </a:solidFill>
                <a:latin typeface="Comic Sans MS"/>
                <a:cs typeface="Comic Sans MS"/>
              </a:rPr>
              <a:t>2001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年設⽴以来、延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べ</a:t>
            </a:r>
            <a:r>
              <a:rPr sz="1400" i="1" dirty="0">
                <a:solidFill>
                  <a:srgbClr val="333333"/>
                </a:solidFill>
                <a:latin typeface="Comic Sans MS"/>
                <a:cs typeface="Comic Sans MS"/>
              </a:rPr>
              <a:t>17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万⼈以上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体験。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リング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協会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歴史、</a:t>
            </a:r>
            <a:r>
              <a:rPr sz="1400" i="1" spc="-170" dirty="0">
                <a:solidFill>
                  <a:srgbClr val="333333"/>
                </a:solidFill>
                <a:latin typeface="メイリオ"/>
                <a:cs typeface="メイリオ"/>
              </a:rPr>
              <a:t>ミッショ</a:t>
            </a:r>
            <a:r>
              <a:rPr sz="1400" i="1" spc="-310" dirty="0">
                <a:solidFill>
                  <a:srgbClr val="333333"/>
                </a:solidFill>
                <a:latin typeface="メイリオ"/>
                <a:cs typeface="メイリオ"/>
              </a:rPr>
              <a:t>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、具体的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活動内容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をご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紹介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協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会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概要</a:t>
            </a:r>
            <a:endParaRPr sz="1450" dirty="0">
              <a:latin typeface="メイリオ"/>
              <a:cs typeface="メイリオ"/>
            </a:endParaRPr>
          </a:p>
          <a:p>
            <a:pPr marL="12700" marR="5080">
              <a:lnSpc>
                <a:spcPct val="131900"/>
              </a:lnSpc>
              <a:spcBef>
                <a:spcPts val="840"/>
              </a:spcBef>
            </a:pP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協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2001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設⽴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された</a:t>
            </a:r>
            <a:r>
              <a:rPr lang="ja-JP" altLang="en-US" sz="1350" spc="-75" dirty="0">
                <a:solidFill>
                  <a:srgbClr val="333333"/>
                </a:solidFill>
                <a:latin typeface="Comic Sans MS"/>
                <a:cs typeface="SimSun"/>
              </a:rPr>
              <a:t>任意団体</a:t>
            </a:r>
            <a:r>
              <a:rPr sz="1350" spc="-229" dirty="0" err="1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580" dirty="0">
                <a:solidFill>
                  <a:srgbClr val="333333"/>
                </a:solidFill>
                <a:latin typeface="BIZ UDPゴシック"/>
                <a:cs typeface="BIZ UDPゴシック"/>
              </a:rPr>
              <a:t>。「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305" dirty="0">
                <a:solidFill>
                  <a:srgbClr val="333333"/>
                </a:solidFill>
                <a:latin typeface="SimSun"/>
                <a:cs typeface="SimSun"/>
              </a:rPr>
              <a:t>のリズム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す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Harmonic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Revolution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をコンセプトに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健康法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活動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⾏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っています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550" b="1" dirty="0">
                <a:solidFill>
                  <a:srgbClr val="2D5926"/>
                </a:solidFill>
                <a:latin typeface="Comic Sans MS"/>
                <a:cs typeface="Comic Sans MS"/>
              </a:rPr>
              <a:t>3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つの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提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案</a:t>
            </a:r>
            <a:endParaRPr sz="14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協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つのアプロ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チを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提案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しています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 dirty="0">
              <a:latin typeface="BIZ UDPゴシック"/>
              <a:cs typeface="BIZ UDPゴシック"/>
            </a:endParaRPr>
          </a:p>
          <a:p>
            <a:pPr marL="200660" indent="-18796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20066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00" spc="9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95" dirty="0">
                <a:solidFill>
                  <a:srgbClr val="333333"/>
                </a:solidFill>
                <a:latin typeface="Comic Sans MS"/>
                <a:cs typeface="Comic Sans MS"/>
              </a:rPr>
              <a:t>Harmonic</a:t>
            </a:r>
            <a:r>
              <a:rPr sz="1350" spc="5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85" dirty="0">
                <a:solidFill>
                  <a:srgbClr val="333333"/>
                </a:solidFill>
                <a:latin typeface="Comic Sans MS"/>
                <a:cs typeface="Comic Sans MS"/>
              </a:rPr>
              <a:t>Ambience</a:t>
            </a:r>
            <a:r>
              <a:rPr sz="1300" spc="8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98755" indent="-186055">
              <a:lnSpc>
                <a:spcPct val="100000"/>
              </a:lnSpc>
              <a:spcBef>
                <a:spcPts val="480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300" spc="-110" dirty="0" err="1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00" spc="9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95" dirty="0" err="1">
                <a:solidFill>
                  <a:srgbClr val="333333"/>
                </a:solidFill>
                <a:latin typeface="Comic Sans MS"/>
                <a:cs typeface="Comic Sans MS"/>
              </a:rPr>
              <a:t>Harmonic</a:t>
            </a:r>
            <a:r>
              <a:rPr sz="1350" spc="6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110" dirty="0">
                <a:solidFill>
                  <a:srgbClr val="333333"/>
                </a:solidFill>
                <a:latin typeface="Comic Sans MS"/>
                <a:cs typeface="Comic Sans MS"/>
              </a:rPr>
              <a:t>Massage</a:t>
            </a:r>
            <a:r>
              <a:rPr sz="1300" spc="11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Voice</a:t>
            </a:r>
            <a:r>
              <a:rPr sz="1350" spc="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105" dirty="0">
                <a:solidFill>
                  <a:srgbClr val="333333"/>
                </a:solidFill>
                <a:latin typeface="Comic Sans MS"/>
                <a:cs typeface="Comic Sans MS"/>
              </a:rPr>
              <a:t>Prayer</a:t>
            </a:r>
            <a:r>
              <a:rPr sz="1300" spc="10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定</a:t>
            </a:r>
            <a:r>
              <a:rPr sz="1450" b="1" spc="-20" dirty="0">
                <a:solidFill>
                  <a:srgbClr val="2D5926"/>
                </a:solidFill>
                <a:latin typeface="BIZ UDPゴシック"/>
                <a:cs typeface="BIZ UDPゴシック"/>
              </a:rPr>
              <a:t>期イベント</a:t>
            </a:r>
            <a:endParaRPr sz="14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200" spc="109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・</a:t>
            </a:r>
            <a:r>
              <a:rPr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オンライン</a:t>
            </a:r>
            <a:r>
              <a:rPr sz="1200" spc="-2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mic Sans MS"/>
              </a:rPr>
              <a:t>Harmonic</a:t>
            </a:r>
            <a:r>
              <a:rPr sz="1200" spc="6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mic Sans MS"/>
              </a:rPr>
              <a:t> </a:t>
            </a:r>
            <a:r>
              <a:rPr sz="1200" spc="24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mic Sans MS"/>
              </a:rPr>
              <a:t>Day</a:t>
            </a:r>
            <a:r>
              <a:rPr sz="1200" spc="24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（</a:t>
            </a:r>
            <a:r>
              <a:rPr sz="12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毎⽉⽕曜</a:t>
            </a:r>
            <a:r>
              <a:rPr sz="1200" spc="-13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mic Sans MS"/>
              </a:rPr>
              <a:t>/</a:t>
            </a:r>
            <a:r>
              <a:rPr sz="12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正会員限定</a:t>
            </a:r>
            <a:r>
              <a:rPr sz="1200" spc="104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）</a:t>
            </a:r>
            <a:endParaRPr sz="1200" dirty="0">
              <a:latin typeface="メイリオ" panose="020B0604030504040204" pitchFamily="50" charset="-128"/>
              <a:ea typeface="メイリオ" panose="020B0604030504040204" pitchFamily="50" charset="-128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・</a:t>
            </a:r>
            <a:r>
              <a:rPr sz="1350" spc="-17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ここちよい</a:t>
            </a:r>
            <a:r>
              <a:rPr sz="1300" spc="-11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⾳</a:t>
            </a:r>
            <a:r>
              <a:rPr sz="1350" spc="-17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⽇</a:t>
            </a:r>
            <a:r>
              <a:rPr lang="ja-JP" altLang="en-US" sz="1300" spc="109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</a:t>
            </a:r>
            <a:r>
              <a:rPr lang="ja-JP" altLang="en-US"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田園調布長田整形外科にて毎月</a:t>
            </a:r>
            <a:r>
              <a:rPr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⼟曜</a:t>
            </a:r>
            <a:r>
              <a:rPr sz="1350" spc="-13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omic Sans MS"/>
              </a:rPr>
              <a:t>/</a:t>
            </a:r>
            <a:r>
              <a:rPr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無料体験</a:t>
            </a:r>
            <a:r>
              <a:rPr sz="1300" spc="104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）</a:t>
            </a:r>
            <a:endParaRPr sz="1300" dirty="0">
              <a:latin typeface="メイリオ" panose="020B0604030504040204" pitchFamily="50" charset="-128"/>
              <a:ea typeface="メイリオ" panose="020B0604030504040204" pitchFamily="50" charset="-128"/>
              <a:cs typeface="BIZ UDPゴシック"/>
            </a:endParaRPr>
          </a:p>
          <a:p>
            <a:pPr marL="12700">
              <a:spcBef>
                <a:spcPts val="555"/>
              </a:spcBef>
            </a:pP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３つのここちよい音　体験ワークショップ　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（毎月木曜開催中　自由が丘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Lab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にて）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2700">
              <a:spcBef>
                <a:spcPts val="555"/>
              </a:spcBef>
            </a:pPr>
            <a:r>
              <a:rPr 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・オンライン開催　音のウェルビーイング</a:t>
            </a:r>
            <a:r>
              <a:rPr 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Harmonic Science </a:t>
            </a:r>
            <a:r>
              <a:rPr 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体験講座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lang="ja-JP" altLang="en-US"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・スター </a:t>
            </a:r>
            <a:r>
              <a:rPr sz="1200" spc="-185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ライト</a:t>
            </a:r>
            <a:r>
              <a:rPr lang="en-US" sz="1200" spc="-18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  </a:t>
            </a:r>
            <a:r>
              <a:rPr sz="1200" spc="-185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ヒ</a:t>
            </a:r>
            <a:r>
              <a:rPr sz="1200" spc="-6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ー</a:t>
            </a:r>
            <a:r>
              <a:rPr sz="1200" spc="-18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リング</a:t>
            </a:r>
            <a:r>
              <a:rPr sz="1200" spc="-18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 </a:t>
            </a:r>
            <a:r>
              <a:rPr lang="ja-JP" altLang="en-US" sz="1200" spc="-18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　プラネタリウムコンサート（さいたま市宇宙劇場にて）</a:t>
            </a:r>
            <a:endParaRPr sz="1200" dirty="0">
              <a:latin typeface="メイリオ" panose="020B0604030504040204" pitchFamily="50" charset="-128"/>
              <a:ea typeface="メイリオ" panose="020B0604030504040204" pitchFamily="50" charset="-128"/>
              <a:cs typeface="SimSun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200" dirty="0">
              <a:latin typeface="SimSun"/>
              <a:cs typeface="SimSun"/>
            </a:endParaRPr>
          </a:p>
          <a:p>
            <a:pPr marL="193040" marR="155575" algn="just">
              <a:lnSpc>
                <a:spcPct val="1319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すべての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⽣命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尊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つながりを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325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未来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地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球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調和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つために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たちにできることだと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75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喜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⽥圭⼀郎理事⻑</a:t>
            </a:r>
            <a:endParaRPr sz="1300" dirty="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73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73349" y="9130979"/>
            <a:ext cx="246380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無料体験会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「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ここちよい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」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endParaRPr sz="1350" dirty="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49"/>
            <a:ext cx="7063105" cy="762635"/>
            <a:chOff x="352425" y="352349"/>
            <a:chExt cx="7063105" cy="762635"/>
          </a:xfrm>
        </p:grpSpPr>
        <p:sp>
          <p:nvSpPr>
            <p:cNvPr id="3" name="object 3"/>
            <p:cNvSpPr/>
            <p:nvPr/>
          </p:nvSpPr>
          <p:spPr>
            <a:xfrm>
              <a:off x="376237" y="352383"/>
              <a:ext cx="7038975" cy="757555"/>
            </a:xfrm>
            <a:custGeom>
              <a:avLst/>
              <a:gdLst/>
              <a:ahLst/>
              <a:cxnLst/>
              <a:rect l="l" t="t" r="r" b="b"/>
              <a:pathLst>
                <a:path w="7038975" h="757555">
                  <a:moveTo>
                    <a:pt x="6936628" y="757237"/>
                  </a:moveTo>
                  <a:lnTo>
                    <a:pt x="84545" y="757237"/>
                  </a:lnTo>
                  <a:lnTo>
                    <a:pt x="78661" y="756570"/>
                  </a:lnTo>
                  <a:lnTo>
                    <a:pt x="35275" y="734767"/>
                  </a:lnTo>
                  <a:lnTo>
                    <a:pt x="11948" y="702468"/>
                  </a:lnTo>
                  <a:lnTo>
                    <a:pt x="579" y="661911"/>
                  </a:lnTo>
                  <a:lnTo>
                    <a:pt x="0" y="654843"/>
                  </a:lnTo>
                  <a:lnTo>
                    <a:pt x="0" y="647699"/>
                  </a:lnTo>
                  <a:lnTo>
                    <a:pt x="0" y="0"/>
                  </a:lnTo>
                  <a:lnTo>
                    <a:pt x="7038974" y="0"/>
                  </a:lnTo>
                  <a:lnTo>
                    <a:pt x="7038973" y="654843"/>
                  </a:lnTo>
                  <a:lnTo>
                    <a:pt x="7027882" y="696144"/>
                  </a:lnTo>
                  <a:lnTo>
                    <a:pt x="7001805" y="730224"/>
                  </a:lnTo>
                  <a:lnTo>
                    <a:pt x="6964709" y="751655"/>
                  </a:lnTo>
                  <a:lnTo>
                    <a:pt x="6943752" y="756570"/>
                  </a:lnTo>
                  <a:lnTo>
                    <a:pt x="6936628" y="757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48"/>
              <a:ext cx="6999605" cy="762635"/>
            </a:xfrm>
            <a:custGeom>
              <a:avLst/>
              <a:gdLst/>
              <a:ahLst/>
              <a:cxnLst/>
              <a:rect l="l" t="t" r="r" b="b"/>
              <a:pathLst>
                <a:path w="6999605" h="762635">
                  <a:moveTo>
                    <a:pt x="6999071" y="0"/>
                  </a:moveTo>
                  <a:lnTo>
                    <a:pt x="6995795" y="0"/>
                  </a:lnTo>
                  <a:lnTo>
                    <a:pt x="6995795" y="647750"/>
                  </a:lnTo>
                  <a:lnTo>
                    <a:pt x="6995300" y="658063"/>
                  </a:lnTo>
                  <a:lnTo>
                    <a:pt x="6983412" y="697191"/>
                  </a:lnTo>
                  <a:lnTo>
                    <a:pt x="6964616" y="722287"/>
                  </a:lnTo>
                  <a:lnTo>
                    <a:pt x="6931126" y="744575"/>
                  </a:lnTo>
                  <a:lnTo>
                    <a:pt x="6891020" y="752551"/>
                  </a:lnTo>
                  <a:lnTo>
                    <a:pt x="52082" y="752551"/>
                  </a:lnTo>
                  <a:lnTo>
                    <a:pt x="26085" y="744220"/>
                  </a:lnTo>
                  <a:lnTo>
                    <a:pt x="0" y="749439"/>
                  </a:lnTo>
                  <a:lnTo>
                    <a:pt x="40817" y="761530"/>
                  </a:lnTo>
                  <a:lnTo>
                    <a:pt x="52082" y="762076"/>
                  </a:lnTo>
                  <a:lnTo>
                    <a:pt x="6891020" y="762076"/>
                  </a:lnTo>
                  <a:lnTo>
                    <a:pt x="6934771" y="753376"/>
                  </a:lnTo>
                  <a:lnTo>
                    <a:pt x="6936511" y="752551"/>
                  </a:lnTo>
                  <a:lnTo>
                    <a:pt x="6944957" y="748563"/>
                  </a:lnTo>
                  <a:lnTo>
                    <a:pt x="6954545" y="742823"/>
                  </a:lnTo>
                  <a:lnTo>
                    <a:pt x="6963499" y="736168"/>
                  </a:lnTo>
                  <a:lnTo>
                    <a:pt x="6971843" y="728599"/>
                  </a:lnTo>
                  <a:lnTo>
                    <a:pt x="6972300" y="728103"/>
                  </a:lnTo>
                  <a:lnTo>
                    <a:pt x="6979425" y="720217"/>
                  </a:lnTo>
                  <a:lnTo>
                    <a:pt x="6986079" y="711263"/>
                  </a:lnTo>
                  <a:lnTo>
                    <a:pt x="6991807" y="701687"/>
                  </a:lnTo>
                  <a:lnTo>
                    <a:pt x="6996620" y="691489"/>
                  </a:lnTo>
                  <a:lnTo>
                    <a:pt x="6999071" y="684657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49"/>
              <a:ext cx="88900" cy="749935"/>
            </a:xfrm>
            <a:custGeom>
              <a:avLst/>
              <a:gdLst/>
              <a:ahLst/>
              <a:cxnLst/>
              <a:rect l="l" t="t" r="r" b="b"/>
              <a:pathLst>
                <a:path w="88900" h="749935">
                  <a:moveTo>
                    <a:pt x="62522" y="749547"/>
                  </a:moveTo>
                  <a:lnTo>
                    <a:pt x="25900" y="720216"/>
                  </a:lnTo>
                  <a:lnTo>
                    <a:pt x="4894" y="680870"/>
                  </a:lnTo>
                  <a:lnTo>
                    <a:pt x="0" y="647741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647741"/>
                  </a:lnTo>
                  <a:lnTo>
                    <a:pt x="47942" y="658062"/>
                  </a:lnTo>
                  <a:lnTo>
                    <a:pt x="55506" y="697181"/>
                  </a:lnTo>
                  <a:lnTo>
                    <a:pt x="77250" y="734874"/>
                  </a:lnTo>
                  <a:lnTo>
                    <a:pt x="88528" y="744350"/>
                  </a:lnTo>
                  <a:lnTo>
                    <a:pt x="62522" y="749547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352390"/>
              <a:ext cx="6438899" cy="4667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809825" y="137265"/>
            <a:ext cx="2747645" cy="4533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18159">
              <a:lnSpc>
                <a:spcPct val="100000"/>
              </a:lnSpc>
              <a:spcBef>
                <a:spcPts val="345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情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報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は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でお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届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けしています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74</a:t>
            </a:fld>
            <a:r>
              <a:rPr spc="-10" dirty="0"/>
              <a:t>/135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9"/>
            <a:ext cx="7061834" cy="9347835"/>
            <a:chOff x="352425" y="352419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140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77"/>
                  </a:moveTo>
                  <a:lnTo>
                    <a:pt x="0" y="9342577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15249" y="48663"/>
                  </a:lnTo>
                  <a:lnTo>
                    <a:pt x="18550" y="42643"/>
                  </a:lnTo>
                  <a:lnTo>
                    <a:pt x="22301" y="37061"/>
                  </a:lnTo>
                  <a:lnTo>
                    <a:pt x="26503" y="32070"/>
                  </a:lnTo>
                  <a:lnTo>
                    <a:pt x="30704" y="26936"/>
                  </a:lnTo>
                  <a:lnTo>
                    <a:pt x="35275" y="22402"/>
                  </a:lnTo>
                  <a:lnTo>
                    <a:pt x="40215" y="18459"/>
                  </a:lnTo>
                  <a:lnTo>
                    <a:pt x="45155" y="1443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6990291" y="18459"/>
                  </a:lnTo>
                  <a:lnTo>
                    <a:pt x="6996272" y="22402"/>
                  </a:lnTo>
                  <a:lnTo>
                    <a:pt x="7001805" y="26936"/>
                  </a:lnTo>
                  <a:lnTo>
                    <a:pt x="7006890" y="32070"/>
                  </a:lnTo>
                  <a:lnTo>
                    <a:pt x="7011976" y="37061"/>
                  </a:lnTo>
                  <a:lnTo>
                    <a:pt x="7016516" y="42643"/>
                  </a:lnTo>
                  <a:lnTo>
                    <a:pt x="7020512" y="48663"/>
                  </a:lnTo>
                  <a:lnTo>
                    <a:pt x="7024508" y="54616"/>
                  </a:lnTo>
                  <a:lnTo>
                    <a:pt x="7027882" y="60940"/>
                  </a:lnTo>
                  <a:lnTo>
                    <a:pt x="7033387" y="74190"/>
                  </a:lnTo>
                  <a:lnTo>
                    <a:pt x="7035465" y="81038"/>
                  </a:lnTo>
                  <a:lnTo>
                    <a:pt x="7037486" y="91259"/>
                  </a:lnTo>
                  <a:lnTo>
                    <a:pt x="7037486" y="93425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55"/>
                  </a:moveTo>
                  <a:lnTo>
                    <a:pt x="6979425" y="41795"/>
                  </a:lnTo>
                  <a:lnTo>
                    <a:pt x="6972262" y="34010"/>
                  </a:lnTo>
                  <a:lnTo>
                    <a:pt x="6971843" y="33477"/>
                  </a:lnTo>
                  <a:lnTo>
                    <a:pt x="6971525" y="33197"/>
                  </a:lnTo>
                  <a:lnTo>
                    <a:pt x="6971347" y="32994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4794" y="39928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9347276"/>
                  </a:lnTo>
                  <a:lnTo>
                    <a:pt x="6999071" y="9347276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5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5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64" y="9334805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3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426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58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3995695"/>
              <a:ext cx="6429375" cy="2219325"/>
            </a:xfrm>
            <a:custGeom>
              <a:avLst/>
              <a:gdLst/>
              <a:ahLst/>
              <a:cxnLst/>
              <a:rect l="l" t="t" r="r" b="b"/>
              <a:pathLst>
                <a:path w="6429375" h="2219325">
                  <a:moveTo>
                    <a:pt x="6362626" y="2219324"/>
                  </a:moveTo>
                  <a:lnTo>
                    <a:pt x="66746" y="2219324"/>
                  </a:lnTo>
                  <a:lnTo>
                    <a:pt x="62101" y="2218800"/>
                  </a:lnTo>
                  <a:lnTo>
                    <a:pt x="24240" y="2201684"/>
                  </a:lnTo>
                  <a:lnTo>
                    <a:pt x="2287" y="2166346"/>
                  </a:lnTo>
                  <a:lnTo>
                    <a:pt x="0" y="2152497"/>
                  </a:lnTo>
                  <a:lnTo>
                    <a:pt x="0" y="2147887"/>
                  </a:lnTo>
                  <a:lnTo>
                    <a:pt x="0" y="66674"/>
                  </a:lnTo>
                  <a:lnTo>
                    <a:pt x="14645" y="27679"/>
                  </a:lnTo>
                  <a:lnTo>
                    <a:pt x="48433" y="3648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2152497"/>
                  </a:lnTo>
                  <a:lnTo>
                    <a:pt x="6414728" y="2191349"/>
                  </a:lnTo>
                  <a:lnTo>
                    <a:pt x="6380940" y="2215533"/>
                  </a:lnTo>
                  <a:lnTo>
                    <a:pt x="6367272" y="2218800"/>
                  </a:lnTo>
                  <a:lnTo>
                    <a:pt x="6362626" y="2219324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3995695"/>
              <a:ext cx="6429375" cy="2219325"/>
            </a:xfrm>
            <a:custGeom>
              <a:avLst/>
              <a:gdLst/>
              <a:ahLst/>
              <a:cxnLst/>
              <a:rect l="l" t="t" r="r" b="b"/>
              <a:pathLst>
                <a:path w="6429375" h="2219325">
                  <a:moveTo>
                    <a:pt x="0" y="214788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372" y="57445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662"/>
                  </a:lnTo>
                  <a:lnTo>
                    <a:pt x="9433" y="35566"/>
                  </a:lnTo>
                  <a:lnTo>
                    <a:pt x="12039" y="31622"/>
                  </a:lnTo>
                  <a:lnTo>
                    <a:pt x="14645" y="27679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82"/>
                  </a:lnTo>
                  <a:lnTo>
                    <a:pt x="31749" y="12058"/>
                  </a:lnTo>
                  <a:lnTo>
                    <a:pt x="35649" y="944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97624" y="12058"/>
                  </a:lnTo>
                  <a:lnTo>
                    <a:pt x="6401525" y="14582"/>
                  </a:lnTo>
                  <a:lnTo>
                    <a:pt x="6405133" y="17487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566"/>
                  </a:lnTo>
                  <a:lnTo>
                    <a:pt x="6428001" y="57445"/>
                  </a:lnTo>
                  <a:lnTo>
                    <a:pt x="6428916" y="61988"/>
                  </a:lnTo>
                  <a:lnTo>
                    <a:pt x="6429373" y="66674"/>
                  </a:lnTo>
                  <a:lnTo>
                    <a:pt x="6429374" y="71437"/>
                  </a:lnTo>
                  <a:lnTo>
                    <a:pt x="6429374" y="2147887"/>
                  </a:lnTo>
                  <a:lnTo>
                    <a:pt x="6429373" y="2152497"/>
                  </a:lnTo>
                  <a:lnTo>
                    <a:pt x="6428916" y="2157117"/>
                  </a:lnTo>
                  <a:lnTo>
                    <a:pt x="6428001" y="2161727"/>
                  </a:lnTo>
                  <a:lnTo>
                    <a:pt x="6427086" y="2166346"/>
                  </a:lnTo>
                  <a:lnTo>
                    <a:pt x="6417334" y="2187473"/>
                  </a:lnTo>
                  <a:lnTo>
                    <a:pt x="6414728" y="2191349"/>
                  </a:lnTo>
                  <a:lnTo>
                    <a:pt x="6385274" y="2213743"/>
                  </a:lnTo>
                  <a:lnTo>
                    <a:pt x="6380940" y="2215533"/>
                  </a:lnTo>
                  <a:lnTo>
                    <a:pt x="6376473" y="2216867"/>
                  </a:lnTo>
                  <a:lnTo>
                    <a:pt x="6371872" y="2217838"/>
                  </a:lnTo>
                  <a:lnTo>
                    <a:pt x="6367272" y="2218800"/>
                  </a:lnTo>
                  <a:lnTo>
                    <a:pt x="6362626" y="2219324"/>
                  </a:lnTo>
                  <a:lnTo>
                    <a:pt x="6357937" y="2219324"/>
                  </a:lnTo>
                  <a:lnTo>
                    <a:pt x="71437" y="2219324"/>
                  </a:lnTo>
                  <a:lnTo>
                    <a:pt x="66746" y="2219324"/>
                  </a:lnTo>
                  <a:lnTo>
                    <a:pt x="62101" y="2218800"/>
                  </a:lnTo>
                  <a:lnTo>
                    <a:pt x="57500" y="2217838"/>
                  </a:lnTo>
                  <a:lnTo>
                    <a:pt x="52900" y="2216867"/>
                  </a:lnTo>
                  <a:lnTo>
                    <a:pt x="48433" y="2215533"/>
                  </a:lnTo>
                  <a:lnTo>
                    <a:pt x="44099" y="2213743"/>
                  </a:lnTo>
                  <a:lnTo>
                    <a:pt x="39765" y="2211961"/>
                  </a:lnTo>
                  <a:lnTo>
                    <a:pt x="35649" y="2209723"/>
                  </a:lnTo>
                  <a:lnTo>
                    <a:pt x="31749" y="2207123"/>
                  </a:lnTo>
                  <a:lnTo>
                    <a:pt x="27848" y="2204589"/>
                  </a:lnTo>
                  <a:lnTo>
                    <a:pt x="3642" y="2170804"/>
                  </a:lnTo>
                  <a:lnTo>
                    <a:pt x="1372" y="2161727"/>
                  </a:lnTo>
                  <a:lnTo>
                    <a:pt x="457" y="2157117"/>
                  </a:lnTo>
                  <a:lnTo>
                    <a:pt x="0" y="2152497"/>
                  </a:lnTo>
                  <a:lnTo>
                    <a:pt x="0" y="214788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87" y="6410286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575"/>
                  </a:lnTo>
                  <a:lnTo>
                    <a:pt x="1012875" y="75336"/>
                  </a:lnTo>
                  <a:lnTo>
                    <a:pt x="981087" y="47993"/>
                  </a:lnTo>
                  <a:lnTo>
                    <a:pt x="943584" y="29032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281"/>
                  </a:lnTo>
                  <a:lnTo>
                    <a:pt x="580199" y="63461"/>
                  </a:lnTo>
                  <a:lnTo>
                    <a:pt x="552780" y="95173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71"/>
                  </a:lnTo>
                  <a:lnTo>
                    <a:pt x="548271" y="278625"/>
                  </a:lnTo>
                  <a:lnTo>
                    <a:pt x="574103" y="311721"/>
                  </a:lnTo>
                  <a:lnTo>
                    <a:pt x="607199" y="337515"/>
                  </a:lnTo>
                  <a:lnTo>
                    <a:pt x="645566" y="354533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81"/>
                  </a:lnTo>
                  <a:lnTo>
                    <a:pt x="966647" y="341655"/>
                  </a:lnTo>
                  <a:lnTo>
                    <a:pt x="1000963" y="317538"/>
                  </a:lnTo>
                  <a:lnTo>
                    <a:pt x="1028382" y="285750"/>
                  </a:lnTo>
                  <a:lnTo>
                    <a:pt x="1047267" y="248234"/>
                  </a:lnTo>
                  <a:lnTo>
                    <a:pt x="1056462" y="207289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13318"/>
            <a:ext cx="6395720" cy="828738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6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オキシトシンと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関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幸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せホルモンを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に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やす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18478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「幸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せホルモン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ばれるオキシトシン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。薬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頼</a:t>
            </a:r>
            <a:r>
              <a:rPr sz="1400" i="1" spc="-315" dirty="0">
                <a:solidFill>
                  <a:srgbClr val="333333"/>
                </a:solidFill>
                <a:latin typeface="メイリオ"/>
                <a:cs typeface="メイリオ"/>
              </a:rPr>
              <a:t>らず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くだけで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400" i="1" spc="-185" dirty="0">
                <a:solidFill>
                  <a:srgbClr val="333333"/>
                </a:solidFill>
                <a:latin typeface="メイリオ"/>
                <a:cs typeface="メイリオ"/>
              </a:rPr>
              <a:t>やせるこ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明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らかになりました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40" dirty="0">
                <a:solidFill>
                  <a:srgbClr val="2D5926"/>
                </a:solidFill>
                <a:latin typeface="BIZ UDPゴシック"/>
                <a:cs typeface="BIZ UDPゴシック"/>
              </a:rPr>
              <a:t>オキシトシンとは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29600"/>
              </a:lnSpc>
              <a:spcBef>
                <a:spcPts val="880"/>
              </a:spcBef>
            </a:pP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オキシトシンは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愛情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信頼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絆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じたときに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分泌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されるホルモンです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300" spc="-130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不安解消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幸福感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わり</a:t>
            </a:r>
            <a:r>
              <a:rPr sz="1300" spc="580" dirty="0">
                <a:solidFill>
                  <a:srgbClr val="333333"/>
                </a:solidFill>
                <a:latin typeface="BIZ UDPゴシック"/>
                <a:cs typeface="BIZ UDPゴシック"/>
              </a:rPr>
              <a:t>、「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せホルモン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絆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ホルモン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ばれて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64465" marR="2957830">
              <a:lnSpc>
                <a:spcPct val="1324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300" b="1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第</a:t>
            </a:r>
            <a:r>
              <a:rPr sz="1400" b="1" spc="-10" dirty="0">
                <a:solidFill>
                  <a:srgbClr val="333333"/>
                </a:solidFill>
                <a:latin typeface="Comic Sans MS"/>
                <a:cs typeface="Comic Sans MS"/>
              </a:rPr>
              <a:t>83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回⽇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本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温泉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気候物理医</a:t>
            </a:r>
            <a:r>
              <a:rPr sz="1300" b="1" spc="-245" dirty="0">
                <a:solidFill>
                  <a:srgbClr val="333333"/>
                </a:solidFill>
                <a:latin typeface="メイリオ"/>
                <a:cs typeface="メイリオ"/>
              </a:rPr>
              <a:t>学会</a:t>
            </a:r>
            <a:r>
              <a:rPr sz="1300" b="1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男⼦学⽣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endParaRPr sz="1300">
              <a:latin typeface="メイリオ"/>
              <a:cs typeface="メイリオ"/>
            </a:endParaRPr>
          </a:p>
          <a:p>
            <a:pPr marL="164465" marR="4852035">
              <a:lnSpc>
                <a:spcPts val="2180"/>
              </a:lnSpc>
              <a:spcBef>
                <a:spcPts val="160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聴取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31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オキシトシン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濃度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300" spc="28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85" dirty="0">
                <a:solidFill>
                  <a:srgbClr val="333333"/>
                </a:solidFill>
                <a:latin typeface="Comic Sans MS"/>
                <a:cs typeface="Comic Sans MS"/>
              </a:rPr>
              <a:t>p=0.01</a:t>
            </a:r>
            <a:r>
              <a:rPr sz="1300" spc="28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ストレスホルモン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300" spc="2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25" dirty="0">
                <a:solidFill>
                  <a:srgbClr val="333333"/>
                </a:solidFill>
                <a:latin typeface="Comic Sans MS"/>
                <a:cs typeface="Comic Sans MS"/>
              </a:rPr>
              <a:t>p=0.043</a:t>
            </a:r>
            <a:r>
              <a:rPr sz="1300" spc="22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⾃然⾳</a:t>
            </a:r>
            <a:r>
              <a:rPr sz="1450" b="1" spc="-125" dirty="0">
                <a:solidFill>
                  <a:srgbClr val="2D5926"/>
                </a:solidFill>
                <a:latin typeface="BIZ UDPゴシック"/>
                <a:cs typeface="BIZ UDPゴシック"/>
              </a:rPr>
              <a:t>で増えるのか</a:t>
            </a:r>
            <a:endParaRPr sz="1450">
              <a:latin typeface="BIZ UDPゴシック"/>
              <a:cs typeface="BIZ UDPゴシック"/>
            </a:endParaRPr>
          </a:p>
          <a:p>
            <a:pPr marL="12700" marR="71755">
              <a:lnSpc>
                <a:spcPct val="131900"/>
              </a:lnSpc>
              <a:spcBef>
                <a:spcPts val="845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安⼼感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よさ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じさせます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オキ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トシンの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促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すと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えられています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スキンシップがなくても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だけで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絆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じられるのです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⽇常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での</a:t>
            </a:r>
            <a:r>
              <a:rPr sz="1450" b="1" spc="-110" dirty="0">
                <a:solidFill>
                  <a:srgbClr val="2D5926"/>
                </a:solidFill>
                <a:latin typeface="メイリオ"/>
                <a:cs typeface="メイリオ"/>
              </a:rPr>
              <a:t>活⽤法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きたら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いてリラックス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75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50"/>
            <a:ext cx="7063105" cy="1229360"/>
            <a:chOff x="352425" y="352350"/>
            <a:chExt cx="7063105" cy="1229360"/>
          </a:xfrm>
        </p:grpSpPr>
        <p:sp>
          <p:nvSpPr>
            <p:cNvPr id="3" name="object 3"/>
            <p:cNvSpPr/>
            <p:nvPr/>
          </p:nvSpPr>
          <p:spPr>
            <a:xfrm>
              <a:off x="376237" y="352383"/>
              <a:ext cx="7038975" cy="1224280"/>
            </a:xfrm>
            <a:custGeom>
              <a:avLst/>
              <a:gdLst/>
              <a:ahLst/>
              <a:cxnLst/>
              <a:rect l="l" t="t" r="r" b="b"/>
              <a:pathLst>
                <a:path w="7038975" h="1224280">
                  <a:moveTo>
                    <a:pt x="6936628" y="1223886"/>
                  </a:moveTo>
                  <a:lnTo>
                    <a:pt x="84545" y="1223886"/>
                  </a:lnTo>
                  <a:lnTo>
                    <a:pt x="78661" y="1223219"/>
                  </a:lnTo>
                  <a:lnTo>
                    <a:pt x="35275" y="1201492"/>
                  </a:lnTo>
                  <a:lnTo>
                    <a:pt x="11948" y="1169193"/>
                  </a:lnTo>
                  <a:lnTo>
                    <a:pt x="579" y="1128712"/>
                  </a:lnTo>
                  <a:lnTo>
                    <a:pt x="0" y="1121644"/>
                  </a:lnTo>
                  <a:lnTo>
                    <a:pt x="0" y="1114424"/>
                  </a:lnTo>
                  <a:lnTo>
                    <a:pt x="0" y="0"/>
                  </a:lnTo>
                  <a:lnTo>
                    <a:pt x="7038974" y="0"/>
                  </a:lnTo>
                  <a:lnTo>
                    <a:pt x="7038973" y="1121644"/>
                  </a:lnTo>
                  <a:lnTo>
                    <a:pt x="7027882" y="1162869"/>
                  </a:lnTo>
                  <a:lnTo>
                    <a:pt x="7001805" y="1196949"/>
                  </a:lnTo>
                  <a:lnTo>
                    <a:pt x="6964709" y="1218304"/>
                  </a:lnTo>
                  <a:lnTo>
                    <a:pt x="6943752" y="1223219"/>
                  </a:lnTo>
                  <a:lnTo>
                    <a:pt x="6936628" y="1223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61"/>
              <a:ext cx="6999605" cy="1229360"/>
            </a:xfrm>
            <a:custGeom>
              <a:avLst/>
              <a:gdLst/>
              <a:ahLst/>
              <a:cxnLst/>
              <a:rect l="l" t="t" r="r" b="b"/>
              <a:pathLst>
                <a:path w="6999605" h="1229360">
                  <a:moveTo>
                    <a:pt x="6999071" y="0"/>
                  </a:moveTo>
                  <a:lnTo>
                    <a:pt x="6995795" y="0"/>
                  </a:lnTo>
                  <a:lnTo>
                    <a:pt x="6995795" y="1114463"/>
                  </a:lnTo>
                  <a:lnTo>
                    <a:pt x="6995300" y="1124788"/>
                  </a:lnTo>
                  <a:lnTo>
                    <a:pt x="6983412" y="1163904"/>
                  </a:lnTo>
                  <a:lnTo>
                    <a:pt x="6964616" y="1188999"/>
                  </a:lnTo>
                  <a:lnTo>
                    <a:pt x="6931126" y="1211287"/>
                  </a:lnTo>
                  <a:lnTo>
                    <a:pt x="6891020" y="1219263"/>
                  </a:lnTo>
                  <a:lnTo>
                    <a:pt x="52082" y="1219263"/>
                  </a:lnTo>
                  <a:lnTo>
                    <a:pt x="26085" y="1210932"/>
                  </a:lnTo>
                  <a:lnTo>
                    <a:pt x="0" y="1216152"/>
                  </a:lnTo>
                  <a:lnTo>
                    <a:pt x="40817" y="1228242"/>
                  </a:lnTo>
                  <a:lnTo>
                    <a:pt x="52082" y="1228788"/>
                  </a:lnTo>
                  <a:lnTo>
                    <a:pt x="6891020" y="1228788"/>
                  </a:lnTo>
                  <a:lnTo>
                    <a:pt x="6934771" y="1220089"/>
                  </a:lnTo>
                  <a:lnTo>
                    <a:pt x="6936511" y="1219263"/>
                  </a:lnTo>
                  <a:lnTo>
                    <a:pt x="6944957" y="1215275"/>
                  </a:lnTo>
                  <a:lnTo>
                    <a:pt x="6954545" y="1209548"/>
                  </a:lnTo>
                  <a:lnTo>
                    <a:pt x="6963499" y="1202893"/>
                  </a:lnTo>
                  <a:lnTo>
                    <a:pt x="6971843" y="1195311"/>
                  </a:lnTo>
                  <a:lnTo>
                    <a:pt x="6972300" y="1194816"/>
                  </a:lnTo>
                  <a:lnTo>
                    <a:pt x="6979425" y="1186942"/>
                  </a:lnTo>
                  <a:lnTo>
                    <a:pt x="6986079" y="1177975"/>
                  </a:lnTo>
                  <a:lnTo>
                    <a:pt x="6991807" y="1168400"/>
                  </a:lnTo>
                  <a:lnTo>
                    <a:pt x="6996620" y="1158201"/>
                  </a:lnTo>
                  <a:lnTo>
                    <a:pt x="6999071" y="1151369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50"/>
              <a:ext cx="88900" cy="1216660"/>
            </a:xfrm>
            <a:custGeom>
              <a:avLst/>
              <a:gdLst/>
              <a:ahLst/>
              <a:cxnLst/>
              <a:rect l="l" t="t" r="r" b="b"/>
              <a:pathLst>
                <a:path w="88900" h="1216660">
                  <a:moveTo>
                    <a:pt x="62522" y="1216273"/>
                  </a:moveTo>
                  <a:lnTo>
                    <a:pt x="25900" y="1186942"/>
                  </a:lnTo>
                  <a:lnTo>
                    <a:pt x="4894" y="1147596"/>
                  </a:lnTo>
                  <a:lnTo>
                    <a:pt x="0" y="1114466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1114466"/>
                  </a:lnTo>
                  <a:lnTo>
                    <a:pt x="47942" y="1124787"/>
                  </a:lnTo>
                  <a:lnTo>
                    <a:pt x="55506" y="1163907"/>
                  </a:lnTo>
                  <a:lnTo>
                    <a:pt x="77250" y="1201600"/>
                  </a:lnTo>
                  <a:lnTo>
                    <a:pt x="88528" y="1211076"/>
                  </a:lnTo>
                  <a:lnTo>
                    <a:pt x="62522" y="1216273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352392"/>
              <a:ext cx="6438899" cy="933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78558" y="483528"/>
            <a:ext cx="245364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67665" marR="5080" indent="-355600">
              <a:lnSpc>
                <a:spcPct val="134300"/>
              </a:lnSpc>
              <a:spcBef>
                <a:spcPts val="60"/>
              </a:spcBef>
            </a:pP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オキシトシンを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増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やす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⾳源</a:t>
            </a:r>
            <a:r>
              <a:rPr sz="1350" spc="-15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登録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者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76</a:t>
            </a:fld>
            <a:r>
              <a:rPr spc="-10" dirty="0"/>
              <a:t>/135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1"/>
            <a:ext cx="7063105" cy="8715375"/>
            <a:chOff x="352425" y="352421"/>
            <a:chExt cx="7063105" cy="8715375"/>
          </a:xfrm>
        </p:grpSpPr>
        <p:sp>
          <p:nvSpPr>
            <p:cNvPr id="3" name="object 3"/>
            <p:cNvSpPr/>
            <p:nvPr/>
          </p:nvSpPr>
          <p:spPr>
            <a:xfrm>
              <a:off x="376237" y="357221"/>
              <a:ext cx="7038975" cy="8705850"/>
            </a:xfrm>
            <a:custGeom>
              <a:avLst/>
              <a:gdLst/>
              <a:ahLst/>
              <a:cxnLst/>
              <a:rect l="l" t="t" r="r" b="b"/>
              <a:pathLst>
                <a:path w="7038975" h="8705850">
                  <a:moveTo>
                    <a:pt x="6936628" y="8705773"/>
                  </a:moveTo>
                  <a:lnTo>
                    <a:pt x="84545" y="8705773"/>
                  </a:lnTo>
                  <a:lnTo>
                    <a:pt x="78661" y="8705030"/>
                  </a:lnTo>
                  <a:lnTo>
                    <a:pt x="35275" y="8683151"/>
                  </a:lnTo>
                  <a:lnTo>
                    <a:pt x="11948" y="8650928"/>
                  </a:lnTo>
                  <a:lnTo>
                    <a:pt x="579" y="8610523"/>
                  </a:lnTo>
                  <a:lnTo>
                    <a:pt x="0" y="8603455"/>
                  </a:lnTo>
                  <a:lnTo>
                    <a:pt x="0" y="8596235"/>
                  </a:lnTo>
                  <a:lnTo>
                    <a:pt x="0" y="102241"/>
                  </a:lnTo>
                  <a:lnTo>
                    <a:pt x="9161" y="60864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6985"/>
                  </a:lnTo>
                  <a:lnTo>
                    <a:pt x="7033387" y="74114"/>
                  </a:lnTo>
                  <a:lnTo>
                    <a:pt x="7038973" y="102241"/>
                  </a:lnTo>
                  <a:lnTo>
                    <a:pt x="7038973" y="8603455"/>
                  </a:lnTo>
                  <a:lnTo>
                    <a:pt x="7027882" y="8644679"/>
                  </a:lnTo>
                  <a:lnTo>
                    <a:pt x="7001805" y="8678607"/>
                  </a:lnTo>
                  <a:lnTo>
                    <a:pt x="6964709" y="8700115"/>
                  </a:lnTo>
                  <a:lnTo>
                    <a:pt x="6943752" y="8705030"/>
                  </a:lnTo>
                  <a:lnTo>
                    <a:pt x="6936628" y="87057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8715375"/>
            </a:xfrm>
            <a:custGeom>
              <a:avLst/>
              <a:gdLst/>
              <a:ahLst/>
              <a:cxnLst/>
              <a:rect l="l" t="t" r="r" b="b"/>
              <a:pathLst>
                <a:path w="6999605" h="8715375">
                  <a:moveTo>
                    <a:pt x="6999071" y="77368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8601050"/>
                  </a:lnTo>
                  <a:lnTo>
                    <a:pt x="6987819" y="8641143"/>
                  </a:lnTo>
                  <a:lnTo>
                    <a:pt x="6965112" y="8675129"/>
                  </a:lnTo>
                  <a:lnTo>
                    <a:pt x="6931126" y="8697874"/>
                  </a:lnTo>
                  <a:lnTo>
                    <a:pt x="6891020" y="8705850"/>
                  </a:lnTo>
                  <a:lnTo>
                    <a:pt x="52082" y="8705850"/>
                  </a:lnTo>
                  <a:lnTo>
                    <a:pt x="26085" y="8697519"/>
                  </a:lnTo>
                  <a:lnTo>
                    <a:pt x="0" y="8702738"/>
                  </a:lnTo>
                  <a:lnTo>
                    <a:pt x="40817" y="8714829"/>
                  </a:lnTo>
                  <a:lnTo>
                    <a:pt x="52082" y="8715375"/>
                  </a:lnTo>
                  <a:lnTo>
                    <a:pt x="6891020" y="8715375"/>
                  </a:lnTo>
                  <a:lnTo>
                    <a:pt x="6934771" y="8706675"/>
                  </a:lnTo>
                  <a:lnTo>
                    <a:pt x="6936511" y="8705850"/>
                  </a:lnTo>
                  <a:lnTo>
                    <a:pt x="6944957" y="8701862"/>
                  </a:lnTo>
                  <a:lnTo>
                    <a:pt x="6954545" y="8696134"/>
                  </a:lnTo>
                  <a:lnTo>
                    <a:pt x="6963499" y="8689480"/>
                  </a:lnTo>
                  <a:lnTo>
                    <a:pt x="6971843" y="8681898"/>
                  </a:lnTo>
                  <a:lnTo>
                    <a:pt x="6972300" y="8681402"/>
                  </a:lnTo>
                  <a:lnTo>
                    <a:pt x="6979425" y="8673528"/>
                  </a:lnTo>
                  <a:lnTo>
                    <a:pt x="6986079" y="8664562"/>
                  </a:lnTo>
                  <a:lnTo>
                    <a:pt x="6991807" y="8654986"/>
                  </a:lnTo>
                  <a:lnTo>
                    <a:pt x="6996620" y="8644788"/>
                  </a:lnTo>
                  <a:lnTo>
                    <a:pt x="6999071" y="863795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6"/>
              <a:ext cx="88900" cy="8690610"/>
            </a:xfrm>
            <a:custGeom>
              <a:avLst/>
              <a:gdLst/>
              <a:ahLst/>
              <a:cxnLst/>
              <a:rect l="l" t="t" r="r" b="b"/>
              <a:pathLst>
                <a:path w="88900" h="8690610">
                  <a:moveTo>
                    <a:pt x="62523" y="8690386"/>
                  </a:moveTo>
                  <a:lnTo>
                    <a:pt x="25900" y="8661055"/>
                  </a:lnTo>
                  <a:lnTo>
                    <a:pt x="4894" y="8621709"/>
                  </a:lnTo>
                  <a:lnTo>
                    <a:pt x="0" y="85885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588580"/>
                  </a:lnTo>
                  <a:lnTo>
                    <a:pt x="52700" y="8628675"/>
                  </a:lnTo>
                  <a:lnTo>
                    <a:pt x="72022" y="8669612"/>
                  </a:lnTo>
                  <a:lnTo>
                    <a:pt x="88530" y="8685189"/>
                  </a:lnTo>
                  <a:lnTo>
                    <a:pt x="62523" y="86903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3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99"/>
                  </a:lnTo>
                  <a:lnTo>
                    <a:pt x="29705" y="822493"/>
                  </a:lnTo>
                  <a:lnTo>
                    <a:pt x="3885" y="786402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066"/>
                  </a:lnTo>
                  <a:lnTo>
                    <a:pt x="15621" y="29537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15"/>
                  </a:lnTo>
                  <a:lnTo>
                    <a:pt x="6438899" y="71066"/>
                  </a:lnTo>
                  <a:lnTo>
                    <a:pt x="6438899" y="766905"/>
                  </a:lnTo>
                  <a:lnTo>
                    <a:pt x="6423277" y="808434"/>
                  </a:lnTo>
                  <a:lnTo>
                    <a:pt x="6387236" y="834104"/>
                  </a:lnTo>
                  <a:lnTo>
                    <a:pt x="6372658" y="837599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676857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676861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28575" y="1028700"/>
                  </a:moveTo>
                  <a:lnTo>
                    <a:pt x="0" y="1028700"/>
                  </a:lnTo>
                  <a:lnTo>
                    <a:pt x="0" y="1323975"/>
                  </a:lnTo>
                  <a:lnTo>
                    <a:pt x="28575" y="1323975"/>
                  </a:lnTo>
                  <a:lnTo>
                    <a:pt x="28575" y="1028700"/>
                  </a:lnTo>
                  <a:close/>
                </a:path>
                <a:path w="38100" h="1323975">
                  <a:moveTo>
                    <a:pt x="381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8100" y="838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839042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74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307"/>
                  </a:lnTo>
                  <a:lnTo>
                    <a:pt x="51663" y="377139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66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626"/>
                  </a:lnTo>
                  <a:lnTo>
                    <a:pt x="1012875" y="75311"/>
                  </a:lnTo>
                  <a:lnTo>
                    <a:pt x="981087" y="47840"/>
                  </a:lnTo>
                  <a:lnTo>
                    <a:pt x="943584" y="28968"/>
                  </a:lnTo>
                  <a:lnTo>
                    <a:pt x="902639" y="19900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204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689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95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457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04"/>
                  </a:lnTo>
                  <a:lnTo>
                    <a:pt x="966647" y="341579"/>
                  </a:lnTo>
                  <a:lnTo>
                    <a:pt x="1000963" y="317449"/>
                  </a:lnTo>
                  <a:lnTo>
                    <a:pt x="1028382" y="285673"/>
                  </a:lnTo>
                  <a:lnTo>
                    <a:pt x="1047267" y="248183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13318"/>
            <a:ext cx="6461760" cy="689673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7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⽇本⼈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四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季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愛</a:t>
            </a:r>
            <a:r>
              <a:rPr sz="1750" b="1" spc="-215" dirty="0">
                <a:solidFill>
                  <a:srgbClr val="333333"/>
                </a:solidFill>
                <a:latin typeface="BIZ UDPゴシック"/>
                <a:cs typeface="BIZ UDPゴシック"/>
              </a:rPr>
              <a:t>でる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関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21590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「⾳楽」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として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季節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じる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。⽇本⼈特有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190" dirty="0">
                <a:solidFill>
                  <a:srgbClr val="333333"/>
                </a:solidFill>
                <a:latin typeface="メイリオ"/>
                <a:cs typeface="メイリオ"/>
              </a:rPr>
              <a:t>どのように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育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まれてきたのでしょうか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⻄洋</a:t>
            </a: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と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⽇本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の違い</a:t>
            </a:r>
            <a:endParaRPr sz="1450">
              <a:latin typeface="BIZ UDPゴシック"/>
              <a:cs typeface="BIZ UDPゴシック"/>
            </a:endParaRPr>
          </a:p>
          <a:p>
            <a:pPr marL="12700" marR="49530" algn="just">
              <a:lnSpc>
                <a:spcPct val="131900"/>
              </a:lnSpc>
              <a:spcBef>
                <a:spcPts val="84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⻄洋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はコントロ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ルするもの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⼀般的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楽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純化</a:t>
            </a:r>
            <a:r>
              <a:rPr sz="1300" spc="-944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明瞭度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重視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追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求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してきました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⼀⽅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調和</a:t>
            </a:r>
            <a:r>
              <a:rPr sz="1350" spc="-140" dirty="0">
                <a:solidFill>
                  <a:srgbClr val="333333"/>
                </a:solidFill>
                <a:latin typeface="SimSun"/>
                <a:cs typeface="SimSun"/>
              </a:rPr>
              <a:t>するもの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えが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根付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いています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⽇本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伝統楽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器の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特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徴</a:t>
            </a:r>
            <a:endParaRPr sz="1450">
              <a:latin typeface="BIZ UDPゴシック"/>
              <a:cs typeface="BIZ UDPゴシック"/>
            </a:endParaRPr>
          </a:p>
          <a:p>
            <a:pPr marL="12700" marR="73660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尺⼋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琵琶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三味線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などの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伝統楽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特性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っています</a:t>
            </a:r>
            <a:r>
              <a:rPr sz="1300" spc="430" dirty="0">
                <a:solidFill>
                  <a:srgbClr val="333333"/>
                </a:solidFill>
                <a:latin typeface="BIZ UDPゴシック"/>
                <a:cs typeface="BIZ UDPゴシック"/>
              </a:rPr>
              <a:t>。「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つよりも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融合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⼤切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りにくい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喋⾳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重視</a:t>
            </a:r>
            <a:r>
              <a:rPr sz="1350" spc="-150" dirty="0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これは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つ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複雑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さに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いものです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93040" marR="182245">
              <a:lnSpc>
                <a:spcPct val="1343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楽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特性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かして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発展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していることは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335" dirty="0">
                <a:solidFill>
                  <a:srgbClr val="333333"/>
                </a:solidFill>
                <a:latin typeface="メイリオ"/>
                <a:cs typeface="メイリオ"/>
              </a:rPr>
              <a:t>聴覚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よいと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表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れているようです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現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代に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活</a:t>
            </a: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かす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34300"/>
              </a:lnSpc>
              <a:spcBef>
                <a:spcPts val="730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忙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現代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習慣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つことで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350" spc="-110" dirty="0">
                <a:solidFill>
                  <a:srgbClr val="333333"/>
                </a:solidFill>
                <a:latin typeface="Comic Sans MS"/>
                <a:cs typeface="Comic Sans MS"/>
              </a:rPr>
              <a:t>DNA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刻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まれた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感性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覚</a:t>
            </a:r>
            <a:r>
              <a:rPr sz="1350" spc="-580" dirty="0">
                <a:solidFill>
                  <a:srgbClr val="333333"/>
                </a:solidFill>
                <a:latin typeface="SimSun"/>
                <a:cs typeface="SimSun"/>
              </a:rPr>
              <a:t>ま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                                    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すことができます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それは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単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なるリラックス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以上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につながるのです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77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85281" y="7970178"/>
            <a:ext cx="20402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92710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⽇本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四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季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じる</a:t>
            </a:r>
            <a:r>
              <a:rPr sz="1300" spc="-90" dirty="0">
                <a:solidFill>
                  <a:srgbClr val="FFFFFF"/>
                </a:solidFill>
                <a:latin typeface="メイリオ"/>
                <a:cs typeface="メイリオ"/>
              </a:rPr>
              <a:t>⾃然⾳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サンプル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⾳源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を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2"/>
            <a:ext cx="7063105" cy="9277350"/>
            <a:chOff x="352425" y="352422"/>
            <a:chExt cx="7063105" cy="9277350"/>
          </a:xfrm>
        </p:grpSpPr>
        <p:sp>
          <p:nvSpPr>
            <p:cNvPr id="3" name="object 3"/>
            <p:cNvSpPr/>
            <p:nvPr/>
          </p:nvSpPr>
          <p:spPr>
            <a:xfrm>
              <a:off x="376237" y="357145"/>
              <a:ext cx="7038975" cy="9267825"/>
            </a:xfrm>
            <a:custGeom>
              <a:avLst/>
              <a:gdLst/>
              <a:ahLst/>
              <a:cxnLst/>
              <a:rect l="l" t="t" r="r" b="b"/>
              <a:pathLst>
                <a:path w="7038975" h="9267825">
                  <a:moveTo>
                    <a:pt x="6936628" y="9267824"/>
                  </a:moveTo>
                  <a:lnTo>
                    <a:pt x="84545" y="9267824"/>
                  </a:lnTo>
                  <a:lnTo>
                    <a:pt x="78661" y="9267081"/>
                  </a:lnTo>
                  <a:lnTo>
                    <a:pt x="35275" y="9245354"/>
                  </a:lnTo>
                  <a:lnTo>
                    <a:pt x="11948" y="9213131"/>
                  </a:lnTo>
                  <a:lnTo>
                    <a:pt x="579" y="9172498"/>
                  </a:lnTo>
                  <a:lnTo>
                    <a:pt x="0" y="9165430"/>
                  </a:lnTo>
                  <a:lnTo>
                    <a:pt x="0" y="91582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9165430"/>
                  </a:lnTo>
                  <a:lnTo>
                    <a:pt x="7027882" y="9206807"/>
                  </a:lnTo>
                  <a:lnTo>
                    <a:pt x="7001805" y="9240811"/>
                  </a:lnTo>
                  <a:lnTo>
                    <a:pt x="6964709" y="9262166"/>
                  </a:lnTo>
                  <a:lnTo>
                    <a:pt x="6943752" y="9267081"/>
                  </a:lnTo>
                  <a:lnTo>
                    <a:pt x="6936628" y="926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9277350"/>
            </a:xfrm>
            <a:custGeom>
              <a:avLst/>
              <a:gdLst/>
              <a:ahLst/>
              <a:cxnLst/>
              <a:rect l="l" t="t" r="r" b="b"/>
              <a:pathLst>
                <a:path w="6999605" h="9277350">
                  <a:moveTo>
                    <a:pt x="6999071" y="77368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9163025"/>
                  </a:lnTo>
                  <a:lnTo>
                    <a:pt x="6987819" y="9203118"/>
                  </a:lnTo>
                  <a:lnTo>
                    <a:pt x="6965112" y="9237104"/>
                  </a:lnTo>
                  <a:lnTo>
                    <a:pt x="6931126" y="9259849"/>
                  </a:lnTo>
                  <a:lnTo>
                    <a:pt x="6891020" y="9267825"/>
                  </a:lnTo>
                  <a:lnTo>
                    <a:pt x="52082" y="9267825"/>
                  </a:lnTo>
                  <a:lnTo>
                    <a:pt x="26085" y="9259494"/>
                  </a:lnTo>
                  <a:lnTo>
                    <a:pt x="0" y="9264713"/>
                  </a:lnTo>
                  <a:lnTo>
                    <a:pt x="40817" y="9276804"/>
                  </a:lnTo>
                  <a:lnTo>
                    <a:pt x="52082" y="9277350"/>
                  </a:lnTo>
                  <a:lnTo>
                    <a:pt x="6891020" y="9277350"/>
                  </a:lnTo>
                  <a:lnTo>
                    <a:pt x="6934771" y="9268650"/>
                  </a:lnTo>
                  <a:lnTo>
                    <a:pt x="6936511" y="9267825"/>
                  </a:lnTo>
                  <a:lnTo>
                    <a:pt x="6944957" y="9263837"/>
                  </a:lnTo>
                  <a:lnTo>
                    <a:pt x="6954545" y="9258109"/>
                  </a:lnTo>
                  <a:lnTo>
                    <a:pt x="6963499" y="9251455"/>
                  </a:lnTo>
                  <a:lnTo>
                    <a:pt x="6971843" y="9243873"/>
                  </a:lnTo>
                  <a:lnTo>
                    <a:pt x="6972300" y="9243377"/>
                  </a:lnTo>
                  <a:lnTo>
                    <a:pt x="6979425" y="9235503"/>
                  </a:lnTo>
                  <a:lnTo>
                    <a:pt x="6986079" y="9226537"/>
                  </a:lnTo>
                  <a:lnTo>
                    <a:pt x="6991807" y="9216961"/>
                  </a:lnTo>
                  <a:lnTo>
                    <a:pt x="6996620" y="9206763"/>
                  </a:lnTo>
                  <a:lnTo>
                    <a:pt x="6999071" y="9199931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7"/>
              <a:ext cx="88900" cy="9252585"/>
            </a:xfrm>
            <a:custGeom>
              <a:avLst/>
              <a:gdLst/>
              <a:ahLst/>
              <a:cxnLst/>
              <a:rect l="l" t="t" r="r" b="b"/>
              <a:pathLst>
                <a:path w="88900" h="9252585">
                  <a:moveTo>
                    <a:pt x="62523" y="9252361"/>
                  </a:moveTo>
                  <a:lnTo>
                    <a:pt x="25900" y="9223031"/>
                  </a:lnTo>
                  <a:lnTo>
                    <a:pt x="4894" y="9183684"/>
                  </a:lnTo>
                  <a:lnTo>
                    <a:pt x="0" y="91505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9150555"/>
                  </a:lnTo>
                  <a:lnTo>
                    <a:pt x="52700" y="9190649"/>
                  </a:lnTo>
                  <a:lnTo>
                    <a:pt x="72022" y="9231587"/>
                  </a:lnTo>
                  <a:lnTo>
                    <a:pt x="88529" y="9247165"/>
                  </a:lnTo>
                  <a:lnTo>
                    <a:pt x="62523" y="925236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7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510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5681619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6362626" y="1123949"/>
                  </a:moveTo>
                  <a:lnTo>
                    <a:pt x="66746" y="1123949"/>
                  </a:lnTo>
                  <a:lnTo>
                    <a:pt x="62101" y="1123426"/>
                  </a:lnTo>
                  <a:lnTo>
                    <a:pt x="24240" y="1106309"/>
                  </a:lnTo>
                  <a:lnTo>
                    <a:pt x="2287" y="1070971"/>
                  </a:lnTo>
                  <a:lnTo>
                    <a:pt x="0" y="1057198"/>
                  </a:lnTo>
                  <a:lnTo>
                    <a:pt x="0" y="1052512"/>
                  </a:lnTo>
                  <a:lnTo>
                    <a:pt x="0" y="66751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751"/>
                  </a:lnTo>
                  <a:lnTo>
                    <a:pt x="6429373" y="1057198"/>
                  </a:lnTo>
                  <a:lnTo>
                    <a:pt x="6414728" y="1096041"/>
                  </a:lnTo>
                  <a:lnTo>
                    <a:pt x="6380940" y="1120225"/>
                  </a:lnTo>
                  <a:lnTo>
                    <a:pt x="6367272" y="1123426"/>
                  </a:lnTo>
                  <a:lnTo>
                    <a:pt x="6362626" y="1123949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5681619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0" y="105251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9433" y="35499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7086" y="52758"/>
                  </a:lnTo>
                  <a:lnTo>
                    <a:pt x="6428001" y="57445"/>
                  </a:lnTo>
                  <a:lnTo>
                    <a:pt x="6428916" y="62064"/>
                  </a:lnTo>
                  <a:lnTo>
                    <a:pt x="6429373" y="66751"/>
                  </a:lnTo>
                  <a:lnTo>
                    <a:pt x="6429374" y="71437"/>
                  </a:lnTo>
                  <a:lnTo>
                    <a:pt x="6429374" y="1052512"/>
                  </a:lnTo>
                  <a:lnTo>
                    <a:pt x="6429373" y="1057198"/>
                  </a:lnTo>
                  <a:lnTo>
                    <a:pt x="6428916" y="1061818"/>
                  </a:lnTo>
                  <a:lnTo>
                    <a:pt x="6428001" y="1066352"/>
                  </a:lnTo>
                  <a:lnTo>
                    <a:pt x="6427086" y="1070971"/>
                  </a:lnTo>
                  <a:lnTo>
                    <a:pt x="6405133" y="1106309"/>
                  </a:lnTo>
                  <a:lnTo>
                    <a:pt x="6397625" y="1111748"/>
                  </a:lnTo>
                  <a:lnTo>
                    <a:pt x="6393724" y="1114348"/>
                  </a:lnTo>
                  <a:lnTo>
                    <a:pt x="6389607" y="1116587"/>
                  </a:lnTo>
                  <a:lnTo>
                    <a:pt x="6385274" y="1118368"/>
                  </a:lnTo>
                  <a:lnTo>
                    <a:pt x="6380940" y="1120225"/>
                  </a:lnTo>
                  <a:lnTo>
                    <a:pt x="6376473" y="1121568"/>
                  </a:lnTo>
                  <a:lnTo>
                    <a:pt x="6371872" y="1122464"/>
                  </a:lnTo>
                  <a:lnTo>
                    <a:pt x="6367272" y="1123426"/>
                  </a:lnTo>
                  <a:lnTo>
                    <a:pt x="6362626" y="1123949"/>
                  </a:lnTo>
                  <a:lnTo>
                    <a:pt x="6357937" y="1123949"/>
                  </a:lnTo>
                  <a:lnTo>
                    <a:pt x="71437" y="1123949"/>
                  </a:lnTo>
                  <a:lnTo>
                    <a:pt x="66746" y="1123949"/>
                  </a:lnTo>
                  <a:lnTo>
                    <a:pt x="62101" y="1123426"/>
                  </a:lnTo>
                  <a:lnTo>
                    <a:pt x="57500" y="1122464"/>
                  </a:lnTo>
                  <a:lnTo>
                    <a:pt x="52900" y="1121568"/>
                  </a:lnTo>
                  <a:lnTo>
                    <a:pt x="48433" y="1120225"/>
                  </a:lnTo>
                  <a:lnTo>
                    <a:pt x="44099" y="1118368"/>
                  </a:lnTo>
                  <a:lnTo>
                    <a:pt x="39765" y="1116587"/>
                  </a:lnTo>
                  <a:lnTo>
                    <a:pt x="9433" y="1088231"/>
                  </a:lnTo>
                  <a:lnTo>
                    <a:pt x="1372" y="1066352"/>
                  </a:lnTo>
                  <a:lnTo>
                    <a:pt x="457" y="1061818"/>
                  </a:lnTo>
                  <a:lnTo>
                    <a:pt x="0" y="1057198"/>
                  </a:lnTo>
                  <a:lnTo>
                    <a:pt x="0" y="105251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7000831"/>
              <a:ext cx="28575" cy="295275"/>
            </a:xfrm>
            <a:custGeom>
              <a:avLst/>
              <a:gdLst/>
              <a:ahLst/>
              <a:cxnLst/>
              <a:rect l="l" t="t" r="r" b="b"/>
              <a:pathLst>
                <a:path w="28575" h="295275">
                  <a:moveTo>
                    <a:pt x="2857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52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8410542"/>
              <a:ext cx="6438899" cy="9239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650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698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05"/>
                  </a:lnTo>
                  <a:lnTo>
                    <a:pt x="1037043" y="109639"/>
                  </a:lnTo>
                  <a:lnTo>
                    <a:pt x="1012875" y="75311"/>
                  </a:lnTo>
                  <a:lnTo>
                    <a:pt x="981087" y="47917"/>
                  </a:lnTo>
                  <a:lnTo>
                    <a:pt x="943584" y="29006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218"/>
                  </a:lnTo>
                  <a:lnTo>
                    <a:pt x="614514" y="39204"/>
                  </a:lnTo>
                  <a:lnTo>
                    <a:pt x="580199" y="63398"/>
                  </a:lnTo>
                  <a:lnTo>
                    <a:pt x="552780" y="95173"/>
                  </a:lnTo>
                  <a:lnTo>
                    <a:pt x="533895" y="132740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71"/>
                  </a:lnTo>
                  <a:lnTo>
                    <a:pt x="548271" y="278587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79"/>
                  </a:lnTo>
                  <a:lnTo>
                    <a:pt x="1000963" y="317411"/>
                  </a:lnTo>
                  <a:lnTo>
                    <a:pt x="1028382" y="285673"/>
                  </a:lnTo>
                  <a:lnTo>
                    <a:pt x="1047267" y="248234"/>
                  </a:lnTo>
                  <a:lnTo>
                    <a:pt x="1056462" y="207302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13318"/>
            <a:ext cx="6459855" cy="74695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8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50" b="1" spc="-40" dirty="0">
                <a:solidFill>
                  <a:srgbClr val="333333"/>
                </a:solidFill>
                <a:latin typeface="BIZ UDPゴシック"/>
                <a:cs typeface="BIZ UDPゴシック"/>
              </a:rPr>
              <a:t>ストレス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社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き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抜</a:t>
            </a:r>
            <a:r>
              <a:rPr sz="1750" b="1" dirty="0">
                <a:solidFill>
                  <a:srgbClr val="333333"/>
                </a:solidFill>
                <a:latin typeface="BIZ UDPゴシック"/>
                <a:cs typeface="BIZ UDPゴシック"/>
              </a:rPr>
              <a:t>く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ったセルフケア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25209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仕事、⼈間関係、将来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への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不安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ストレスを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になくすことは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っ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たセルフケアで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「回復⼒」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めることはできます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現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代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⼈</a:t>
            </a:r>
            <a:r>
              <a:rPr sz="1450" b="1" spc="-35" dirty="0">
                <a:solidFill>
                  <a:srgbClr val="2D5926"/>
                </a:solidFill>
                <a:latin typeface="BIZ UDPゴシック"/>
                <a:cs typeface="BIZ UDPゴシック"/>
              </a:rPr>
              <a:t>のストレス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事情</a:t>
            </a:r>
            <a:endParaRPr sz="1450">
              <a:latin typeface="メイリオ"/>
              <a:cs typeface="メイリオ"/>
            </a:endParaRPr>
          </a:p>
          <a:p>
            <a:pPr marL="12700" marR="5080">
              <a:lnSpc>
                <a:spcPct val="131900"/>
              </a:lnSpc>
              <a:spcBef>
                <a:spcPts val="840"/>
              </a:spcBef>
            </a:pP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18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歳以上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⽶国⼈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50" spc="-65" dirty="0">
                <a:solidFill>
                  <a:srgbClr val="333333"/>
                </a:solidFill>
                <a:latin typeface="Comic Sans MS"/>
                <a:cs typeface="Comic Sans MS"/>
              </a:rPr>
              <a:t>57%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⽣活習慣病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抱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えているというデ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タがあります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くがス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トレスに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因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しています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傾向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があり</a:t>
            </a:r>
            <a:r>
              <a:rPr sz="1300" spc="580" dirty="0">
                <a:solidFill>
                  <a:srgbClr val="333333"/>
                </a:solidFill>
                <a:latin typeface="BIZ UDPゴシック"/>
                <a:cs typeface="BIZ UDPゴシック"/>
              </a:rPr>
              <a:t>、「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重要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350" dirty="0">
                <a:solidFill>
                  <a:srgbClr val="333333"/>
                </a:solidFill>
                <a:latin typeface="SimSun"/>
                <a:cs typeface="SimSun"/>
              </a:rPr>
              <a:t>マにな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っています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55" dirty="0">
                <a:solidFill>
                  <a:srgbClr val="2D5926"/>
                </a:solidFill>
                <a:latin typeface="BIZ UDPゴシック"/>
                <a:cs typeface="BIZ UDPゴシック"/>
              </a:rPr>
              <a:t>がストレスに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効</a:t>
            </a:r>
            <a:r>
              <a:rPr sz="1450" b="1" spc="-65" dirty="0">
                <a:solidFill>
                  <a:srgbClr val="2D5926"/>
                </a:solidFill>
                <a:latin typeface="BIZ UDPゴシック"/>
                <a:cs typeface="BIZ UDPゴシック"/>
              </a:rPr>
              <a:t>くのか</a:t>
            </a:r>
            <a:endParaRPr sz="1450">
              <a:latin typeface="BIZ UDPゴシック"/>
              <a:cs typeface="BIZ UDPゴシック"/>
            </a:endParaRPr>
          </a:p>
          <a:p>
            <a:pPr marL="12700" marR="86995">
              <a:lnSpc>
                <a:spcPct val="131900"/>
              </a:lnSpc>
              <a:spcBef>
                <a:spcPts val="844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ストレスホルモン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せホルモン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525" dirty="0">
                <a:solidFill>
                  <a:srgbClr val="333333"/>
                </a:solidFill>
                <a:latin typeface="SimSun"/>
                <a:cs typeface="SimSun"/>
              </a:rPr>
              <a:t>オキ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シトシン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することが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されています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275" dirty="0">
                <a:solidFill>
                  <a:srgbClr val="333333"/>
                </a:solidFill>
                <a:latin typeface="SimSun"/>
                <a:cs typeface="SimSun"/>
              </a:rPr>
              <a:t>わず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副作⽤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もなく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内側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からストレスを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できるのです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理</a:t>
            </a:r>
            <a:r>
              <a:rPr sz="135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テストの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結</a:t>
            </a:r>
            <a:r>
              <a:rPr sz="1300" b="1" spc="-5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endParaRPr sz="1300">
              <a:latin typeface="メイリオ"/>
              <a:cs typeface="メイリオ"/>
            </a:endParaRPr>
          </a:p>
          <a:p>
            <a:pPr marL="164465" marR="208915">
              <a:lnSpc>
                <a:spcPct val="134300"/>
              </a:lnSpc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くことで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状態不安得点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37.7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点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26.1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点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30%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545" dirty="0">
                <a:solidFill>
                  <a:srgbClr val="333333"/>
                </a:solidFill>
                <a:latin typeface="メイリオ"/>
                <a:cs typeface="メイリオ"/>
              </a:rPr>
              <a:t>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されました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今⽇</a:t>
            </a:r>
            <a:r>
              <a:rPr sz="1450" b="1" spc="-135" dirty="0">
                <a:solidFill>
                  <a:srgbClr val="2D5926"/>
                </a:solidFill>
                <a:latin typeface="BIZ UDPゴシック"/>
                <a:cs typeface="BIZ UDPゴシック"/>
              </a:rPr>
              <a:t>からできる</a:t>
            </a:r>
            <a:r>
              <a:rPr sz="1550" b="1" dirty="0">
                <a:solidFill>
                  <a:srgbClr val="2D5926"/>
                </a:solidFill>
                <a:latin typeface="Comic Sans MS"/>
                <a:cs typeface="Comic Sans MS"/>
              </a:rPr>
              <a:t>3</a:t>
            </a:r>
            <a:r>
              <a:rPr sz="1450" b="1" spc="-35" dirty="0">
                <a:solidFill>
                  <a:srgbClr val="2D5926"/>
                </a:solidFill>
                <a:latin typeface="BIZ UDPゴシック"/>
                <a:cs typeface="BIZ UDPゴシック"/>
              </a:rPr>
              <a:t>ステップ</a:t>
            </a:r>
            <a:endParaRPr sz="1450">
              <a:latin typeface="BIZ UDPゴシック"/>
              <a:cs typeface="BIZ UDPゴシック"/>
            </a:endParaRPr>
          </a:p>
          <a:p>
            <a:pPr marL="200660" indent="-187960">
              <a:lnSpc>
                <a:spcPct val="100000"/>
              </a:lnSpc>
              <a:spcBef>
                <a:spcPts val="1265"/>
              </a:spcBef>
              <a:buSzPct val="103846"/>
              <a:buFont typeface="Comic Sans MS"/>
              <a:buAutoNum type="arabicPeriod"/>
              <a:tabLst>
                <a:tab pos="200660" algn="l"/>
              </a:tabLst>
            </a:pP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床時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⼩⿃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のさえずりで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endParaRPr sz="135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仕事中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のせせらぎを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就寝前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50" dirty="0">
                <a:solidFill>
                  <a:srgbClr val="333333"/>
                </a:solidFill>
                <a:latin typeface="SimSun"/>
                <a:cs typeface="SimSun"/>
              </a:rPr>
              <a:t>でリラックス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78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11772" y="8551018"/>
            <a:ext cx="1986914" cy="5549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63220" marR="5080" indent="-351155">
              <a:lnSpc>
                <a:spcPct val="129600"/>
              </a:lnSpc>
              <a:spcBef>
                <a:spcPts val="65"/>
              </a:spcBef>
            </a:pPr>
            <a:r>
              <a:rPr sz="1350" spc="-195" dirty="0">
                <a:solidFill>
                  <a:srgbClr val="FFFFFF"/>
                </a:solidFill>
                <a:latin typeface="SimSun"/>
                <a:cs typeface="SimSun"/>
              </a:rPr>
              <a:t>ストレスケア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⽤⾳源</a:t>
            </a:r>
            <a:r>
              <a:rPr sz="1350" spc="-15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6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3"/>
            <a:ext cx="7063105" cy="8982075"/>
            <a:chOff x="352425" y="352423"/>
            <a:chExt cx="7063105" cy="8982075"/>
          </a:xfrm>
        </p:grpSpPr>
        <p:sp>
          <p:nvSpPr>
            <p:cNvPr id="3" name="object 3"/>
            <p:cNvSpPr/>
            <p:nvPr/>
          </p:nvSpPr>
          <p:spPr>
            <a:xfrm>
              <a:off x="376237" y="357144"/>
              <a:ext cx="7038975" cy="8972550"/>
            </a:xfrm>
            <a:custGeom>
              <a:avLst/>
              <a:gdLst/>
              <a:ahLst/>
              <a:cxnLst/>
              <a:rect l="l" t="t" r="r" b="b"/>
              <a:pathLst>
                <a:path w="7038975" h="8972550">
                  <a:moveTo>
                    <a:pt x="6936628" y="8972473"/>
                  </a:moveTo>
                  <a:lnTo>
                    <a:pt x="84545" y="8972473"/>
                  </a:lnTo>
                  <a:lnTo>
                    <a:pt x="78661" y="8971730"/>
                  </a:lnTo>
                  <a:lnTo>
                    <a:pt x="35275" y="8950003"/>
                  </a:lnTo>
                  <a:lnTo>
                    <a:pt x="11948" y="8917780"/>
                  </a:lnTo>
                  <a:lnTo>
                    <a:pt x="579" y="8877223"/>
                  </a:lnTo>
                  <a:lnTo>
                    <a:pt x="0" y="8870079"/>
                  </a:lnTo>
                  <a:lnTo>
                    <a:pt x="0" y="886301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7012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870079"/>
                  </a:lnTo>
                  <a:lnTo>
                    <a:pt x="7027882" y="8911455"/>
                  </a:lnTo>
                  <a:lnTo>
                    <a:pt x="7001805" y="8945460"/>
                  </a:lnTo>
                  <a:lnTo>
                    <a:pt x="6964709" y="8966815"/>
                  </a:lnTo>
                  <a:lnTo>
                    <a:pt x="6943752" y="8971730"/>
                  </a:lnTo>
                  <a:lnTo>
                    <a:pt x="6936628" y="8972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8982075"/>
            </a:xfrm>
            <a:custGeom>
              <a:avLst/>
              <a:gdLst/>
              <a:ahLst/>
              <a:cxnLst/>
              <a:rect l="l" t="t" r="r" b="b"/>
              <a:pathLst>
                <a:path w="6999605" h="8982075">
                  <a:moveTo>
                    <a:pt x="6999071" y="77368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8867750"/>
                  </a:lnTo>
                  <a:lnTo>
                    <a:pt x="6987819" y="8907843"/>
                  </a:lnTo>
                  <a:lnTo>
                    <a:pt x="6965112" y="8941829"/>
                  </a:lnTo>
                  <a:lnTo>
                    <a:pt x="6931126" y="8964574"/>
                  </a:lnTo>
                  <a:lnTo>
                    <a:pt x="6891020" y="8972550"/>
                  </a:lnTo>
                  <a:lnTo>
                    <a:pt x="52082" y="8972550"/>
                  </a:lnTo>
                  <a:lnTo>
                    <a:pt x="26085" y="8964219"/>
                  </a:lnTo>
                  <a:lnTo>
                    <a:pt x="0" y="8969438"/>
                  </a:lnTo>
                  <a:lnTo>
                    <a:pt x="40817" y="8981529"/>
                  </a:lnTo>
                  <a:lnTo>
                    <a:pt x="52082" y="8982075"/>
                  </a:lnTo>
                  <a:lnTo>
                    <a:pt x="6891020" y="8982075"/>
                  </a:lnTo>
                  <a:lnTo>
                    <a:pt x="6934771" y="8973375"/>
                  </a:lnTo>
                  <a:lnTo>
                    <a:pt x="6936511" y="8972550"/>
                  </a:lnTo>
                  <a:lnTo>
                    <a:pt x="6944957" y="8968562"/>
                  </a:lnTo>
                  <a:lnTo>
                    <a:pt x="6954545" y="8962834"/>
                  </a:lnTo>
                  <a:lnTo>
                    <a:pt x="6963499" y="8956180"/>
                  </a:lnTo>
                  <a:lnTo>
                    <a:pt x="6971843" y="8948598"/>
                  </a:lnTo>
                  <a:lnTo>
                    <a:pt x="6972300" y="8948102"/>
                  </a:lnTo>
                  <a:lnTo>
                    <a:pt x="6979425" y="8940228"/>
                  </a:lnTo>
                  <a:lnTo>
                    <a:pt x="6986079" y="8931262"/>
                  </a:lnTo>
                  <a:lnTo>
                    <a:pt x="6991807" y="8921686"/>
                  </a:lnTo>
                  <a:lnTo>
                    <a:pt x="6996620" y="8911488"/>
                  </a:lnTo>
                  <a:lnTo>
                    <a:pt x="6999071" y="890465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7"/>
              <a:ext cx="88900" cy="8957310"/>
            </a:xfrm>
            <a:custGeom>
              <a:avLst/>
              <a:gdLst/>
              <a:ahLst/>
              <a:cxnLst/>
              <a:rect l="l" t="t" r="r" b="b"/>
              <a:pathLst>
                <a:path w="88900" h="8957310">
                  <a:moveTo>
                    <a:pt x="62524" y="8957086"/>
                  </a:moveTo>
                  <a:lnTo>
                    <a:pt x="25900" y="8927756"/>
                  </a:lnTo>
                  <a:lnTo>
                    <a:pt x="4894" y="8888409"/>
                  </a:lnTo>
                  <a:lnTo>
                    <a:pt x="0" y="88552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855280"/>
                  </a:lnTo>
                  <a:lnTo>
                    <a:pt x="52700" y="8895375"/>
                  </a:lnTo>
                  <a:lnTo>
                    <a:pt x="72022" y="8936312"/>
                  </a:lnTo>
                  <a:lnTo>
                    <a:pt x="88529" y="8951890"/>
                  </a:lnTo>
                  <a:lnTo>
                    <a:pt x="62524" y="89570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7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438275"/>
            </a:xfrm>
            <a:custGeom>
              <a:avLst/>
              <a:gdLst/>
              <a:ahLst/>
              <a:cxnLst/>
              <a:rect l="l" t="t" r="r" b="b"/>
              <a:pathLst>
                <a:path w="28575" h="14382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14382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133931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4388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286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133936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28575" y="1019175"/>
                  </a:moveTo>
                  <a:lnTo>
                    <a:pt x="0" y="1019175"/>
                  </a:lnTo>
                  <a:lnTo>
                    <a:pt x="0" y="1323975"/>
                  </a:lnTo>
                  <a:lnTo>
                    <a:pt x="28575" y="1323975"/>
                  </a:lnTo>
                  <a:lnTo>
                    <a:pt x="28575" y="1019175"/>
                  </a:lnTo>
                  <a:close/>
                </a:path>
                <a:path w="38100" h="1323975">
                  <a:moveTo>
                    <a:pt x="38100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38100" y="8286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8115268"/>
              <a:ext cx="6438899" cy="923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575"/>
                  </a:lnTo>
                  <a:lnTo>
                    <a:pt x="1012875" y="75311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92"/>
                  </a:lnTo>
                  <a:lnTo>
                    <a:pt x="580199" y="63398"/>
                  </a:lnTo>
                  <a:lnTo>
                    <a:pt x="552780" y="95173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721"/>
                  </a:lnTo>
                  <a:lnTo>
                    <a:pt x="607199" y="337515"/>
                  </a:lnTo>
                  <a:lnTo>
                    <a:pt x="645566" y="354545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806"/>
                  </a:lnTo>
                  <a:lnTo>
                    <a:pt x="966647" y="341655"/>
                  </a:lnTo>
                  <a:lnTo>
                    <a:pt x="1000963" y="317525"/>
                  </a:lnTo>
                  <a:lnTo>
                    <a:pt x="1028382" y="285673"/>
                  </a:lnTo>
                  <a:lnTo>
                    <a:pt x="1047267" y="248196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13318"/>
            <a:ext cx="6451600" cy="685008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30"/>
              </a:spcBef>
              <a:tabLst>
                <a:tab pos="650240" algn="l"/>
                <a:tab pos="1164590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9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⾃然治癒⼒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とは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何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か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引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き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出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す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700" b="1" spc="136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7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1550" dirty="0">
              <a:latin typeface="BIZ UDPゴシック"/>
              <a:cs typeface="BIZ UDPゴシック"/>
            </a:endParaRPr>
          </a:p>
          <a:p>
            <a:pPr marL="155575">
              <a:lnSpc>
                <a:spcPct val="1000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病気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すのは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備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わった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治癒⼒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である</a:t>
            </a:r>
            <a:r>
              <a:rPr sz="1350" i="1" spc="-470" dirty="0">
                <a:solidFill>
                  <a:srgbClr val="333333"/>
                </a:solidFill>
                <a:latin typeface="メイリオ"/>
                <a:cs typeface="メイリオ"/>
              </a:rPr>
              <a:t>」。</a:t>
            </a:r>
            <a:r>
              <a:rPr sz="1400" i="1" spc="-220" dirty="0" err="1">
                <a:solidFill>
                  <a:srgbClr val="333333"/>
                </a:solidFill>
                <a:latin typeface="メイリオ"/>
                <a:cs typeface="メイリオ"/>
              </a:rPr>
              <a:t>アンド</a:t>
            </a:r>
            <a:r>
              <a:rPr lang="ja-JP" altLang="en-US"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ー・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ワイル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endParaRPr sz="1400" dirty="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  <a:spcBef>
                <a:spcPts val="495"/>
              </a:spcBef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⾔葉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、⾃然治癒⼒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関係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探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⾃然治癒⼒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定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義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34925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⾃然治癒⼒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元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備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わっている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のこと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傷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62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ったり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⾵邪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したりするのは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いているからです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薬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との違い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54610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症状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抑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えるものですが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根本的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⾃然治癒⼒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担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っています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薬物治療</a:t>
            </a:r>
            <a:r>
              <a:rPr sz="1350" spc="-320" dirty="0">
                <a:solidFill>
                  <a:srgbClr val="333333"/>
                </a:solidFill>
                <a:latin typeface="SimSun"/>
                <a:cs typeface="SimSun"/>
              </a:rPr>
              <a:t>だけに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頼</a:t>
            </a:r>
            <a:r>
              <a:rPr sz="1350" spc="-275" dirty="0">
                <a:solidFill>
                  <a:srgbClr val="333333"/>
                </a:solidFill>
                <a:latin typeface="SimSun"/>
                <a:cs typeface="SimSun"/>
              </a:rPr>
              <a:t>らず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⾃然治癒⼒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めることが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道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93040" marR="167640">
              <a:lnSpc>
                <a:spcPct val="1296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⾷事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すぐの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表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れにくいが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ける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285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                                               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まる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75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ロナルド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85" dirty="0">
                <a:solidFill>
                  <a:srgbClr val="333333"/>
                </a:solidFill>
                <a:latin typeface="SimSun"/>
                <a:cs typeface="SimSun"/>
              </a:rPr>
              <a:t>ピ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が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⾃然治癒⼒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⾼</a:t>
            </a:r>
            <a:r>
              <a:rPr sz="1450" b="1" spc="-135" dirty="0">
                <a:solidFill>
                  <a:srgbClr val="2D5926"/>
                </a:solidFill>
                <a:latin typeface="BIZ UDPゴシック"/>
                <a:cs typeface="BIZ UDPゴシック"/>
              </a:rPr>
              <a:t>める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理由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のバランスを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細胞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促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をリラックスさせる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これらの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複合的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79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49549" y="8246403"/>
            <a:ext cx="231140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4145" marR="5080" indent="-132080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⾃然治癒⼒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める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習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慣</a:t>
            </a:r>
            <a:r>
              <a:rPr sz="1350" spc="-150" dirty="0">
                <a:solidFill>
                  <a:srgbClr val="FFFFFF"/>
                </a:solidFill>
                <a:latin typeface="SimSun"/>
                <a:cs typeface="SimSun"/>
              </a:rPr>
              <a:t>ガイドを</a:t>
            </a:r>
            <a:r>
              <a:rPr sz="1350" spc="-9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登録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者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50" spc="-150" dirty="0">
                <a:solidFill>
                  <a:srgbClr val="FFFFFF"/>
                </a:solidFill>
                <a:latin typeface="SimSun"/>
                <a:cs typeface="SimSun"/>
              </a:rPr>
              <a:t>プレゼント</a:t>
            </a:r>
            <a:endParaRPr sz="1350" dirty="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4"/>
            <a:ext cx="7063105" cy="9277350"/>
            <a:chOff x="352425" y="352424"/>
            <a:chExt cx="7063105" cy="9277350"/>
          </a:xfrm>
        </p:grpSpPr>
        <p:sp>
          <p:nvSpPr>
            <p:cNvPr id="3" name="object 3"/>
            <p:cNvSpPr/>
            <p:nvPr/>
          </p:nvSpPr>
          <p:spPr>
            <a:xfrm>
              <a:off x="376237" y="357144"/>
              <a:ext cx="7038975" cy="9267825"/>
            </a:xfrm>
            <a:custGeom>
              <a:avLst/>
              <a:gdLst/>
              <a:ahLst/>
              <a:cxnLst/>
              <a:rect l="l" t="t" r="r" b="b"/>
              <a:pathLst>
                <a:path w="7038975" h="9267825">
                  <a:moveTo>
                    <a:pt x="6936628" y="9267824"/>
                  </a:moveTo>
                  <a:lnTo>
                    <a:pt x="84545" y="9267824"/>
                  </a:lnTo>
                  <a:lnTo>
                    <a:pt x="78661" y="9267081"/>
                  </a:lnTo>
                  <a:lnTo>
                    <a:pt x="35275" y="9245278"/>
                  </a:lnTo>
                  <a:lnTo>
                    <a:pt x="11948" y="9213055"/>
                  </a:lnTo>
                  <a:lnTo>
                    <a:pt x="579" y="9172574"/>
                  </a:lnTo>
                  <a:lnTo>
                    <a:pt x="0" y="9165506"/>
                  </a:lnTo>
                  <a:lnTo>
                    <a:pt x="0" y="91582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9165506"/>
                  </a:lnTo>
                  <a:lnTo>
                    <a:pt x="7027882" y="9206807"/>
                  </a:lnTo>
                  <a:lnTo>
                    <a:pt x="7001805" y="9240811"/>
                  </a:lnTo>
                  <a:lnTo>
                    <a:pt x="6964709" y="9262166"/>
                  </a:lnTo>
                  <a:lnTo>
                    <a:pt x="6943752" y="9267081"/>
                  </a:lnTo>
                  <a:lnTo>
                    <a:pt x="6936628" y="926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9277350"/>
            </a:xfrm>
            <a:custGeom>
              <a:avLst/>
              <a:gdLst/>
              <a:ahLst/>
              <a:cxnLst/>
              <a:rect l="l" t="t" r="r" b="b"/>
              <a:pathLst>
                <a:path w="6999605" h="9277350">
                  <a:moveTo>
                    <a:pt x="6999071" y="77368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9163025"/>
                  </a:lnTo>
                  <a:lnTo>
                    <a:pt x="6987819" y="9203118"/>
                  </a:lnTo>
                  <a:lnTo>
                    <a:pt x="6965112" y="9237116"/>
                  </a:lnTo>
                  <a:lnTo>
                    <a:pt x="6957466" y="9244089"/>
                  </a:lnTo>
                  <a:lnTo>
                    <a:pt x="6921398" y="9263342"/>
                  </a:lnTo>
                  <a:lnTo>
                    <a:pt x="6891020" y="9267825"/>
                  </a:lnTo>
                  <a:lnTo>
                    <a:pt x="52082" y="9267825"/>
                  </a:lnTo>
                  <a:lnTo>
                    <a:pt x="26085" y="9259494"/>
                  </a:lnTo>
                  <a:lnTo>
                    <a:pt x="0" y="9264713"/>
                  </a:lnTo>
                  <a:lnTo>
                    <a:pt x="40817" y="9276804"/>
                  </a:lnTo>
                  <a:lnTo>
                    <a:pt x="52082" y="9277350"/>
                  </a:lnTo>
                  <a:lnTo>
                    <a:pt x="6891020" y="9277350"/>
                  </a:lnTo>
                  <a:lnTo>
                    <a:pt x="6934771" y="9268650"/>
                  </a:lnTo>
                  <a:lnTo>
                    <a:pt x="6936511" y="9267825"/>
                  </a:lnTo>
                  <a:lnTo>
                    <a:pt x="6944957" y="9263837"/>
                  </a:lnTo>
                  <a:lnTo>
                    <a:pt x="6954545" y="9258109"/>
                  </a:lnTo>
                  <a:lnTo>
                    <a:pt x="6963499" y="9251455"/>
                  </a:lnTo>
                  <a:lnTo>
                    <a:pt x="6971843" y="9243873"/>
                  </a:lnTo>
                  <a:lnTo>
                    <a:pt x="6972300" y="9243377"/>
                  </a:lnTo>
                  <a:lnTo>
                    <a:pt x="6979425" y="9235503"/>
                  </a:lnTo>
                  <a:lnTo>
                    <a:pt x="6986079" y="9226537"/>
                  </a:lnTo>
                  <a:lnTo>
                    <a:pt x="6991807" y="9216961"/>
                  </a:lnTo>
                  <a:lnTo>
                    <a:pt x="6996620" y="9206763"/>
                  </a:lnTo>
                  <a:lnTo>
                    <a:pt x="6999071" y="9199931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8"/>
              <a:ext cx="88900" cy="9252585"/>
            </a:xfrm>
            <a:custGeom>
              <a:avLst/>
              <a:gdLst/>
              <a:ahLst/>
              <a:cxnLst/>
              <a:rect l="l" t="t" r="r" b="b"/>
              <a:pathLst>
                <a:path w="88900" h="9252585">
                  <a:moveTo>
                    <a:pt x="62523" y="9252361"/>
                  </a:moveTo>
                  <a:lnTo>
                    <a:pt x="25900" y="9223031"/>
                  </a:lnTo>
                  <a:lnTo>
                    <a:pt x="4894" y="9183684"/>
                  </a:lnTo>
                  <a:lnTo>
                    <a:pt x="0" y="91505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9150555"/>
                  </a:lnTo>
                  <a:lnTo>
                    <a:pt x="52700" y="9190649"/>
                  </a:lnTo>
                  <a:lnTo>
                    <a:pt x="72022" y="9231587"/>
                  </a:lnTo>
                  <a:lnTo>
                    <a:pt x="88529" y="9247165"/>
                  </a:lnTo>
                  <a:lnTo>
                    <a:pt x="62523" y="925236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1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6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2571750"/>
            </a:xfrm>
            <a:custGeom>
              <a:avLst/>
              <a:gdLst/>
              <a:ahLst/>
              <a:cxnLst/>
              <a:rect l="l" t="t" r="r" b="b"/>
              <a:pathLst>
                <a:path w="28575" h="2571750">
                  <a:moveTo>
                    <a:pt x="28575" y="2276475"/>
                  </a:moveTo>
                  <a:lnTo>
                    <a:pt x="0" y="2276475"/>
                  </a:lnTo>
                  <a:lnTo>
                    <a:pt x="0" y="2571750"/>
                  </a:lnTo>
                  <a:lnTo>
                    <a:pt x="28575" y="2571750"/>
                  </a:lnTo>
                  <a:lnTo>
                    <a:pt x="28575" y="2276475"/>
                  </a:lnTo>
                  <a:close/>
                </a:path>
                <a:path w="28575" h="2571750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257175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6272168"/>
              <a:ext cx="6429375" cy="1943100"/>
            </a:xfrm>
            <a:custGeom>
              <a:avLst/>
              <a:gdLst/>
              <a:ahLst/>
              <a:cxnLst/>
              <a:rect l="l" t="t" r="r" b="b"/>
              <a:pathLst>
                <a:path w="6429375" h="1943100">
                  <a:moveTo>
                    <a:pt x="6362626" y="1943023"/>
                  </a:moveTo>
                  <a:lnTo>
                    <a:pt x="66746" y="1943023"/>
                  </a:lnTo>
                  <a:lnTo>
                    <a:pt x="62101" y="1942575"/>
                  </a:lnTo>
                  <a:lnTo>
                    <a:pt x="24240" y="1925459"/>
                  </a:lnTo>
                  <a:lnTo>
                    <a:pt x="2287" y="1890121"/>
                  </a:lnTo>
                  <a:lnTo>
                    <a:pt x="0" y="1876348"/>
                  </a:lnTo>
                  <a:lnTo>
                    <a:pt x="0" y="1871662"/>
                  </a:lnTo>
                  <a:lnTo>
                    <a:pt x="0" y="66751"/>
                  </a:lnTo>
                  <a:lnTo>
                    <a:pt x="14645" y="27679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1876348"/>
                  </a:lnTo>
                  <a:lnTo>
                    <a:pt x="6414728" y="1915191"/>
                  </a:lnTo>
                  <a:lnTo>
                    <a:pt x="6380940" y="1939375"/>
                  </a:lnTo>
                  <a:lnTo>
                    <a:pt x="6367272" y="1942575"/>
                  </a:lnTo>
                  <a:lnTo>
                    <a:pt x="6362626" y="1943023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6272168"/>
              <a:ext cx="6429375" cy="1943100"/>
            </a:xfrm>
            <a:custGeom>
              <a:avLst/>
              <a:gdLst/>
              <a:ahLst/>
              <a:cxnLst/>
              <a:rect l="l" t="t" r="r" b="b"/>
              <a:pathLst>
                <a:path w="6429375" h="1943100">
                  <a:moveTo>
                    <a:pt x="0" y="18716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2039" y="31622"/>
                  </a:lnTo>
                  <a:lnTo>
                    <a:pt x="14645" y="27679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39765" y="7143"/>
                  </a:lnTo>
                  <a:lnTo>
                    <a:pt x="44099" y="5362"/>
                  </a:lnTo>
                  <a:lnTo>
                    <a:pt x="48433" y="3571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80940" y="3571"/>
                  </a:lnTo>
                  <a:lnTo>
                    <a:pt x="6385274" y="5362"/>
                  </a:lnTo>
                  <a:lnTo>
                    <a:pt x="6389607" y="7143"/>
                  </a:lnTo>
                  <a:lnTo>
                    <a:pt x="6393724" y="9372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487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566"/>
                  </a:lnTo>
                  <a:lnTo>
                    <a:pt x="6429374" y="71437"/>
                  </a:lnTo>
                  <a:lnTo>
                    <a:pt x="6429374" y="1871662"/>
                  </a:lnTo>
                  <a:lnTo>
                    <a:pt x="6429373" y="1876348"/>
                  </a:lnTo>
                  <a:lnTo>
                    <a:pt x="6428916" y="1880968"/>
                  </a:lnTo>
                  <a:lnTo>
                    <a:pt x="6428001" y="1885502"/>
                  </a:lnTo>
                  <a:lnTo>
                    <a:pt x="6427086" y="1890121"/>
                  </a:lnTo>
                  <a:lnTo>
                    <a:pt x="6425731" y="1894579"/>
                  </a:lnTo>
                  <a:lnTo>
                    <a:pt x="6423936" y="1898894"/>
                  </a:lnTo>
                  <a:lnTo>
                    <a:pt x="6422141" y="1903218"/>
                  </a:lnTo>
                  <a:lnTo>
                    <a:pt x="6419940" y="1907304"/>
                  </a:lnTo>
                  <a:lnTo>
                    <a:pt x="6417334" y="1911248"/>
                  </a:lnTo>
                  <a:lnTo>
                    <a:pt x="6414728" y="1915191"/>
                  </a:lnTo>
                  <a:lnTo>
                    <a:pt x="6385274" y="1937518"/>
                  </a:lnTo>
                  <a:lnTo>
                    <a:pt x="6380940" y="1939375"/>
                  </a:lnTo>
                  <a:lnTo>
                    <a:pt x="6376473" y="1940718"/>
                  </a:lnTo>
                  <a:lnTo>
                    <a:pt x="6371872" y="1941613"/>
                  </a:lnTo>
                  <a:lnTo>
                    <a:pt x="6367272" y="1942575"/>
                  </a:lnTo>
                  <a:lnTo>
                    <a:pt x="6362626" y="1943023"/>
                  </a:lnTo>
                  <a:lnTo>
                    <a:pt x="6357937" y="1943099"/>
                  </a:lnTo>
                  <a:lnTo>
                    <a:pt x="71437" y="1943099"/>
                  </a:lnTo>
                  <a:lnTo>
                    <a:pt x="66746" y="1943023"/>
                  </a:lnTo>
                  <a:lnTo>
                    <a:pt x="62101" y="1942575"/>
                  </a:lnTo>
                  <a:lnTo>
                    <a:pt x="57500" y="1941613"/>
                  </a:lnTo>
                  <a:lnTo>
                    <a:pt x="52900" y="1940718"/>
                  </a:lnTo>
                  <a:lnTo>
                    <a:pt x="48433" y="1939375"/>
                  </a:lnTo>
                  <a:lnTo>
                    <a:pt x="44099" y="1937518"/>
                  </a:lnTo>
                  <a:lnTo>
                    <a:pt x="39765" y="1935737"/>
                  </a:lnTo>
                  <a:lnTo>
                    <a:pt x="35649" y="1933498"/>
                  </a:lnTo>
                  <a:lnTo>
                    <a:pt x="31749" y="1930898"/>
                  </a:lnTo>
                  <a:lnTo>
                    <a:pt x="27848" y="1928364"/>
                  </a:lnTo>
                  <a:lnTo>
                    <a:pt x="5437" y="1898894"/>
                  </a:lnTo>
                  <a:lnTo>
                    <a:pt x="3642" y="1894579"/>
                  </a:lnTo>
                  <a:lnTo>
                    <a:pt x="2287" y="1890121"/>
                  </a:lnTo>
                  <a:lnTo>
                    <a:pt x="1372" y="1885502"/>
                  </a:lnTo>
                  <a:lnTo>
                    <a:pt x="457" y="1880968"/>
                  </a:lnTo>
                  <a:lnTo>
                    <a:pt x="0" y="1876348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8410543"/>
              <a:ext cx="6438899" cy="923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62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575"/>
                  </a:lnTo>
                  <a:lnTo>
                    <a:pt x="1012875" y="75260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255"/>
                  </a:lnTo>
                  <a:lnTo>
                    <a:pt x="580199" y="63398"/>
                  </a:lnTo>
                  <a:lnTo>
                    <a:pt x="552780" y="95173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71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520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68"/>
                  </a:lnTo>
                  <a:lnTo>
                    <a:pt x="966647" y="341579"/>
                  </a:lnTo>
                  <a:lnTo>
                    <a:pt x="1000963" y="317461"/>
                  </a:lnTo>
                  <a:lnTo>
                    <a:pt x="1028382" y="285673"/>
                  </a:lnTo>
                  <a:lnTo>
                    <a:pt x="1047267" y="248234"/>
                  </a:lnTo>
                  <a:lnTo>
                    <a:pt x="1056462" y="207289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26200" cy="73253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礎知識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保存版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き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750" b="1" spc="-130" dirty="0">
                <a:solidFill>
                  <a:srgbClr val="333333"/>
                </a:solidFill>
                <a:latin typeface="BIZ UDPゴシック"/>
                <a:cs typeface="BIZ UDPゴシック"/>
              </a:rPr>
              <a:t>つのコツ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17907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ただ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すだけでも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はありますが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ちょっとしたコツを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押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さえるだけで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、効果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何倍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もなります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をマスタ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しましょう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45" dirty="0">
                <a:solidFill>
                  <a:srgbClr val="2D5926"/>
                </a:solidFill>
                <a:latin typeface="BIZ UDPゴシック"/>
                <a:cs typeface="BIZ UDPゴシック"/>
              </a:rPr>
              <a:t>コツ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1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深呼</a:t>
            </a:r>
            <a:r>
              <a:rPr sz="1450" b="1" spc="-80" dirty="0">
                <a:solidFill>
                  <a:srgbClr val="2D5926"/>
                </a:solidFill>
                <a:latin typeface="BIZ UDPゴシック"/>
                <a:cs typeface="BIZ UDPゴシック"/>
              </a:rPr>
              <a:t>吸しながら聴く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29600"/>
              </a:lnSpc>
              <a:spcBef>
                <a:spcPts val="860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きながら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ゆっくりと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深呼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をしましょう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息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う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より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吐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⻑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                                    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すると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リラックス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まります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45" dirty="0">
                <a:solidFill>
                  <a:srgbClr val="2D5926"/>
                </a:solidFill>
                <a:latin typeface="BIZ UDPゴシック"/>
                <a:cs typeface="BIZ UDPゴシック"/>
              </a:rPr>
              <a:t>コツ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2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⽬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閉</a:t>
            </a:r>
            <a:r>
              <a:rPr sz="1450" b="1" spc="-70" dirty="0">
                <a:solidFill>
                  <a:srgbClr val="2D5926"/>
                </a:solidFill>
                <a:latin typeface="BIZ UDPゴシック"/>
                <a:cs typeface="BIZ UDPゴシック"/>
              </a:rPr>
              <a:t>じて聴く</a:t>
            </a:r>
            <a:endParaRPr sz="1450">
              <a:latin typeface="BIZ UDPゴシック"/>
              <a:cs typeface="BIZ UDPゴシック"/>
            </a:endParaRPr>
          </a:p>
          <a:p>
            <a:pPr marL="12700" marR="27940">
              <a:lnSpc>
                <a:spcPct val="134300"/>
              </a:lnSpc>
              <a:spcBef>
                <a:spcPts val="78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視覚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情報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遮断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することで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ぎ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澄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まされます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息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りやすくなり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回復⼒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まります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45" dirty="0">
                <a:solidFill>
                  <a:srgbClr val="2D5926"/>
                </a:solidFill>
                <a:latin typeface="BIZ UDPゴシック"/>
                <a:cs typeface="BIZ UDPゴシック"/>
              </a:rPr>
              <a:t>コツ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3</a:t>
            </a:r>
            <a:r>
              <a:rPr sz="1450" b="1" spc="225" dirty="0">
                <a:solidFill>
                  <a:srgbClr val="2D5926"/>
                </a:solidFill>
                <a:latin typeface="BIZ UDPゴシック"/>
                <a:cs typeface="BIZ UDPゴシック"/>
              </a:rPr>
              <a:t>：体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全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体で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浴</a:t>
            </a: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びる</a:t>
            </a:r>
            <a:endParaRPr sz="1450">
              <a:latin typeface="BIZ UDPゴシック"/>
              <a:cs typeface="BIZ UDPゴシック"/>
            </a:endParaRPr>
          </a:p>
          <a:p>
            <a:pPr marL="12700" marR="36830">
              <a:lnSpc>
                <a:spcPct val="134300"/>
              </a:lnSpc>
              <a:spcBef>
                <a:spcPts val="710"/>
              </a:spcBef>
            </a:pP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スピ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づいて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体全体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じましょう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⾼周波成分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よりも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355" dirty="0">
                <a:solidFill>
                  <a:srgbClr val="333333"/>
                </a:solidFill>
                <a:latin typeface="SimSun"/>
                <a:cs typeface="SimSun"/>
              </a:rPr>
              <a:t>じやす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いため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浴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びることでより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いリラクセ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ションが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得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られます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された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効</a:t>
            </a:r>
            <a:r>
              <a:rPr sz="1300" b="1" spc="-5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不安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やイライラが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STAI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⼼理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テスト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のバランスが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⼼拍変動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む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⽴位体前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屈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テスト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⾃発的回復⼒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オキシトシン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80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76363" y="8547189"/>
            <a:ext cx="185801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" marR="5080" indent="-57785">
              <a:lnSpc>
                <a:spcPct val="129600"/>
              </a:lnSpc>
              <a:spcBef>
                <a:spcPts val="95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正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しい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⽅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ガイド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PDF</a:t>
            </a:r>
            <a:r>
              <a:rPr sz="1350" spc="-95" dirty="0">
                <a:solidFill>
                  <a:srgbClr val="FFFFFF"/>
                </a:solidFill>
                <a:latin typeface="SimSun"/>
                <a:cs typeface="SimSun"/>
              </a:rPr>
              <a:t>を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登録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者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5"/>
            <a:ext cx="7063105" cy="8143875"/>
            <a:chOff x="352425" y="352425"/>
            <a:chExt cx="7063105" cy="8143875"/>
          </a:xfrm>
        </p:grpSpPr>
        <p:sp>
          <p:nvSpPr>
            <p:cNvPr id="3" name="object 3"/>
            <p:cNvSpPr/>
            <p:nvPr/>
          </p:nvSpPr>
          <p:spPr>
            <a:xfrm>
              <a:off x="376237" y="357143"/>
              <a:ext cx="7038975" cy="8134350"/>
            </a:xfrm>
            <a:custGeom>
              <a:avLst/>
              <a:gdLst/>
              <a:ahLst/>
              <a:cxnLst/>
              <a:rect l="l" t="t" r="r" b="b"/>
              <a:pathLst>
                <a:path w="7038975" h="8134350">
                  <a:moveTo>
                    <a:pt x="6936628" y="8134349"/>
                  </a:moveTo>
                  <a:lnTo>
                    <a:pt x="84545" y="8134349"/>
                  </a:lnTo>
                  <a:lnTo>
                    <a:pt x="78661" y="8133682"/>
                  </a:lnTo>
                  <a:lnTo>
                    <a:pt x="35275" y="8111803"/>
                  </a:lnTo>
                  <a:lnTo>
                    <a:pt x="11948" y="8079580"/>
                  </a:lnTo>
                  <a:lnTo>
                    <a:pt x="579" y="8039023"/>
                  </a:lnTo>
                  <a:lnTo>
                    <a:pt x="0" y="8031955"/>
                  </a:lnTo>
                  <a:lnTo>
                    <a:pt x="0" y="802481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936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031955"/>
                  </a:lnTo>
                  <a:lnTo>
                    <a:pt x="7027882" y="8073256"/>
                  </a:lnTo>
                  <a:lnTo>
                    <a:pt x="7001805" y="8107260"/>
                  </a:lnTo>
                  <a:lnTo>
                    <a:pt x="6964709" y="8128691"/>
                  </a:lnTo>
                  <a:lnTo>
                    <a:pt x="6943752" y="8133682"/>
                  </a:lnTo>
                  <a:lnTo>
                    <a:pt x="6936628" y="8134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8143875"/>
            </a:xfrm>
            <a:custGeom>
              <a:avLst/>
              <a:gdLst/>
              <a:ahLst/>
              <a:cxnLst/>
              <a:rect l="l" t="t" r="r" b="b"/>
              <a:pathLst>
                <a:path w="6999605" h="8143875">
                  <a:moveTo>
                    <a:pt x="6999071" y="77368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8029549"/>
                  </a:lnTo>
                  <a:lnTo>
                    <a:pt x="6987819" y="8069643"/>
                  </a:lnTo>
                  <a:lnTo>
                    <a:pt x="6965112" y="8103641"/>
                  </a:lnTo>
                  <a:lnTo>
                    <a:pt x="6957466" y="8110614"/>
                  </a:lnTo>
                  <a:lnTo>
                    <a:pt x="6921398" y="8129867"/>
                  </a:lnTo>
                  <a:lnTo>
                    <a:pt x="6891020" y="8134350"/>
                  </a:lnTo>
                  <a:lnTo>
                    <a:pt x="52082" y="8134350"/>
                  </a:lnTo>
                  <a:lnTo>
                    <a:pt x="26085" y="8126031"/>
                  </a:lnTo>
                  <a:lnTo>
                    <a:pt x="0" y="8131238"/>
                  </a:lnTo>
                  <a:lnTo>
                    <a:pt x="40817" y="8143341"/>
                  </a:lnTo>
                  <a:lnTo>
                    <a:pt x="52082" y="8143875"/>
                  </a:lnTo>
                  <a:lnTo>
                    <a:pt x="6891020" y="8143875"/>
                  </a:lnTo>
                  <a:lnTo>
                    <a:pt x="6934771" y="8135175"/>
                  </a:lnTo>
                  <a:lnTo>
                    <a:pt x="6936511" y="8134350"/>
                  </a:lnTo>
                  <a:lnTo>
                    <a:pt x="6944957" y="8130362"/>
                  </a:lnTo>
                  <a:lnTo>
                    <a:pt x="6954545" y="8124634"/>
                  </a:lnTo>
                  <a:lnTo>
                    <a:pt x="6963499" y="8117980"/>
                  </a:lnTo>
                  <a:lnTo>
                    <a:pt x="6971843" y="8110398"/>
                  </a:lnTo>
                  <a:lnTo>
                    <a:pt x="6972300" y="8109902"/>
                  </a:lnTo>
                  <a:lnTo>
                    <a:pt x="6979425" y="8102028"/>
                  </a:lnTo>
                  <a:lnTo>
                    <a:pt x="6986079" y="8093062"/>
                  </a:lnTo>
                  <a:lnTo>
                    <a:pt x="6991807" y="8083486"/>
                  </a:lnTo>
                  <a:lnTo>
                    <a:pt x="6996620" y="8073288"/>
                  </a:lnTo>
                  <a:lnTo>
                    <a:pt x="6999071" y="806645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8"/>
              <a:ext cx="88900" cy="8119109"/>
            </a:xfrm>
            <a:custGeom>
              <a:avLst/>
              <a:gdLst/>
              <a:ahLst/>
              <a:cxnLst/>
              <a:rect l="l" t="t" r="r" b="b"/>
              <a:pathLst>
                <a:path w="88900" h="8119109">
                  <a:moveTo>
                    <a:pt x="62523" y="8118886"/>
                  </a:moveTo>
                  <a:lnTo>
                    <a:pt x="25900" y="8089555"/>
                  </a:lnTo>
                  <a:lnTo>
                    <a:pt x="4894" y="8050209"/>
                  </a:lnTo>
                  <a:lnTo>
                    <a:pt x="0" y="80170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017080"/>
                  </a:lnTo>
                  <a:lnTo>
                    <a:pt x="52700" y="8057175"/>
                  </a:lnTo>
                  <a:lnTo>
                    <a:pt x="72022" y="8098113"/>
                  </a:lnTo>
                  <a:lnTo>
                    <a:pt x="88529" y="8113690"/>
                  </a:lnTo>
                  <a:lnTo>
                    <a:pt x="62523" y="81188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1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6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69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56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3995693"/>
              <a:ext cx="6429375" cy="1943100"/>
            </a:xfrm>
            <a:custGeom>
              <a:avLst/>
              <a:gdLst/>
              <a:ahLst/>
              <a:cxnLst/>
              <a:rect l="l" t="t" r="r" b="b"/>
              <a:pathLst>
                <a:path w="6429375" h="1943100">
                  <a:moveTo>
                    <a:pt x="6362626" y="1943099"/>
                  </a:moveTo>
                  <a:lnTo>
                    <a:pt x="66746" y="1943099"/>
                  </a:lnTo>
                  <a:lnTo>
                    <a:pt x="62101" y="1942652"/>
                  </a:lnTo>
                  <a:lnTo>
                    <a:pt x="24240" y="1925535"/>
                  </a:lnTo>
                  <a:lnTo>
                    <a:pt x="2287" y="1890121"/>
                  </a:lnTo>
                  <a:lnTo>
                    <a:pt x="0" y="1876348"/>
                  </a:lnTo>
                  <a:lnTo>
                    <a:pt x="0" y="1871662"/>
                  </a:lnTo>
                  <a:lnTo>
                    <a:pt x="0" y="66751"/>
                  </a:lnTo>
                  <a:lnTo>
                    <a:pt x="14645" y="27832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658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1876348"/>
                  </a:lnTo>
                  <a:lnTo>
                    <a:pt x="6414728" y="1915191"/>
                  </a:lnTo>
                  <a:lnTo>
                    <a:pt x="6380940" y="1939451"/>
                  </a:lnTo>
                  <a:lnTo>
                    <a:pt x="6367272" y="1942652"/>
                  </a:lnTo>
                  <a:lnTo>
                    <a:pt x="6362626" y="1943099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3995693"/>
              <a:ext cx="6429375" cy="1943100"/>
            </a:xfrm>
            <a:custGeom>
              <a:avLst/>
              <a:gdLst/>
              <a:ahLst/>
              <a:cxnLst/>
              <a:rect l="l" t="t" r="r" b="b"/>
              <a:pathLst>
                <a:path w="6429375" h="1943100">
                  <a:moveTo>
                    <a:pt x="0" y="187166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7606" y="24260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411767" y="24260"/>
                  </a:lnTo>
                  <a:lnTo>
                    <a:pt x="6428916" y="62064"/>
                  </a:lnTo>
                  <a:lnTo>
                    <a:pt x="6429374" y="71437"/>
                  </a:lnTo>
                  <a:lnTo>
                    <a:pt x="6429374" y="1871662"/>
                  </a:lnTo>
                  <a:lnTo>
                    <a:pt x="6423936" y="1898894"/>
                  </a:lnTo>
                  <a:lnTo>
                    <a:pt x="6422141" y="1903285"/>
                  </a:lnTo>
                  <a:lnTo>
                    <a:pt x="6419940" y="1907381"/>
                  </a:lnTo>
                  <a:lnTo>
                    <a:pt x="6417334" y="1911248"/>
                  </a:lnTo>
                  <a:lnTo>
                    <a:pt x="6414728" y="1915191"/>
                  </a:lnTo>
                  <a:lnTo>
                    <a:pt x="6397625" y="1931041"/>
                  </a:lnTo>
                  <a:lnTo>
                    <a:pt x="6393724" y="1933651"/>
                  </a:lnTo>
                  <a:lnTo>
                    <a:pt x="6389607" y="1935879"/>
                  </a:lnTo>
                  <a:lnTo>
                    <a:pt x="6385274" y="1937594"/>
                  </a:lnTo>
                  <a:lnTo>
                    <a:pt x="6380940" y="1939451"/>
                  </a:lnTo>
                  <a:lnTo>
                    <a:pt x="6376473" y="1940794"/>
                  </a:lnTo>
                  <a:lnTo>
                    <a:pt x="6371872" y="1941690"/>
                  </a:lnTo>
                  <a:lnTo>
                    <a:pt x="6367272" y="1942652"/>
                  </a:lnTo>
                  <a:lnTo>
                    <a:pt x="6362626" y="1943099"/>
                  </a:lnTo>
                  <a:lnTo>
                    <a:pt x="6357937" y="1943099"/>
                  </a:lnTo>
                  <a:lnTo>
                    <a:pt x="71437" y="1943099"/>
                  </a:lnTo>
                  <a:lnTo>
                    <a:pt x="66746" y="1943099"/>
                  </a:lnTo>
                  <a:lnTo>
                    <a:pt x="62101" y="1942652"/>
                  </a:lnTo>
                  <a:lnTo>
                    <a:pt x="57500" y="1941690"/>
                  </a:lnTo>
                  <a:lnTo>
                    <a:pt x="52900" y="1940794"/>
                  </a:lnTo>
                  <a:lnTo>
                    <a:pt x="48433" y="1939451"/>
                  </a:lnTo>
                  <a:lnTo>
                    <a:pt x="44099" y="1937594"/>
                  </a:lnTo>
                  <a:lnTo>
                    <a:pt x="39765" y="1935879"/>
                  </a:lnTo>
                  <a:lnTo>
                    <a:pt x="35649" y="1933651"/>
                  </a:lnTo>
                  <a:lnTo>
                    <a:pt x="31749" y="1931041"/>
                  </a:lnTo>
                  <a:lnTo>
                    <a:pt x="27848" y="1928440"/>
                  </a:lnTo>
                  <a:lnTo>
                    <a:pt x="5437" y="1898894"/>
                  </a:lnTo>
                  <a:lnTo>
                    <a:pt x="3642" y="1894579"/>
                  </a:lnTo>
                  <a:lnTo>
                    <a:pt x="2287" y="1890121"/>
                  </a:lnTo>
                  <a:lnTo>
                    <a:pt x="1372" y="1885578"/>
                  </a:lnTo>
                  <a:lnTo>
                    <a:pt x="457" y="1881034"/>
                  </a:lnTo>
                  <a:lnTo>
                    <a:pt x="0" y="1876348"/>
                  </a:lnTo>
                  <a:lnTo>
                    <a:pt x="0" y="187166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134055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267544"/>
              <a:ext cx="6438899" cy="9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485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66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44"/>
                  </a:lnTo>
                  <a:lnTo>
                    <a:pt x="1037043" y="109626"/>
                  </a:lnTo>
                  <a:lnTo>
                    <a:pt x="1012875" y="75311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37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17"/>
                  </a:lnTo>
                  <a:lnTo>
                    <a:pt x="614514" y="39192"/>
                  </a:lnTo>
                  <a:lnTo>
                    <a:pt x="580199" y="63398"/>
                  </a:lnTo>
                  <a:lnTo>
                    <a:pt x="552780" y="95173"/>
                  </a:lnTo>
                  <a:lnTo>
                    <a:pt x="533895" y="132740"/>
                  </a:lnTo>
                  <a:lnTo>
                    <a:pt x="524700" y="173710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33"/>
                  </a:lnTo>
                  <a:lnTo>
                    <a:pt x="548271" y="278511"/>
                  </a:lnTo>
                  <a:lnTo>
                    <a:pt x="574103" y="311645"/>
                  </a:lnTo>
                  <a:lnTo>
                    <a:pt x="607199" y="337400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66"/>
                  </a:lnTo>
                  <a:lnTo>
                    <a:pt x="1000963" y="317449"/>
                  </a:lnTo>
                  <a:lnTo>
                    <a:pt x="1028382" y="285597"/>
                  </a:lnTo>
                  <a:lnTo>
                    <a:pt x="1047267" y="248221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411595" cy="58662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11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750" b="1" spc="-20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750" b="1" spc="-20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750" b="1" spc="-17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lang="ja-JP" altLang="en-US"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体感音響 </a:t>
            </a:r>
            <a:r>
              <a:rPr sz="1700" b="1" spc="-160" dirty="0" err="1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750" b="1" spc="-20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05" dirty="0" err="1">
                <a:solidFill>
                  <a:srgbClr val="333333"/>
                </a:solidFill>
                <a:latin typeface="メイリオ"/>
                <a:cs typeface="メイリオ"/>
              </a:rPr>
              <a:t>科学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23241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れない</a:t>
            </a:r>
            <a:r>
              <a:rPr sz="1350" i="1" spc="-370" dirty="0">
                <a:solidFill>
                  <a:srgbClr val="333333"/>
                </a:solidFill>
                <a:latin typeface="メイリオ"/>
                <a:cs typeface="メイリオ"/>
              </a:rPr>
              <a:t>」「眠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りが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350" i="1" spc="-320" dirty="0">
                <a:solidFill>
                  <a:srgbClr val="333333"/>
                </a:solidFill>
                <a:latin typeface="メイリオ"/>
                <a:cs typeface="メイリオ"/>
              </a:rPr>
              <a:t>」「朝起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きても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疲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れが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れない</a:t>
            </a:r>
            <a:r>
              <a:rPr sz="1350" i="1" spc="-290" dirty="0">
                <a:solidFill>
                  <a:srgbClr val="333333"/>
                </a:solidFill>
                <a:latin typeface="メイリオ"/>
                <a:cs typeface="メイリオ"/>
              </a:rPr>
              <a:t>」。現代⼈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くが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抱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悩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み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がその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解決策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になるかもしれません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睡眠</a:t>
            </a: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と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⾃律神経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の関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係</a:t>
            </a:r>
            <a:endParaRPr sz="1450" dirty="0">
              <a:latin typeface="メイリオ"/>
              <a:cs typeface="メイリオ"/>
            </a:endParaRPr>
          </a:p>
          <a:p>
            <a:pPr marL="12700" marR="13970">
              <a:lnSpc>
                <a:spcPct val="129600"/>
              </a:lnSpc>
              <a:spcBef>
                <a:spcPts val="880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良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優位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になることが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必要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しかし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ストレスや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電⼦</a:t>
            </a:r>
            <a:r>
              <a:rPr sz="1300" spc="-705" dirty="0">
                <a:solidFill>
                  <a:srgbClr val="333333"/>
                </a:solidFill>
                <a:latin typeface="SimSun"/>
                <a:cs typeface="SimSun"/>
              </a:rPr>
              <a:t>機器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影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活発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なまま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ろうとする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えています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東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京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⼤学⼤学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院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300" b="1" spc="-8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</a:t>
            </a:r>
            <a:endParaRPr sz="13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福祉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13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にした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</a:t>
            </a:r>
            <a:r>
              <a:rPr 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90" dirty="0">
                <a:solidFill>
                  <a:srgbClr val="333333"/>
                </a:solidFill>
                <a:latin typeface="Comic Sans MS"/>
                <a:cs typeface="Comic Sans MS"/>
              </a:rPr>
              <a:t>×</a:t>
            </a:r>
            <a:r>
              <a:rPr lang="en-US" sz="1350" spc="90" dirty="0">
                <a:solidFill>
                  <a:srgbClr val="333333"/>
                </a:solidFill>
                <a:latin typeface="Comic Sans MS"/>
                <a:cs typeface="Comic Sans MS"/>
              </a:rPr>
              <a:t>20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lang="ja-JP" altLang="en-US" sz="1350" spc="-170" dirty="0">
                <a:solidFill>
                  <a:srgbClr val="333333"/>
                </a:solidFill>
                <a:latin typeface="SimSun"/>
                <a:cs typeface="メイリオ"/>
              </a:rPr>
              <a:t>の</a:t>
            </a:r>
            <a:r>
              <a:rPr lang="ja-JP" altLang="en-US" sz="1300" spc="-100" dirty="0">
                <a:solidFill>
                  <a:srgbClr val="333333"/>
                </a:solidFill>
                <a:latin typeface="メイリオ"/>
                <a:cs typeface="メイリオ"/>
              </a:rPr>
              <a:t>体感音響体験</a:t>
            </a:r>
            <a:endParaRPr sz="1300" dirty="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r>
              <a:rPr sz="130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60" dirty="0">
                <a:solidFill>
                  <a:srgbClr val="333333"/>
                </a:solidFill>
                <a:latin typeface="Comic Sans MS"/>
                <a:cs typeface="Comic Sans MS"/>
              </a:rPr>
              <a:t>p&lt;0.05</a:t>
            </a:r>
            <a:r>
              <a:rPr sz="130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ノンレム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割合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endParaRPr sz="1300" dirty="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おすすめの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使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い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⽅</a:t>
            </a:r>
            <a:endParaRPr sz="1450" dirty="0">
              <a:latin typeface="メイリオ"/>
              <a:cs typeface="メイリオ"/>
            </a:endParaRPr>
          </a:p>
          <a:p>
            <a:pPr marL="12700" marR="5080">
              <a:lnSpc>
                <a:spcPct val="134300"/>
              </a:lnSpc>
              <a:spcBef>
                <a:spcPts val="805"/>
              </a:spcBef>
            </a:pPr>
            <a:r>
              <a:rPr lang="ja-JP" alt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ゆっくり呼吸をしながら、森や海など自然の中にいるイメージをしながら体感音響を体験する</a:t>
            </a:r>
            <a:r>
              <a:rPr lang="ja-JP" altLang="en-US" sz="1300" spc="675" dirty="0">
                <a:solidFill>
                  <a:srgbClr val="333333"/>
                </a:solidFill>
                <a:latin typeface="BIZ UDPゴシック"/>
                <a:cs typeface="メイリオ"/>
              </a:rPr>
              <a:t> 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⾬⾳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⾍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lang="ja-JP" alt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自然の音を部屋に流すともっといいですね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81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32782" y="7398678"/>
            <a:ext cx="15449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2240" marR="5080" indent="-1301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睡眠⽤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プレイリストを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6"/>
            <a:ext cx="7063105" cy="7686675"/>
            <a:chOff x="352425" y="352426"/>
            <a:chExt cx="7063105" cy="7686675"/>
          </a:xfrm>
        </p:grpSpPr>
        <p:sp>
          <p:nvSpPr>
            <p:cNvPr id="3" name="object 3"/>
            <p:cNvSpPr/>
            <p:nvPr/>
          </p:nvSpPr>
          <p:spPr>
            <a:xfrm>
              <a:off x="376237" y="357219"/>
              <a:ext cx="7038975" cy="7677150"/>
            </a:xfrm>
            <a:custGeom>
              <a:avLst/>
              <a:gdLst/>
              <a:ahLst/>
              <a:cxnLst/>
              <a:rect l="l" t="t" r="r" b="b"/>
              <a:pathLst>
                <a:path w="7038975" h="7677150">
                  <a:moveTo>
                    <a:pt x="6936628" y="7677073"/>
                  </a:moveTo>
                  <a:lnTo>
                    <a:pt x="84545" y="7677073"/>
                  </a:lnTo>
                  <a:lnTo>
                    <a:pt x="78661" y="7676330"/>
                  </a:lnTo>
                  <a:lnTo>
                    <a:pt x="35275" y="7654527"/>
                  </a:lnTo>
                  <a:lnTo>
                    <a:pt x="11948" y="7622304"/>
                  </a:lnTo>
                  <a:lnTo>
                    <a:pt x="579" y="7581823"/>
                  </a:lnTo>
                  <a:lnTo>
                    <a:pt x="0" y="7574755"/>
                  </a:lnTo>
                  <a:lnTo>
                    <a:pt x="0" y="7567535"/>
                  </a:lnTo>
                  <a:lnTo>
                    <a:pt x="0" y="102241"/>
                  </a:lnTo>
                  <a:lnTo>
                    <a:pt x="9161" y="60864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6985"/>
                  </a:lnTo>
                  <a:lnTo>
                    <a:pt x="7033387" y="74114"/>
                  </a:lnTo>
                  <a:lnTo>
                    <a:pt x="7038973" y="102241"/>
                  </a:lnTo>
                  <a:lnTo>
                    <a:pt x="7038973" y="7574755"/>
                  </a:lnTo>
                  <a:lnTo>
                    <a:pt x="7027882" y="7615979"/>
                  </a:lnTo>
                  <a:lnTo>
                    <a:pt x="7001805" y="7650060"/>
                  </a:lnTo>
                  <a:lnTo>
                    <a:pt x="6964709" y="7671339"/>
                  </a:lnTo>
                  <a:lnTo>
                    <a:pt x="6943752" y="7676330"/>
                  </a:lnTo>
                  <a:lnTo>
                    <a:pt x="6936628" y="76770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24"/>
              <a:ext cx="6999605" cy="7686675"/>
            </a:xfrm>
            <a:custGeom>
              <a:avLst/>
              <a:gdLst/>
              <a:ahLst/>
              <a:cxnLst/>
              <a:rect l="l" t="t" r="r" b="b"/>
              <a:pathLst>
                <a:path w="6999605" h="7686675">
                  <a:moveTo>
                    <a:pt x="6999071" y="77368"/>
                  </a:moveTo>
                  <a:lnTo>
                    <a:pt x="6979425" y="41795"/>
                  </a:lnTo>
                  <a:lnTo>
                    <a:pt x="6971843" y="33451"/>
                  </a:lnTo>
                  <a:lnTo>
                    <a:pt x="6963499" y="25908"/>
                  </a:lnTo>
                  <a:lnTo>
                    <a:pt x="6924154" y="4902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712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7572349"/>
                  </a:lnTo>
                  <a:lnTo>
                    <a:pt x="6987819" y="7612443"/>
                  </a:lnTo>
                  <a:lnTo>
                    <a:pt x="6965112" y="7646441"/>
                  </a:lnTo>
                  <a:lnTo>
                    <a:pt x="6957466" y="7653414"/>
                  </a:lnTo>
                  <a:lnTo>
                    <a:pt x="6921398" y="7672667"/>
                  </a:lnTo>
                  <a:lnTo>
                    <a:pt x="6891020" y="7677150"/>
                  </a:lnTo>
                  <a:lnTo>
                    <a:pt x="52082" y="7677150"/>
                  </a:lnTo>
                  <a:lnTo>
                    <a:pt x="26085" y="7668831"/>
                  </a:lnTo>
                  <a:lnTo>
                    <a:pt x="0" y="7674038"/>
                  </a:lnTo>
                  <a:lnTo>
                    <a:pt x="40817" y="7686141"/>
                  </a:lnTo>
                  <a:lnTo>
                    <a:pt x="52082" y="7686675"/>
                  </a:lnTo>
                  <a:lnTo>
                    <a:pt x="6891020" y="7686675"/>
                  </a:lnTo>
                  <a:lnTo>
                    <a:pt x="6934771" y="7677975"/>
                  </a:lnTo>
                  <a:lnTo>
                    <a:pt x="6936511" y="7677150"/>
                  </a:lnTo>
                  <a:lnTo>
                    <a:pt x="6944957" y="7673162"/>
                  </a:lnTo>
                  <a:lnTo>
                    <a:pt x="6954545" y="7667434"/>
                  </a:lnTo>
                  <a:lnTo>
                    <a:pt x="6963499" y="7660780"/>
                  </a:lnTo>
                  <a:lnTo>
                    <a:pt x="6971843" y="7653198"/>
                  </a:lnTo>
                  <a:lnTo>
                    <a:pt x="6972300" y="7652702"/>
                  </a:lnTo>
                  <a:lnTo>
                    <a:pt x="6979425" y="7644828"/>
                  </a:lnTo>
                  <a:lnTo>
                    <a:pt x="6986079" y="7635862"/>
                  </a:lnTo>
                  <a:lnTo>
                    <a:pt x="6991807" y="7626286"/>
                  </a:lnTo>
                  <a:lnTo>
                    <a:pt x="6996620" y="7616088"/>
                  </a:lnTo>
                  <a:lnTo>
                    <a:pt x="6999071" y="7609256"/>
                  </a:lnTo>
                  <a:lnTo>
                    <a:pt x="6999071" y="7736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89"/>
              <a:ext cx="88900" cy="7661909"/>
            </a:xfrm>
            <a:custGeom>
              <a:avLst/>
              <a:gdLst/>
              <a:ahLst/>
              <a:cxnLst/>
              <a:rect l="l" t="t" r="r" b="b"/>
              <a:pathLst>
                <a:path w="88900" h="7661909">
                  <a:moveTo>
                    <a:pt x="62524" y="7661686"/>
                  </a:moveTo>
                  <a:lnTo>
                    <a:pt x="25900" y="7632356"/>
                  </a:lnTo>
                  <a:lnTo>
                    <a:pt x="4894" y="7593010"/>
                  </a:lnTo>
                  <a:lnTo>
                    <a:pt x="0" y="75598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559880"/>
                  </a:lnTo>
                  <a:lnTo>
                    <a:pt x="52700" y="7599975"/>
                  </a:lnTo>
                  <a:lnTo>
                    <a:pt x="72022" y="7640912"/>
                  </a:lnTo>
                  <a:lnTo>
                    <a:pt x="88530" y="7656490"/>
                  </a:lnTo>
                  <a:lnTo>
                    <a:pt x="62524" y="76616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1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3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33"/>
                  </a:lnTo>
                  <a:lnTo>
                    <a:pt x="29705" y="822493"/>
                  </a:lnTo>
                  <a:lnTo>
                    <a:pt x="3885" y="786402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066"/>
                  </a:lnTo>
                  <a:lnTo>
                    <a:pt x="15621" y="29537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066"/>
                  </a:lnTo>
                  <a:lnTo>
                    <a:pt x="6438899" y="766905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533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2847975"/>
            </a:xfrm>
            <a:custGeom>
              <a:avLst/>
              <a:gdLst/>
              <a:ahLst/>
              <a:cxnLst/>
              <a:rect l="l" t="t" r="r" b="b"/>
              <a:pathLst>
                <a:path w="28575" h="2847975">
                  <a:moveTo>
                    <a:pt x="28575" y="2543175"/>
                  </a:moveTo>
                  <a:lnTo>
                    <a:pt x="0" y="2543175"/>
                  </a:lnTo>
                  <a:lnTo>
                    <a:pt x="0" y="2847975"/>
                  </a:lnTo>
                  <a:lnTo>
                    <a:pt x="28575" y="2847975"/>
                  </a:lnTo>
                  <a:lnTo>
                    <a:pt x="28575" y="2543175"/>
                  </a:lnTo>
                  <a:close/>
                </a:path>
                <a:path w="28575" h="28479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28479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810345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62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626"/>
                  </a:lnTo>
                  <a:lnTo>
                    <a:pt x="1012875" y="75311"/>
                  </a:lnTo>
                  <a:lnTo>
                    <a:pt x="981087" y="47840"/>
                  </a:lnTo>
                  <a:lnTo>
                    <a:pt x="943584" y="28968"/>
                  </a:lnTo>
                  <a:lnTo>
                    <a:pt x="902639" y="19900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689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57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04"/>
                  </a:lnTo>
                  <a:lnTo>
                    <a:pt x="966647" y="341579"/>
                  </a:lnTo>
                  <a:lnTo>
                    <a:pt x="1000963" y="317449"/>
                  </a:lnTo>
                  <a:lnTo>
                    <a:pt x="1028382" y="285673"/>
                  </a:lnTo>
                  <a:lnTo>
                    <a:pt x="1047267" y="248183"/>
                  </a:lnTo>
                  <a:lnTo>
                    <a:pt x="1056462" y="207289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433185" cy="5887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12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750" b="1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のパフォ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マンスを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上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げる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50" b="1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オフィスでの</a:t>
            </a:r>
            <a:r>
              <a:rPr sz="1700" b="1" spc="-140" dirty="0">
                <a:solidFill>
                  <a:srgbClr val="333333"/>
                </a:solidFill>
                <a:latin typeface="メイリオ"/>
                <a:cs typeface="メイリオ"/>
              </a:rPr>
              <a:t>⾃然⾳活⽤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55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会議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時間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400" i="1" spc="-95" dirty="0">
                <a:solidFill>
                  <a:srgbClr val="333333"/>
                </a:solidFill>
                <a:latin typeface="Comic Sans MS"/>
                <a:cs typeface="Comic Sans MS"/>
              </a:rPr>
              <a:t>20%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短縮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。集中⼒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め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ストレスを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オフィスでの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endParaRPr sz="135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  <a:spcBef>
                <a:spcPts val="495"/>
              </a:spcBef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⾳活⽤法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80" dirty="0">
                <a:solidFill>
                  <a:srgbClr val="2D5926"/>
                </a:solidFill>
                <a:latin typeface="BIZ UDPゴシック"/>
                <a:cs typeface="BIZ UDPゴシック"/>
              </a:rPr>
              <a:t>オフィス環境の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問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題</a:t>
            </a:r>
            <a:endParaRPr sz="1450">
              <a:latin typeface="BIZ UDPゴシック"/>
              <a:cs typeface="BIZ UDPゴシック"/>
            </a:endParaRPr>
          </a:p>
          <a:p>
            <a:pPr marL="12700" marR="93345">
              <a:lnSpc>
                <a:spcPct val="129600"/>
              </a:lnSpc>
              <a:spcBef>
                <a:spcPts val="880"/>
              </a:spcBef>
            </a:pP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電話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着信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周囲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会話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オフィスは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⼈⼯⾳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であふれています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これらの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30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無意識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のうちにストレスを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奪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っています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効果</a:t>
            </a:r>
            <a:endParaRPr sz="1450">
              <a:latin typeface="メイリオ"/>
              <a:cs typeface="メイリオ"/>
            </a:endParaRPr>
          </a:p>
          <a:p>
            <a:pPr marL="12700" marR="5080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すことで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⼈⼯⾳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中和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できます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67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にした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議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20%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短縮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されたという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がった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拠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85" dirty="0">
                <a:solidFill>
                  <a:srgbClr val="2D5926"/>
                </a:solidFill>
                <a:latin typeface="BIZ UDPゴシック"/>
                <a:cs typeface="BIZ UDPゴシック"/>
              </a:rPr>
              <a:t>シーン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別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おすすめ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集中作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業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のせせらぎ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則的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安定感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創造的作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業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多様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刺激的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リフレッシュ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開放感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82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77579" y="6937464"/>
            <a:ext cx="1455420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7155" marR="5080" indent="-85090">
              <a:lnSpc>
                <a:spcPct val="134300"/>
              </a:lnSpc>
              <a:spcBef>
                <a:spcPts val="9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仕事⽤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BGM</a:t>
            </a:r>
            <a:r>
              <a:rPr sz="1350" spc="-16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147" y="0"/>
            <a:ext cx="7063105" cy="8896350"/>
            <a:chOff x="352425" y="352427"/>
            <a:chExt cx="7063105" cy="8896350"/>
          </a:xfrm>
        </p:grpSpPr>
        <p:sp>
          <p:nvSpPr>
            <p:cNvPr id="3" name="object 3"/>
            <p:cNvSpPr/>
            <p:nvPr/>
          </p:nvSpPr>
          <p:spPr>
            <a:xfrm>
              <a:off x="376237" y="357143"/>
              <a:ext cx="7038975" cy="8886825"/>
            </a:xfrm>
            <a:custGeom>
              <a:avLst/>
              <a:gdLst/>
              <a:ahLst/>
              <a:cxnLst/>
              <a:rect l="l" t="t" r="r" b="b"/>
              <a:pathLst>
                <a:path w="7038975" h="8886825">
                  <a:moveTo>
                    <a:pt x="6936628" y="8886824"/>
                  </a:moveTo>
                  <a:lnTo>
                    <a:pt x="84545" y="8886824"/>
                  </a:lnTo>
                  <a:lnTo>
                    <a:pt x="78661" y="8886081"/>
                  </a:lnTo>
                  <a:lnTo>
                    <a:pt x="35275" y="8864354"/>
                  </a:lnTo>
                  <a:lnTo>
                    <a:pt x="11948" y="8832055"/>
                  </a:lnTo>
                  <a:lnTo>
                    <a:pt x="579" y="8791574"/>
                  </a:lnTo>
                  <a:lnTo>
                    <a:pt x="0" y="8784506"/>
                  </a:lnTo>
                  <a:lnTo>
                    <a:pt x="0" y="87772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784506"/>
                  </a:lnTo>
                  <a:lnTo>
                    <a:pt x="7027882" y="8825807"/>
                  </a:lnTo>
                  <a:lnTo>
                    <a:pt x="7001805" y="8859811"/>
                  </a:lnTo>
                  <a:lnTo>
                    <a:pt x="6964709" y="8881166"/>
                  </a:lnTo>
                  <a:lnTo>
                    <a:pt x="6943752" y="8886081"/>
                  </a:lnTo>
                  <a:lnTo>
                    <a:pt x="6936628" y="8886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8896350"/>
            </a:xfrm>
            <a:custGeom>
              <a:avLst/>
              <a:gdLst/>
              <a:ahLst/>
              <a:cxnLst/>
              <a:rect l="l" t="t" r="r" b="b"/>
              <a:pathLst>
                <a:path w="6999605" h="889635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00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782012"/>
                  </a:lnTo>
                  <a:lnTo>
                    <a:pt x="6987819" y="8822106"/>
                  </a:lnTo>
                  <a:lnTo>
                    <a:pt x="6965112" y="8856104"/>
                  </a:lnTo>
                  <a:lnTo>
                    <a:pt x="6957466" y="8863076"/>
                  </a:lnTo>
                  <a:lnTo>
                    <a:pt x="6921398" y="8882329"/>
                  </a:lnTo>
                  <a:lnTo>
                    <a:pt x="6891020" y="8886825"/>
                  </a:lnTo>
                  <a:lnTo>
                    <a:pt x="52082" y="8886825"/>
                  </a:lnTo>
                  <a:lnTo>
                    <a:pt x="26085" y="8878494"/>
                  </a:lnTo>
                  <a:lnTo>
                    <a:pt x="0" y="8883713"/>
                  </a:lnTo>
                  <a:lnTo>
                    <a:pt x="40817" y="8895804"/>
                  </a:lnTo>
                  <a:lnTo>
                    <a:pt x="52082" y="8896350"/>
                  </a:lnTo>
                  <a:lnTo>
                    <a:pt x="6891020" y="8896350"/>
                  </a:lnTo>
                  <a:lnTo>
                    <a:pt x="6934771" y="8887638"/>
                  </a:lnTo>
                  <a:lnTo>
                    <a:pt x="6971843" y="8862860"/>
                  </a:lnTo>
                  <a:lnTo>
                    <a:pt x="6972300" y="8862365"/>
                  </a:lnTo>
                  <a:lnTo>
                    <a:pt x="6979425" y="8854491"/>
                  </a:lnTo>
                  <a:lnTo>
                    <a:pt x="6986079" y="8845525"/>
                  </a:lnTo>
                  <a:lnTo>
                    <a:pt x="6991807" y="8835949"/>
                  </a:lnTo>
                  <a:lnTo>
                    <a:pt x="6996620" y="8825751"/>
                  </a:lnTo>
                  <a:lnTo>
                    <a:pt x="6999071" y="881891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0"/>
              <a:ext cx="88900" cy="8871585"/>
            </a:xfrm>
            <a:custGeom>
              <a:avLst/>
              <a:gdLst/>
              <a:ahLst/>
              <a:cxnLst/>
              <a:rect l="l" t="t" r="r" b="b"/>
              <a:pathLst>
                <a:path w="88900" h="8871585">
                  <a:moveTo>
                    <a:pt x="62524" y="8871361"/>
                  </a:moveTo>
                  <a:lnTo>
                    <a:pt x="25900" y="8842030"/>
                  </a:lnTo>
                  <a:lnTo>
                    <a:pt x="4894" y="8802684"/>
                  </a:lnTo>
                  <a:lnTo>
                    <a:pt x="0" y="87695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769555"/>
                  </a:lnTo>
                  <a:lnTo>
                    <a:pt x="52700" y="8809650"/>
                  </a:lnTo>
                  <a:lnTo>
                    <a:pt x="72022" y="8850587"/>
                  </a:lnTo>
                  <a:lnTo>
                    <a:pt x="88529" y="8866165"/>
                  </a:lnTo>
                  <a:lnTo>
                    <a:pt x="62524" y="887136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0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5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14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14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55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3995693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798"/>
                  </a:moveTo>
                  <a:lnTo>
                    <a:pt x="66746" y="1666798"/>
                  </a:lnTo>
                  <a:lnTo>
                    <a:pt x="62101" y="1666350"/>
                  </a:lnTo>
                  <a:lnTo>
                    <a:pt x="24240" y="1649234"/>
                  </a:lnTo>
                  <a:lnTo>
                    <a:pt x="2287" y="1613896"/>
                  </a:lnTo>
                  <a:lnTo>
                    <a:pt x="0" y="1600047"/>
                  </a:lnTo>
                  <a:lnTo>
                    <a:pt x="0" y="1595437"/>
                  </a:lnTo>
                  <a:lnTo>
                    <a:pt x="0" y="66674"/>
                  </a:lnTo>
                  <a:lnTo>
                    <a:pt x="14645" y="27679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06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600047"/>
                  </a:lnTo>
                  <a:lnTo>
                    <a:pt x="6414728" y="1639042"/>
                  </a:lnTo>
                  <a:lnTo>
                    <a:pt x="6380940" y="1663226"/>
                  </a:lnTo>
                  <a:lnTo>
                    <a:pt x="6367272" y="1666350"/>
                  </a:lnTo>
                  <a:lnTo>
                    <a:pt x="6362626" y="16667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3995693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372" y="57369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9433" y="35499"/>
                  </a:lnTo>
                  <a:lnTo>
                    <a:pt x="12039" y="31622"/>
                  </a:lnTo>
                  <a:lnTo>
                    <a:pt x="14645" y="27679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305"/>
                  </a:lnTo>
                  <a:lnTo>
                    <a:pt x="39765" y="7143"/>
                  </a:lnTo>
                  <a:lnTo>
                    <a:pt x="44099" y="5362"/>
                  </a:lnTo>
                  <a:lnTo>
                    <a:pt x="48433" y="3571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80940" y="3571"/>
                  </a:lnTo>
                  <a:lnTo>
                    <a:pt x="6385274" y="5362"/>
                  </a:lnTo>
                  <a:lnTo>
                    <a:pt x="6389607" y="7143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499"/>
                  </a:lnTo>
                  <a:lnTo>
                    <a:pt x="6422141" y="39585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047"/>
                  </a:lnTo>
                  <a:lnTo>
                    <a:pt x="6428916" y="1604667"/>
                  </a:lnTo>
                  <a:lnTo>
                    <a:pt x="6428001" y="1609277"/>
                  </a:lnTo>
                  <a:lnTo>
                    <a:pt x="6427086" y="1613896"/>
                  </a:lnTo>
                  <a:lnTo>
                    <a:pt x="6425731" y="1618354"/>
                  </a:lnTo>
                  <a:lnTo>
                    <a:pt x="6423936" y="1622669"/>
                  </a:lnTo>
                  <a:lnTo>
                    <a:pt x="6422141" y="1627060"/>
                  </a:lnTo>
                  <a:lnTo>
                    <a:pt x="6408450" y="1645891"/>
                  </a:lnTo>
                  <a:lnTo>
                    <a:pt x="6405133" y="1649234"/>
                  </a:lnTo>
                  <a:lnTo>
                    <a:pt x="6401525" y="1652215"/>
                  </a:lnTo>
                  <a:lnTo>
                    <a:pt x="6397625" y="1654816"/>
                  </a:lnTo>
                  <a:lnTo>
                    <a:pt x="6393724" y="1657426"/>
                  </a:lnTo>
                  <a:lnTo>
                    <a:pt x="6389607" y="1659578"/>
                  </a:lnTo>
                  <a:lnTo>
                    <a:pt x="6385274" y="1661369"/>
                  </a:lnTo>
                  <a:lnTo>
                    <a:pt x="6380940" y="1663226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44099" y="1661369"/>
                  </a:lnTo>
                  <a:lnTo>
                    <a:pt x="39765" y="1659578"/>
                  </a:lnTo>
                  <a:lnTo>
                    <a:pt x="35649" y="1657426"/>
                  </a:lnTo>
                  <a:lnTo>
                    <a:pt x="31749" y="1654816"/>
                  </a:lnTo>
                  <a:lnTo>
                    <a:pt x="27848" y="1652215"/>
                  </a:lnTo>
                  <a:lnTo>
                    <a:pt x="24240" y="1649234"/>
                  </a:lnTo>
                  <a:lnTo>
                    <a:pt x="20923" y="1645891"/>
                  </a:lnTo>
                  <a:lnTo>
                    <a:pt x="17606" y="1642614"/>
                  </a:lnTo>
                  <a:lnTo>
                    <a:pt x="5437" y="1622669"/>
                  </a:lnTo>
                  <a:lnTo>
                    <a:pt x="3642" y="1618354"/>
                  </a:lnTo>
                  <a:lnTo>
                    <a:pt x="2287" y="1613896"/>
                  </a:lnTo>
                  <a:lnTo>
                    <a:pt x="1372" y="1609277"/>
                  </a:lnTo>
                  <a:lnTo>
                    <a:pt x="457" y="1604667"/>
                  </a:lnTo>
                  <a:lnTo>
                    <a:pt x="0" y="1600047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5857830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799" y="7000830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4388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286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799" y="7000830"/>
              <a:ext cx="38100" cy="828675"/>
            </a:xfrm>
            <a:custGeom>
              <a:avLst/>
              <a:gdLst/>
              <a:ahLst/>
              <a:cxnLst/>
              <a:rect l="l" t="t" r="r" b="b"/>
              <a:pathLst>
                <a:path w="38100" h="828675">
                  <a:moveTo>
                    <a:pt x="380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286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8020021"/>
              <a:ext cx="6438899" cy="9334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638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05"/>
                  </a:lnTo>
                  <a:lnTo>
                    <a:pt x="1037043" y="109626"/>
                  </a:lnTo>
                  <a:lnTo>
                    <a:pt x="1012875" y="75336"/>
                  </a:lnTo>
                  <a:lnTo>
                    <a:pt x="981087" y="47993"/>
                  </a:lnTo>
                  <a:lnTo>
                    <a:pt x="943584" y="29070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218"/>
                  </a:lnTo>
                  <a:lnTo>
                    <a:pt x="614514" y="39331"/>
                  </a:lnTo>
                  <a:lnTo>
                    <a:pt x="580199" y="63474"/>
                  </a:lnTo>
                  <a:lnTo>
                    <a:pt x="552780" y="95173"/>
                  </a:lnTo>
                  <a:lnTo>
                    <a:pt x="533895" y="132727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71"/>
                  </a:lnTo>
                  <a:lnTo>
                    <a:pt x="548271" y="278625"/>
                  </a:lnTo>
                  <a:lnTo>
                    <a:pt x="574103" y="311721"/>
                  </a:lnTo>
                  <a:lnTo>
                    <a:pt x="607199" y="337502"/>
                  </a:lnTo>
                  <a:lnTo>
                    <a:pt x="645566" y="354533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68"/>
                  </a:lnTo>
                  <a:lnTo>
                    <a:pt x="966647" y="341655"/>
                  </a:lnTo>
                  <a:lnTo>
                    <a:pt x="1000963" y="317525"/>
                  </a:lnTo>
                  <a:lnTo>
                    <a:pt x="1028382" y="285750"/>
                  </a:lnTo>
                  <a:lnTo>
                    <a:pt x="1047267" y="248234"/>
                  </a:lnTo>
                  <a:lnTo>
                    <a:pt x="1056462" y="207302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3099" y="703800"/>
            <a:ext cx="6451600" cy="6772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13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50" b="1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うつ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病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関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50" b="1" spc="-75" dirty="0">
                <a:solidFill>
                  <a:srgbClr val="333333"/>
                </a:solidFill>
                <a:latin typeface="BIZ UDPゴシック"/>
                <a:cs typeface="BIZ UDPゴシック"/>
              </a:rPr>
              <a:t>セロトニンを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やす</a:t>
            </a:r>
            <a:r>
              <a:rPr sz="1700" b="1" spc="-125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26035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世界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400" i="1" dirty="0">
                <a:solidFill>
                  <a:srgbClr val="333333"/>
                </a:solidFill>
                <a:latin typeface="Comic Sans MS"/>
                <a:cs typeface="Comic Sans MS"/>
              </a:rPr>
              <a:t>1.2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億⼈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苦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しむうつ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病。薬物治療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だけでなく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った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しいアプロ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130" dirty="0">
                <a:solidFill>
                  <a:srgbClr val="333333"/>
                </a:solidFill>
                <a:latin typeface="メイリオ"/>
                <a:cs typeface="メイリオ"/>
              </a:rPr>
              <a:t>チの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、研究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タとともに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探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うつ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病</a:t>
            </a:r>
            <a:r>
              <a:rPr sz="1450" b="1" spc="-30" dirty="0">
                <a:solidFill>
                  <a:srgbClr val="2D5926"/>
                </a:solidFill>
                <a:latin typeface="BIZ UDPゴシック"/>
                <a:cs typeface="BIZ UDPゴシック"/>
              </a:rPr>
              <a:t>とセロトニン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46355">
              <a:lnSpc>
                <a:spcPct val="129600"/>
              </a:lnSpc>
              <a:spcBef>
                <a:spcPts val="880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うつ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原因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つに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セロトニン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不⾜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セロトニンは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幸福感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99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神経伝達物質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不⾜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すると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みや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不安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じやすくなります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有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⽥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秀穂博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⼠</a:t>
            </a:r>
            <a:r>
              <a:rPr sz="1350" b="1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との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共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同</a:t>
            </a:r>
            <a:r>
              <a:rPr sz="1300" b="1" spc="-8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</a:t>
            </a:r>
            <a:endParaRPr sz="13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適⽤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⾎中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セロトニン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濃度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適⽤前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200.01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ng/mL</a:t>
            </a:r>
            <a:endParaRPr sz="1350" dirty="0">
              <a:latin typeface="Comic Sans MS"/>
              <a:cs typeface="Comic Sans MS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直後</a:t>
            </a:r>
            <a:r>
              <a:rPr sz="1300" spc="21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215" dirty="0">
                <a:solidFill>
                  <a:srgbClr val="333333"/>
                </a:solidFill>
                <a:latin typeface="Comic Sans MS"/>
                <a:cs typeface="Comic Sans MS"/>
              </a:rPr>
              <a:t>191.13</a:t>
            </a:r>
            <a:r>
              <a:rPr sz="1350" spc="1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ng/mL</a:t>
            </a:r>
            <a:endParaRPr sz="1350" dirty="0">
              <a:latin typeface="Comic Sans MS"/>
              <a:cs typeface="Comic Sans MS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分後</a:t>
            </a:r>
            <a:r>
              <a:rPr sz="1300" spc="114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14" dirty="0">
                <a:solidFill>
                  <a:srgbClr val="333333"/>
                </a:solidFill>
                <a:latin typeface="Comic Sans MS"/>
                <a:cs typeface="Comic Sans MS"/>
              </a:rPr>
              <a:t>204.47</a:t>
            </a:r>
            <a:r>
              <a:rPr sz="1350" spc="1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ng/mL</a:t>
            </a:r>
            <a:r>
              <a:rPr sz="1350" spc="2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00" spc="390" dirty="0">
                <a:solidFill>
                  <a:srgbClr val="333333"/>
                </a:solidFill>
                <a:latin typeface="Cambria"/>
                <a:cs typeface="Cambria"/>
              </a:rPr>
              <a:t>⬆</a:t>
            </a:r>
            <a:endParaRPr sz="1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 dirty="0">
              <a:latin typeface="Cambria"/>
              <a:cs typeface="Cambria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臨床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での</a:t>
            </a:r>
            <a:r>
              <a:rPr sz="1450" b="1" spc="-110" dirty="0">
                <a:solidFill>
                  <a:srgbClr val="2D5926"/>
                </a:solidFill>
                <a:latin typeface="メイリオ"/>
                <a:cs typeface="メイリオ"/>
              </a:rPr>
              <a:t>実践例</a:t>
            </a:r>
            <a:endParaRPr sz="1450" dirty="0">
              <a:latin typeface="メイリオ"/>
              <a:cs typeface="メイリオ"/>
            </a:endParaRPr>
          </a:p>
          <a:p>
            <a:pPr marL="12700" marR="23495">
              <a:lnSpc>
                <a:spcPct val="134300"/>
              </a:lnSpc>
              <a:spcBef>
                <a:spcPts val="805"/>
              </a:spcBef>
            </a:pP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しのだの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ホスピタルのストレスケア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病棟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分障害患者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62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endParaRPr lang="en-US" sz="1300" spc="-105" dirty="0">
              <a:solidFill>
                <a:srgbClr val="333333"/>
              </a:solidFill>
              <a:latin typeface="メイリオ"/>
              <a:cs typeface="メイリオ"/>
            </a:endParaRPr>
          </a:p>
          <a:p>
            <a:pPr marL="12700" marR="23495">
              <a:lnSpc>
                <a:spcPct val="134300"/>
              </a:lnSpc>
              <a:spcBef>
                <a:spcPts val="805"/>
              </a:spcBef>
            </a:pPr>
            <a:r>
              <a:rPr lang="en-US" sz="1300" spc="-105" dirty="0">
                <a:solidFill>
                  <a:srgbClr val="333333"/>
                </a:solidFill>
                <a:latin typeface="メイリオ"/>
                <a:cs typeface="メイリオ"/>
              </a:rPr>
              <a:t>30</a:t>
            </a:r>
            <a:r>
              <a:rPr lang="en-US" sz="1350" spc="-825" dirty="0">
                <a:solidFill>
                  <a:srgbClr val="333333"/>
                </a:solidFill>
                <a:latin typeface="Comic Sans MS"/>
                <a:cs typeface="メイリオ"/>
              </a:rPr>
              <a:t> 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×4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全項⽬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られました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 marL="193040" marR="162560">
              <a:lnSpc>
                <a:spcPct val="129600"/>
              </a:lnSpc>
            </a:pPr>
            <a:endParaRPr lang="en-US" sz="1200" spc="-185" dirty="0">
              <a:solidFill>
                <a:srgbClr val="333333"/>
              </a:solidFill>
              <a:latin typeface="BIZ UDPゴシック"/>
              <a:ea typeface="メイリオ" panose="020B0604030504040204" pitchFamily="50" charset="-128"/>
              <a:cs typeface="SimSun"/>
            </a:endParaRPr>
          </a:p>
          <a:p>
            <a:pPr marL="193040" marR="162560" algn="l">
              <a:lnSpc>
                <a:spcPct val="129600"/>
              </a:lnSpc>
            </a:pPr>
            <a:r>
              <a:rPr sz="1200" spc="-18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サウンドヒ</a:t>
            </a:r>
            <a:r>
              <a:rPr sz="1200" spc="-6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ー</a:t>
            </a:r>
            <a:r>
              <a:rPr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リング</a:t>
            </a:r>
            <a:r>
              <a:rPr lang="ja-JP" altLang="en-US"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の施術</a:t>
            </a:r>
            <a:r>
              <a:rPr lang="en-US" altLang="ja-JP"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j</a:t>
            </a:r>
            <a:r>
              <a:rPr lang="ja-JP" altLang="en-US"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により、気分障害の方</a:t>
            </a:r>
            <a:r>
              <a:rPr sz="1200" spc="-17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に</a:t>
            </a:r>
            <a:r>
              <a:rPr sz="1200" spc="-11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肯定的</a:t>
            </a:r>
            <a:r>
              <a:rPr sz="1200" spc="-17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な</a:t>
            </a:r>
            <a:r>
              <a:rPr sz="1200" spc="-11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変化</a:t>
            </a:r>
            <a:r>
              <a:rPr sz="1200" spc="-17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が</a:t>
            </a:r>
            <a:r>
              <a:rPr sz="1200" spc="-11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⽣</a:t>
            </a:r>
            <a:r>
              <a:rPr sz="1200" spc="-170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じた</a:t>
            </a:r>
            <a:r>
              <a:rPr lang="ja-JP" altLang="en-US" sz="12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ことがわかりました。</a:t>
            </a:r>
            <a:endParaRPr lang="en-US" altLang="ja-JP" sz="1200" spc="-1095" dirty="0">
              <a:solidFill>
                <a:srgbClr val="333333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SimSun"/>
            </a:endParaRPr>
          </a:p>
          <a:p>
            <a:pPr marL="193040" marR="162560" algn="l">
              <a:lnSpc>
                <a:spcPct val="129600"/>
              </a:lnSpc>
            </a:pP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83</a:t>
            </a:fld>
            <a:r>
              <a:rPr spc="-10" dirty="0"/>
              <a:t>/135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54349" y="8151153"/>
            <a:ext cx="170180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20345" marR="5080" indent="-208279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のケアに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関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する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情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報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を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定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期配信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28"/>
            <a:ext cx="7061834" cy="9347835"/>
            <a:chOff x="352425" y="352428"/>
            <a:chExt cx="7061834" cy="9347835"/>
          </a:xfrm>
        </p:grpSpPr>
        <p:sp>
          <p:nvSpPr>
            <p:cNvPr id="3" name="object 3"/>
            <p:cNvSpPr/>
            <p:nvPr/>
          </p:nvSpPr>
          <p:spPr>
            <a:xfrm>
              <a:off x="376237" y="357146"/>
              <a:ext cx="7037705" cy="9342755"/>
            </a:xfrm>
            <a:custGeom>
              <a:avLst/>
              <a:gdLst/>
              <a:ahLst/>
              <a:cxnLst/>
              <a:rect l="l" t="t" r="r" b="b"/>
              <a:pathLst>
                <a:path w="7037705" h="9342755">
                  <a:moveTo>
                    <a:pt x="7037486" y="9342580"/>
                  </a:moveTo>
                  <a:lnTo>
                    <a:pt x="0" y="9342580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26503" y="31994"/>
                  </a:lnTo>
                  <a:lnTo>
                    <a:pt x="30704" y="26860"/>
                  </a:lnTo>
                  <a:lnTo>
                    <a:pt x="35275" y="22326"/>
                  </a:lnTo>
                  <a:lnTo>
                    <a:pt x="40308" y="18307"/>
                  </a:lnTo>
                  <a:lnTo>
                    <a:pt x="45155" y="14363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06890" y="31994"/>
                  </a:lnTo>
                  <a:lnTo>
                    <a:pt x="7011976" y="37061"/>
                  </a:lnTo>
                  <a:lnTo>
                    <a:pt x="7030635" y="67570"/>
                  </a:lnTo>
                  <a:lnTo>
                    <a:pt x="7033387" y="74190"/>
                  </a:lnTo>
                  <a:lnTo>
                    <a:pt x="7035465" y="81038"/>
                  </a:lnTo>
                  <a:lnTo>
                    <a:pt x="7037486" y="91217"/>
                  </a:lnTo>
                  <a:lnTo>
                    <a:pt x="7037486" y="93425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9347835"/>
            </a:xfrm>
            <a:custGeom>
              <a:avLst/>
              <a:gdLst/>
              <a:ahLst/>
              <a:cxnLst/>
              <a:rect l="l" t="t" r="r" b="b"/>
              <a:pathLst>
                <a:path w="6999605" h="9347835">
                  <a:moveTo>
                    <a:pt x="6999071" y="77355"/>
                  </a:moveTo>
                  <a:lnTo>
                    <a:pt x="6979425" y="41783"/>
                  </a:lnTo>
                  <a:lnTo>
                    <a:pt x="6972262" y="34010"/>
                  </a:lnTo>
                  <a:lnTo>
                    <a:pt x="6971843" y="33477"/>
                  </a:lnTo>
                  <a:lnTo>
                    <a:pt x="6971525" y="33197"/>
                  </a:lnTo>
                  <a:lnTo>
                    <a:pt x="6971347" y="32994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4794" y="39928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9347263"/>
                  </a:lnTo>
                  <a:lnTo>
                    <a:pt x="6999071" y="934726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0"/>
              <a:ext cx="88900" cy="9335135"/>
            </a:xfrm>
            <a:custGeom>
              <a:avLst/>
              <a:gdLst/>
              <a:ahLst/>
              <a:cxnLst/>
              <a:rect l="l" t="t" r="r" b="b"/>
              <a:pathLst>
                <a:path w="88900" h="9335135">
                  <a:moveTo>
                    <a:pt x="47664" y="9334805"/>
                  </a:moveTo>
                  <a:lnTo>
                    <a:pt x="0" y="9334804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64" y="9334805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30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5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55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3995692"/>
              <a:ext cx="6429375" cy="3038475"/>
            </a:xfrm>
            <a:custGeom>
              <a:avLst/>
              <a:gdLst/>
              <a:ahLst/>
              <a:cxnLst/>
              <a:rect l="l" t="t" r="r" b="b"/>
              <a:pathLst>
                <a:path w="6429375" h="3038475">
                  <a:moveTo>
                    <a:pt x="6362626" y="3038474"/>
                  </a:moveTo>
                  <a:lnTo>
                    <a:pt x="66746" y="3038474"/>
                  </a:lnTo>
                  <a:lnTo>
                    <a:pt x="62101" y="3038027"/>
                  </a:lnTo>
                  <a:lnTo>
                    <a:pt x="24240" y="3020834"/>
                  </a:lnTo>
                  <a:lnTo>
                    <a:pt x="2287" y="2985496"/>
                  </a:lnTo>
                  <a:lnTo>
                    <a:pt x="0" y="2971647"/>
                  </a:lnTo>
                  <a:lnTo>
                    <a:pt x="0" y="2967037"/>
                  </a:lnTo>
                  <a:lnTo>
                    <a:pt x="0" y="66674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2971647"/>
                  </a:lnTo>
                  <a:lnTo>
                    <a:pt x="6414728" y="3010499"/>
                  </a:lnTo>
                  <a:lnTo>
                    <a:pt x="6380940" y="3034683"/>
                  </a:lnTo>
                  <a:lnTo>
                    <a:pt x="6367272" y="3038027"/>
                  </a:lnTo>
                  <a:lnTo>
                    <a:pt x="6362626" y="3038474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3995692"/>
              <a:ext cx="6429375" cy="3038475"/>
            </a:xfrm>
            <a:custGeom>
              <a:avLst/>
              <a:gdLst/>
              <a:ahLst/>
              <a:cxnLst/>
              <a:rect l="l" t="t" r="r" b="b"/>
              <a:pathLst>
                <a:path w="6429375" h="3038475">
                  <a:moveTo>
                    <a:pt x="0" y="296703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372" y="57369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9374" y="71437"/>
                  </a:lnTo>
                  <a:lnTo>
                    <a:pt x="6429374" y="2967037"/>
                  </a:lnTo>
                  <a:lnTo>
                    <a:pt x="6429373" y="2971647"/>
                  </a:lnTo>
                  <a:lnTo>
                    <a:pt x="6428916" y="2976266"/>
                  </a:lnTo>
                  <a:lnTo>
                    <a:pt x="6428001" y="2980877"/>
                  </a:lnTo>
                  <a:lnTo>
                    <a:pt x="6427086" y="2985496"/>
                  </a:lnTo>
                  <a:lnTo>
                    <a:pt x="6425731" y="2989954"/>
                  </a:lnTo>
                  <a:lnTo>
                    <a:pt x="6423936" y="2994269"/>
                  </a:lnTo>
                  <a:lnTo>
                    <a:pt x="6422141" y="2998593"/>
                  </a:lnTo>
                  <a:lnTo>
                    <a:pt x="6393724" y="3028949"/>
                  </a:lnTo>
                  <a:lnTo>
                    <a:pt x="6385274" y="3032893"/>
                  </a:lnTo>
                  <a:lnTo>
                    <a:pt x="6380940" y="3034683"/>
                  </a:lnTo>
                  <a:lnTo>
                    <a:pt x="6376473" y="3036093"/>
                  </a:lnTo>
                  <a:lnTo>
                    <a:pt x="6371872" y="3037065"/>
                  </a:lnTo>
                  <a:lnTo>
                    <a:pt x="6367272" y="3038027"/>
                  </a:lnTo>
                  <a:lnTo>
                    <a:pt x="6362626" y="3038474"/>
                  </a:lnTo>
                  <a:lnTo>
                    <a:pt x="6357937" y="3038474"/>
                  </a:lnTo>
                  <a:lnTo>
                    <a:pt x="71437" y="3038474"/>
                  </a:lnTo>
                  <a:lnTo>
                    <a:pt x="66746" y="3038474"/>
                  </a:lnTo>
                  <a:lnTo>
                    <a:pt x="62101" y="3038027"/>
                  </a:lnTo>
                  <a:lnTo>
                    <a:pt x="57500" y="3037065"/>
                  </a:lnTo>
                  <a:lnTo>
                    <a:pt x="52900" y="3036093"/>
                  </a:lnTo>
                  <a:lnTo>
                    <a:pt x="48433" y="3034683"/>
                  </a:lnTo>
                  <a:lnTo>
                    <a:pt x="44099" y="3032893"/>
                  </a:lnTo>
                  <a:lnTo>
                    <a:pt x="39765" y="3031111"/>
                  </a:lnTo>
                  <a:lnTo>
                    <a:pt x="35649" y="3028873"/>
                  </a:lnTo>
                  <a:lnTo>
                    <a:pt x="31749" y="3026273"/>
                  </a:lnTo>
                  <a:lnTo>
                    <a:pt x="27848" y="3023739"/>
                  </a:lnTo>
                  <a:lnTo>
                    <a:pt x="5437" y="2994269"/>
                  </a:lnTo>
                  <a:lnTo>
                    <a:pt x="3642" y="2989954"/>
                  </a:lnTo>
                  <a:lnTo>
                    <a:pt x="2287" y="2985496"/>
                  </a:lnTo>
                  <a:lnTo>
                    <a:pt x="1372" y="2980877"/>
                  </a:lnTo>
                  <a:lnTo>
                    <a:pt x="457" y="2976266"/>
                  </a:lnTo>
                  <a:lnTo>
                    <a:pt x="0" y="2971647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7229430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62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307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67"/>
                  </a:lnTo>
                  <a:lnTo>
                    <a:pt x="1037043" y="109575"/>
                  </a:lnTo>
                  <a:lnTo>
                    <a:pt x="1012875" y="75311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98"/>
                  </a:lnTo>
                  <a:lnTo>
                    <a:pt x="552780" y="95173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388"/>
                  </a:lnTo>
                  <a:lnTo>
                    <a:pt x="645566" y="354469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15"/>
                  </a:lnTo>
                  <a:lnTo>
                    <a:pt x="1000963" y="317449"/>
                  </a:lnTo>
                  <a:lnTo>
                    <a:pt x="1028382" y="285673"/>
                  </a:lnTo>
                  <a:lnTo>
                    <a:pt x="1047267" y="248183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21755" cy="77063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14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植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物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も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反応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する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驚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くべき</a:t>
            </a:r>
            <a:r>
              <a:rPr sz="1700" b="1" spc="-135" dirty="0">
                <a:solidFill>
                  <a:srgbClr val="333333"/>
                </a:solidFill>
                <a:latin typeface="メイリオ"/>
                <a:cs typeface="メイリオ"/>
              </a:rPr>
              <a:t>効果実験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17589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⼈間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だけに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くのではありません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った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400" i="1" spc="-27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、植物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劇的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400" i="1" spc="-130" dirty="0">
                <a:solidFill>
                  <a:srgbClr val="333333"/>
                </a:solidFill>
                <a:latin typeface="メイリオ"/>
                <a:cs typeface="メイリオ"/>
              </a:rPr>
              <a:t>があ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ることが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されました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実験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概要</a:t>
            </a:r>
            <a:endParaRPr sz="1450">
              <a:latin typeface="メイリオ"/>
              <a:cs typeface="メイリオ"/>
            </a:endParaRPr>
          </a:p>
          <a:p>
            <a:pPr marL="12700" marR="52705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条件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部屋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つ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⽤意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⽚⽅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だけに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屋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久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けました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両⽅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部屋</a:t>
            </a:r>
            <a:r>
              <a:rPr sz="1350" spc="-62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しました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400" b="1" spc="-10" dirty="0">
                <a:solidFill>
                  <a:srgbClr val="333333"/>
                </a:solidFill>
                <a:latin typeface="Comic Sans MS"/>
                <a:cs typeface="Comic Sans MS"/>
              </a:rPr>
              <a:t>33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後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結</a:t>
            </a:r>
            <a:r>
              <a:rPr sz="1300" b="1" spc="-5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4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あり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きとしている</a:t>
            </a:r>
            <a:endParaRPr sz="135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新芽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成⻑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透明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なまま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2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なし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枯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れている</a:t>
            </a:r>
            <a:endParaRPr sz="135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茎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めている</a:t>
            </a:r>
            <a:endParaRPr sz="135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茶⾊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濁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植物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に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効</a:t>
            </a:r>
            <a:r>
              <a:rPr sz="1450" b="1" spc="-65" dirty="0">
                <a:solidFill>
                  <a:srgbClr val="2D5926"/>
                </a:solidFill>
                <a:latin typeface="BIZ UDPゴシック"/>
                <a:cs typeface="BIZ UDPゴシック"/>
              </a:rPr>
              <a:t>くのか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31900"/>
              </a:lnSpc>
              <a:spcBef>
                <a:spcPts val="84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聞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くことで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そのものの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植物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にとっていい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350" spc="-99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分析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構造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影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えているのかもしれ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ません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84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52"/>
            <a:ext cx="7063105" cy="1229360"/>
            <a:chOff x="352425" y="352352"/>
            <a:chExt cx="7063105" cy="1229360"/>
          </a:xfrm>
        </p:grpSpPr>
        <p:sp>
          <p:nvSpPr>
            <p:cNvPr id="3" name="object 3"/>
            <p:cNvSpPr/>
            <p:nvPr/>
          </p:nvSpPr>
          <p:spPr>
            <a:xfrm>
              <a:off x="376237" y="352380"/>
              <a:ext cx="7038975" cy="1224280"/>
            </a:xfrm>
            <a:custGeom>
              <a:avLst/>
              <a:gdLst/>
              <a:ahLst/>
              <a:cxnLst/>
              <a:rect l="l" t="t" r="r" b="b"/>
              <a:pathLst>
                <a:path w="7038975" h="1224280">
                  <a:moveTo>
                    <a:pt x="6936628" y="1223886"/>
                  </a:moveTo>
                  <a:lnTo>
                    <a:pt x="84545" y="1223886"/>
                  </a:lnTo>
                  <a:lnTo>
                    <a:pt x="78661" y="1223143"/>
                  </a:lnTo>
                  <a:lnTo>
                    <a:pt x="35275" y="1201416"/>
                  </a:lnTo>
                  <a:lnTo>
                    <a:pt x="11948" y="1169117"/>
                  </a:lnTo>
                  <a:lnTo>
                    <a:pt x="579" y="1128636"/>
                  </a:lnTo>
                  <a:lnTo>
                    <a:pt x="0" y="1121568"/>
                  </a:lnTo>
                  <a:lnTo>
                    <a:pt x="0" y="1114424"/>
                  </a:lnTo>
                  <a:lnTo>
                    <a:pt x="0" y="0"/>
                  </a:lnTo>
                  <a:lnTo>
                    <a:pt x="7038974" y="0"/>
                  </a:lnTo>
                  <a:lnTo>
                    <a:pt x="7038973" y="1121568"/>
                  </a:lnTo>
                  <a:lnTo>
                    <a:pt x="7027882" y="1162869"/>
                  </a:lnTo>
                  <a:lnTo>
                    <a:pt x="7001805" y="1196873"/>
                  </a:lnTo>
                  <a:lnTo>
                    <a:pt x="6964709" y="1218228"/>
                  </a:lnTo>
                  <a:lnTo>
                    <a:pt x="6943752" y="1223143"/>
                  </a:lnTo>
                  <a:lnTo>
                    <a:pt x="6936628" y="1223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61"/>
              <a:ext cx="6999605" cy="1229360"/>
            </a:xfrm>
            <a:custGeom>
              <a:avLst/>
              <a:gdLst/>
              <a:ahLst/>
              <a:cxnLst/>
              <a:rect l="l" t="t" r="r" b="b"/>
              <a:pathLst>
                <a:path w="6999605" h="1229360">
                  <a:moveTo>
                    <a:pt x="6999071" y="0"/>
                  </a:moveTo>
                  <a:lnTo>
                    <a:pt x="6995795" y="0"/>
                  </a:lnTo>
                  <a:lnTo>
                    <a:pt x="6995795" y="1114463"/>
                  </a:lnTo>
                  <a:lnTo>
                    <a:pt x="6995300" y="1124788"/>
                  </a:lnTo>
                  <a:lnTo>
                    <a:pt x="6983412" y="1163904"/>
                  </a:lnTo>
                  <a:lnTo>
                    <a:pt x="6964616" y="1189012"/>
                  </a:lnTo>
                  <a:lnTo>
                    <a:pt x="6931126" y="1211300"/>
                  </a:lnTo>
                  <a:lnTo>
                    <a:pt x="6891020" y="1219276"/>
                  </a:lnTo>
                  <a:lnTo>
                    <a:pt x="52082" y="1219276"/>
                  </a:lnTo>
                  <a:lnTo>
                    <a:pt x="26085" y="1210945"/>
                  </a:lnTo>
                  <a:lnTo>
                    <a:pt x="0" y="1216164"/>
                  </a:lnTo>
                  <a:lnTo>
                    <a:pt x="40817" y="1228255"/>
                  </a:lnTo>
                  <a:lnTo>
                    <a:pt x="52082" y="1228801"/>
                  </a:lnTo>
                  <a:lnTo>
                    <a:pt x="6891020" y="1228801"/>
                  </a:lnTo>
                  <a:lnTo>
                    <a:pt x="6934771" y="1220101"/>
                  </a:lnTo>
                  <a:lnTo>
                    <a:pt x="6936511" y="1219276"/>
                  </a:lnTo>
                  <a:lnTo>
                    <a:pt x="6944957" y="1215288"/>
                  </a:lnTo>
                  <a:lnTo>
                    <a:pt x="6954545" y="1209548"/>
                  </a:lnTo>
                  <a:lnTo>
                    <a:pt x="6963499" y="1202893"/>
                  </a:lnTo>
                  <a:lnTo>
                    <a:pt x="6971843" y="1195324"/>
                  </a:lnTo>
                  <a:lnTo>
                    <a:pt x="6972300" y="1194816"/>
                  </a:lnTo>
                  <a:lnTo>
                    <a:pt x="6979425" y="1186942"/>
                  </a:lnTo>
                  <a:lnTo>
                    <a:pt x="6986079" y="1177975"/>
                  </a:lnTo>
                  <a:lnTo>
                    <a:pt x="6991807" y="1168400"/>
                  </a:lnTo>
                  <a:lnTo>
                    <a:pt x="6996620" y="1158201"/>
                  </a:lnTo>
                  <a:lnTo>
                    <a:pt x="6999071" y="1151382"/>
                  </a:lnTo>
                  <a:lnTo>
                    <a:pt x="699907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52352"/>
              <a:ext cx="88900" cy="1216660"/>
            </a:xfrm>
            <a:custGeom>
              <a:avLst/>
              <a:gdLst/>
              <a:ahLst/>
              <a:cxnLst/>
              <a:rect l="l" t="t" r="r" b="b"/>
              <a:pathLst>
                <a:path w="88900" h="1216660">
                  <a:moveTo>
                    <a:pt x="62522" y="1216276"/>
                  </a:moveTo>
                  <a:lnTo>
                    <a:pt x="25900" y="1186945"/>
                  </a:lnTo>
                  <a:lnTo>
                    <a:pt x="4894" y="1147599"/>
                  </a:lnTo>
                  <a:lnTo>
                    <a:pt x="0" y="1114469"/>
                  </a:lnTo>
                  <a:lnTo>
                    <a:pt x="0" y="0"/>
                  </a:lnTo>
                  <a:lnTo>
                    <a:pt x="47625" y="0"/>
                  </a:lnTo>
                  <a:lnTo>
                    <a:pt x="47625" y="1114469"/>
                  </a:lnTo>
                  <a:lnTo>
                    <a:pt x="47942" y="1124791"/>
                  </a:lnTo>
                  <a:lnTo>
                    <a:pt x="55506" y="1163910"/>
                  </a:lnTo>
                  <a:lnTo>
                    <a:pt x="77250" y="1201603"/>
                  </a:lnTo>
                  <a:lnTo>
                    <a:pt x="88528" y="1211079"/>
                  </a:lnTo>
                  <a:lnTo>
                    <a:pt x="62522" y="121627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352397"/>
              <a:ext cx="6438899" cy="933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132782" y="483528"/>
            <a:ext cx="15449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2240" marR="5080" indent="-1301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実験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詳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細</a:t>
            </a:r>
            <a:r>
              <a:rPr sz="1350" spc="-190" dirty="0">
                <a:solidFill>
                  <a:srgbClr val="FFFFFF"/>
                </a:solidFill>
                <a:latin typeface="SimSun"/>
                <a:cs typeface="SimSun"/>
              </a:rPr>
              <a:t>レポ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45" dirty="0">
                <a:solidFill>
                  <a:srgbClr val="FFFFFF"/>
                </a:solidFill>
                <a:latin typeface="SimSun"/>
                <a:cs typeface="SimSun"/>
              </a:rPr>
              <a:t>トを</a:t>
            </a:r>
            <a:r>
              <a:rPr sz="1350" spc="-12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85</a:t>
            </a:fld>
            <a:r>
              <a:rPr spc="-10" dirty="0"/>
              <a:t>/135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0"/>
            <a:ext cx="7063105" cy="8686800"/>
            <a:chOff x="352425" y="352430"/>
            <a:chExt cx="7063105" cy="8686800"/>
          </a:xfrm>
        </p:grpSpPr>
        <p:sp>
          <p:nvSpPr>
            <p:cNvPr id="3" name="object 3"/>
            <p:cNvSpPr/>
            <p:nvPr/>
          </p:nvSpPr>
          <p:spPr>
            <a:xfrm>
              <a:off x="376237" y="357142"/>
              <a:ext cx="7038975" cy="8677275"/>
            </a:xfrm>
            <a:custGeom>
              <a:avLst/>
              <a:gdLst/>
              <a:ahLst/>
              <a:cxnLst/>
              <a:rect l="l" t="t" r="r" b="b"/>
              <a:pathLst>
                <a:path w="7038975" h="8677275">
                  <a:moveTo>
                    <a:pt x="6936628" y="8677198"/>
                  </a:moveTo>
                  <a:lnTo>
                    <a:pt x="84545" y="8677198"/>
                  </a:lnTo>
                  <a:lnTo>
                    <a:pt x="78661" y="8676531"/>
                  </a:lnTo>
                  <a:lnTo>
                    <a:pt x="35275" y="8654728"/>
                  </a:lnTo>
                  <a:lnTo>
                    <a:pt x="11948" y="8622581"/>
                  </a:lnTo>
                  <a:lnTo>
                    <a:pt x="579" y="8582024"/>
                  </a:lnTo>
                  <a:lnTo>
                    <a:pt x="0" y="8574956"/>
                  </a:lnTo>
                  <a:lnTo>
                    <a:pt x="0" y="85677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574956"/>
                  </a:lnTo>
                  <a:lnTo>
                    <a:pt x="7027882" y="8616257"/>
                  </a:lnTo>
                  <a:lnTo>
                    <a:pt x="7001805" y="8650185"/>
                  </a:lnTo>
                  <a:lnTo>
                    <a:pt x="6964709" y="8671616"/>
                  </a:lnTo>
                  <a:lnTo>
                    <a:pt x="6943752" y="8676531"/>
                  </a:lnTo>
                  <a:lnTo>
                    <a:pt x="6936628" y="86771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8686800"/>
            </a:xfrm>
            <a:custGeom>
              <a:avLst/>
              <a:gdLst/>
              <a:ahLst/>
              <a:cxnLst/>
              <a:rect l="l" t="t" r="r" b="b"/>
              <a:pathLst>
                <a:path w="6999605" h="8686800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572462"/>
                  </a:lnTo>
                  <a:lnTo>
                    <a:pt x="6987819" y="8612556"/>
                  </a:lnTo>
                  <a:lnTo>
                    <a:pt x="6965112" y="8646554"/>
                  </a:lnTo>
                  <a:lnTo>
                    <a:pt x="6957466" y="8653526"/>
                  </a:lnTo>
                  <a:lnTo>
                    <a:pt x="6921398" y="8672779"/>
                  </a:lnTo>
                  <a:lnTo>
                    <a:pt x="6891020" y="8677275"/>
                  </a:lnTo>
                  <a:lnTo>
                    <a:pt x="52082" y="8677275"/>
                  </a:lnTo>
                  <a:lnTo>
                    <a:pt x="26085" y="8668944"/>
                  </a:lnTo>
                  <a:lnTo>
                    <a:pt x="0" y="8674163"/>
                  </a:lnTo>
                  <a:lnTo>
                    <a:pt x="40817" y="8686254"/>
                  </a:lnTo>
                  <a:lnTo>
                    <a:pt x="52082" y="8686800"/>
                  </a:lnTo>
                  <a:lnTo>
                    <a:pt x="6891020" y="8686800"/>
                  </a:lnTo>
                  <a:lnTo>
                    <a:pt x="6934771" y="8678100"/>
                  </a:lnTo>
                  <a:lnTo>
                    <a:pt x="6936511" y="8677275"/>
                  </a:lnTo>
                  <a:lnTo>
                    <a:pt x="6944957" y="8673287"/>
                  </a:lnTo>
                  <a:lnTo>
                    <a:pt x="6954545" y="8667547"/>
                  </a:lnTo>
                  <a:lnTo>
                    <a:pt x="6963499" y="8660892"/>
                  </a:lnTo>
                  <a:lnTo>
                    <a:pt x="6971843" y="8653323"/>
                  </a:lnTo>
                  <a:lnTo>
                    <a:pt x="6972300" y="8652815"/>
                  </a:lnTo>
                  <a:lnTo>
                    <a:pt x="6979425" y="8644941"/>
                  </a:lnTo>
                  <a:lnTo>
                    <a:pt x="6986079" y="8635975"/>
                  </a:lnTo>
                  <a:lnTo>
                    <a:pt x="6991807" y="8626399"/>
                  </a:lnTo>
                  <a:lnTo>
                    <a:pt x="6996620" y="8616201"/>
                  </a:lnTo>
                  <a:lnTo>
                    <a:pt x="6999071" y="8609381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2"/>
              <a:ext cx="88900" cy="8662035"/>
            </a:xfrm>
            <a:custGeom>
              <a:avLst/>
              <a:gdLst/>
              <a:ahLst/>
              <a:cxnLst/>
              <a:rect l="l" t="t" r="r" b="b"/>
              <a:pathLst>
                <a:path w="88900" h="8662035">
                  <a:moveTo>
                    <a:pt x="62523" y="8661811"/>
                  </a:moveTo>
                  <a:lnTo>
                    <a:pt x="25900" y="8632481"/>
                  </a:lnTo>
                  <a:lnTo>
                    <a:pt x="4894" y="8593134"/>
                  </a:lnTo>
                  <a:lnTo>
                    <a:pt x="0" y="85600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560005"/>
                  </a:lnTo>
                  <a:lnTo>
                    <a:pt x="52700" y="8600100"/>
                  </a:lnTo>
                  <a:lnTo>
                    <a:pt x="72022" y="8641037"/>
                  </a:lnTo>
                  <a:lnTo>
                    <a:pt x="88529" y="8656615"/>
                  </a:lnTo>
                  <a:lnTo>
                    <a:pt x="62523" y="866181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4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76"/>
                  </a:lnTo>
                  <a:lnTo>
                    <a:pt x="29705" y="822569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510"/>
                  </a:lnTo>
                  <a:lnTo>
                    <a:pt x="6387236" y="834332"/>
                  </a:lnTo>
                  <a:lnTo>
                    <a:pt x="6372658" y="837676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54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3995691"/>
              <a:ext cx="6429375" cy="2495550"/>
            </a:xfrm>
            <a:custGeom>
              <a:avLst/>
              <a:gdLst/>
              <a:ahLst/>
              <a:cxnLst/>
              <a:rect l="l" t="t" r="r" b="b"/>
              <a:pathLst>
                <a:path w="6429375" h="2495550">
                  <a:moveTo>
                    <a:pt x="6362626" y="2495473"/>
                  </a:moveTo>
                  <a:lnTo>
                    <a:pt x="66746" y="2495473"/>
                  </a:lnTo>
                  <a:lnTo>
                    <a:pt x="62101" y="2495025"/>
                  </a:lnTo>
                  <a:lnTo>
                    <a:pt x="24240" y="2477909"/>
                  </a:lnTo>
                  <a:lnTo>
                    <a:pt x="2287" y="2442495"/>
                  </a:lnTo>
                  <a:lnTo>
                    <a:pt x="0" y="2428798"/>
                  </a:lnTo>
                  <a:lnTo>
                    <a:pt x="0" y="2424112"/>
                  </a:lnTo>
                  <a:lnTo>
                    <a:pt x="0" y="66751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658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2428798"/>
                  </a:lnTo>
                  <a:lnTo>
                    <a:pt x="6414728" y="2467717"/>
                  </a:lnTo>
                  <a:lnTo>
                    <a:pt x="6380940" y="2491825"/>
                  </a:lnTo>
                  <a:lnTo>
                    <a:pt x="6367272" y="2495025"/>
                  </a:lnTo>
                  <a:lnTo>
                    <a:pt x="6362626" y="2495473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3995691"/>
              <a:ext cx="6429375" cy="2495550"/>
            </a:xfrm>
            <a:custGeom>
              <a:avLst/>
              <a:gdLst/>
              <a:ahLst/>
              <a:cxnLst/>
              <a:rect l="l" t="t" r="r" b="b"/>
              <a:pathLst>
                <a:path w="6429375" h="2495550">
                  <a:moveTo>
                    <a:pt x="0" y="242411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835"/>
                  </a:lnTo>
                  <a:lnTo>
                    <a:pt x="3642" y="48367"/>
                  </a:lnTo>
                  <a:lnTo>
                    <a:pt x="5437" y="44053"/>
                  </a:lnTo>
                  <a:lnTo>
                    <a:pt x="7232" y="39662"/>
                  </a:lnTo>
                  <a:lnTo>
                    <a:pt x="9433" y="35566"/>
                  </a:lnTo>
                  <a:lnTo>
                    <a:pt x="12039" y="31699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411767" y="24183"/>
                  </a:lnTo>
                  <a:lnTo>
                    <a:pt x="6417334" y="31699"/>
                  </a:lnTo>
                  <a:lnTo>
                    <a:pt x="6419940" y="35566"/>
                  </a:lnTo>
                  <a:lnTo>
                    <a:pt x="6422141" y="39662"/>
                  </a:lnTo>
                  <a:lnTo>
                    <a:pt x="6423936" y="44053"/>
                  </a:lnTo>
                  <a:lnTo>
                    <a:pt x="6425731" y="48367"/>
                  </a:lnTo>
                  <a:lnTo>
                    <a:pt x="6429374" y="71437"/>
                  </a:lnTo>
                  <a:lnTo>
                    <a:pt x="6429374" y="2424112"/>
                  </a:lnTo>
                  <a:lnTo>
                    <a:pt x="6429373" y="2428798"/>
                  </a:lnTo>
                  <a:lnTo>
                    <a:pt x="6428916" y="2433342"/>
                  </a:lnTo>
                  <a:lnTo>
                    <a:pt x="6428001" y="2437875"/>
                  </a:lnTo>
                  <a:lnTo>
                    <a:pt x="6427086" y="2442495"/>
                  </a:lnTo>
                  <a:lnTo>
                    <a:pt x="6408450" y="2474566"/>
                  </a:lnTo>
                  <a:lnTo>
                    <a:pt x="6405133" y="2477909"/>
                  </a:lnTo>
                  <a:lnTo>
                    <a:pt x="6367272" y="2495025"/>
                  </a:lnTo>
                  <a:lnTo>
                    <a:pt x="6357937" y="2495549"/>
                  </a:lnTo>
                  <a:lnTo>
                    <a:pt x="71437" y="2495549"/>
                  </a:lnTo>
                  <a:lnTo>
                    <a:pt x="31749" y="2483424"/>
                  </a:lnTo>
                  <a:lnTo>
                    <a:pt x="20923" y="2474566"/>
                  </a:lnTo>
                  <a:lnTo>
                    <a:pt x="17606" y="2471289"/>
                  </a:lnTo>
                  <a:lnTo>
                    <a:pt x="1372" y="2437875"/>
                  </a:lnTo>
                  <a:lnTo>
                    <a:pt x="457" y="2433342"/>
                  </a:lnTo>
                  <a:lnTo>
                    <a:pt x="0" y="2428798"/>
                  </a:lnTo>
                  <a:lnTo>
                    <a:pt x="0" y="242411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686504"/>
              <a:ext cx="28575" cy="295275"/>
            </a:xfrm>
            <a:custGeom>
              <a:avLst/>
              <a:gdLst/>
              <a:ahLst/>
              <a:cxnLst/>
              <a:rect l="l" t="t" r="r" b="b"/>
              <a:pathLst>
                <a:path w="28575" h="295275">
                  <a:moveTo>
                    <a:pt x="2857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52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819998"/>
              <a:ext cx="6438899" cy="9239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485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6974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31"/>
                  </a:lnTo>
                  <a:lnTo>
                    <a:pt x="1037043" y="109626"/>
                  </a:lnTo>
                  <a:lnTo>
                    <a:pt x="1012875" y="75298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37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17"/>
                  </a:lnTo>
                  <a:lnTo>
                    <a:pt x="614514" y="39192"/>
                  </a:lnTo>
                  <a:lnTo>
                    <a:pt x="580199" y="63398"/>
                  </a:lnTo>
                  <a:lnTo>
                    <a:pt x="552780" y="95173"/>
                  </a:lnTo>
                  <a:lnTo>
                    <a:pt x="533895" y="132727"/>
                  </a:lnTo>
                  <a:lnTo>
                    <a:pt x="524700" y="173710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58"/>
                  </a:lnTo>
                  <a:lnTo>
                    <a:pt x="548271" y="278599"/>
                  </a:lnTo>
                  <a:lnTo>
                    <a:pt x="574103" y="311721"/>
                  </a:lnTo>
                  <a:lnTo>
                    <a:pt x="607199" y="337502"/>
                  </a:lnTo>
                  <a:lnTo>
                    <a:pt x="645566" y="354482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655"/>
                  </a:lnTo>
                  <a:lnTo>
                    <a:pt x="1000963" y="317525"/>
                  </a:lnTo>
                  <a:lnTo>
                    <a:pt x="1028382" y="285673"/>
                  </a:lnTo>
                  <a:lnTo>
                    <a:pt x="1047267" y="248234"/>
                  </a:lnTo>
                  <a:lnTo>
                    <a:pt x="1056462" y="207289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453505" cy="6887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15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胎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教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750" b="1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ちゃんは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何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750" b="1" spc="-185" dirty="0">
                <a:solidFill>
                  <a:srgbClr val="333333"/>
                </a:solidFill>
                <a:latin typeface="BIZ UDPゴシック"/>
                <a:cs typeface="BIZ UDPゴシック"/>
              </a:rPr>
              <a:t>いているのか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15113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胎児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受胎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400" i="1" spc="-7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ヵ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⽉半頃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めます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さんの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⾳、声、外界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胎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教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における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役割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胎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児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の聴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覚発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達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胎児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妊娠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ヶ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⽉頃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発達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めます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最初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くのは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335" dirty="0">
                <a:solidFill>
                  <a:srgbClr val="333333"/>
                </a:solidFill>
                <a:latin typeface="メイリオ"/>
                <a:cs typeface="メイリオ"/>
              </a:rPr>
              <a:t>⿎動</a:t>
            </a:r>
            <a:r>
              <a:rPr sz="1300" spc="585" dirty="0">
                <a:solidFill>
                  <a:srgbClr val="333333"/>
                </a:solidFill>
                <a:latin typeface="BIZ UDPゴシック"/>
                <a:cs typeface="BIZ UDPゴシック"/>
              </a:rPr>
              <a:t>。 </a:t>
            </a: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72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拍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のリズムを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体全体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じています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新⽣児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実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験</a:t>
            </a:r>
            <a:r>
              <a:rPr sz="1300" b="1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b="1" dirty="0">
                <a:solidFill>
                  <a:srgbClr val="333333"/>
                </a:solidFill>
                <a:latin typeface="BIZ UDPゴシック"/>
                <a:cs typeface="BIZ UDPゴシック"/>
              </a:rPr>
              <a:t>リ</a:t>
            </a:r>
            <a:r>
              <a:rPr sz="1300" b="1" spc="335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3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ソ</a:t>
            </a:r>
            <a:r>
              <a:rPr sz="1300" b="1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90" dirty="0">
                <a:solidFill>
                  <a:srgbClr val="333333"/>
                </a:solidFill>
                <a:latin typeface="BIZ UDPゴシック"/>
                <a:cs typeface="BIZ UDPゴシック"/>
              </a:rPr>
              <a:t>ルク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博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⼠</a:t>
            </a:r>
            <a:r>
              <a:rPr sz="1300" b="1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⼼⾳</a:t>
            </a:r>
            <a:r>
              <a:rPr sz="1300" spc="33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335" dirty="0">
                <a:solidFill>
                  <a:srgbClr val="333333"/>
                </a:solidFill>
                <a:latin typeface="Comic Sans MS"/>
                <a:cs typeface="Comic Sans MS"/>
              </a:rPr>
              <a:t>72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拍</a:t>
            </a:r>
            <a:r>
              <a:rPr sz="1350" spc="-130" dirty="0">
                <a:solidFill>
                  <a:srgbClr val="333333"/>
                </a:solidFill>
                <a:latin typeface="Comic Sans MS"/>
                <a:cs typeface="Comic Sans MS"/>
              </a:rPr>
              <a:t>/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かせた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新⽣児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spc="-150" dirty="0">
                <a:solidFill>
                  <a:srgbClr val="333333"/>
                </a:solidFill>
                <a:latin typeface="SimSun"/>
                <a:cs typeface="SimSun"/>
              </a:rPr>
              <a:t>がやすらぐ</a:t>
            </a:r>
            <a:endParaRPr sz="135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泣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いている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少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ない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2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不安定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⼼⾳</a:t>
            </a:r>
            <a:r>
              <a:rPr sz="1300" spc="29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95" dirty="0">
                <a:solidFill>
                  <a:srgbClr val="333333"/>
                </a:solidFill>
                <a:latin typeface="Comic Sans MS"/>
                <a:cs typeface="Comic Sans MS"/>
              </a:rPr>
              <a:t>128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拍</a:t>
            </a:r>
            <a:r>
              <a:rPr sz="1350" spc="-130" dirty="0">
                <a:solidFill>
                  <a:srgbClr val="333333"/>
                </a:solidFill>
                <a:latin typeface="Comic Sans MS"/>
                <a:cs typeface="Comic Sans MS"/>
              </a:rPr>
              <a:t>/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かせた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新⽣児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れない</a:t>
            </a:r>
            <a:endParaRPr sz="135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ける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活⽤</a:t>
            </a:r>
            <a:endParaRPr sz="1450">
              <a:latin typeface="メイリオ"/>
              <a:cs typeface="メイリオ"/>
            </a:endParaRPr>
          </a:p>
          <a:p>
            <a:pPr marL="12700" marR="31750">
              <a:lnSpc>
                <a:spcPct val="134300"/>
              </a:lnSpc>
              <a:spcBef>
                <a:spcPts val="73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低周波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含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む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ちゃんの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かしい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憶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50" spc="-1040" dirty="0">
                <a:solidFill>
                  <a:srgbClr val="333333"/>
                </a:solidFill>
                <a:latin typeface="SimSun"/>
                <a:cs typeface="SimSun"/>
              </a:rPr>
              <a:t>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す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寝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かしつけや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対策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効果的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86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12516" y="7951128"/>
            <a:ext cx="198564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62585" marR="5080" indent="-350520">
              <a:lnSpc>
                <a:spcPct val="134300"/>
              </a:lnSpc>
              <a:spcBef>
                <a:spcPts val="60"/>
              </a:spcBef>
            </a:pPr>
            <a:r>
              <a:rPr sz="1350" spc="-204" dirty="0">
                <a:solidFill>
                  <a:srgbClr val="FFFFFF"/>
                </a:solidFill>
                <a:latin typeface="SimSun"/>
                <a:cs typeface="SimSun"/>
              </a:rPr>
              <a:t>マタニティ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向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け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⾳源</a:t>
            </a:r>
            <a:r>
              <a:rPr sz="1350" spc="-15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6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1"/>
            <a:ext cx="7063105" cy="7305675"/>
            <a:chOff x="352425" y="352431"/>
            <a:chExt cx="7063105" cy="7305675"/>
          </a:xfrm>
        </p:grpSpPr>
        <p:sp>
          <p:nvSpPr>
            <p:cNvPr id="3" name="object 3"/>
            <p:cNvSpPr/>
            <p:nvPr/>
          </p:nvSpPr>
          <p:spPr>
            <a:xfrm>
              <a:off x="376237" y="357218"/>
              <a:ext cx="7038975" cy="7296150"/>
            </a:xfrm>
            <a:custGeom>
              <a:avLst/>
              <a:gdLst/>
              <a:ahLst/>
              <a:cxnLst/>
              <a:rect l="l" t="t" r="r" b="b"/>
              <a:pathLst>
                <a:path w="7038975" h="7296150">
                  <a:moveTo>
                    <a:pt x="6936628" y="7296073"/>
                  </a:moveTo>
                  <a:lnTo>
                    <a:pt x="84545" y="7296073"/>
                  </a:lnTo>
                  <a:lnTo>
                    <a:pt x="78661" y="7295330"/>
                  </a:lnTo>
                  <a:lnTo>
                    <a:pt x="35275" y="7273451"/>
                  </a:lnTo>
                  <a:lnTo>
                    <a:pt x="11948" y="7241304"/>
                  </a:lnTo>
                  <a:lnTo>
                    <a:pt x="579" y="7200747"/>
                  </a:lnTo>
                  <a:lnTo>
                    <a:pt x="0" y="7193679"/>
                  </a:lnTo>
                  <a:lnTo>
                    <a:pt x="0" y="7186535"/>
                  </a:lnTo>
                  <a:lnTo>
                    <a:pt x="0" y="102241"/>
                  </a:lnTo>
                  <a:lnTo>
                    <a:pt x="9161" y="60864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7128"/>
                  </a:lnTo>
                  <a:lnTo>
                    <a:pt x="7033387" y="74114"/>
                  </a:lnTo>
                  <a:lnTo>
                    <a:pt x="7038973" y="102241"/>
                  </a:lnTo>
                  <a:lnTo>
                    <a:pt x="7038973" y="7193679"/>
                  </a:lnTo>
                  <a:lnTo>
                    <a:pt x="7027882" y="7234979"/>
                  </a:lnTo>
                  <a:lnTo>
                    <a:pt x="7001805" y="7268907"/>
                  </a:lnTo>
                  <a:lnTo>
                    <a:pt x="6964709" y="7290415"/>
                  </a:lnTo>
                  <a:lnTo>
                    <a:pt x="6943752" y="7295330"/>
                  </a:lnTo>
                  <a:lnTo>
                    <a:pt x="6936628" y="72960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7305675"/>
            </a:xfrm>
            <a:custGeom>
              <a:avLst/>
              <a:gdLst/>
              <a:ahLst/>
              <a:cxnLst/>
              <a:rect l="l" t="t" r="r" b="b"/>
              <a:pathLst>
                <a:path w="6999605" h="7305675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191337"/>
                  </a:lnTo>
                  <a:lnTo>
                    <a:pt x="6987819" y="7231431"/>
                  </a:lnTo>
                  <a:lnTo>
                    <a:pt x="6965112" y="7265429"/>
                  </a:lnTo>
                  <a:lnTo>
                    <a:pt x="6957466" y="7272401"/>
                  </a:lnTo>
                  <a:lnTo>
                    <a:pt x="6921398" y="7291667"/>
                  </a:lnTo>
                  <a:lnTo>
                    <a:pt x="6891020" y="7296150"/>
                  </a:lnTo>
                  <a:lnTo>
                    <a:pt x="52082" y="7296150"/>
                  </a:lnTo>
                  <a:lnTo>
                    <a:pt x="26085" y="7287819"/>
                  </a:lnTo>
                  <a:lnTo>
                    <a:pt x="0" y="7293038"/>
                  </a:lnTo>
                  <a:lnTo>
                    <a:pt x="40817" y="7305129"/>
                  </a:lnTo>
                  <a:lnTo>
                    <a:pt x="52082" y="7305675"/>
                  </a:lnTo>
                  <a:lnTo>
                    <a:pt x="6891020" y="7305675"/>
                  </a:lnTo>
                  <a:lnTo>
                    <a:pt x="6934771" y="7296975"/>
                  </a:lnTo>
                  <a:lnTo>
                    <a:pt x="6936511" y="7296150"/>
                  </a:lnTo>
                  <a:lnTo>
                    <a:pt x="6944957" y="7292162"/>
                  </a:lnTo>
                  <a:lnTo>
                    <a:pt x="6954545" y="7286422"/>
                  </a:lnTo>
                  <a:lnTo>
                    <a:pt x="6963499" y="7279767"/>
                  </a:lnTo>
                  <a:lnTo>
                    <a:pt x="6971843" y="7272198"/>
                  </a:lnTo>
                  <a:lnTo>
                    <a:pt x="6972300" y="7271690"/>
                  </a:lnTo>
                  <a:lnTo>
                    <a:pt x="6979425" y="7263816"/>
                  </a:lnTo>
                  <a:lnTo>
                    <a:pt x="6986079" y="7254849"/>
                  </a:lnTo>
                  <a:lnTo>
                    <a:pt x="6991807" y="7245274"/>
                  </a:lnTo>
                  <a:lnTo>
                    <a:pt x="6996620" y="7235076"/>
                  </a:lnTo>
                  <a:lnTo>
                    <a:pt x="6999071" y="7228256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2"/>
              <a:ext cx="88900" cy="7280909"/>
            </a:xfrm>
            <a:custGeom>
              <a:avLst/>
              <a:gdLst/>
              <a:ahLst/>
              <a:cxnLst/>
              <a:rect l="l" t="t" r="r" b="b"/>
              <a:pathLst>
                <a:path w="88900" h="7280909">
                  <a:moveTo>
                    <a:pt x="62524" y="7280686"/>
                  </a:moveTo>
                  <a:lnTo>
                    <a:pt x="25900" y="7251355"/>
                  </a:lnTo>
                  <a:lnTo>
                    <a:pt x="4894" y="7212009"/>
                  </a:lnTo>
                  <a:lnTo>
                    <a:pt x="0" y="71788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78880"/>
                  </a:lnTo>
                  <a:lnTo>
                    <a:pt x="52700" y="7218975"/>
                  </a:lnTo>
                  <a:lnTo>
                    <a:pt x="72022" y="7259913"/>
                  </a:lnTo>
                  <a:lnTo>
                    <a:pt x="88528" y="7275490"/>
                  </a:lnTo>
                  <a:lnTo>
                    <a:pt x="62524" y="72806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3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9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066"/>
                  </a:lnTo>
                  <a:lnTo>
                    <a:pt x="15621" y="29537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066"/>
                  </a:lnTo>
                  <a:lnTo>
                    <a:pt x="6438899" y="766905"/>
                  </a:lnTo>
                  <a:lnTo>
                    <a:pt x="6423277" y="808281"/>
                  </a:lnTo>
                  <a:lnTo>
                    <a:pt x="6387236" y="834104"/>
                  </a:lnTo>
                  <a:lnTo>
                    <a:pt x="6372658" y="837599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990725"/>
            </a:xfrm>
            <a:custGeom>
              <a:avLst/>
              <a:gdLst/>
              <a:ahLst/>
              <a:cxnLst/>
              <a:rect l="l" t="t" r="r" b="b"/>
              <a:pathLst>
                <a:path w="28575" h="1990725">
                  <a:moveTo>
                    <a:pt x="28575" y="1685925"/>
                  </a:moveTo>
                  <a:lnTo>
                    <a:pt x="0" y="1685925"/>
                  </a:lnTo>
                  <a:lnTo>
                    <a:pt x="0" y="1990725"/>
                  </a:lnTo>
                  <a:lnTo>
                    <a:pt x="28575" y="1990725"/>
                  </a:lnTo>
                  <a:lnTo>
                    <a:pt x="28575" y="1685925"/>
                  </a:lnTo>
                  <a:close/>
                </a:path>
                <a:path w="28575" h="19907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676853"/>
              <a:ext cx="6438900" cy="561975"/>
            </a:xfrm>
            <a:custGeom>
              <a:avLst/>
              <a:gdLst/>
              <a:ahLst/>
              <a:cxnLst/>
              <a:rect l="l" t="t" r="r" b="b"/>
              <a:pathLst>
                <a:path w="6438900" h="561975">
                  <a:moveTo>
                    <a:pt x="64388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5619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676853"/>
              <a:ext cx="38100" cy="561975"/>
            </a:xfrm>
            <a:custGeom>
              <a:avLst/>
              <a:gdLst/>
              <a:ahLst/>
              <a:cxnLst/>
              <a:rect l="l" t="t" r="r" b="b"/>
              <a:pathLst>
                <a:path w="38100" h="561975">
                  <a:moveTo>
                    <a:pt x="380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619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429348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62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691"/>
                  </a:lnTo>
                  <a:lnTo>
                    <a:pt x="1037043" y="109486"/>
                  </a:lnTo>
                  <a:lnTo>
                    <a:pt x="1012875" y="75222"/>
                  </a:lnTo>
                  <a:lnTo>
                    <a:pt x="981087" y="47777"/>
                  </a:lnTo>
                  <a:lnTo>
                    <a:pt x="943584" y="28968"/>
                  </a:lnTo>
                  <a:lnTo>
                    <a:pt x="902639" y="19900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30"/>
                  </a:lnTo>
                  <a:lnTo>
                    <a:pt x="614514" y="39192"/>
                  </a:lnTo>
                  <a:lnTo>
                    <a:pt x="580199" y="63309"/>
                  </a:lnTo>
                  <a:lnTo>
                    <a:pt x="552780" y="95034"/>
                  </a:lnTo>
                  <a:lnTo>
                    <a:pt x="533895" y="132626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87"/>
                  </a:lnTo>
                  <a:lnTo>
                    <a:pt x="574103" y="311721"/>
                  </a:lnTo>
                  <a:lnTo>
                    <a:pt x="607199" y="337502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04"/>
                  </a:lnTo>
                  <a:lnTo>
                    <a:pt x="966647" y="341655"/>
                  </a:lnTo>
                  <a:lnTo>
                    <a:pt x="1000963" y="317538"/>
                  </a:lnTo>
                  <a:lnTo>
                    <a:pt x="1028382" y="285673"/>
                  </a:lnTo>
                  <a:lnTo>
                    <a:pt x="1047267" y="248183"/>
                  </a:lnTo>
                  <a:lnTo>
                    <a:pt x="1056462" y="207289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5354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16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⽼化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加齢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は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違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う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80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リングでアンチエイジング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13589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「加齢」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けられませんが</a:t>
            </a:r>
            <a:r>
              <a:rPr sz="1350" i="1" spc="-290" dirty="0">
                <a:solidFill>
                  <a:srgbClr val="333333"/>
                </a:solidFill>
                <a:latin typeface="メイリオ"/>
                <a:cs typeface="メイリオ"/>
              </a:rPr>
              <a:t>、「⽼化」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遅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らせることができます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。体感⾳響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⽼化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影響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、科学的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探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加齢</a:t>
            </a: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と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⽼化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の違い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加齢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ねること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にでも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こる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⽼化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酸化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糖化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コントロ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可能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 marR="46355">
              <a:lnSpc>
                <a:spcPct val="134300"/>
              </a:lnSpc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酸化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糖化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炎症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こしやすくなり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様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疾患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原因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になります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これが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575" dirty="0">
                <a:solidFill>
                  <a:srgbClr val="333333"/>
                </a:solidFill>
                <a:latin typeface="メイリオ"/>
                <a:cs typeface="メイリオ"/>
              </a:rPr>
              <a:t>⽼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化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正体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60" dirty="0">
                <a:solidFill>
                  <a:srgbClr val="2D5926"/>
                </a:solidFill>
                <a:latin typeface="BIZ UDPゴシック"/>
                <a:cs typeface="BIZ UDPゴシック"/>
              </a:rPr>
              <a:t>サウンドヒーリングの</a:t>
            </a:r>
            <a:r>
              <a:rPr sz="1450" b="1" spc="-110" dirty="0">
                <a:solidFill>
                  <a:srgbClr val="2D5926"/>
                </a:solidFill>
                <a:latin typeface="メイリオ"/>
                <a:cs typeface="メイリオ"/>
              </a:rPr>
              <a:t>可能性</a:t>
            </a:r>
            <a:endParaRPr sz="1450">
              <a:latin typeface="メイリオ"/>
              <a:cs typeface="メイリオ"/>
            </a:endParaRPr>
          </a:p>
          <a:p>
            <a:pPr marL="12700" marR="61594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唾液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酸化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元電位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測定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することで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リングの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評価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できます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345" dirty="0">
                <a:solidFill>
                  <a:srgbClr val="333333"/>
                </a:solidFill>
                <a:latin typeface="SimSun"/>
                <a:cs typeface="SimSun"/>
              </a:rPr>
              <a:t>リラッ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クスすることで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酸化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抑制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できる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93040">
              <a:lnSpc>
                <a:spcPct val="1000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65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検診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⾻密度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若者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べて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くなり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医師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40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体験者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87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04740" y="6560478"/>
            <a:ext cx="260096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17525" marR="5080" indent="-505459">
              <a:lnSpc>
                <a:spcPct val="134300"/>
              </a:lnSpc>
              <a:spcBef>
                <a:spcPts val="60"/>
              </a:spcBef>
            </a:pPr>
            <a:r>
              <a:rPr sz="1350" spc="-190" dirty="0">
                <a:solidFill>
                  <a:srgbClr val="FFFFFF"/>
                </a:solidFill>
                <a:latin typeface="SimSun"/>
                <a:cs typeface="SimSun"/>
              </a:rPr>
              <a:t>アンチエイジングと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関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係</a:t>
            </a:r>
            <a:r>
              <a:rPr sz="1350" spc="-155" dirty="0">
                <a:solidFill>
                  <a:srgbClr val="FFFFFF"/>
                </a:solidFill>
                <a:latin typeface="SimSun"/>
                <a:cs typeface="SimSun"/>
              </a:rPr>
              <a:t>について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しくは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2"/>
            <a:ext cx="7063105" cy="7410450"/>
            <a:chOff x="352425" y="352432"/>
            <a:chExt cx="7063105" cy="7410450"/>
          </a:xfrm>
        </p:grpSpPr>
        <p:sp>
          <p:nvSpPr>
            <p:cNvPr id="3" name="object 3"/>
            <p:cNvSpPr/>
            <p:nvPr/>
          </p:nvSpPr>
          <p:spPr>
            <a:xfrm>
              <a:off x="376237" y="357141"/>
              <a:ext cx="7038975" cy="7400925"/>
            </a:xfrm>
            <a:custGeom>
              <a:avLst/>
              <a:gdLst/>
              <a:ahLst/>
              <a:cxnLst/>
              <a:rect l="l" t="t" r="r" b="b"/>
              <a:pathLst>
                <a:path w="7038975" h="7400925">
                  <a:moveTo>
                    <a:pt x="6936628" y="7400924"/>
                  </a:moveTo>
                  <a:lnTo>
                    <a:pt x="84545" y="7400924"/>
                  </a:lnTo>
                  <a:lnTo>
                    <a:pt x="78661" y="7400181"/>
                  </a:lnTo>
                  <a:lnTo>
                    <a:pt x="35275" y="7378378"/>
                  </a:lnTo>
                  <a:lnTo>
                    <a:pt x="11948" y="7346155"/>
                  </a:lnTo>
                  <a:lnTo>
                    <a:pt x="579" y="7305674"/>
                  </a:lnTo>
                  <a:lnTo>
                    <a:pt x="0" y="7298606"/>
                  </a:lnTo>
                  <a:lnTo>
                    <a:pt x="0" y="72913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85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7298606"/>
                  </a:lnTo>
                  <a:lnTo>
                    <a:pt x="7027882" y="7339831"/>
                  </a:lnTo>
                  <a:lnTo>
                    <a:pt x="7001805" y="7373911"/>
                  </a:lnTo>
                  <a:lnTo>
                    <a:pt x="6964709" y="7395190"/>
                  </a:lnTo>
                  <a:lnTo>
                    <a:pt x="6943752" y="7400181"/>
                  </a:lnTo>
                  <a:lnTo>
                    <a:pt x="6936628" y="7400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7410450"/>
            </a:xfrm>
            <a:custGeom>
              <a:avLst/>
              <a:gdLst/>
              <a:ahLst/>
              <a:cxnLst/>
              <a:rect l="l" t="t" r="r" b="b"/>
              <a:pathLst>
                <a:path w="6999605" h="7410450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296112"/>
                  </a:lnTo>
                  <a:lnTo>
                    <a:pt x="6987819" y="7336206"/>
                  </a:lnTo>
                  <a:lnTo>
                    <a:pt x="6965112" y="7370204"/>
                  </a:lnTo>
                  <a:lnTo>
                    <a:pt x="6931126" y="7392949"/>
                  </a:lnTo>
                  <a:lnTo>
                    <a:pt x="6891020" y="7400925"/>
                  </a:lnTo>
                  <a:lnTo>
                    <a:pt x="52082" y="7400925"/>
                  </a:lnTo>
                  <a:lnTo>
                    <a:pt x="26085" y="7392594"/>
                  </a:lnTo>
                  <a:lnTo>
                    <a:pt x="0" y="7397813"/>
                  </a:lnTo>
                  <a:lnTo>
                    <a:pt x="40817" y="7409904"/>
                  </a:lnTo>
                  <a:lnTo>
                    <a:pt x="52082" y="7410450"/>
                  </a:lnTo>
                  <a:lnTo>
                    <a:pt x="6891020" y="7410450"/>
                  </a:lnTo>
                  <a:lnTo>
                    <a:pt x="6934771" y="7401750"/>
                  </a:lnTo>
                  <a:lnTo>
                    <a:pt x="6936511" y="7400925"/>
                  </a:lnTo>
                  <a:lnTo>
                    <a:pt x="6944957" y="7396937"/>
                  </a:lnTo>
                  <a:lnTo>
                    <a:pt x="6954545" y="7391197"/>
                  </a:lnTo>
                  <a:lnTo>
                    <a:pt x="6963499" y="7384542"/>
                  </a:lnTo>
                  <a:lnTo>
                    <a:pt x="6971843" y="7376973"/>
                  </a:lnTo>
                  <a:lnTo>
                    <a:pt x="6972300" y="7376477"/>
                  </a:lnTo>
                  <a:lnTo>
                    <a:pt x="6979425" y="7368591"/>
                  </a:lnTo>
                  <a:lnTo>
                    <a:pt x="6986079" y="7359624"/>
                  </a:lnTo>
                  <a:lnTo>
                    <a:pt x="6991807" y="7350049"/>
                  </a:lnTo>
                  <a:lnTo>
                    <a:pt x="6996620" y="7339851"/>
                  </a:lnTo>
                  <a:lnTo>
                    <a:pt x="6999071" y="7333031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3"/>
              <a:ext cx="88900" cy="7385684"/>
            </a:xfrm>
            <a:custGeom>
              <a:avLst/>
              <a:gdLst/>
              <a:ahLst/>
              <a:cxnLst/>
              <a:rect l="l" t="t" r="r" b="b"/>
              <a:pathLst>
                <a:path w="88900" h="7385684">
                  <a:moveTo>
                    <a:pt x="62524" y="7385461"/>
                  </a:moveTo>
                  <a:lnTo>
                    <a:pt x="25900" y="7356131"/>
                  </a:lnTo>
                  <a:lnTo>
                    <a:pt x="4894" y="7316785"/>
                  </a:lnTo>
                  <a:lnTo>
                    <a:pt x="0" y="72836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283655"/>
                  </a:lnTo>
                  <a:lnTo>
                    <a:pt x="52700" y="7323750"/>
                  </a:lnTo>
                  <a:lnTo>
                    <a:pt x="72022" y="7364688"/>
                  </a:lnTo>
                  <a:lnTo>
                    <a:pt x="88529" y="7380265"/>
                  </a:lnTo>
                  <a:lnTo>
                    <a:pt x="62524" y="738546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8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2571750"/>
            </a:xfrm>
            <a:custGeom>
              <a:avLst/>
              <a:gdLst/>
              <a:ahLst/>
              <a:cxnLst/>
              <a:rect l="l" t="t" r="r" b="b"/>
              <a:pathLst>
                <a:path w="28575" h="2571750">
                  <a:moveTo>
                    <a:pt x="28575" y="2276475"/>
                  </a:moveTo>
                  <a:lnTo>
                    <a:pt x="0" y="2276475"/>
                  </a:lnTo>
                  <a:lnTo>
                    <a:pt x="0" y="2571750"/>
                  </a:lnTo>
                  <a:lnTo>
                    <a:pt x="28575" y="2571750"/>
                  </a:lnTo>
                  <a:lnTo>
                    <a:pt x="28575" y="2276475"/>
                  </a:lnTo>
                  <a:close/>
                </a:path>
                <a:path w="28575" h="2571750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257175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543649"/>
              <a:ext cx="6438899" cy="9239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638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05"/>
                  </a:lnTo>
                  <a:lnTo>
                    <a:pt x="1037043" y="109626"/>
                  </a:lnTo>
                  <a:lnTo>
                    <a:pt x="1012875" y="75298"/>
                  </a:lnTo>
                  <a:lnTo>
                    <a:pt x="981087" y="47840"/>
                  </a:lnTo>
                  <a:lnTo>
                    <a:pt x="943584" y="29006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206"/>
                  </a:lnTo>
                  <a:lnTo>
                    <a:pt x="614514" y="39192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727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79"/>
                  </a:lnTo>
                  <a:lnTo>
                    <a:pt x="1000963" y="317411"/>
                  </a:lnTo>
                  <a:lnTo>
                    <a:pt x="1028382" y="285673"/>
                  </a:lnTo>
                  <a:lnTo>
                    <a:pt x="1047267" y="248183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414135" cy="52459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17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は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第三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700" b="1" spc="1019" dirty="0">
                <a:solidFill>
                  <a:srgbClr val="333333"/>
                </a:solidFill>
                <a:latin typeface="BIZ UDPゴシック"/>
                <a:cs typeface="BIZ UDPゴシック"/>
              </a:rPr>
              <a:t>」：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750" b="1" dirty="0">
                <a:solidFill>
                  <a:srgbClr val="333333"/>
                </a:solidFill>
                <a:latin typeface="BIZ UDPゴシック"/>
                <a:cs typeface="BIZ UDPゴシック"/>
              </a:rPr>
              <a:t>く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科学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16002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傳⽥光洋博⼠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によると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、⽪膚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単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ではなく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じる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器官</a:t>
            </a:r>
            <a:r>
              <a:rPr sz="1400" i="1" spc="-170" dirty="0">
                <a:solidFill>
                  <a:srgbClr val="333333"/>
                </a:solidFill>
                <a:latin typeface="メイリオ"/>
                <a:cs typeface="メイリオ"/>
              </a:rPr>
              <a:t>でもあり</a:t>
            </a:r>
            <a:r>
              <a:rPr sz="1400" i="1" spc="-270" dirty="0">
                <a:solidFill>
                  <a:srgbClr val="333333"/>
                </a:solidFill>
                <a:latin typeface="メイリオ"/>
                <a:cs typeface="メイリオ"/>
              </a:rPr>
              <a:t>ます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だけでない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、全⾝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世界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探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⽪膚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で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65" dirty="0">
                <a:solidFill>
                  <a:srgbClr val="2D5926"/>
                </a:solidFill>
                <a:latin typeface="BIZ UDPゴシック"/>
                <a:cs typeface="BIZ UDPゴシック"/>
              </a:rPr>
              <a:t>を聴く？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16510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⾼周波成分</a:t>
            </a:r>
            <a:r>
              <a:rPr sz="1300" spc="6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lang="en-US" sz="1350" spc="65" dirty="0">
                <a:solidFill>
                  <a:srgbClr val="333333"/>
                </a:solidFill>
                <a:latin typeface="Comic Sans MS"/>
                <a:cs typeface="BIZ UDPゴシック"/>
              </a:rPr>
              <a:t>10</a:t>
            </a:r>
            <a:r>
              <a:rPr sz="1350" spc="65" dirty="0">
                <a:solidFill>
                  <a:srgbClr val="333333"/>
                </a:solidFill>
                <a:latin typeface="Comic Sans MS"/>
                <a:cs typeface="Comic Sans MS"/>
              </a:rPr>
              <a:t>,000Hz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60" dirty="0">
                <a:solidFill>
                  <a:srgbClr val="333333"/>
                </a:solidFill>
                <a:latin typeface="Comic Sans MS"/>
                <a:cs typeface="Comic Sans MS"/>
              </a:rPr>
              <a:t>20,000Hz</a:t>
            </a:r>
            <a:r>
              <a:rPr sz="1300" spc="6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よりも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じやすい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帯域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-9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つまり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たちは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らず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らずのうちに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いて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いるのです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⽪膚</a:t>
            </a:r>
            <a:r>
              <a:rPr sz="1450" b="1" spc="-120" dirty="0">
                <a:solidFill>
                  <a:srgbClr val="2D5926"/>
                </a:solidFill>
                <a:latin typeface="BIZ UDPゴシック"/>
                <a:cs typeface="BIZ UDPゴシック"/>
              </a:rPr>
              <a:t>の驚くべき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能⼒</a:t>
            </a:r>
            <a:endParaRPr sz="1450" dirty="0">
              <a:latin typeface="メイリオ"/>
              <a:cs typeface="メイリオ"/>
            </a:endParaRPr>
          </a:p>
          <a:p>
            <a:pPr marL="12700" marR="5080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第三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ばれ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温度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湿度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様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情報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350" spc="-68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350" spc="-220" dirty="0">
                <a:solidFill>
                  <a:srgbClr val="333333"/>
                </a:solidFill>
                <a:latin typeface="SimSun"/>
                <a:cs typeface="SimSun"/>
              </a:rPr>
              <a:t>えています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たちが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思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っている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以上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敏感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なセンサ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なのです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実践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への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応⽤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スピ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浴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びる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ヘッドフォンだけでなくスピ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響機器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直接振動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endParaRPr sz="1350" dirty="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88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78149" y="6684118"/>
            <a:ext cx="1854200" cy="5549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96545" marR="5080" indent="-284480">
              <a:lnSpc>
                <a:spcPct val="129600"/>
              </a:lnSpc>
              <a:spcBef>
                <a:spcPts val="65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全⾝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く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⽅法</a:t>
            </a:r>
            <a:r>
              <a:rPr sz="1350" spc="-160" dirty="0">
                <a:solidFill>
                  <a:srgbClr val="FFFFFF"/>
                </a:solidFill>
                <a:latin typeface="SimSun"/>
                <a:cs typeface="SimSun"/>
              </a:rPr>
              <a:t>のガイドを</a:t>
            </a:r>
            <a:r>
              <a:rPr sz="1350" spc="-10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3"/>
            <a:ext cx="7063105" cy="8162925"/>
            <a:chOff x="352425" y="352433"/>
            <a:chExt cx="7063105" cy="8162925"/>
          </a:xfrm>
        </p:grpSpPr>
        <p:sp>
          <p:nvSpPr>
            <p:cNvPr id="3" name="object 3"/>
            <p:cNvSpPr/>
            <p:nvPr/>
          </p:nvSpPr>
          <p:spPr>
            <a:xfrm>
              <a:off x="376237" y="357141"/>
              <a:ext cx="7038975" cy="8153400"/>
            </a:xfrm>
            <a:custGeom>
              <a:avLst/>
              <a:gdLst/>
              <a:ahLst/>
              <a:cxnLst/>
              <a:rect l="l" t="t" r="r" b="b"/>
              <a:pathLst>
                <a:path w="7038975" h="8153400">
                  <a:moveTo>
                    <a:pt x="6936628" y="8153323"/>
                  </a:moveTo>
                  <a:lnTo>
                    <a:pt x="84545" y="8153323"/>
                  </a:lnTo>
                  <a:lnTo>
                    <a:pt x="78661" y="8152656"/>
                  </a:lnTo>
                  <a:lnTo>
                    <a:pt x="35275" y="8130853"/>
                  </a:lnTo>
                  <a:lnTo>
                    <a:pt x="11948" y="8098554"/>
                  </a:lnTo>
                  <a:lnTo>
                    <a:pt x="579" y="8058073"/>
                  </a:lnTo>
                  <a:lnTo>
                    <a:pt x="0" y="8051005"/>
                  </a:lnTo>
                  <a:lnTo>
                    <a:pt x="0" y="804386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051005"/>
                  </a:lnTo>
                  <a:lnTo>
                    <a:pt x="7027882" y="8092306"/>
                  </a:lnTo>
                  <a:lnTo>
                    <a:pt x="7001805" y="8126310"/>
                  </a:lnTo>
                  <a:lnTo>
                    <a:pt x="6964709" y="8147741"/>
                  </a:lnTo>
                  <a:lnTo>
                    <a:pt x="6943752" y="8152656"/>
                  </a:lnTo>
                  <a:lnTo>
                    <a:pt x="6936628" y="81533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8162925"/>
            </a:xfrm>
            <a:custGeom>
              <a:avLst/>
              <a:gdLst/>
              <a:ahLst/>
              <a:cxnLst/>
              <a:rect l="l" t="t" r="r" b="b"/>
              <a:pathLst>
                <a:path w="6999605" h="8162925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048587"/>
                  </a:lnTo>
                  <a:lnTo>
                    <a:pt x="6987819" y="8088681"/>
                  </a:lnTo>
                  <a:lnTo>
                    <a:pt x="6965112" y="8122679"/>
                  </a:lnTo>
                  <a:lnTo>
                    <a:pt x="6931126" y="8145424"/>
                  </a:lnTo>
                  <a:lnTo>
                    <a:pt x="6891020" y="8153400"/>
                  </a:lnTo>
                  <a:lnTo>
                    <a:pt x="52082" y="8153400"/>
                  </a:lnTo>
                  <a:lnTo>
                    <a:pt x="26085" y="8145069"/>
                  </a:lnTo>
                  <a:lnTo>
                    <a:pt x="0" y="8150288"/>
                  </a:lnTo>
                  <a:lnTo>
                    <a:pt x="40817" y="8162379"/>
                  </a:lnTo>
                  <a:lnTo>
                    <a:pt x="52082" y="8162925"/>
                  </a:lnTo>
                  <a:lnTo>
                    <a:pt x="6891020" y="8162925"/>
                  </a:lnTo>
                  <a:lnTo>
                    <a:pt x="6934771" y="8154225"/>
                  </a:lnTo>
                  <a:lnTo>
                    <a:pt x="6936511" y="8153400"/>
                  </a:lnTo>
                  <a:lnTo>
                    <a:pt x="6944957" y="8149412"/>
                  </a:lnTo>
                  <a:lnTo>
                    <a:pt x="6954545" y="8143684"/>
                  </a:lnTo>
                  <a:lnTo>
                    <a:pt x="6963499" y="8137030"/>
                  </a:lnTo>
                  <a:lnTo>
                    <a:pt x="6971843" y="8129448"/>
                  </a:lnTo>
                  <a:lnTo>
                    <a:pt x="6972300" y="8128952"/>
                  </a:lnTo>
                  <a:lnTo>
                    <a:pt x="6979425" y="8121066"/>
                  </a:lnTo>
                  <a:lnTo>
                    <a:pt x="6986079" y="8112099"/>
                  </a:lnTo>
                  <a:lnTo>
                    <a:pt x="6991807" y="8102524"/>
                  </a:lnTo>
                  <a:lnTo>
                    <a:pt x="6996620" y="8092326"/>
                  </a:lnTo>
                  <a:lnTo>
                    <a:pt x="6999071" y="8085506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4"/>
              <a:ext cx="88900" cy="8138159"/>
            </a:xfrm>
            <a:custGeom>
              <a:avLst/>
              <a:gdLst/>
              <a:ahLst/>
              <a:cxnLst/>
              <a:rect l="l" t="t" r="r" b="b"/>
              <a:pathLst>
                <a:path w="88900" h="8138159">
                  <a:moveTo>
                    <a:pt x="62523" y="8137936"/>
                  </a:moveTo>
                  <a:lnTo>
                    <a:pt x="25900" y="8108605"/>
                  </a:lnTo>
                  <a:lnTo>
                    <a:pt x="4894" y="8069260"/>
                  </a:lnTo>
                  <a:lnTo>
                    <a:pt x="0" y="80361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036130"/>
                  </a:lnTo>
                  <a:lnTo>
                    <a:pt x="52700" y="8076225"/>
                  </a:lnTo>
                  <a:lnTo>
                    <a:pt x="72022" y="8117162"/>
                  </a:lnTo>
                  <a:lnTo>
                    <a:pt x="88529" y="8132740"/>
                  </a:lnTo>
                  <a:lnTo>
                    <a:pt x="62523" y="813793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8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281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438275"/>
            </a:xfrm>
            <a:custGeom>
              <a:avLst/>
              <a:gdLst/>
              <a:ahLst/>
              <a:cxnLst/>
              <a:rect l="l" t="t" r="r" b="b"/>
              <a:pathLst>
                <a:path w="28575" h="14382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14382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133928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4388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286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133936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28575" y="1019175"/>
                  </a:moveTo>
                  <a:lnTo>
                    <a:pt x="0" y="1019175"/>
                  </a:lnTo>
                  <a:lnTo>
                    <a:pt x="0" y="1323975"/>
                  </a:lnTo>
                  <a:lnTo>
                    <a:pt x="28575" y="1323975"/>
                  </a:lnTo>
                  <a:lnTo>
                    <a:pt x="28575" y="1019175"/>
                  </a:lnTo>
                  <a:close/>
                </a:path>
                <a:path w="38100" h="1323975">
                  <a:moveTo>
                    <a:pt x="38100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38100" y="8286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286599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32"/>
                  </a:moveTo>
                  <a:lnTo>
                    <a:pt x="365379" y="29603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562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307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132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55"/>
                  </a:lnTo>
                  <a:lnTo>
                    <a:pt x="1037043" y="109575"/>
                  </a:lnTo>
                  <a:lnTo>
                    <a:pt x="1012875" y="75298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41"/>
                  </a:lnTo>
                  <a:lnTo>
                    <a:pt x="580199" y="63385"/>
                  </a:lnTo>
                  <a:lnTo>
                    <a:pt x="552780" y="95173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44"/>
                  </a:lnTo>
                  <a:lnTo>
                    <a:pt x="548271" y="278511"/>
                  </a:lnTo>
                  <a:lnTo>
                    <a:pt x="574103" y="311645"/>
                  </a:lnTo>
                  <a:lnTo>
                    <a:pt x="607199" y="337388"/>
                  </a:lnTo>
                  <a:lnTo>
                    <a:pt x="645566" y="354469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15"/>
                  </a:lnTo>
                  <a:lnTo>
                    <a:pt x="1000963" y="317449"/>
                  </a:lnTo>
                  <a:lnTo>
                    <a:pt x="1028382" y="285597"/>
                  </a:lnTo>
                  <a:lnTo>
                    <a:pt x="1047267" y="248145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5410" cy="6363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18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不思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議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な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関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が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？</a:t>
            </a:r>
            <a:endParaRPr sz="17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14859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⽔道⽔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60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分間⾃然⾳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かせたら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起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きるか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。中島俊樹⽒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不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思議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関係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探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実験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概要</a:t>
            </a:r>
            <a:endParaRPr sz="1450">
              <a:latin typeface="メイリオ"/>
              <a:cs typeface="メイリオ"/>
            </a:endParaRPr>
          </a:p>
          <a:p>
            <a:pPr marL="12700" marR="5080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⽔道⽔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60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かせ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400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拡⼤</a:t>
            </a:r>
            <a:r>
              <a:rPr sz="1350" spc="-235" dirty="0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915" dirty="0">
                <a:solidFill>
                  <a:srgbClr val="333333"/>
                </a:solidFill>
                <a:latin typeface="メイリオ"/>
                <a:cs typeface="メイリオ"/>
              </a:rPr>
              <a:t>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しました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観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察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された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変化</a:t>
            </a:r>
            <a:endParaRPr sz="1450">
              <a:latin typeface="メイリオ"/>
              <a:cs typeface="メイリオ"/>
            </a:endParaRPr>
          </a:p>
          <a:p>
            <a:pPr marL="12700" marR="38100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実験者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によると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かせた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残留塩素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害作⽤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解除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565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とのこと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構造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動的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特性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らかの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があった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93040" marR="315595">
              <a:lnSpc>
                <a:spcPct val="1296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誘電体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凝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であり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むことなく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交番的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動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いている</a:t>
            </a:r>
            <a:r>
              <a:rPr sz="1300" spc="-225" dirty="0">
                <a:solidFill>
                  <a:srgbClr val="333333"/>
                </a:solidFill>
                <a:latin typeface="メイリオ"/>
                <a:cs typeface="メイリオ"/>
              </a:rPr>
              <a:t>導電体流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体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素晴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らしいコラボレ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ションを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ました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⼈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体への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⽰唆</a:t>
            </a:r>
            <a:endParaRPr sz="1450">
              <a:latin typeface="メイリオ"/>
              <a:cs typeface="メイリオ"/>
            </a:endParaRPr>
          </a:p>
          <a:p>
            <a:pPr marL="12700" marR="24130">
              <a:lnSpc>
                <a:spcPct val="134300"/>
              </a:lnSpc>
              <a:spcBef>
                <a:spcPts val="80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70%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⽔分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えるなら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たちの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555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がある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可能性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があります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89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10011" y="7417728"/>
            <a:ext cx="159067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2349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究</a:t>
            </a:r>
            <a:r>
              <a:rPr sz="1350" spc="-155" dirty="0">
                <a:solidFill>
                  <a:srgbClr val="FFFFFF"/>
                </a:solidFill>
                <a:latin typeface="SimSun"/>
                <a:cs typeface="SimSun"/>
              </a:rPr>
              <a:t>について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しくは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4"/>
            <a:ext cx="7063105" cy="7572375"/>
            <a:chOff x="352425" y="352434"/>
            <a:chExt cx="7063105" cy="7572375"/>
          </a:xfrm>
        </p:grpSpPr>
        <p:sp>
          <p:nvSpPr>
            <p:cNvPr id="3" name="object 3"/>
            <p:cNvSpPr/>
            <p:nvPr/>
          </p:nvSpPr>
          <p:spPr>
            <a:xfrm>
              <a:off x="376237" y="357140"/>
              <a:ext cx="7038975" cy="7562850"/>
            </a:xfrm>
            <a:custGeom>
              <a:avLst/>
              <a:gdLst/>
              <a:ahLst/>
              <a:cxnLst/>
              <a:rect l="l" t="t" r="r" b="b"/>
              <a:pathLst>
                <a:path w="7038975" h="7562850">
                  <a:moveTo>
                    <a:pt x="6936628" y="7562849"/>
                  </a:moveTo>
                  <a:lnTo>
                    <a:pt x="84545" y="7562849"/>
                  </a:lnTo>
                  <a:lnTo>
                    <a:pt x="78661" y="7562106"/>
                  </a:lnTo>
                  <a:lnTo>
                    <a:pt x="35275" y="7540379"/>
                  </a:lnTo>
                  <a:lnTo>
                    <a:pt x="11948" y="7508080"/>
                  </a:lnTo>
                  <a:lnTo>
                    <a:pt x="579" y="7467523"/>
                  </a:lnTo>
                  <a:lnTo>
                    <a:pt x="0" y="7460455"/>
                  </a:lnTo>
                  <a:lnTo>
                    <a:pt x="0" y="745331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7460455"/>
                  </a:lnTo>
                  <a:lnTo>
                    <a:pt x="7027882" y="7501756"/>
                  </a:lnTo>
                  <a:lnTo>
                    <a:pt x="7001805" y="7535836"/>
                  </a:lnTo>
                  <a:lnTo>
                    <a:pt x="6964709" y="7557191"/>
                  </a:lnTo>
                  <a:lnTo>
                    <a:pt x="6943752" y="7562106"/>
                  </a:lnTo>
                  <a:lnTo>
                    <a:pt x="6936628" y="7562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7572375"/>
            </a:xfrm>
            <a:custGeom>
              <a:avLst/>
              <a:gdLst/>
              <a:ahLst/>
              <a:cxnLst/>
              <a:rect l="l" t="t" r="r" b="b"/>
              <a:pathLst>
                <a:path w="6999605" h="7572375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458037"/>
                  </a:lnTo>
                  <a:lnTo>
                    <a:pt x="6987819" y="7498131"/>
                  </a:lnTo>
                  <a:lnTo>
                    <a:pt x="6965112" y="7532129"/>
                  </a:lnTo>
                  <a:lnTo>
                    <a:pt x="6931126" y="7554874"/>
                  </a:lnTo>
                  <a:lnTo>
                    <a:pt x="6891020" y="7562850"/>
                  </a:lnTo>
                  <a:lnTo>
                    <a:pt x="52082" y="7562850"/>
                  </a:lnTo>
                  <a:lnTo>
                    <a:pt x="26085" y="7554519"/>
                  </a:lnTo>
                  <a:lnTo>
                    <a:pt x="0" y="7559738"/>
                  </a:lnTo>
                  <a:lnTo>
                    <a:pt x="40817" y="7571829"/>
                  </a:lnTo>
                  <a:lnTo>
                    <a:pt x="52082" y="7572375"/>
                  </a:lnTo>
                  <a:lnTo>
                    <a:pt x="6891020" y="7572375"/>
                  </a:lnTo>
                  <a:lnTo>
                    <a:pt x="6934771" y="7563675"/>
                  </a:lnTo>
                  <a:lnTo>
                    <a:pt x="6936511" y="7562850"/>
                  </a:lnTo>
                  <a:lnTo>
                    <a:pt x="6944957" y="7558862"/>
                  </a:lnTo>
                  <a:lnTo>
                    <a:pt x="6954545" y="7553134"/>
                  </a:lnTo>
                  <a:lnTo>
                    <a:pt x="6963499" y="7546480"/>
                  </a:lnTo>
                  <a:lnTo>
                    <a:pt x="6971843" y="7538898"/>
                  </a:lnTo>
                  <a:lnTo>
                    <a:pt x="6972300" y="7538402"/>
                  </a:lnTo>
                  <a:lnTo>
                    <a:pt x="6979425" y="7530516"/>
                  </a:lnTo>
                  <a:lnTo>
                    <a:pt x="6986079" y="7521549"/>
                  </a:lnTo>
                  <a:lnTo>
                    <a:pt x="6991807" y="7511974"/>
                  </a:lnTo>
                  <a:lnTo>
                    <a:pt x="6996620" y="7501776"/>
                  </a:lnTo>
                  <a:lnTo>
                    <a:pt x="6999071" y="7494956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4"/>
              <a:ext cx="88900" cy="7547609"/>
            </a:xfrm>
            <a:custGeom>
              <a:avLst/>
              <a:gdLst/>
              <a:ahLst/>
              <a:cxnLst/>
              <a:rect l="l" t="t" r="r" b="b"/>
              <a:pathLst>
                <a:path w="88900" h="7547609">
                  <a:moveTo>
                    <a:pt x="62524" y="7547386"/>
                  </a:moveTo>
                  <a:lnTo>
                    <a:pt x="25900" y="7518056"/>
                  </a:lnTo>
                  <a:lnTo>
                    <a:pt x="4894" y="7478709"/>
                  </a:lnTo>
                  <a:lnTo>
                    <a:pt x="0" y="74455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445580"/>
                  </a:lnTo>
                  <a:lnTo>
                    <a:pt x="52700" y="7485675"/>
                  </a:lnTo>
                  <a:lnTo>
                    <a:pt x="72022" y="7526613"/>
                  </a:lnTo>
                  <a:lnTo>
                    <a:pt x="88529" y="7542190"/>
                  </a:lnTo>
                  <a:lnTo>
                    <a:pt x="62524" y="75473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8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69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714500"/>
            </a:xfrm>
            <a:custGeom>
              <a:avLst/>
              <a:gdLst/>
              <a:ahLst/>
              <a:cxnLst/>
              <a:rect l="l" t="t" r="r" b="b"/>
              <a:pathLst>
                <a:path w="28575" h="17145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17145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67685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676852"/>
              <a:ext cx="38100" cy="838200"/>
            </a:xfrm>
            <a:custGeom>
              <a:avLst/>
              <a:gdLst/>
              <a:ahLst/>
              <a:cxnLst/>
              <a:rect l="l" t="t" r="r" b="b"/>
              <a:pathLst>
                <a:path w="38100" h="838200">
                  <a:moveTo>
                    <a:pt x="380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381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705575"/>
              <a:ext cx="6438899" cy="923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32"/>
                  </a:moveTo>
                  <a:lnTo>
                    <a:pt x="365379" y="29603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562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32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55"/>
                  </a:lnTo>
                  <a:lnTo>
                    <a:pt x="1037043" y="109626"/>
                  </a:lnTo>
                  <a:lnTo>
                    <a:pt x="1012875" y="75298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41"/>
                  </a:lnTo>
                  <a:lnTo>
                    <a:pt x="580199" y="63347"/>
                  </a:lnTo>
                  <a:lnTo>
                    <a:pt x="552780" y="95173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31"/>
                  </a:lnTo>
                  <a:lnTo>
                    <a:pt x="548271" y="278511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520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68"/>
                  </a:lnTo>
                  <a:lnTo>
                    <a:pt x="966647" y="341579"/>
                  </a:lnTo>
                  <a:lnTo>
                    <a:pt x="1000963" y="317461"/>
                  </a:lnTo>
                  <a:lnTo>
                    <a:pt x="1028382" y="285597"/>
                  </a:lnTo>
                  <a:lnTo>
                    <a:pt x="1047267" y="248107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5629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19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沢賢治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1019" dirty="0">
                <a:solidFill>
                  <a:srgbClr val="333333"/>
                </a:solidFill>
                <a:latin typeface="BIZ UDPゴシック"/>
                <a:cs typeface="BIZ UDPゴシック"/>
              </a:rPr>
              <a:t>：「</a:t>
            </a:r>
            <a:r>
              <a:rPr sz="1750" b="1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セロ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弾</a:t>
            </a:r>
            <a:r>
              <a:rPr sz="1750" b="1" spc="-180" dirty="0">
                <a:solidFill>
                  <a:srgbClr val="333333"/>
                </a:solidFill>
                <a:latin typeface="BIZ UDPゴシック"/>
                <a:cs typeface="BIZ UDPゴシック"/>
              </a:rPr>
              <a:t>きのゴ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20" dirty="0">
                <a:solidFill>
                  <a:srgbClr val="333333"/>
                </a:solidFill>
                <a:latin typeface="BIZ UDPゴシック"/>
                <a:cs typeface="BIZ UDPゴシック"/>
              </a:rPr>
              <a:t>シュ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に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7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し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21653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宮沢賢治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童話「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セロ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弾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きのゴ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シュ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によるヒ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リングの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原点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描</a:t>
            </a:r>
            <a:r>
              <a:rPr sz="1400" i="1" spc="-190" dirty="0">
                <a:solidFill>
                  <a:srgbClr val="333333"/>
                </a:solidFill>
                <a:latin typeface="メイリオ"/>
                <a:cs typeface="メイリオ"/>
              </a:rPr>
              <a:t>かれていま</a:t>
            </a:r>
            <a:r>
              <a:rPr sz="1400" i="1" spc="-330" dirty="0">
                <a:solidFill>
                  <a:srgbClr val="333333"/>
                </a:solidFill>
                <a:latin typeface="メイリオ"/>
                <a:cs typeface="メイリオ"/>
              </a:rPr>
              <a:t>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。⽂学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学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ぶ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本質。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物語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のあらすじ</a:t>
            </a:r>
            <a:endParaRPr sz="1450">
              <a:latin typeface="BIZ UDPゴシック"/>
              <a:cs typeface="BIZ UDPゴシック"/>
            </a:endParaRPr>
          </a:p>
          <a:p>
            <a:pPr marL="12700" marR="50165">
              <a:lnSpc>
                <a:spcPct val="129600"/>
              </a:lnSpc>
              <a:spcBef>
                <a:spcPts val="880"/>
              </a:spcBef>
            </a:pP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セロ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チェロ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奏者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のゴ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シュは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毎晩練習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励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んでいました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ある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野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ねずみの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⺟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                                                     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病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どもを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連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れて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ゴ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シュの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演奏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してほしいと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頼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みます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ゴ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シュはセロの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どもを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れて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演奏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病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ったのです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賢治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が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描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いた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⼒</a:t>
            </a:r>
            <a:endParaRPr sz="1450">
              <a:latin typeface="メイリオ"/>
              <a:cs typeface="メイリオ"/>
            </a:endParaRPr>
          </a:p>
          <a:p>
            <a:pPr marL="12700" marR="48260">
              <a:lnSpc>
                <a:spcPct val="131900"/>
              </a:lnSpc>
              <a:spcBef>
                <a:spcPts val="844"/>
              </a:spcBef>
            </a:pP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物語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50" spc="15" dirty="0">
                <a:solidFill>
                  <a:srgbClr val="333333"/>
                </a:solidFill>
                <a:latin typeface="Comic Sans MS"/>
                <a:cs typeface="Comic Sans MS"/>
              </a:rPr>
              <a:t>1930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年代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かれましたが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振動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直接作⽤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350" spc="-245" dirty="0">
                <a:solidFill>
                  <a:srgbClr val="333333"/>
                </a:solidFill>
                <a:latin typeface="SimSun"/>
                <a:cs typeface="SimSun"/>
              </a:rPr>
              <a:t>しをもたらす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原理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先取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りしていました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賢治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本質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直感的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理解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していたの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かもしれません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93040" marR="160020">
              <a:lnSpc>
                <a:spcPct val="1343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先⽣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があんばいがわるくて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にそうでございますが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先⽣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どうぞお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慈悲</a:t>
            </a:r>
            <a:r>
              <a:rPr sz="1350" spc="-62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なおしてやってくださいまし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90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37234" y="6836703"/>
            <a:ext cx="1736089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968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⽂学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関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係</a:t>
            </a:r>
            <a:r>
              <a:rPr sz="1350" spc="-155" dirty="0">
                <a:solidFill>
                  <a:srgbClr val="FFFFFF"/>
                </a:solidFill>
                <a:latin typeface="SimSun"/>
                <a:cs typeface="SimSun"/>
              </a:rPr>
              <a:t>について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詳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しくは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note</a:t>
            </a:r>
            <a:r>
              <a:rPr sz="1350" spc="-160" dirty="0">
                <a:solidFill>
                  <a:srgbClr val="FFFFFF"/>
                </a:solidFill>
                <a:latin typeface="SimSun"/>
                <a:cs typeface="SimSun"/>
              </a:rPr>
              <a:t>マガジンで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5"/>
            <a:ext cx="7063105" cy="7029450"/>
            <a:chOff x="352425" y="352435"/>
            <a:chExt cx="7063105" cy="7029450"/>
          </a:xfrm>
        </p:grpSpPr>
        <p:sp>
          <p:nvSpPr>
            <p:cNvPr id="3" name="object 3"/>
            <p:cNvSpPr/>
            <p:nvPr/>
          </p:nvSpPr>
          <p:spPr>
            <a:xfrm>
              <a:off x="376237" y="357140"/>
              <a:ext cx="7038975" cy="7019925"/>
            </a:xfrm>
            <a:custGeom>
              <a:avLst/>
              <a:gdLst/>
              <a:ahLst/>
              <a:cxnLst/>
              <a:rect l="l" t="t" r="r" b="b"/>
              <a:pathLst>
                <a:path w="7038975" h="7019925">
                  <a:moveTo>
                    <a:pt x="6936628" y="7019848"/>
                  </a:moveTo>
                  <a:lnTo>
                    <a:pt x="84545" y="7019848"/>
                  </a:lnTo>
                  <a:lnTo>
                    <a:pt x="78661" y="7019181"/>
                  </a:lnTo>
                  <a:lnTo>
                    <a:pt x="35275" y="6997454"/>
                  </a:lnTo>
                  <a:lnTo>
                    <a:pt x="11948" y="6965155"/>
                  </a:lnTo>
                  <a:lnTo>
                    <a:pt x="579" y="6924674"/>
                  </a:lnTo>
                  <a:lnTo>
                    <a:pt x="0" y="6917606"/>
                  </a:lnTo>
                  <a:lnTo>
                    <a:pt x="0" y="69103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6917606"/>
                  </a:lnTo>
                  <a:lnTo>
                    <a:pt x="7027882" y="6958831"/>
                  </a:lnTo>
                  <a:lnTo>
                    <a:pt x="7001805" y="6992911"/>
                  </a:lnTo>
                  <a:lnTo>
                    <a:pt x="6964709" y="7014266"/>
                  </a:lnTo>
                  <a:lnTo>
                    <a:pt x="6943752" y="7019181"/>
                  </a:lnTo>
                  <a:lnTo>
                    <a:pt x="6936628" y="70198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7029450"/>
            </a:xfrm>
            <a:custGeom>
              <a:avLst/>
              <a:gdLst/>
              <a:ahLst/>
              <a:cxnLst/>
              <a:rect l="l" t="t" r="r" b="b"/>
              <a:pathLst>
                <a:path w="6999605" h="7029450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74"/>
                  </a:lnTo>
                  <a:lnTo>
                    <a:pt x="6995795" y="6915112"/>
                  </a:lnTo>
                  <a:lnTo>
                    <a:pt x="6987819" y="6955218"/>
                  </a:lnTo>
                  <a:lnTo>
                    <a:pt x="6965112" y="6989204"/>
                  </a:lnTo>
                  <a:lnTo>
                    <a:pt x="6931126" y="7011949"/>
                  </a:lnTo>
                  <a:lnTo>
                    <a:pt x="6891020" y="7019925"/>
                  </a:lnTo>
                  <a:lnTo>
                    <a:pt x="52082" y="7019925"/>
                  </a:lnTo>
                  <a:lnTo>
                    <a:pt x="26085" y="7011594"/>
                  </a:lnTo>
                  <a:lnTo>
                    <a:pt x="0" y="7016813"/>
                  </a:lnTo>
                  <a:lnTo>
                    <a:pt x="40817" y="7028904"/>
                  </a:lnTo>
                  <a:lnTo>
                    <a:pt x="52082" y="7029450"/>
                  </a:lnTo>
                  <a:lnTo>
                    <a:pt x="6891020" y="7029450"/>
                  </a:lnTo>
                  <a:lnTo>
                    <a:pt x="6934771" y="7020750"/>
                  </a:lnTo>
                  <a:lnTo>
                    <a:pt x="6936511" y="7019925"/>
                  </a:lnTo>
                  <a:lnTo>
                    <a:pt x="6944957" y="7015937"/>
                  </a:lnTo>
                  <a:lnTo>
                    <a:pt x="6954545" y="7010209"/>
                  </a:lnTo>
                  <a:lnTo>
                    <a:pt x="6963499" y="7003555"/>
                  </a:lnTo>
                  <a:lnTo>
                    <a:pt x="6971843" y="6995973"/>
                  </a:lnTo>
                  <a:lnTo>
                    <a:pt x="6972300" y="6995477"/>
                  </a:lnTo>
                  <a:lnTo>
                    <a:pt x="6979425" y="6987591"/>
                  </a:lnTo>
                  <a:lnTo>
                    <a:pt x="6986079" y="6978637"/>
                  </a:lnTo>
                  <a:lnTo>
                    <a:pt x="6991807" y="6969049"/>
                  </a:lnTo>
                  <a:lnTo>
                    <a:pt x="6996620" y="6958863"/>
                  </a:lnTo>
                  <a:lnTo>
                    <a:pt x="6999071" y="6952031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5"/>
              <a:ext cx="88900" cy="7004684"/>
            </a:xfrm>
            <a:custGeom>
              <a:avLst/>
              <a:gdLst/>
              <a:ahLst/>
              <a:cxnLst/>
              <a:rect l="l" t="t" r="r" b="b"/>
              <a:pathLst>
                <a:path w="88900" h="7004684">
                  <a:moveTo>
                    <a:pt x="62523" y="7004462"/>
                  </a:moveTo>
                  <a:lnTo>
                    <a:pt x="25900" y="6975131"/>
                  </a:lnTo>
                  <a:lnTo>
                    <a:pt x="4894" y="6935784"/>
                  </a:lnTo>
                  <a:lnTo>
                    <a:pt x="0" y="69026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902655"/>
                  </a:lnTo>
                  <a:lnTo>
                    <a:pt x="52700" y="6942750"/>
                  </a:lnTo>
                  <a:lnTo>
                    <a:pt x="72022" y="6983688"/>
                  </a:lnTo>
                  <a:lnTo>
                    <a:pt x="88528" y="6999265"/>
                  </a:lnTo>
                  <a:lnTo>
                    <a:pt x="62523" y="7004462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1438275"/>
            </a:xfrm>
            <a:custGeom>
              <a:avLst/>
              <a:gdLst/>
              <a:ahLst/>
              <a:cxnLst/>
              <a:rect l="l" t="t" r="r" b="b"/>
              <a:pathLst>
                <a:path w="28575" h="14382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14382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400627"/>
              <a:ext cx="6438900" cy="561975"/>
            </a:xfrm>
            <a:custGeom>
              <a:avLst/>
              <a:gdLst/>
              <a:ahLst/>
              <a:cxnLst/>
              <a:rect l="l" t="t" r="r" b="b"/>
              <a:pathLst>
                <a:path w="6438900" h="561975">
                  <a:moveTo>
                    <a:pt x="64388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5619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400627"/>
              <a:ext cx="38100" cy="561975"/>
            </a:xfrm>
            <a:custGeom>
              <a:avLst/>
              <a:gdLst/>
              <a:ahLst/>
              <a:cxnLst/>
              <a:rect l="l" t="t" r="r" b="b"/>
              <a:pathLst>
                <a:path w="38100" h="561975">
                  <a:moveTo>
                    <a:pt x="380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619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153126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737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056"/>
                  </a:moveTo>
                  <a:lnTo>
                    <a:pt x="365379" y="29527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409"/>
                  </a:lnTo>
                  <a:lnTo>
                    <a:pt x="0" y="71056"/>
                  </a:lnTo>
                  <a:lnTo>
                    <a:pt x="0" y="304723"/>
                  </a:lnTo>
                  <a:lnTo>
                    <a:pt x="0" y="309702"/>
                  </a:lnTo>
                  <a:lnTo>
                    <a:pt x="15633" y="351078"/>
                  </a:lnTo>
                  <a:lnTo>
                    <a:pt x="51663" y="376897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02"/>
                  </a:lnTo>
                  <a:lnTo>
                    <a:pt x="381000" y="71056"/>
                  </a:lnTo>
                  <a:close/>
                </a:path>
                <a:path w="1057275" h="381000">
                  <a:moveTo>
                    <a:pt x="1057275" y="190423"/>
                  </a:moveTo>
                  <a:lnTo>
                    <a:pt x="1052144" y="148755"/>
                  </a:lnTo>
                  <a:lnTo>
                    <a:pt x="1037043" y="109601"/>
                  </a:lnTo>
                  <a:lnTo>
                    <a:pt x="1012875" y="75298"/>
                  </a:lnTo>
                  <a:lnTo>
                    <a:pt x="981087" y="47840"/>
                  </a:lnTo>
                  <a:lnTo>
                    <a:pt x="943584" y="28917"/>
                  </a:lnTo>
                  <a:lnTo>
                    <a:pt x="902639" y="19761"/>
                  </a:lnTo>
                  <a:lnTo>
                    <a:pt x="885825" y="18973"/>
                  </a:lnTo>
                  <a:lnTo>
                    <a:pt x="695325" y="18973"/>
                  </a:lnTo>
                  <a:lnTo>
                    <a:pt x="653656" y="24041"/>
                  </a:lnTo>
                  <a:lnTo>
                    <a:pt x="614514" y="39116"/>
                  </a:lnTo>
                  <a:lnTo>
                    <a:pt x="580199" y="63385"/>
                  </a:lnTo>
                  <a:lnTo>
                    <a:pt x="552780" y="95173"/>
                  </a:lnTo>
                  <a:lnTo>
                    <a:pt x="533895" y="132651"/>
                  </a:lnTo>
                  <a:lnTo>
                    <a:pt x="524700" y="173621"/>
                  </a:lnTo>
                  <a:lnTo>
                    <a:pt x="523875" y="190423"/>
                  </a:lnTo>
                  <a:lnTo>
                    <a:pt x="524090" y="198818"/>
                  </a:lnTo>
                  <a:lnTo>
                    <a:pt x="531266" y="240144"/>
                  </a:lnTo>
                  <a:lnTo>
                    <a:pt x="548271" y="278511"/>
                  </a:lnTo>
                  <a:lnTo>
                    <a:pt x="574103" y="311645"/>
                  </a:lnTo>
                  <a:lnTo>
                    <a:pt x="607199" y="337464"/>
                  </a:lnTo>
                  <a:lnTo>
                    <a:pt x="645566" y="354393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885825" y="361873"/>
                  </a:lnTo>
                  <a:lnTo>
                    <a:pt x="927506" y="356654"/>
                  </a:lnTo>
                  <a:lnTo>
                    <a:pt x="966647" y="341579"/>
                  </a:lnTo>
                  <a:lnTo>
                    <a:pt x="1000963" y="317449"/>
                  </a:lnTo>
                  <a:lnTo>
                    <a:pt x="1028382" y="285597"/>
                  </a:lnTo>
                  <a:lnTo>
                    <a:pt x="1047267" y="248145"/>
                  </a:lnTo>
                  <a:lnTo>
                    <a:pt x="1056462" y="207175"/>
                  </a:lnTo>
                  <a:lnTo>
                    <a:pt x="1057275" y="190423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49722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別深堀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統合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療</a:t>
            </a:r>
            <a:r>
              <a:rPr sz="1750" b="1" spc="-150" dirty="0">
                <a:solidFill>
                  <a:srgbClr val="333333"/>
                </a:solidFill>
                <a:latin typeface="BIZ UDPゴシック"/>
                <a:cs typeface="BIZ UDPゴシック"/>
              </a:rPr>
              <a:t>としての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世界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師</a:t>
            </a:r>
            <a:r>
              <a:rPr sz="1750" b="1" spc="-180" dirty="0">
                <a:solidFill>
                  <a:srgbClr val="333333"/>
                </a:solidFill>
                <a:latin typeface="BIZ UDPゴシック"/>
                <a:cs typeface="BIZ UDPゴシック"/>
              </a:rPr>
              <a:t>たちが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認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める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291465">
              <a:lnSpc>
                <a:spcPct val="129500"/>
              </a:lnSpc>
            </a:pPr>
            <a:r>
              <a:rPr sz="1400" i="1" spc="-254" dirty="0">
                <a:solidFill>
                  <a:srgbClr val="333333"/>
                </a:solidFill>
                <a:latin typeface="メイリオ"/>
                <a:cs typeface="メイリオ"/>
              </a:rPr>
              <a:t>ゲイナ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ー博⼠、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ワイル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博⼠、</a:t>
            </a:r>
            <a:r>
              <a:rPr sz="1400" i="1" spc="-330" dirty="0">
                <a:solidFill>
                  <a:srgbClr val="333333"/>
                </a:solidFill>
                <a:latin typeface="メイリオ"/>
                <a:cs typeface="メイリオ"/>
              </a:rPr>
              <a:t>ピ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</a:t>
            </a:r>
            <a:r>
              <a:rPr sz="1350" i="1" spc="-31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ズ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世界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著名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医師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たちが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なぜ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認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め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、治療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れているのか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統合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医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療</a:t>
            </a:r>
            <a:r>
              <a:rPr sz="1450" b="1" spc="-75" dirty="0">
                <a:solidFill>
                  <a:srgbClr val="2D5926"/>
                </a:solidFill>
                <a:latin typeface="BIZ UDPゴシック"/>
                <a:cs typeface="BIZ UDPゴシック"/>
              </a:rPr>
              <a:t>とは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46355">
              <a:lnSpc>
                <a:spcPct val="129600"/>
              </a:lnSpc>
              <a:spcBef>
                <a:spcPts val="880"/>
              </a:spcBef>
            </a:pP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統合医療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とは</a:t>
            </a:r>
            <a:r>
              <a:rPr sz="1300" spc="67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現代⻄洋医学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代替</a:t>
            </a:r>
            <a:r>
              <a:rPr sz="1300" spc="109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補完医療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組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わせた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医療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アプロ</a:t>
            </a:r>
            <a:r>
              <a:rPr sz="1300" spc="-5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210" dirty="0" err="1">
                <a:solidFill>
                  <a:srgbClr val="333333"/>
                </a:solidFill>
                <a:latin typeface="SimSun"/>
                <a:cs typeface="SimSun"/>
              </a:rPr>
              <a:t>チです</a:t>
            </a:r>
            <a:r>
              <a:rPr sz="1300" spc="67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薬</a:t>
            </a:r>
            <a:r>
              <a:rPr lang="ja-JP" altLang="en-US" sz="1350" spc="-635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だけでなく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⾷事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運動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楽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67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様</a:t>
            </a:r>
            <a:r>
              <a:rPr sz="1300" spc="-105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⼿法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統合</a:t>
            </a:r>
            <a:r>
              <a:rPr sz="1350" spc="-204" dirty="0" err="1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lang="ja-JP" altLang="en-US" sz="1300" spc="-105" dirty="0">
                <a:solidFill>
                  <a:srgbClr val="333333"/>
                </a:solidFill>
                <a:latin typeface="メイリオ"/>
                <a:cs typeface="メイリオ"/>
              </a:rPr>
              <a:t>さん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350" spc="-165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 err="1">
                <a:solidFill>
                  <a:srgbClr val="333333"/>
                </a:solidFill>
                <a:latin typeface="メイリオ"/>
                <a:cs typeface="メイリオ"/>
              </a:rPr>
              <a:t>⽀</a:t>
            </a:r>
            <a:r>
              <a:rPr sz="1350" spc="-210" dirty="0" err="1">
                <a:solidFill>
                  <a:srgbClr val="333333"/>
                </a:solidFill>
                <a:latin typeface="SimSun"/>
                <a:cs typeface="SimSun"/>
              </a:rPr>
              <a:t>えます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活⽤</a:t>
            </a:r>
            <a:r>
              <a:rPr sz="1450" b="1" spc="-130" dirty="0">
                <a:solidFill>
                  <a:srgbClr val="2D5926"/>
                </a:solidFill>
                <a:latin typeface="BIZ UDPゴシック"/>
                <a:cs typeface="BIZ UDPゴシック"/>
              </a:rPr>
              <a:t>する医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師</a:t>
            </a:r>
            <a:r>
              <a:rPr sz="1450" b="1" spc="-95" dirty="0">
                <a:solidFill>
                  <a:srgbClr val="2D5926"/>
                </a:solidFill>
                <a:latin typeface="BIZ UDPゴシック"/>
                <a:cs typeface="BIZ UDPゴシック"/>
              </a:rPr>
              <a:t>たち</a:t>
            </a:r>
            <a:endParaRPr sz="14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ミッチェル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ゲイナ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がん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lang="ja-JP" alt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さん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lang="ja-JP" altLang="en-US" sz="1300" spc="1090" dirty="0">
                <a:solidFill>
                  <a:srgbClr val="333333"/>
                </a:solidFill>
                <a:latin typeface="BIZ UDPゴシック"/>
                <a:cs typeface="SimSun"/>
              </a:rPr>
              <a:t>「</a:t>
            </a:r>
            <a:r>
              <a:rPr lang="ja-JP" altLang="en-US" sz="1350" spc="-60" dirty="0">
                <a:solidFill>
                  <a:srgbClr val="333333"/>
                </a:solidFill>
                <a:latin typeface="Comic Sans MS"/>
                <a:cs typeface="Comic Sans MS"/>
              </a:rPr>
              <a:t>自然音と体感音響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アンドリュ</a:t>
            </a:r>
            <a:r>
              <a:rPr sz="1300" spc="335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ワイル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：「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⾃発的治癒⼒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⼿段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推奨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ロナルド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85" dirty="0">
                <a:solidFill>
                  <a:srgbClr val="333333"/>
                </a:solidFill>
                <a:latin typeface="SimSun"/>
                <a:cs typeface="SimSun"/>
              </a:rPr>
              <a:t>ピ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204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5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endParaRPr sz="130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200" dirty="0">
              <a:latin typeface="SimSun"/>
              <a:cs typeface="SimSun"/>
            </a:endParaRPr>
          </a:p>
          <a:p>
            <a:pPr marL="193040">
              <a:lnSpc>
                <a:spcPct val="1000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全宇宙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である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ミッチェル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ゲイナ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endParaRPr sz="1300" dirty="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91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30958" y="6284253"/>
            <a:ext cx="214884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43865" marR="5080" indent="-431800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統合医療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⾳</a:t>
            </a:r>
            <a:r>
              <a:rPr sz="1350" spc="-190" dirty="0">
                <a:solidFill>
                  <a:srgbClr val="FFFFFF"/>
                </a:solidFill>
                <a:latin typeface="SimSun"/>
                <a:cs typeface="SimSun"/>
              </a:rPr>
              <a:t>についての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事</a:t>
            </a:r>
            <a:r>
              <a:rPr sz="1350" spc="-85" dirty="0">
                <a:solidFill>
                  <a:srgbClr val="FFFFFF"/>
                </a:solidFill>
                <a:latin typeface="SimSun"/>
                <a:cs typeface="SimSun"/>
              </a:rPr>
              <a:t>を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定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期配信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6"/>
            <a:ext cx="7063105" cy="7724775"/>
            <a:chOff x="352425" y="352436"/>
            <a:chExt cx="7063105" cy="7724775"/>
          </a:xfrm>
        </p:grpSpPr>
        <p:sp>
          <p:nvSpPr>
            <p:cNvPr id="3" name="object 3"/>
            <p:cNvSpPr/>
            <p:nvPr/>
          </p:nvSpPr>
          <p:spPr>
            <a:xfrm>
              <a:off x="376237" y="357216"/>
              <a:ext cx="7038975" cy="7715250"/>
            </a:xfrm>
            <a:custGeom>
              <a:avLst/>
              <a:gdLst/>
              <a:ahLst/>
              <a:cxnLst/>
              <a:rect l="l" t="t" r="r" b="b"/>
              <a:pathLst>
                <a:path w="7038975" h="7715250">
                  <a:moveTo>
                    <a:pt x="6936628" y="7715173"/>
                  </a:moveTo>
                  <a:lnTo>
                    <a:pt x="84545" y="7715173"/>
                  </a:lnTo>
                  <a:lnTo>
                    <a:pt x="78661" y="7714430"/>
                  </a:lnTo>
                  <a:lnTo>
                    <a:pt x="35275" y="7692703"/>
                  </a:lnTo>
                  <a:lnTo>
                    <a:pt x="11948" y="7660480"/>
                  </a:lnTo>
                  <a:lnTo>
                    <a:pt x="579" y="7619846"/>
                  </a:lnTo>
                  <a:lnTo>
                    <a:pt x="0" y="7612779"/>
                  </a:lnTo>
                  <a:lnTo>
                    <a:pt x="0" y="7605635"/>
                  </a:lnTo>
                  <a:lnTo>
                    <a:pt x="0" y="102241"/>
                  </a:lnTo>
                  <a:lnTo>
                    <a:pt x="9161" y="60721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6985"/>
                  </a:lnTo>
                  <a:lnTo>
                    <a:pt x="7033387" y="74037"/>
                  </a:lnTo>
                  <a:lnTo>
                    <a:pt x="7038973" y="102241"/>
                  </a:lnTo>
                  <a:lnTo>
                    <a:pt x="7038973" y="7612779"/>
                  </a:lnTo>
                  <a:lnTo>
                    <a:pt x="7027882" y="7654156"/>
                  </a:lnTo>
                  <a:lnTo>
                    <a:pt x="7001805" y="7688236"/>
                  </a:lnTo>
                  <a:lnTo>
                    <a:pt x="6964709" y="7709515"/>
                  </a:lnTo>
                  <a:lnTo>
                    <a:pt x="6943752" y="7714430"/>
                  </a:lnTo>
                  <a:lnTo>
                    <a:pt x="6936628" y="77151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7724775"/>
            </a:xfrm>
            <a:custGeom>
              <a:avLst/>
              <a:gdLst/>
              <a:ahLst/>
              <a:cxnLst/>
              <a:rect l="l" t="t" r="r" b="b"/>
              <a:pathLst>
                <a:path w="6999605" h="7724775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74"/>
                  </a:lnTo>
                  <a:lnTo>
                    <a:pt x="6995795" y="7610449"/>
                  </a:lnTo>
                  <a:lnTo>
                    <a:pt x="6987819" y="7650543"/>
                  </a:lnTo>
                  <a:lnTo>
                    <a:pt x="6965112" y="7684529"/>
                  </a:lnTo>
                  <a:lnTo>
                    <a:pt x="6931126" y="7707274"/>
                  </a:lnTo>
                  <a:lnTo>
                    <a:pt x="6891020" y="7715250"/>
                  </a:lnTo>
                  <a:lnTo>
                    <a:pt x="52082" y="7715250"/>
                  </a:lnTo>
                  <a:lnTo>
                    <a:pt x="26085" y="7706919"/>
                  </a:lnTo>
                  <a:lnTo>
                    <a:pt x="0" y="7712138"/>
                  </a:lnTo>
                  <a:lnTo>
                    <a:pt x="40817" y="7724229"/>
                  </a:lnTo>
                  <a:lnTo>
                    <a:pt x="52082" y="7724775"/>
                  </a:lnTo>
                  <a:lnTo>
                    <a:pt x="6891020" y="7724775"/>
                  </a:lnTo>
                  <a:lnTo>
                    <a:pt x="6934771" y="7716075"/>
                  </a:lnTo>
                  <a:lnTo>
                    <a:pt x="6936511" y="7715250"/>
                  </a:lnTo>
                  <a:lnTo>
                    <a:pt x="6944957" y="7711262"/>
                  </a:lnTo>
                  <a:lnTo>
                    <a:pt x="6954545" y="7705534"/>
                  </a:lnTo>
                  <a:lnTo>
                    <a:pt x="6963499" y="7698880"/>
                  </a:lnTo>
                  <a:lnTo>
                    <a:pt x="6971843" y="7691298"/>
                  </a:lnTo>
                  <a:lnTo>
                    <a:pt x="6972300" y="7690802"/>
                  </a:lnTo>
                  <a:lnTo>
                    <a:pt x="6979425" y="7682916"/>
                  </a:lnTo>
                  <a:lnTo>
                    <a:pt x="6986079" y="7673962"/>
                  </a:lnTo>
                  <a:lnTo>
                    <a:pt x="6991807" y="7664374"/>
                  </a:lnTo>
                  <a:lnTo>
                    <a:pt x="6996620" y="7654188"/>
                  </a:lnTo>
                  <a:lnTo>
                    <a:pt x="6999071" y="7647356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5"/>
              <a:ext cx="88900" cy="7700009"/>
            </a:xfrm>
            <a:custGeom>
              <a:avLst/>
              <a:gdLst/>
              <a:ahLst/>
              <a:cxnLst/>
              <a:rect l="l" t="t" r="r" b="b"/>
              <a:pathLst>
                <a:path w="88900" h="7700009">
                  <a:moveTo>
                    <a:pt x="62524" y="7699786"/>
                  </a:moveTo>
                  <a:lnTo>
                    <a:pt x="25900" y="7670456"/>
                  </a:lnTo>
                  <a:lnTo>
                    <a:pt x="4894" y="7631110"/>
                  </a:lnTo>
                  <a:lnTo>
                    <a:pt x="0" y="75979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597980"/>
                  </a:lnTo>
                  <a:lnTo>
                    <a:pt x="52700" y="7638075"/>
                  </a:lnTo>
                  <a:lnTo>
                    <a:pt x="72022" y="7679012"/>
                  </a:lnTo>
                  <a:lnTo>
                    <a:pt x="88529" y="7694590"/>
                  </a:lnTo>
                  <a:lnTo>
                    <a:pt x="62524" y="76997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2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33"/>
                  </a:lnTo>
                  <a:lnTo>
                    <a:pt x="29705" y="822426"/>
                  </a:lnTo>
                  <a:lnTo>
                    <a:pt x="3885" y="786402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066"/>
                  </a:lnTo>
                  <a:lnTo>
                    <a:pt x="15621" y="29537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066"/>
                  </a:lnTo>
                  <a:lnTo>
                    <a:pt x="6438899" y="766905"/>
                  </a:lnTo>
                  <a:lnTo>
                    <a:pt x="6423277" y="808281"/>
                  </a:lnTo>
                  <a:lnTo>
                    <a:pt x="6387236" y="834104"/>
                  </a:lnTo>
                  <a:lnTo>
                    <a:pt x="6372658" y="837599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3438525"/>
            </a:xfrm>
            <a:custGeom>
              <a:avLst/>
              <a:gdLst/>
              <a:ahLst/>
              <a:cxnLst/>
              <a:rect l="l" t="t" r="r" b="b"/>
              <a:pathLst>
                <a:path w="28575" h="3438525">
                  <a:moveTo>
                    <a:pt x="28575" y="3133725"/>
                  </a:moveTo>
                  <a:lnTo>
                    <a:pt x="0" y="3133725"/>
                  </a:lnTo>
                  <a:lnTo>
                    <a:pt x="0" y="3438525"/>
                  </a:lnTo>
                  <a:lnTo>
                    <a:pt x="28575" y="3438525"/>
                  </a:lnTo>
                  <a:lnTo>
                    <a:pt x="28575" y="3133725"/>
                  </a:lnTo>
                  <a:close/>
                </a:path>
                <a:path w="28575" h="3438525">
                  <a:moveTo>
                    <a:pt x="28575" y="2276475"/>
                  </a:moveTo>
                  <a:lnTo>
                    <a:pt x="0" y="2276475"/>
                  </a:lnTo>
                  <a:lnTo>
                    <a:pt x="0" y="2571750"/>
                  </a:lnTo>
                  <a:lnTo>
                    <a:pt x="28575" y="2571750"/>
                  </a:lnTo>
                  <a:lnTo>
                    <a:pt x="28575" y="2276475"/>
                  </a:lnTo>
                  <a:close/>
                </a:path>
                <a:path w="28575" h="343852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34385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848452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08"/>
                  </a:moveTo>
                  <a:lnTo>
                    <a:pt x="365379" y="29603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562"/>
                  </a:lnTo>
                  <a:lnTo>
                    <a:pt x="0" y="71208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307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208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55"/>
                  </a:lnTo>
                  <a:lnTo>
                    <a:pt x="1037043" y="109639"/>
                  </a:lnTo>
                  <a:lnTo>
                    <a:pt x="1012875" y="75311"/>
                  </a:lnTo>
                  <a:lnTo>
                    <a:pt x="981087" y="47777"/>
                  </a:lnTo>
                  <a:lnTo>
                    <a:pt x="943584" y="28968"/>
                  </a:lnTo>
                  <a:lnTo>
                    <a:pt x="902639" y="19939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30"/>
                  </a:lnTo>
                  <a:lnTo>
                    <a:pt x="614514" y="39179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472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57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692"/>
                  </a:lnTo>
                  <a:lnTo>
                    <a:pt x="966647" y="341579"/>
                  </a:lnTo>
                  <a:lnTo>
                    <a:pt x="1000963" y="317449"/>
                  </a:lnTo>
                  <a:lnTo>
                    <a:pt x="1028382" y="285597"/>
                  </a:lnTo>
                  <a:lnTo>
                    <a:pt x="1047267" y="248183"/>
                  </a:lnTo>
                  <a:lnTo>
                    <a:pt x="1056462" y="207289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399530" cy="5926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21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朝活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める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めから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出勤</a:t>
            </a:r>
            <a:r>
              <a:rPr sz="1750" b="1" spc="-95" dirty="0">
                <a:solidFill>
                  <a:srgbClr val="333333"/>
                </a:solidFill>
                <a:latin typeface="BIZ UDPゴシック"/>
                <a:cs typeface="BIZ UDPゴシック"/>
              </a:rPr>
              <a:t>まで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19621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過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ごし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400" i="1" spc="15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決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まる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、⼼⾝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う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ティンを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具体的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ご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紹介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起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床前</a:t>
            </a:r>
            <a:r>
              <a:rPr sz="1450" b="1" spc="390" dirty="0">
                <a:solidFill>
                  <a:srgbClr val="2D5926"/>
                </a:solidFill>
                <a:latin typeface="BIZ UDPゴシック"/>
                <a:cs typeface="BIZ UDPゴシック"/>
              </a:rPr>
              <a:t>（</a:t>
            </a:r>
            <a:r>
              <a:rPr sz="1550" b="1" spc="390" dirty="0">
                <a:solidFill>
                  <a:srgbClr val="2D5926"/>
                </a:solidFill>
                <a:latin typeface="Comic Sans MS"/>
                <a:cs typeface="Comic Sans MS"/>
              </a:rPr>
              <a:t>-</a:t>
            </a:r>
            <a:r>
              <a:rPr sz="1550" b="1" dirty="0">
                <a:solidFill>
                  <a:srgbClr val="2D5926"/>
                </a:solidFill>
                <a:latin typeface="Comic Sans MS"/>
                <a:cs typeface="Comic Sans MS"/>
              </a:rPr>
              <a:t>30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分</a:t>
            </a:r>
            <a:r>
              <a:rPr sz="1450" b="1" spc="1135" dirty="0">
                <a:solidFill>
                  <a:srgbClr val="2D5926"/>
                </a:solidFill>
                <a:latin typeface="BIZ UDPゴシック"/>
                <a:cs typeface="BIZ UDPゴシック"/>
              </a:rPr>
              <a:t>）</a:t>
            </a:r>
            <a:endParaRPr sz="1450">
              <a:latin typeface="BIZ UDPゴシック"/>
              <a:cs typeface="BIZ UDPゴシック"/>
            </a:endParaRPr>
          </a:p>
          <a:p>
            <a:pPr marL="12700" marR="155575">
              <a:lnSpc>
                <a:spcPct val="129600"/>
              </a:lnSpc>
              <a:spcBef>
                <a:spcPts val="860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まし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わりに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⼩⿃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のさえずりを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めます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徐</a:t>
            </a:r>
            <a:r>
              <a:rPr sz="1300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覚醒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⽬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覚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                                 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急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なアラ</a:t>
            </a:r>
            <a:r>
              <a:rPr sz="1300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ム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による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緊急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事態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モ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めとは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スタ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トの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違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起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床後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（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5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分</a:t>
            </a:r>
            <a:r>
              <a:rPr sz="1450" b="1" spc="1135" dirty="0">
                <a:solidFill>
                  <a:srgbClr val="2D5926"/>
                </a:solidFill>
                <a:latin typeface="BIZ UDPゴシック"/>
                <a:cs typeface="BIZ UDPゴシック"/>
              </a:rPr>
              <a:t>）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34300"/>
              </a:lnSpc>
              <a:spcBef>
                <a:spcPts val="785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そのまま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きながら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ゆっくりと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伸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ばします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50" spc="-100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前向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準備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朝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⾷時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のせせらぎを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リラックスしながら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⾷事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ることで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消化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良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くなります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出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勤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準備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中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準備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ができます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92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08982" y="6979578"/>
            <a:ext cx="13925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6040" marR="5080" indent="-539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朝⽤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プレイリストを</a:t>
            </a:r>
            <a:r>
              <a:rPr sz="1350" spc="-10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7"/>
            <a:ext cx="7063105" cy="7962900"/>
            <a:chOff x="352425" y="352437"/>
            <a:chExt cx="7063105" cy="7962900"/>
          </a:xfrm>
        </p:grpSpPr>
        <p:sp>
          <p:nvSpPr>
            <p:cNvPr id="3" name="object 3"/>
            <p:cNvSpPr/>
            <p:nvPr/>
          </p:nvSpPr>
          <p:spPr>
            <a:xfrm>
              <a:off x="376237" y="357139"/>
              <a:ext cx="7038975" cy="7953375"/>
            </a:xfrm>
            <a:custGeom>
              <a:avLst/>
              <a:gdLst/>
              <a:ahLst/>
              <a:cxnLst/>
              <a:rect l="l" t="t" r="r" b="b"/>
              <a:pathLst>
                <a:path w="7038975" h="7953375">
                  <a:moveTo>
                    <a:pt x="6936628" y="7953298"/>
                  </a:moveTo>
                  <a:lnTo>
                    <a:pt x="84545" y="7953298"/>
                  </a:lnTo>
                  <a:lnTo>
                    <a:pt x="78661" y="7952631"/>
                  </a:lnTo>
                  <a:lnTo>
                    <a:pt x="35275" y="7930828"/>
                  </a:lnTo>
                  <a:lnTo>
                    <a:pt x="11948" y="7898605"/>
                  </a:lnTo>
                  <a:lnTo>
                    <a:pt x="579" y="7858048"/>
                  </a:lnTo>
                  <a:lnTo>
                    <a:pt x="0" y="7850980"/>
                  </a:lnTo>
                  <a:lnTo>
                    <a:pt x="0" y="784383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85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850980"/>
                  </a:lnTo>
                  <a:lnTo>
                    <a:pt x="7027882" y="7892281"/>
                  </a:lnTo>
                  <a:lnTo>
                    <a:pt x="7001805" y="7926285"/>
                  </a:lnTo>
                  <a:lnTo>
                    <a:pt x="6964709" y="7947716"/>
                  </a:lnTo>
                  <a:lnTo>
                    <a:pt x="6943752" y="7952631"/>
                  </a:lnTo>
                  <a:lnTo>
                    <a:pt x="6936628" y="79532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7962900"/>
            </a:xfrm>
            <a:custGeom>
              <a:avLst/>
              <a:gdLst/>
              <a:ahLst/>
              <a:cxnLst/>
              <a:rect l="l" t="t" r="r" b="b"/>
              <a:pathLst>
                <a:path w="6999605" h="7962900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74"/>
                  </a:lnTo>
                  <a:lnTo>
                    <a:pt x="6995795" y="7848574"/>
                  </a:lnTo>
                  <a:lnTo>
                    <a:pt x="6987819" y="7888668"/>
                  </a:lnTo>
                  <a:lnTo>
                    <a:pt x="6965112" y="7922654"/>
                  </a:lnTo>
                  <a:lnTo>
                    <a:pt x="6931126" y="7945399"/>
                  </a:lnTo>
                  <a:lnTo>
                    <a:pt x="6891020" y="7953375"/>
                  </a:lnTo>
                  <a:lnTo>
                    <a:pt x="52082" y="7953375"/>
                  </a:lnTo>
                  <a:lnTo>
                    <a:pt x="26085" y="7945044"/>
                  </a:lnTo>
                  <a:lnTo>
                    <a:pt x="0" y="7950263"/>
                  </a:lnTo>
                  <a:lnTo>
                    <a:pt x="40817" y="7962354"/>
                  </a:lnTo>
                  <a:lnTo>
                    <a:pt x="52082" y="7962900"/>
                  </a:lnTo>
                  <a:lnTo>
                    <a:pt x="6891020" y="7962900"/>
                  </a:lnTo>
                  <a:lnTo>
                    <a:pt x="6934771" y="7954200"/>
                  </a:lnTo>
                  <a:lnTo>
                    <a:pt x="6936511" y="7953375"/>
                  </a:lnTo>
                  <a:lnTo>
                    <a:pt x="6944957" y="7949387"/>
                  </a:lnTo>
                  <a:lnTo>
                    <a:pt x="6954545" y="7943659"/>
                  </a:lnTo>
                  <a:lnTo>
                    <a:pt x="6963499" y="7937005"/>
                  </a:lnTo>
                  <a:lnTo>
                    <a:pt x="6971843" y="7929423"/>
                  </a:lnTo>
                  <a:lnTo>
                    <a:pt x="6972300" y="7928927"/>
                  </a:lnTo>
                  <a:lnTo>
                    <a:pt x="6979425" y="7921041"/>
                  </a:lnTo>
                  <a:lnTo>
                    <a:pt x="6986079" y="7912087"/>
                  </a:lnTo>
                  <a:lnTo>
                    <a:pt x="6991807" y="7902499"/>
                  </a:lnTo>
                  <a:lnTo>
                    <a:pt x="6996620" y="7892313"/>
                  </a:lnTo>
                  <a:lnTo>
                    <a:pt x="6999071" y="7885481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6"/>
              <a:ext cx="88900" cy="7938134"/>
            </a:xfrm>
            <a:custGeom>
              <a:avLst/>
              <a:gdLst/>
              <a:ahLst/>
              <a:cxnLst/>
              <a:rect l="l" t="t" r="r" b="b"/>
              <a:pathLst>
                <a:path w="88900" h="7938134">
                  <a:moveTo>
                    <a:pt x="62524" y="7937911"/>
                  </a:moveTo>
                  <a:lnTo>
                    <a:pt x="25900" y="7908581"/>
                  </a:lnTo>
                  <a:lnTo>
                    <a:pt x="4894" y="7869235"/>
                  </a:lnTo>
                  <a:lnTo>
                    <a:pt x="0" y="78361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836105"/>
                  </a:lnTo>
                  <a:lnTo>
                    <a:pt x="52700" y="7876200"/>
                  </a:lnTo>
                  <a:lnTo>
                    <a:pt x="72022" y="7917138"/>
                  </a:lnTo>
                  <a:lnTo>
                    <a:pt x="88529" y="7932715"/>
                  </a:lnTo>
                  <a:lnTo>
                    <a:pt x="62524" y="793791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510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3400425"/>
            </a:xfrm>
            <a:custGeom>
              <a:avLst/>
              <a:gdLst/>
              <a:ahLst/>
              <a:cxnLst/>
              <a:rect l="l" t="t" r="r" b="b"/>
              <a:pathLst>
                <a:path w="28575" h="3400425">
                  <a:moveTo>
                    <a:pt x="28575" y="3095625"/>
                  </a:moveTo>
                  <a:lnTo>
                    <a:pt x="0" y="3095625"/>
                  </a:lnTo>
                  <a:lnTo>
                    <a:pt x="0" y="3400425"/>
                  </a:lnTo>
                  <a:lnTo>
                    <a:pt x="28575" y="3400425"/>
                  </a:lnTo>
                  <a:lnTo>
                    <a:pt x="28575" y="3095625"/>
                  </a:lnTo>
                  <a:close/>
                </a:path>
                <a:path w="28575" h="3400425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3400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086577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08"/>
                  </a:moveTo>
                  <a:lnTo>
                    <a:pt x="365379" y="29679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638"/>
                  </a:lnTo>
                  <a:lnTo>
                    <a:pt x="0" y="71208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307"/>
                  </a:lnTo>
                  <a:lnTo>
                    <a:pt x="51663" y="37712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66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208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05"/>
                  </a:lnTo>
                  <a:lnTo>
                    <a:pt x="1037043" y="109639"/>
                  </a:lnTo>
                  <a:lnTo>
                    <a:pt x="1012875" y="75298"/>
                  </a:lnTo>
                  <a:lnTo>
                    <a:pt x="981087" y="47777"/>
                  </a:lnTo>
                  <a:lnTo>
                    <a:pt x="943584" y="29006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206"/>
                  </a:lnTo>
                  <a:lnTo>
                    <a:pt x="614514" y="39204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727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95"/>
                  </a:lnTo>
                  <a:lnTo>
                    <a:pt x="548271" y="278498"/>
                  </a:lnTo>
                  <a:lnTo>
                    <a:pt x="574103" y="311645"/>
                  </a:lnTo>
                  <a:lnTo>
                    <a:pt x="607199" y="337464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79"/>
                  </a:lnTo>
                  <a:lnTo>
                    <a:pt x="1000963" y="317449"/>
                  </a:lnTo>
                  <a:lnTo>
                    <a:pt x="1028382" y="285597"/>
                  </a:lnTo>
                  <a:lnTo>
                    <a:pt x="1047267" y="248158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330315" cy="57845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22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リモ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40" dirty="0">
                <a:solidFill>
                  <a:srgbClr val="333333"/>
                </a:solidFill>
                <a:latin typeface="BIZ UDPゴシック"/>
                <a:cs typeface="BIZ UDPゴシック"/>
              </a:rPr>
              <a:t>トワ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dirty="0">
                <a:solidFill>
                  <a:srgbClr val="333333"/>
                </a:solidFill>
                <a:latin typeface="BIZ UDPゴシック"/>
                <a:cs typeface="BIZ UDPゴシック"/>
              </a:rPr>
              <a:t>ク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在宅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勤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務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集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中⼒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上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げる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り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12255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だと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集中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できない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ダラダラしてしまう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リモ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トワ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クの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悩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、⾳環境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解決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するメソッドをご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紹介。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宅の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問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題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点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テレビ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騒⾳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などの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誘惑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オンオフの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えが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難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しい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孤独感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やモチベ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ション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endParaRPr sz="13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環境の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整</a:t>
            </a:r>
            <a:r>
              <a:rPr sz="1450" b="1" spc="-65" dirty="0">
                <a:solidFill>
                  <a:srgbClr val="2D5926"/>
                </a:solidFill>
                <a:latin typeface="BIZ UDPゴシック"/>
                <a:cs typeface="BIZ UDPゴシック"/>
              </a:rPr>
              <a:t>え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⽅</a:t>
            </a:r>
            <a:endParaRPr sz="1450" dirty="0">
              <a:latin typeface="メイリオ"/>
              <a:cs typeface="メイリオ"/>
            </a:endParaRPr>
          </a:p>
          <a:p>
            <a:pPr marL="200660" indent="-187960">
              <a:lnSpc>
                <a:spcPct val="100000"/>
              </a:lnSpc>
              <a:spcBef>
                <a:spcPts val="1360"/>
              </a:spcBef>
              <a:buSzPct val="103846"/>
              <a:buFont typeface="Comic Sans MS"/>
              <a:buAutoNum type="arabicPeriod"/>
              <a:tabLst>
                <a:tab pos="20066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仕事開始前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スイッチ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集中作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業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のせせらぎを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 dirty="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480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憩時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でリフレッシュ</a:t>
            </a:r>
            <a:endParaRPr sz="1350" dirty="0">
              <a:latin typeface="SimSun"/>
              <a:cs typeface="SimSun"/>
            </a:endParaRPr>
          </a:p>
          <a:p>
            <a:pPr marL="199390" indent="-18669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仕事終了時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終了⾳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⼣暮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れの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35" dirty="0">
                <a:solidFill>
                  <a:srgbClr val="2D5926"/>
                </a:solidFill>
                <a:latin typeface="BIZ UDPゴシック"/>
                <a:cs typeface="BIZ UDPゴシック"/>
              </a:rPr>
              <a:t>ポイント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5080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⾳量</a:t>
            </a:r>
            <a:r>
              <a:rPr lang="ja-JP" altLang="en-US"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はここちよいと感じるレベルがいいでしょう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lang="ja-JP" alt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スピーカを顔の近くにおき、音を小さくしながら音のシャワーを浴びるようにするのも気分転換にお勧めです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93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51782" y="7217703"/>
            <a:ext cx="23069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23240" marR="5080" indent="-511175">
              <a:lnSpc>
                <a:spcPct val="134300"/>
              </a:lnSpc>
              <a:spcBef>
                <a:spcPts val="60"/>
              </a:spcBef>
            </a:pP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リモ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トワ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ク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⽤</a:t>
            </a:r>
            <a:r>
              <a:rPr sz="1350" spc="-165" dirty="0">
                <a:solidFill>
                  <a:srgbClr val="FFFFFF"/>
                </a:solidFill>
                <a:latin typeface="SimSun"/>
                <a:cs typeface="SimSun"/>
              </a:rPr>
              <a:t>プレイリストを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8"/>
            <a:ext cx="7063105" cy="8458200"/>
            <a:chOff x="352425" y="352438"/>
            <a:chExt cx="7063105" cy="8458200"/>
          </a:xfrm>
        </p:grpSpPr>
        <p:sp>
          <p:nvSpPr>
            <p:cNvPr id="3" name="object 3"/>
            <p:cNvSpPr/>
            <p:nvPr/>
          </p:nvSpPr>
          <p:spPr>
            <a:xfrm>
              <a:off x="376237" y="357139"/>
              <a:ext cx="7038975" cy="8448675"/>
            </a:xfrm>
            <a:custGeom>
              <a:avLst/>
              <a:gdLst/>
              <a:ahLst/>
              <a:cxnLst/>
              <a:rect l="l" t="t" r="r" b="b"/>
              <a:pathLst>
                <a:path w="7038975" h="8448675">
                  <a:moveTo>
                    <a:pt x="6936628" y="8448598"/>
                  </a:moveTo>
                  <a:lnTo>
                    <a:pt x="84545" y="8448598"/>
                  </a:lnTo>
                  <a:lnTo>
                    <a:pt x="78661" y="8447855"/>
                  </a:lnTo>
                  <a:lnTo>
                    <a:pt x="35275" y="8426052"/>
                  </a:lnTo>
                  <a:lnTo>
                    <a:pt x="11948" y="8393829"/>
                  </a:lnTo>
                  <a:lnTo>
                    <a:pt x="579" y="8353348"/>
                  </a:lnTo>
                  <a:lnTo>
                    <a:pt x="0" y="8346280"/>
                  </a:lnTo>
                  <a:lnTo>
                    <a:pt x="0" y="83391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7012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346280"/>
                  </a:lnTo>
                  <a:lnTo>
                    <a:pt x="7027882" y="8387580"/>
                  </a:lnTo>
                  <a:lnTo>
                    <a:pt x="7001805" y="8421509"/>
                  </a:lnTo>
                  <a:lnTo>
                    <a:pt x="6964709" y="8442940"/>
                  </a:lnTo>
                  <a:lnTo>
                    <a:pt x="6943752" y="8447855"/>
                  </a:lnTo>
                  <a:lnTo>
                    <a:pt x="6936628" y="8448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8458200"/>
            </a:xfrm>
            <a:custGeom>
              <a:avLst/>
              <a:gdLst/>
              <a:ahLst/>
              <a:cxnLst/>
              <a:rect l="l" t="t" r="r" b="b"/>
              <a:pathLst>
                <a:path w="6999605" h="8458200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77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8343874"/>
                  </a:lnTo>
                  <a:lnTo>
                    <a:pt x="6987819" y="8383968"/>
                  </a:lnTo>
                  <a:lnTo>
                    <a:pt x="6965112" y="8417954"/>
                  </a:lnTo>
                  <a:lnTo>
                    <a:pt x="6931126" y="8440699"/>
                  </a:lnTo>
                  <a:lnTo>
                    <a:pt x="6891020" y="8448675"/>
                  </a:lnTo>
                  <a:lnTo>
                    <a:pt x="52082" y="8448675"/>
                  </a:lnTo>
                  <a:lnTo>
                    <a:pt x="26085" y="8440356"/>
                  </a:lnTo>
                  <a:lnTo>
                    <a:pt x="0" y="8445563"/>
                  </a:lnTo>
                  <a:lnTo>
                    <a:pt x="40817" y="8457667"/>
                  </a:lnTo>
                  <a:lnTo>
                    <a:pt x="52082" y="8458200"/>
                  </a:lnTo>
                  <a:lnTo>
                    <a:pt x="6891020" y="8458200"/>
                  </a:lnTo>
                  <a:lnTo>
                    <a:pt x="6934771" y="8449500"/>
                  </a:lnTo>
                  <a:lnTo>
                    <a:pt x="6936511" y="8448675"/>
                  </a:lnTo>
                  <a:lnTo>
                    <a:pt x="6944957" y="8444687"/>
                  </a:lnTo>
                  <a:lnTo>
                    <a:pt x="6954545" y="8438959"/>
                  </a:lnTo>
                  <a:lnTo>
                    <a:pt x="6963499" y="8432305"/>
                  </a:lnTo>
                  <a:lnTo>
                    <a:pt x="6971843" y="8424723"/>
                  </a:lnTo>
                  <a:lnTo>
                    <a:pt x="6972300" y="8424227"/>
                  </a:lnTo>
                  <a:lnTo>
                    <a:pt x="6979425" y="8416341"/>
                  </a:lnTo>
                  <a:lnTo>
                    <a:pt x="6986079" y="8407387"/>
                  </a:lnTo>
                  <a:lnTo>
                    <a:pt x="6991807" y="8397799"/>
                  </a:lnTo>
                  <a:lnTo>
                    <a:pt x="6996620" y="8387613"/>
                  </a:lnTo>
                  <a:lnTo>
                    <a:pt x="6999071" y="8380781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7"/>
              <a:ext cx="88900" cy="8433435"/>
            </a:xfrm>
            <a:custGeom>
              <a:avLst/>
              <a:gdLst/>
              <a:ahLst/>
              <a:cxnLst/>
              <a:rect l="l" t="t" r="r" b="b"/>
              <a:pathLst>
                <a:path w="88900" h="8433435">
                  <a:moveTo>
                    <a:pt x="62524" y="8433211"/>
                  </a:moveTo>
                  <a:lnTo>
                    <a:pt x="25900" y="8403881"/>
                  </a:lnTo>
                  <a:lnTo>
                    <a:pt x="4894" y="8364534"/>
                  </a:lnTo>
                  <a:lnTo>
                    <a:pt x="0" y="83314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331405"/>
                  </a:lnTo>
                  <a:lnTo>
                    <a:pt x="52700" y="8371500"/>
                  </a:lnTo>
                  <a:lnTo>
                    <a:pt x="72022" y="8412437"/>
                  </a:lnTo>
                  <a:lnTo>
                    <a:pt x="88530" y="8428014"/>
                  </a:lnTo>
                  <a:lnTo>
                    <a:pt x="62524" y="843321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6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2571750"/>
            </a:xfrm>
            <a:custGeom>
              <a:avLst/>
              <a:gdLst/>
              <a:ahLst/>
              <a:cxnLst/>
              <a:rect l="l" t="t" r="r" b="b"/>
              <a:pathLst>
                <a:path w="28575" h="2571750">
                  <a:moveTo>
                    <a:pt x="28575" y="2276475"/>
                  </a:moveTo>
                  <a:lnTo>
                    <a:pt x="0" y="2276475"/>
                  </a:lnTo>
                  <a:lnTo>
                    <a:pt x="0" y="2571750"/>
                  </a:lnTo>
                  <a:lnTo>
                    <a:pt x="28575" y="2571750"/>
                  </a:lnTo>
                  <a:lnTo>
                    <a:pt x="28575" y="2276475"/>
                  </a:lnTo>
                  <a:close/>
                </a:path>
                <a:path w="28575" h="2571750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257175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6272164"/>
              <a:ext cx="6429375" cy="1114425"/>
            </a:xfrm>
            <a:custGeom>
              <a:avLst/>
              <a:gdLst/>
              <a:ahLst/>
              <a:cxnLst/>
              <a:rect l="l" t="t" r="r" b="b"/>
              <a:pathLst>
                <a:path w="6429375" h="1114425">
                  <a:moveTo>
                    <a:pt x="6362626" y="1114348"/>
                  </a:moveTo>
                  <a:lnTo>
                    <a:pt x="66746" y="1114348"/>
                  </a:lnTo>
                  <a:lnTo>
                    <a:pt x="62101" y="1113901"/>
                  </a:lnTo>
                  <a:lnTo>
                    <a:pt x="24240" y="1096784"/>
                  </a:lnTo>
                  <a:lnTo>
                    <a:pt x="2287" y="1061446"/>
                  </a:lnTo>
                  <a:lnTo>
                    <a:pt x="0" y="1047597"/>
                  </a:lnTo>
                  <a:lnTo>
                    <a:pt x="0" y="1042987"/>
                  </a:lnTo>
                  <a:lnTo>
                    <a:pt x="0" y="66751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751"/>
                  </a:lnTo>
                  <a:lnTo>
                    <a:pt x="6429373" y="1047597"/>
                  </a:lnTo>
                  <a:lnTo>
                    <a:pt x="6414728" y="1086592"/>
                  </a:lnTo>
                  <a:lnTo>
                    <a:pt x="6380940" y="1110700"/>
                  </a:lnTo>
                  <a:lnTo>
                    <a:pt x="6367272" y="1113901"/>
                  </a:lnTo>
                  <a:lnTo>
                    <a:pt x="6362626" y="111434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6272164"/>
              <a:ext cx="6429375" cy="1114425"/>
            </a:xfrm>
            <a:custGeom>
              <a:avLst/>
              <a:gdLst/>
              <a:ahLst/>
              <a:cxnLst/>
              <a:rect l="l" t="t" r="r" b="b"/>
              <a:pathLst>
                <a:path w="6429375" h="1114425">
                  <a:moveTo>
                    <a:pt x="0" y="10429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9433" y="35499"/>
                  </a:lnTo>
                  <a:lnTo>
                    <a:pt x="12039" y="31622"/>
                  </a:lnTo>
                  <a:lnTo>
                    <a:pt x="14645" y="27755"/>
                  </a:lnTo>
                  <a:lnTo>
                    <a:pt x="17606" y="24183"/>
                  </a:lnTo>
                  <a:lnTo>
                    <a:pt x="20923" y="20907"/>
                  </a:lnTo>
                  <a:lnTo>
                    <a:pt x="24240" y="17564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564"/>
                  </a:lnTo>
                  <a:lnTo>
                    <a:pt x="6408450" y="20907"/>
                  </a:lnTo>
                  <a:lnTo>
                    <a:pt x="6411767" y="24183"/>
                  </a:lnTo>
                  <a:lnTo>
                    <a:pt x="6414728" y="27755"/>
                  </a:lnTo>
                  <a:lnTo>
                    <a:pt x="6417334" y="31699"/>
                  </a:lnTo>
                  <a:lnTo>
                    <a:pt x="6419940" y="35499"/>
                  </a:lnTo>
                  <a:lnTo>
                    <a:pt x="6422141" y="39585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7086" y="52758"/>
                  </a:lnTo>
                  <a:lnTo>
                    <a:pt x="6428001" y="57445"/>
                  </a:lnTo>
                  <a:lnTo>
                    <a:pt x="6428916" y="62064"/>
                  </a:lnTo>
                  <a:lnTo>
                    <a:pt x="6429373" y="66751"/>
                  </a:lnTo>
                  <a:lnTo>
                    <a:pt x="6429374" y="71437"/>
                  </a:lnTo>
                  <a:lnTo>
                    <a:pt x="6429374" y="1042987"/>
                  </a:lnTo>
                  <a:lnTo>
                    <a:pt x="6429373" y="1047597"/>
                  </a:lnTo>
                  <a:lnTo>
                    <a:pt x="6428916" y="1052217"/>
                  </a:lnTo>
                  <a:lnTo>
                    <a:pt x="6428001" y="1056827"/>
                  </a:lnTo>
                  <a:lnTo>
                    <a:pt x="6427086" y="1061446"/>
                  </a:lnTo>
                  <a:lnTo>
                    <a:pt x="6425731" y="1065904"/>
                  </a:lnTo>
                  <a:lnTo>
                    <a:pt x="6423936" y="1070219"/>
                  </a:lnTo>
                  <a:lnTo>
                    <a:pt x="6422141" y="1074543"/>
                  </a:lnTo>
                  <a:lnTo>
                    <a:pt x="6397625" y="1102366"/>
                  </a:lnTo>
                  <a:lnTo>
                    <a:pt x="6393724" y="1104976"/>
                  </a:lnTo>
                  <a:lnTo>
                    <a:pt x="6357937" y="1114424"/>
                  </a:lnTo>
                  <a:lnTo>
                    <a:pt x="71437" y="1114424"/>
                  </a:lnTo>
                  <a:lnTo>
                    <a:pt x="31749" y="1102366"/>
                  </a:lnTo>
                  <a:lnTo>
                    <a:pt x="27848" y="1099765"/>
                  </a:lnTo>
                  <a:lnTo>
                    <a:pt x="5437" y="1070219"/>
                  </a:lnTo>
                  <a:lnTo>
                    <a:pt x="3642" y="1065904"/>
                  </a:lnTo>
                  <a:lnTo>
                    <a:pt x="2287" y="1061446"/>
                  </a:lnTo>
                  <a:lnTo>
                    <a:pt x="1372" y="1056827"/>
                  </a:lnTo>
                  <a:lnTo>
                    <a:pt x="457" y="1052217"/>
                  </a:lnTo>
                  <a:lnTo>
                    <a:pt x="0" y="1047597"/>
                  </a:lnTo>
                  <a:lnTo>
                    <a:pt x="0" y="104298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581878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32"/>
                  </a:moveTo>
                  <a:lnTo>
                    <a:pt x="365379" y="29679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562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132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55"/>
                  </a:lnTo>
                  <a:lnTo>
                    <a:pt x="1037043" y="109613"/>
                  </a:lnTo>
                  <a:lnTo>
                    <a:pt x="1012875" y="75298"/>
                  </a:lnTo>
                  <a:lnTo>
                    <a:pt x="981087" y="47840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41"/>
                  </a:lnTo>
                  <a:lnTo>
                    <a:pt x="580199" y="63385"/>
                  </a:lnTo>
                  <a:lnTo>
                    <a:pt x="552780" y="95250"/>
                  </a:lnTo>
                  <a:lnTo>
                    <a:pt x="533895" y="132689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31"/>
                  </a:lnTo>
                  <a:lnTo>
                    <a:pt x="548271" y="278536"/>
                  </a:lnTo>
                  <a:lnTo>
                    <a:pt x="574103" y="311721"/>
                  </a:lnTo>
                  <a:lnTo>
                    <a:pt x="607199" y="337540"/>
                  </a:lnTo>
                  <a:lnTo>
                    <a:pt x="645566" y="354545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93"/>
                  </a:lnTo>
                  <a:lnTo>
                    <a:pt x="966647" y="341706"/>
                  </a:lnTo>
                  <a:lnTo>
                    <a:pt x="1000963" y="317525"/>
                  </a:lnTo>
                  <a:lnTo>
                    <a:pt x="1028382" y="285673"/>
                  </a:lnTo>
                  <a:lnTo>
                    <a:pt x="1047267" y="248145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48425" cy="62138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23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のル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0" dirty="0">
                <a:solidFill>
                  <a:srgbClr val="333333"/>
                </a:solidFill>
                <a:latin typeface="BIZ UDPゴシック"/>
                <a:cs typeface="BIZ UDPゴシック"/>
              </a:rPr>
              <a:t>ティン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い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750" b="1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りを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誘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う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寝室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endParaRPr sz="17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 dirty="0">
              <a:latin typeface="BIZ UDPゴシック"/>
              <a:cs typeface="BIZ UDPゴシック"/>
            </a:endParaRPr>
          </a:p>
          <a:p>
            <a:pPr marL="155575" marR="26670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スマホを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ながら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りにつくのは</a:t>
            </a:r>
            <a:r>
              <a:rPr sz="1400" i="1" spc="-130" dirty="0">
                <a:solidFill>
                  <a:srgbClr val="333333"/>
                </a:solidFill>
                <a:latin typeface="Comic Sans MS"/>
                <a:cs typeface="Comic Sans MS"/>
              </a:rPr>
              <a:t>NG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。質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のための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⾳環境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え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130" dirty="0">
                <a:solidFill>
                  <a:srgbClr val="333333"/>
                </a:solidFill>
                <a:latin typeface="メイリオ"/>
                <a:cs typeface="メイリオ"/>
              </a:rPr>
              <a:t>をご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紹介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6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就寝</a:t>
            </a:r>
            <a:r>
              <a:rPr sz="1550" b="1" dirty="0">
                <a:solidFill>
                  <a:srgbClr val="2D5926"/>
                </a:solidFill>
                <a:latin typeface="Comic Sans MS"/>
                <a:cs typeface="Comic Sans MS"/>
              </a:rPr>
              <a:t>1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時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間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前</a:t>
            </a:r>
            <a:endParaRPr sz="1450" dirty="0">
              <a:latin typeface="メイリオ"/>
              <a:cs typeface="メイリオ"/>
            </a:endParaRPr>
          </a:p>
          <a:p>
            <a:pPr marL="12700" marR="130810">
              <a:lnSpc>
                <a:spcPct val="129600"/>
              </a:lnSpc>
              <a:spcBef>
                <a:spcPts val="860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スマホや</a:t>
            </a:r>
            <a:r>
              <a:rPr sz="1350" spc="85" dirty="0">
                <a:solidFill>
                  <a:srgbClr val="333333"/>
                </a:solidFill>
                <a:latin typeface="Comic Sans MS"/>
                <a:cs typeface="Comic Sans MS"/>
              </a:rPr>
              <a:t>PC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部屋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照明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⾬⾳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低周波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935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めます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就寝</a:t>
            </a:r>
            <a:r>
              <a:rPr sz="1550" b="1" dirty="0">
                <a:solidFill>
                  <a:srgbClr val="2D5926"/>
                </a:solidFill>
                <a:latin typeface="Comic Sans MS"/>
                <a:cs typeface="Comic Sans MS"/>
              </a:rPr>
              <a:t>30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分前</a:t>
            </a:r>
            <a:endParaRPr sz="1450" dirty="0">
              <a:latin typeface="メイリオ"/>
              <a:cs typeface="メイリオ"/>
            </a:endParaRPr>
          </a:p>
          <a:p>
            <a:pPr marL="12700" marR="41910">
              <a:lnSpc>
                <a:spcPct val="134300"/>
              </a:lnSpc>
              <a:spcBef>
                <a:spcPts val="785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きながら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軽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いストレッチや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深呼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⾏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緊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張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がほぐれ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優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                                                                            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位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になります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10" dirty="0">
                <a:solidFill>
                  <a:srgbClr val="2D5926"/>
                </a:solidFill>
                <a:latin typeface="メイリオ"/>
                <a:cs typeface="メイリオ"/>
              </a:rPr>
              <a:t>就寝時</a:t>
            </a:r>
            <a:endParaRPr sz="1450" dirty="0">
              <a:latin typeface="メイリオ"/>
              <a:cs typeface="メイリオ"/>
            </a:endParaRPr>
          </a:p>
          <a:p>
            <a:pPr marL="12700" marR="5080">
              <a:lnSpc>
                <a:spcPct val="134300"/>
              </a:lnSpc>
              <a:spcBef>
                <a:spcPts val="730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そのまま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しながら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りにつきます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タイマ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停⽌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するよう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設定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68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った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後</a:t>
            </a:r>
            <a:r>
              <a:rPr lang="ja-JP" alt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も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lang="ja-JP" altLang="en-US"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そのまま静か</a:t>
            </a:r>
            <a:r>
              <a:rPr lang="ja-JP" altLang="en-US" sz="13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に流し続けるのもお勧め</a:t>
            </a:r>
            <a:r>
              <a:rPr sz="1300" spc="-229" dirty="0" err="1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です</a:t>
            </a:r>
            <a:r>
              <a:rPr sz="1300" spc="62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。</a:t>
            </a:r>
            <a:endParaRPr sz="1300" dirty="0">
              <a:latin typeface="メイリオ" panose="020B0604030504040204" pitchFamily="50" charset="-128"/>
              <a:ea typeface="メイリオ" panose="020B0604030504040204" pitchFamily="50" charset="-128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研究結</a:t>
            </a:r>
            <a:r>
              <a:rPr sz="1300" b="1" spc="-5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endParaRPr sz="1300" dirty="0">
              <a:latin typeface="メイリオ"/>
              <a:cs typeface="メイリオ"/>
            </a:endParaRPr>
          </a:p>
          <a:p>
            <a:pPr marL="164465" marR="185420">
              <a:lnSpc>
                <a:spcPct val="129600"/>
              </a:lnSpc>
              <a:spcBef>
                <a:spcPts val="8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就寝時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ノンレム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割合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増加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r>
              <a:rPr sz="1350" spc="-285" dirty="0">
                <a:solidFill>
                  <a:srgbClr val="333333"/>
                </a:solidFill>
                <a:latin typeface="SimSun"/>
                <a:cs typeface="SimSun"/>
              </a:rPr>
              <a:t>すること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 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確認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されています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94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132782" y="7713003"/>
            <a:ext cx="15449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2240" marR="5080" indent="-1301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睡眠⽤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プレイリストを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39"/>
            <a:ext cx="7063105" cy="8277225"/>
            <a:chOff x="352425" y="352439"/>
            <a:chExt cx="7063105" cy="8277225"/>
          </a:xfrm>
        </p:grpSpPr>
        <p:sp>
          <p:nvSpPr>
            <p:cNvPr id="3" name="object 3"/>
            <p:cNvSpPr/>
            <p:nvPr/>
          </p:nvSpPr>
          <p:spPr>
            <a:xfrm>
              <a:off x="376237" y="357139"/>
              <a:ext cx="7038975" cy="8267700"/>
            </a:xfrm>
            <a:custGeom>
              <a:avLst/>
              <a:gdLst/>
              <a:ahLst/>
              <a:cxnLst/>
              <a:rect l="l" t="t" r="r" b="b"/>
              <a:pathLst>
                <a:path w="7038975" h="8267700">
                  <a:moveTo>
                    <a:pt x="6936628" y="8267623"/>
                  </a:moveTo>
                  <a:lnTo>
                    <a:pt x="84545" y="8267623"/>
                  </a:lnTo>
                  <a:lnTo>
                    <a:pt x="78661" y="8266956"/>
                  </a:lnTo>
                  <a:lnTo>
                    <a:pt x="35275" y="8245153"/>
                  </a:lnTo>
                  <a:lnTo>
                    <a:pt x="11948" y="8212930"/>
                  </a:lnTo>
                  <a:lnTo>
                    <a:pt x="579" y="8172373"/>
                  </a:lnTo>
                  <a:lnTo>
                    <a:pt x="0" y="8165305"/>
                  </a:lnTo>
                  <a:lnTo>
                    <a:pt x="0" y="8158161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7012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204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165305"/>
                  </a:lnTo>
                  <a:lnTo>
                    <a:pt x="7027882" y="8206529"/>
                  </a:lnTo>
                  <a:lnTo>
                    <a:pt x="7001805" y="8240610"/>
                  </a:lnTo>
                  <a:lnTo>
                    <a:pt x="6964709" y="8262041"/>
                  </a:lnTo>
                  <a:lnTo>
                    <a:pt x="6943752" y="8266956"/>
                  </a:lnTo>
                  <a:lnTo>
                    <a:pt x="6936628" y="8267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37"/>
              <a:ext cx="6999605" cy="8277225"/>
            </a:xfrm>
            <a:custGeom>
              <a:avLst/>
              <a:gdLst/>
              <a:ahLst/>
              <a:cxnLst/>
              <a:rect l="l" t="t" r="r" b="b"/>
              <a:pathLst>
                <a:path w="6999605" h="8277225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51"/>
                  </a:lnTo>
                  <a:lnTo>
                    <a:pt x="6963499" y="25908"/>
                  </a:lnTo>
                  <a:lnTo>
                    <a:pt x="6924154" y="4902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712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80"/>
                  </a:lnTo>
                  <a:lnTo>
                    <a:pt x="6995795" y="114274"/>
                  </a:lnTo>
                  <a:lnTo>
                    <a:pt x="6995795" y="8162899"/>
                  </a:lnTo>
                  <a:lnTo>
                    <a:pt x="6987819" y="8202993"/>
                  </a:lnTo>
                  <a:lnTo>
                    <a:pt x="6965112" y="8236979"/>
                  </a:lnTo>
                  <a:lnTo>
                    <a:pt x="6931126" y="8259724"/>
                  </a:lnTo>
                  <a:lnTo>
                    <a:pt x="6891020" y="8267700"/>
                  </a:lnTo>
                  <a:lnTo>
                    <a:pt x="52082" y="8267700"/>
                  </a:lnTo>
                  <a:lnTo>
                    <a:pt x="26085" y="8259381"/>
                  </a:lnTo>
                  <a:lnTo>
                    <a:pt x="0" y="8264588"/>
                  </a:lnTo>
                  <a:lnTo>
                    <a:pt x="40817" y="8276691"/>
                  </a:lnTo>
                  <a:lnTo>
                    <a:pt x="52082" y="8277225"/>
                  </a:lnTo>
                  <a:lnTo>
                    <a:pt x="6891020" y="8277225"/>
                  </a:lnTo>
                  <a:lnTo>
                    <a:pt x="6934771" y="8268525"/>
                  </a:lnTo>
                  <a:lnTo>
                    <a:pt x="6936511" y="8267700"/>
                  </a:lnTo>
                  <a:lnTo>
                    <a:pt x="6944957" y="8263712"/>
                  </a:lnTo>
                  <a:lnTo>
                    <a:pt x="6954545" y="8257984"/>
                  </a:lnTo>
                  <a:lnTo>
                    <a:pt x="6963499" y="8251330"/>
                  </a:lnTo>
                  <a:lnTo>
                    <a:pt x="6971843" y="8243748"/>
                  </a:lnTo>
                  <a:lnTo>
                    <a:pt x="6972300" y="8243252"/>
                  </a:lnTo>
                  <a:lnTo>
                    <a:pt x="6979425" y="8235366"/>
                  </a:lnTo>
                  <a:lnTo>
                    <a:pt x="6986079" y="8226412"/>
                  </a:lnTo>
                  <a:lnTo>
                    <a:pt x="6991807" y="8216824"/>
                  </a:lnTo>
                  <a:lnTo>
                    <a:pt x="6996620" y="8206638"/>
                  </a:lnTo>
                  <a:lnTo>
                    <a:pt x="6999071" y="8199806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7"/>
              <a:ext cx="88900" cy="8252459"/>
            </a:xfrm>
            <a:custGeom>
              <a:avLst/>
              <a:gdLst/>
              <a:ahLst/>
              <a:cxnLst/>
              <a:rect l="l" t="t" r="r" b="b"/>
              <a:pathLst>
                <a:path w="88900" h="8252459">
                  <a:moveTo>
                    <a:pt x="62523" y="8252236"/>
                  </a:moveTo>
                  <a:lnTo>
                    <a:pt x="25900" y="8222906"/>
                  </a:lnTo>
                  <a:lnTo>
                    <a:pt x="4894" y="8183560"/>
                  </a:lnTo>
                  <a:lnTo>
                    <a:pt x="0" y="81504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150430"/>
                  </a:lnTo>
                  <a:lnTo>
                    <a:pt x="52700" y="8190525"/>
                  </a:lnTo>
                  <a:lnTo>
                    <a:pt x="72022" y="8231462"/>
                  </a:lnTo>
                  <a:lnTo>
                    <a:pt x="88529" y="8247040"/>
                  </a:lnTo>
                  <a:lnTo>
                    <a:pt x="62523" y="825223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6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3705225"/>
            </a:xfrm>
            <a:custGeom>
              <a:avLst/>
              <a:gdLst/>
              <a:ahLst/>
              <a:cxnLst/>
              <a:rect l="l" t="t" r="r" b="b"/>
              <a:pathLst>
                <a:path w="28575" h="3705225">
                  <a:moveTo>
                    <a:pt x="28575" y="3409950"/>
                  </a:moveTo>
                  <a:lnTo>
                    <a:pt x="0" y="3409950"/>
                  </a:lnTo>
                  <a:lnTo>
                    <a:pt x="0" y="3705225"/>
                  </a:lnTo>
                  <a:lnTo>
                    <a:pt x="28575" y="3705225"/>
                  </a:lnTo>
                  <a:lnTo>
                    <a:pt x="28575" y="3409950"/>
                  </a:lnTo>
                  <a:close/>
                </a:path>
                <a:path w="28575" h="3705225">
                  <a:moveTo>
                    <a:pt x="28575" y="2276475"/>
                  </a:moveTo>
                  <a:lnTo>
                    <a:pt x="0" y="2276475"/>
                  </a:lnTo>
                  <a:lnTo>
                    <a:pt x="0" y="2571750"/>
                  </a:lnTo>
                  <a:lnTo>
                    <a:pt x="28575" y="2571750"/>
                  </a:lnTo>
                  <a:lnTo>
                    <a:pt x="28575" y="2276475"/>
                  </a:lnTo>
                  <a:close/>
                </a:path>
                <a:path w="28575" h="370522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37052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400903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61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32"/>
                  </a:moveTo>
                  <a:lnTo>
                    <a:pt x="365379" y="29603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562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14"/>
                  </a:lnTo>
                  <a:lnTo>
                    <a:pt x="381000" y="71132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29"/>
                  </a:lnTo>
                  <a:lnTo>
                    <a:pt x="1037043" y="109550"/>
                  </a:lnTo>
                  <a:lnTo>
                    <a:pt x="1012875" y="75222"/>
                  </a:lnTo>
                  <a:lnTo>
                    <a:pt x="981087" y="47777"/>
                  </a:lnTo>
                  <a:lnTo>
                    <a:pt x="943584" y="28994"/>
                  </a:lnTo>
                  <a:lnTo>
                    <a:pt x="902639" y="19875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28"/>
                  </a:lnTo>
                  <a:lnTo>
                    <a:pt x="580199" y="63309"/>
                  </a:lnTo>
                  <a:lnTo>
                    <a:pt x="552780" y="95021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207"/>
                  </a:lnTo>
                  <a:lnTo>
                    <a:pt x="548271" y="278536"/>
                  </a:lnTo>
                  <a:lnTo>
                    <a:pt x="574103" y="311721"/>
                  </a:lnTo>
                  <a:lnTo>
                    <a:pt x="607199" y="337426"/>
                  </a:lnTo>
                  <a:lnTo>
                    <a:pt x="645566" y="354520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68"/>
                  </a:lnTo>
                  <a:lnTo>
                    <a:pt x="966647" y="341579"/>
                  </a:lnTo>
                  <a:lnTo>
                    <a:pt x="1000963" y="317525"/>
                  </a:lnTo>
                  <a:lnTo>
                    <a:pt x="1028382" y="285673"/>
                  </a:lnTo>
                  <a:lnTo>
                    <a:pt x="1047267" y="248107"/>
                  </a:lnTo>
                  <a:lnTo>
                    <a:pt x="1056462" y="207251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406515" cy="646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24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40" dirty="0">
                <a:solidFill>
                  <a:srgbClr val="333333"/>
                </a:solidFill>
                <a:latin typeface="BIZ UDPゴシック"/>
                <a:cs typeface="BIZ UDPゴシック"/>
              </a:rPr>
              <a:t>ストレス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対策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25" dirty="0">
                <a:solidFill>
                  <a:srgbClr val="333333"/>
                </a:solidFill>
                <a:latin typeface="BIZ UDPゴシック"/>
                <a:cs typeface="BIZ UDPゴシック"/>
              </a:rPr>
              <a:t>イライラした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間</a:t>
            </a:r>
            <a:r>
              <a:rPr sz="1750" b="1" spc="55" dirty="0">
                <a:solidFill>
                  <a:srgbClr val="333333"/>
                </a:solidFill>
                <a:latin typeface="BIZ UDPゴシック"/>
                <a:cs typeface="BIZ UDPゴシック"/>
              </a:rPr>
              <a:t>リセット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10477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でイライラ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、⼈間関係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でストレス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そんな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時、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たった</a:t>
            </a: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をリセットする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400" i="1" spc="-130" dirty="0">
                <a:solidFill>
                  <a:srgbClr val="333333"/>
                </a:solidFill>
                <a:latin typeface="メイリオ"/>
                <a:cs typeface="メイリオ"/>
              </a:rPr>
              <a:t>があ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55" dirty="0">
                <a:solidFill>
                  <a:srgbClr val="2D5926"/>
                </a:solidFill>
                <a:latin typeface="BIZ UDPゴシック"/>
                <a:cs typeface="BIZ UDPゴシック"/>
              </a:rPr>
              <a:t>ステップ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1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場所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変</a:t>
            </a:r>
            <a:r>
              <a:rPr sz="1450" b="1" spc="-85" dirty="0">
                <a:solidFill>
                  <a:srgbClr val="2D5926"/>
                </a:solidFill>
                <a:latin typeface="BIZ UDPゴシック"/>
                <a:cs typeface="BIZ UDPゴシック"/>
              </a:rPr>
              <a:t>える</a:t>
            </a:r>
            <a:endParaRPr sz="1450">
              <a:latin typeface="BIZ UDPゴシック"/>
              <a:cs typeface="BIZ UDPゴシック"/>
            </a:endParaRPr>
          </a:p>
          <a:p>
            <a:pPr marL="12700" marR="152400">
              <a:lnSpc>
                <a:spcPct val="129600"/>
              </a:lnSpc>
              <a:spcBef>
                <a:spcPts val="860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可能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であれば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場所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離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れます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トイレでも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空気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くでも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構</a:t>
            </a:r>
            <a:r>
              <a:rPr sz="1350" spc="-760" dirty="0">
                <a:solidFill>
                  <a:srgbClr val="333333"/>
                </a:solidFill>
                <a:latin typeface="SimSun"/>
                <a:cs typeface="SimSun"/>
              </a:rPr>
              <a:t>いま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                                 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せん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物理的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えることが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⼤切</a:t>
            </a:r>
            <a:r>
              <a:rPr sz="1350" spc="-225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55" dirty="0">
                <a:solidFill>
                  <a:srgbClr val="2D5926"/>
                </a:solidFill>
                <a:latin typeface="BIZ UDPゴシック"/>
                <a:cs typeface="BIZ UDPゴシック"/>
              </a:rPr>
              <a:t>ステップ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2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⾃然⾳</a:t>
            </a:r>
            <a:r>
              <a:rPr sz="1450" b="1" spc="-70" dirty="0">
                <a:solidFill>
                  <a:srgbClr val="2D5926"/>
                </a:solidFill>
                <a:latin typeface="BIZ UDPゴシック"/>
                <a:cs typeface="BIZ UDPゴシック"/>
              </a:rPr>
              <a:t>をイヤホンで聴く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34300"/>
              </a:lnSpc>
              <a:spcBef>
                <a:spcPts val="785"/>
              </a:spcBef>
            </a:pP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スマホに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保存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イヤホンで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できれば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など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規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則的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やかな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がおすすめです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450" b="1" spc="-55" dirty="0">
                <a:solidFill>
                  <a:srgbClr val="2D5926"/>
                </a:solidFill>
                <a:latin typeface="BIZ UDPゴシック"/>
                <a:cs typeface="BIZ UDPゴシック"/>
              </a:rPr>
              <a:t>ステップ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3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深呼</a:t>
            </a:r>
            <a:r>
              <a:rPr sz="1450" b="1" spc="-100" dirty="0">
                <a:solidFill>
                  <a:srgbClr val="2D5926"/>
                </a:solidFill>
                <a:latin typeface="BIZ UDPゴシック"/>
                <a:cs typeface="BIZ UDPゴシック"/>
              </a:rPr>
              <a:t>吸する</a:t>
            </a:r>
            <a:endParaRPr sz="1450">
              <a:latin typeface="BIZ UDPゴシック"/>
              <a:cs typeface="BIZ UDPゴシック"/>
            </a:endParaRPr>
          </a:p>
          <a:p>
            <a:pPr marL="12700" marR="60325">
              <a:lnSpc>
                <a:spcPct val="134300"/>
              </a:lnSpc>
              <a:spcBef>
                <a:spcPts val="71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きながら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ゆっくりと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回⾏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うより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⻑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くすることで</a:t>
            </a:r>
            <a:r>
              <a:rPr sz="1300" spc="-570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450" b="1" spc="-55" dirty="0">
                <a:solidFill>
                  <a:srgbClr val="2D5926"/>
                </a:solidFill>
                <a:latin typeface="BIZ UDPゴシック"/>
                <a:cs typeface="BIZ UDPゴシック"/>
              </a:rPr>
              <a:t>ステップ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4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⾃分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を観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察</a:t>
            </a:r>
            <a:r>
              <a:rPr sz="1450" b="1" spc="-80" dirty="0">
                <a:solidFill>
                  <a:srgbClr val="2D5926"/>
                </a:solidFill>
                <a:latin typeface="BIZ UDPゴシック"/>
                <a:cs typeface="BIZ UDPゴシック"/>
              </a:rPr>
              <a:t>する</a:t>
            </a:r>
            <a:endParaRPr sz="1450">
              <a:latin typeface="BIZ UDPゴシック"/>
              <a:cs typeface="BIZ UDPゴシック"/>
            </a:endParaRPr>
          </a:p>
          <a:p>
            <a:pPr marL="12700" marR="30480">
              <a:lnSpc>
                <a:spcPct val="134300"/>
              </a:lnSpc>
              <a:spcBef>
                <a:spcPts val="70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はイライラしている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客観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察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否定</a:t>
            </a:r>
            <a:r>
              <a:rPr sz="1350" spc="-250" dirty="0">
                <a:solidFill>
                  <a:srgbClr val="333333"/>
                </a:solidFill>
                <a:latin typeface="SimSun"/>
                <a:cs typeface="SimSun"/>
              </a:rPr>
              <a:t>せず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ただ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認識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                                                                                  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るだけです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95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30549" y="7532028"/>
            <a:ext cx="1549400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4145" marR="5080" indent="-132080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緊急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リセット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⽤⾳源</a:t>
            </a:r>
            <a:r>
              <a:rPr sz="1350" spc="-125" dirty="0">
                <a:solidFill>
                  <a:srgbClr val="FFFFFF"/>
                </a:solidFill>
                <a:latin typeface="SimSun"/>
                <a:cs typeface="SimSun"/>
              </a:rPr>
              <a:t>を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0"/>
            <a:ext cx="7063105" cy="7686675"/>
            <a:chOff x="352425" y="352440"/>
            <a:chExt cx="7063105" cy="7686675"/>
          </a:xfrm>
        </p:grpSpPr>
        <p:sp>
          <p:nvSpPr>
            <p:cNvPr id="3" name="object 3"/>
            <p:cNvSpPr/>
            <p:nvPr/>
          </p:nvSpPr>
          <p:spPr>
            <a:xfrm>
              <a:off x="376237" y="357138"/>
              <a:ext cx="7038975" cy="7677150"/>
            </a:xfrm>
            <a:custGeom>
              <a:avLst/>
              <a:gdLst/>
              <a:ahLst/>
              <a:cxnLst/>
              <a:rect l="l" t="t" r="r" b="b"/>
              <a:pathLst>
                <a:path w="7038975" h="7677150">
                  <a:moveTo>
                    <a:pt x="6936628" y="7677149"/>
                  </a:moveTo>
                  <a:lnTo>
                    <a:pt x="84545" y="7677149"/>
                  </a:lnTo>
                  <a:lnTo>
                    <a:pt x="78661" y="7676482"/>
                  </a:lnTo>
                  <a:lnTo>
                    <a:pt x="35275" y="7654679"/>
                  </a:lnTo>
                  <a:lnTo>
                    <a:pt x="11948" y="7622456"/>
                  </a:lnTo>
                  <a:lnTo>
                    <a:pt x="579" y="7581899"/>
                  </a:lnTo>
                  <a:lnTo>
                    <a:pt x="0" y="7574755"/>
                  </a:lnTo>
                  <a:lnTo>
                    <a:pt x="0" y="7567611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574755"/>
                  </a:lnTo>
                  <a:lnTo>
                    <a:pt x="7027882" y="7616132"/>
                  </a:lnTo>
                  <a:lnTo>
                    <a:pt x="7001805" y="7650136"/>
                  </a:lnTo>
                  <a:lnTo>
                    <a:pt x="6964709" y="7671567"/>
                  </a:lnTo>
                  <a:lnTo>
                    <a:pt x="6943752" y="7676482"/>
                  </a:lnTo>
                  <a:lnTo>
                    <a:pt x="6936628" y="7677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7686675"/>
            </a:xfrm>
            <a:custGeom>
              <a:avLst/>
              <a:gdLst/>
              <a:ahLst/>
              <a:cxnLst/>
              <a:rect l="l" t="t" r="r" b="b"/>
              <a:pathLst>
                <a:path w="6999605" h="7686675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00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572337"/>
                  </a:lnTo>
                  <a:lnTo>
                    <a:pt x="6987819" y="7612431"/>
                  </a:lnTo>
                  <a:lnTo>
                    <a:pt x="6965112" y="7646416"/>
                  </a:lnTo>
                  <a:lnTo>
                    <a:pt x="6931126" y="7669162"/>
                  </a:lnTo>
                  <a:lnTo>
                    <a:pt x="6891020" y="7677150"/>
                  </a:lnTo>
                  <a:lnTo>
                    <a:pt x="52082" y="7677150"/>
                  </a:lnTo>
                  <a:lnTo>
                    <a:pt x="26085" y="7668819"/>
                  </a:lnTo>
                  <a:lnTo>
                    <a:pt x="0" y="7674038"/>
                  </a:lnTo>
                  <a:lnTo>
                    <a:pt x="40817" y="7686129"/>
                  </a:lnTo>
                  <a:lnTo>
                    <a:pt x="52082" y="7686675"/>
                  </a:lnTo>
                  <a:lnTo>
                    <a:pt x="6891020" y="7686675"/>
                  </a:lnTo>
                  <a:lnTo>
                    <a:pt x="6934771" y="7677963"/>
                  </a:lnTo>
                  <a:lnTo>
                    <a:pt x="6971843" y="7653185"/>
                  </a:lnTo>
                  <a:lnTo>
                    <a:pt x="6972300" y="7652690"/>
                  </a:lnTo>
                  <a:lnTo>
                    <a:pt x="6979425" y="7644803"/>
                  </a:lnTo>
                  <a:lnTo>
                    <a:pt x="6986079" y="7635849"/>
                  </a:lnTo>
                  <a:lnTo>
                    <a:pt x="6991807" y="7626274"/>
                  </a:lnTo>
                  <a:lnTo>
                    <a:pt x="6996620" y="7616076"/>
                  </a:lnTo>
                  <a:lnTo>
                    <a:pt x="6999071" y="7609243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8"/>
              <a:ext cx="88900" cy="7661909"/>
            </a:xfrm>
            <a:custGeom>
              <a:avLst/>
              <a:gdLst/>
              <a:ahLst/>
              <a:cxnLst/>
              <a:rect l="l" t="t" r="r" b="b"/>
              <a:pathLst>
                <a:path w="88900" h="7661909">
                  <a:moveTo>
                    <a:pt x="62524" y="7661686"/>
                  </a:moveTo>
                  <a:lnTo>
                    <a:pt x="25900" y="7632356"/>
                  </a:lnTo>
                  <a:lnTo>
                    <a:pt x="4894" y="7593010"/>
                  </a:lnTo>
                  <a:lnTo>
                    <a:pt x="0" y="75598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559880"/>
                  </a:lnTo>
                  <a:lnTo>
                    <a:pt x="52700" y="7599975"/>
                  </a:lnTo>
                  <a:lnTo>
                    <a:pt x="72022" y="7640912"/>
                  </a:lnTo>
                  <a:lnTo>
                    <a:pt x="88530" y="7656490"/>
                  </a:lnTo>
                  <a:lnTo>
                    <a:pt x="62524" y="76616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6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61"/>
              <a:ext cx="28575" cy="3124200"/>
            </a:xfrm>
            <a:custGeom>
              <a:avLst/>
              <a:gdLst/>
              <a:ahLst/>
              <a:cxnLst/>
              <a:rect l="l" t="t" r="r" b="b"/>
              <a:pathLst>
                <a:path w="28575" h="3124200">
                  <a:moveTo>
                    <a:pt x="28575" y="2819387"/>
                  </a:moveTo>
                  <a:lnTo>
                    <a:pt x="0" y="2819387"/>
                  </a:lnTo>
                  <a:lnTo>
                    <a:pt x="0" y="3124187"/>
                  </a:lnTo>
                  <a:lnTo>
                    <a:pt x="28575" y="3124187"/>
                  </a:lnTo>
                  <a:lnTo>
                    <a:pt x="28575" y="2819387"/>
                  </a:lnTo>
                  <a:close/>
                </a:path>
                <a:path w="28575" h="3124200">
                  <a:moveTo>
                    <a:pt x="28575" y="1133462"/>
                  </a:moveTo>
                  <a:lnTo>
                    <a:pt x="0" y="1133462"/>
                  </a:lnTo>
                  <a:lnTo>
                    <a:pt x="0" y="1438262"/>
                  </a:lnTo>
                  <a:lnTo>
                    <a:pt x="28575" y="1438262"/>
                  </a:lnTo>
                  <a:lnTo>
                    <a:pt x="28575" y="1133462"/>
                  </a:lnTo>
                  <a:close/>
                </a:path>
                <a:path w="28575" h="31242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810354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737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056"/>
                  </a:moveTo>
                  <a:lnTo>
                    <a:pt x="365379" y="29527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409"/>
                  </a:lnTo>
                  <a:lnTo>
                    <a:pt x="0" y="71056"/>
                  </a:lnTo>
                  <a:lnTo>
                    <a:pt x="0" y="304723"/>
                  </a:lnTo>
                  <a:lnTo>
                    <a:pt x="0" y="309702"/>
                  </a:lnTo>
                  <a:lnTo>
                    <a:pt x="15633" y="351078"/>
                  </a:lnTo>
                  <a:lnTo>
                    <a:pt x="51663" y="376897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02"/>
                  </a:lnTo>
                  <a:lnTo>
                    <a:pt x="381000" y="71056"/>
                  </a:lnTo>
                  <a:close/>
                </a:path>
                <a:path w="1057275" h="381000">
                  <a:moveTo>
                    <a:pt x="1057275" y="190423"/>
                  </a:moveTo>
                  <a:lnTo>
                    <a:pt x="1052144" y="148678"/>
                  </a:lnTo>
                  <a:lnTo>
                    <a:pt x="1037043" y="109601"/>
                  </a:lnTo>
                  <a:lnTo>
                    <a:pt x="1012875" y="75234"/>
                  </a:lnTo>
                  <a:lnTo>
                    <a:pt x="981087" y="47764"/>
                  </a:lnTo>
                  <a:lnTo>
                    <a:pt x="943584" y="28917"/>
                  </a:lnTo>
                  <a:lnTo>
                    <a:pt x="902639" y="19761"/>
                  </a:lnTo>
                  <a:lnTo>
                    <a:pt x="885825" y="18973"/>
                  </a:lnTo>
                  <a:lnTo>
                    <a:pt x="695325" y="18973"/>
                  </a:lnTo>
                  <a:lnTo>
                    <a:pt x="653656" y="24041"/>
                  </a:lnTo>
                  <a:lnTo>
                    <a:pt x="614514" y="39052"/>
                  </a:lnTo>
                  <a:lnTo>
                    <a:pt x="580199" y="63309"/>
                  </a:lnTo>
                  <a:lnTo>
                    <a:pt x="552780" y="95097"/>
                  </a:lnTo>
                  <a:lnTo>
                    <a:pt x="533895" y="132626"/>
                  </a:lnTo>
                  <a:lnTo>
                    <a:pt x="524700" y="173621"/>
                  </a:lnTo>
                  <a:lnTo>
                    <a:pt x="523875" y="190423"/>
                  </a:lnTo>
                  <a:lnTo>
                    <a:pt x="524090" y="198818"/>
                  </a:lnTo>
                  <a:lnTo>
                    <a:pt x="531266" y="240144"/>
                  </a:lnTo>
                  <a:lnTo>
                    <a:pt x="548271" y="278434"/>
                  </a:lnTo>
                  <a:lnTo>
                    <a:pt x="574103" y="311569"/>
                  </a:lnTo>
                  <a:lnTo>
                    <a:pt x="607199" y="337426"/>
                  </a:lnTo>
                  <a:lnTo>
                    <a:pt x="645566" y="354380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885825" y="361873"/>
                  </a:lnTo>
                  <a:lnTo>
                    <a:pt x="927506" y="356641"/>
                  </a:lnTo>
                  <a:lnTo>
                    <a:pt x="966647" y="341566"/>
                  </a:lnTo>
                  <a:lnTo>
                    <a:pt x="1000963" y="317373"/>
                  </a:lnTo>
                  <a:lnTo>
                    <a:pt x="1028382" y="285521"/>
                  </a:lnTo>
                  <a:lnTo>
                    <a:pt x="1047267" y="248069"/>
                  </a:lnTo>
                  <a:lnTo>
                    <a:pt x="1056462" y="207175"/>
                  </a:lnTo>
                  <a:lnTo>
                    <a:pt x="1057275" y="190423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412865" cy="5887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25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【育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児活⽤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750" b="1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ちゃんの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寝</a:t>
            </a:r>
            <a:r>
              <a:rPr sz="1750" b="1" spc="-145" dirty="0">
                <a:solidFill>
                  <a:srgbClr val="333333"/>
                </a:solidFill>
                <a:latin typeface="BIZ UDPゴシック"/>
                <a:cs typeface="BIZ UDPゴシック"/>
              </a:rPr>
              <a:t>かしつけと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泣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き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対策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21526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ちゃんが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まない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、寝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てくれない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育児中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のママパパを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救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う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、⾃然⾳活⽤法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をご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紹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介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⾚</a:t>
            </a:r>
            <a:r>
              <a:rPr sz="1450" b="1" spc="-90" dirty="0">
                <a:solidFill>
                  <a:srgbClr val="2D5926"/>
                </a:solidFill>
                <a:latin typeface="BIZ UDPゴシック"/>
                <a:cs typeface="BIZ UDPゴシック"/>
              </a:rPr>
              <a:t>ちゃんに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効</a:t>
            </a:r>
            <a:r>
              <a:rPr sz="1450" b="1" spc="-65" dirty="0">
                <a:solidFill>
                  <a:srgbClr val="2D5926"/>
                </a:solidFill>
                <a:latin typeface="BIZ UDPゴシック"/>
                <a:cs typeface="BIZ UDPゴシック"/>
              </a:rPr>
              <a:t>くのか</a:t>
            </a:r>
            <a:endParaRPr sz="1450">
              <a:latin typeface="BIZ UDPゴシック"/>
              <a:cs typeface="BIZ UDPゴシック"/>
            </a:endParaRPr>
          </a:p>
          <a:p>
            <a:pPr marL="12700" marR="5080">
              <a:lnSpc>
                <a:spcPct val="129600"/>
              </a:lnSpc>
              <a:spcBef>
                <a:spcPts val="8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ちゃんは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胎内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毎⽇聴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いていました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低周波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含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む</a:t>
            </a:r>
            <a:r>
              <a:rPr sz="1300" spc="-34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かしい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憶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起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安⼼感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えます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寝</a:t>
            </a:r>
            <a:r>
              <a:rPr sz="1450" b="1" spc="-85" dirty="0">
                <a:solidFill>
                  <a:srgbClr val="2D5926"/>
                </a:solidFill>
                <a:latin typeface="BIZ UDPゴシック"/>
                <a:cs typeface="BIZ UDPゴシック"/>
              </a:rPr>
              <a:t>かしつけ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時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使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い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⽅</a:t>
            </a:r>
            <a:endParaRPr sz="1450">
              <a:latin typeface="メイリオ"/>
              <a:cs typeface="メイリオ"/>
            </a:endParaRPr>
          </a:p>
          <a:p>
            <a:pPr marL="200660" indent="-187960">
              <a:lnSpc>
                <a:spcPct val="100000"/>
              </a:lnSpc>
              <a:spcBef>
                <a:spcPts val="1360"/>
              </a:spcBef>
              <a:buSzPct val="103846"/>
              <a:buFont typeface="Comic Sans MS"/>
              <a:buAutoNum type="arabicPeriod"/>
              <a:tabLst>
                <a:tab pos="20066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部屋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暗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くする</a:t>
            </a:r>
            <a:endParaRPr sz="135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さめの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35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ちゃんを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っこしながら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ゆっくり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揺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らす</a:t>
            </a:r>
            <a:endParaRPr sz="1350">
              <a:latin typeface="SimSun"/>
              <a:cs typeface="SimSun"/>
            </a:endParaRPr>
          </a:p>
          <a:p>
            <a:pPr marL="199390" indent="-186690">
              <a:lnSpc>
                <a:spcPct val="100000"/>
              </a:lnSpc>
              <a:spcBef>
                <a:spcPts val="480"/>
              </a:spcBef>
              <a:buSzPct val="103846"/>
              <a:buFont typeface="Comic Sans MS"/>
              <a:buAutoNum type="arabicPeriod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りについたら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をさらに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げるか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停⽌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夜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泣き対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策</a:t>
            </a:r>
            <a:endParaRPr sz="1450">
              <a:latin typeface="メイリオ"/>
              <a:cs typeface="メイリオ"/>
            </a:endParaRPr>
          </a:p>
          <a:p>
            <a:pPr marL="12700" marR="18415">
              <a:lnSpc>
                <a:spcPct val="134300"/>
              </a:lnSpc>
              <a:spcBef>
                <a:spcPts val="805"/>
              </a:spcBef>
            </a:pP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夜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まったら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すぐに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めます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抱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っこしながら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かせることで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泣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むまでの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短縮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されることがあります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96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08982" y="6941478"/>
            <a:ext cx="13925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6040" marR="5080" indent="-539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育児⽤⾳源</a:t>
            </a:r>
            <a:r>
              <a:rPr sz="1350" spc="-17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13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1"/>
            <a:ext cx="7063105" cy="7962900"/>
            <a:chOff x="352425" y="352441"/>
            <a:chExt cx="7063105" cy="7962900"/>
          </a:xfrm>
        </p:grpSpPr>
        <p:sp>
          <p:nvSpPr>
            <p:cNvPr id="3" name="object 3"/>
            <p:cNvSpPr/>
            <p:nvPr/>
          </p:nvSpPr>
          <p:spPr>
            <a:xfrm>
              <a:off x="376237" y="357214"/>
              <a:ext cx="7038975" cy="7953375"/>
            </a:xfrm>
            <a:custGeom>
              <a:avLst/>
              <a:gdLst/>
              <a:ahLst/>
              <a:cxnLst/>
              <a:rect l="l" t="t" r="r" b="b"/>
              <a:pathLst>
                <a:path w="7038975" h="7953375">
                  <a:moveTo>
                    <a:pt x="6936628" y="7953221"/>
                  </a:moveTo>
                  <a:lnTo>
                    <a:pt x="84545" y="7953221"/>
                  </a:lnTo>
                  <a:lnTo>
                    <a:pt x="78661" y="7952555"/>
                  </a:lnTo>
                  <a:lnTo>
                    <a:pt x="35275" y="7930752"/>
                  </a:lnTo>
                  <a:lnTo>
                    <a:pt x="11948" y="7898529"/>
                  </a:lnTo>
                  <a:lnTo>
                    <a:pt x="579" y="7858048"/>
                  </a:lnTo>
                  <a:lnTo>
                    <a:pt x="0" y="7850980"/>
                  </a:lnTo>
                  <a:lnTo>
                    <a:pt x="0" y="7843760"/>
                  </a:lnTo>
                  <a:lnTo>
                    <a:pt x="0" y="102241"/>
                  </a:lnTo>
                  <a:lnTo>
                    <a:pt x="9161" y="60721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6985"/>
                  </a:lnTo>
                  <a:lnTo>
                    <a:pt x="7033387" y="74037"/>
                  </a:lnTo>
                  <a:lnTo>
                    <a:pt x="7038973" y="102241"/>
                  </a:lnTo>
                  <a:lnTo>
                    <a:pt x="7038973" y="7850980"/>
                  </a:lnTo>
                  <a:lnTo>
                    <a:pt x="7027882" y="7892281"/>
                  </a:lnTo>
                  <a:lnTo>
                    <a:pt x="7001805" y="7926209"/>
                  </a:lnTo>
                  <a:lnTo>
                    <a:pt x="6964709" y="7947640"/>
                  </a:lnTo>
                  <a:lnTo>
                    <a:pt x="6943752" y="7952555"/>
                  </a:lnTo>
                  <a:lnTo>
                    <a:pt x="6936628" y="79532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7962900"/>
            </a:xfrm>
            <a:custGeom>
              <a:avLst/>
              <a:gdLst/>
              <a:ahLst/>
              <a:cxnLst/>
              <a:rect l="l" t="t" r="r" b="b"/>
              <a:pathLst>
                <a:path w="6999605" h="79629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848562"/>
                  </a:lnTo>
                  <a:lnTo>
                    <a:pt x="6987819" y="7888656"/>
                  </a:lnTo>
                  <a:lnTo>
                    <a:pt x="6965112" y="7922641"/>
                  </a:lnTo>
                  <a:lnTo>
                    <a:pt x="6931126" y="7945399"/>
                  </a:lnTo>
                  <a:lnTo>
                    <a:pt x="6891020" y="7953375"/>
                  </a:lnTo>
                  <a:lnTo>
                    <a:pt x="52082" y="7953375"/>
                  </a:lnTo>
                  <a:lnTo>
                    <a:pt x="26085" y="7945044"/>
                  </a:lnTo>
                  <a:lnTo>
                    <a:pt x="0" y="7950263"/>
                  </a:lnTo>
                  <a:lnTo>
                    <a:pt x="40817" y="7962354"/>
                  </a:lnTo>
                  <a:lnTo>
                    <a:pt x="52082" y="7962900"/>
                  </a:lnTo>
                  <a:lnTo>
                    <a:pt x="6891020" y="7962900"/>
                  </a:lnTo>
                  <a:lnTo>
                    <a:pt x="6934771" y="7954188"/>
                  </a:lnTo>
                  <a:lnTo>
                    <a:pt x="6971843" y="7929423"/>
                  </a:lnTo>
                  <a:lnTo>
                    <a:pt x="6972300" y="7928915"/>
                  </a:lnTo>
                  <a:lnTo>
                    <a:pt x="6979425" y="7921041"/>
                  </a:lnTo>
                  <a:lnTo>
                    <a:pt x="6986079" y="7912074"/>
                  </a:lnTo>
                  <a:lnTo>
                    <a:pt x="6991807" y="7902499"/>
                  </a:lnTo>
                  <a:lnTo>
                    <a:pt x="6996620" y="7892301"/>
                  </a:lnTo>
                  <a:lnTo>
                    <a:pt x="6999071" y="78854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9"/>
              <a:ext cx="88900" cy="7938134"/>
            </a:xfrm>
            <a:custGeom>
              <a:avLst/>
              <a:gdLst/>
              <a:ahLst/>
              <a:cxnLst/>
              <a:rect l="l" t="t" r="r" b="b"/>
              <a:pathLst>
                <a:path w="88900" h="7938134">
                  <a:moveTo>
                    <a:pt x="62524" y="7937911"/>
                  </a:moveTo>
                  <a:lnTo>
                    <a:pt x="25900" y="7908581"/>
                  </a:lnTo>
                  <a:lnTo>
                    <a:pt x="4894" y="7869235"/>
                  </a:lnTo>
                  <a:lnTo>
                    <a:pt x="0" y="78361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836105"/>
                  </a:lnTo>
                  <a:lnTo>
                    <a:pt x="52700" y="7876200"/>
                  </a:lnTo>
                  <a:lnTo>
                    <a:pt x="72022" y="7917138"/>
                  </a:lnTo>
                  <a:lnTo>
                    <a:pt x="88529" y="7932715"/>
                  </a:lnTo>
                  <a:lnTo>
                    <a:pt x="62524" y="793791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26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33"/>
                  </a:lnTo>
                  <a:lnTo>
                    <a:pt x="29705" y="822426"/>
                  </a:lnTo>
                  <a:lnTo>
                    <a:pt x="3885" y="786402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066"/>
                  </a:lnTo>
                  <a:lnTo>
                    <a:pt x="15621" y="29537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01"/>
                  </a:lnTo>
                  <a:lnTo>
                    <a:pt x="6435013" y="51492"/>
                  </a:lnTo>
                  <a:lnTo>
                    <a:pt x="6438899" y="71066"/>
                  </a:lnTo>
                  <a:lnTo>
                    <a:pt x="6438899" y="766905"/>
                  </a:lnTo>
                  <a:lnTo>
                    <a:pt x="6423277" y="808281"/>
                  </a:lnTo>
                  <a:lnTo>
                    <a:pt x="6387236" y="834104"/>
                  </a:lnTo>
                  <a:lnTo>
                    <a:pt x="6372658" y="837599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3124200"/>
            </a:xfrm>
            <a:custGeom>
              <a:avLst/>
              <a:gdLst/>
              <a:ahLst/>
              <a:cxnLst/>
              <a:rect l="l" t="t" r="r" b="b"/>
              <a:pathLst>
                <a:path w="28575" h="3124200">
                  <a:moveTo>
                    <a:pt x="28575" y="2819400"/>
                  </a:moveTo>
                  <a:lnTo>
                    <a:pt x="0" y="2819400"/>
                  </a:lnTo>
                  <a:lnTo>
                    <a:pt x="0" y="3124200"/>
                  </a:lnTo>
                  <a:lnTo>
                    <a:pt x="28575" y="3124200"/>
                  </a:lnTo>
                  <a:lnTo>
                    <a:pt x="28575" y="2819400"/>
                  </a:lnTo>
                  <a:close/>
                </a:path>
                <a:path w="28575" h="3124200">
                  <a:moveTo>
                    <a:pt x="28575" y="1409700"/>
                  </a:moveTo>
                  <a:lnTo>
                    <a:pt x="0" y="1409700"/>
                  </a:lnTo>
                  <a:lnTo>
                    <a:pt x="0" y="1714500"/>
                  </a:lnTo>
                  <a:lnTo>
                    <a:pt x="28575" y="1714500"/>
                  </a:lnTo>
                  <a:lnTo>
                    <a:pt x="28575" y="1409700"/>
                  </a:lnTo>
                  <a:close/>
                </a:path>
                <a:path w="28575" h="312420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086579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55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498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67"/>
                  </a:lnTo>
                  <a:lnTo>
                    <a:pt x="51663" y="37698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45"/>
                  </a:lnTo>
                  <a:lnTo>
                    <a:pt x="381000" y="309714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04"/>
                  </a:lnTo>
                  <a:lnTo>
                    <a:pt x="1037043" y="109626"/>
                  </a:lnTo>
                  <a:lnTo>
                    <a:pt x="1012875" y="75323"/>
                  </a:lnTo>
                  <a:lnTo>
                    <a:pt x="981087" y="47777"/>
                  </a:lnTo>
                  <a:lnTo>
                    <a:pt x="943584" y="28968"/>
                  </a:lnTo>
                  <a:lnTo>
                    <a:pt x="902639" y="19951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600"/>
                  </a:lnTo>
                  <a:lnTo>
                    <a:pt x="524700" y="173672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07"/>
                  </a:lnTo>
                  <a:lnTo>
                    <a:pt x="548271" y="278472"/>
                  </a:lnTo>
                  <a:lnTo>
                    <a:pt x="574103" y="311658"/>
                  </a:lnTo>
                  <a:lnTo>
                    <a:pt x="607199" y="337439"/>
                  </a:lnTo>
                  <a:lnTo>
                    <a:pt x="645566" y="354469"/>
                  </a:lnTo>
                  <a:lnTo>
                    <a:pt x="686904" y="361708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04"/>
                  </a:lnTo>
                  <a:lnTo>
                    <a:pt x="966647" y="341579"/>
                  </a:lnTo>
                  <a:lnTo>
                    <a:pt x="1000963" y="317461"/>
                  </a:lnTo>
                  <a:lnTo>
                    <a:pt x="1028382" y="285597"/>
                  </a:lnTo>
                  <a:lnTo>
                    <a:pt x="1047267" y="248158"/>
                  </a:lnTo>
                  <a:lnTo>
                    <a:pt x="1056462" y="207302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12840" cy="6155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124960" algn="r">
              <a:lnSpc>
                <a:spcPct val="100000"/>
              </a:lnSpc>
              <a:spcBef>
                <a:spcPts val="105"/>
              </a:spcBef>
              <a:tabLst>
                <a:tab pos="556260" algn="l"/>
                <a:tab pos="107061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26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10" dirty="0">
                <a:solidFill>
                  <a:srgbClr val="333333"/>
                </a:solidFill>
                <a:latin typeface="BIZ UDPゴシック"/>
                <a:cs typeface="BIZ UDPゴシック"/>
              </a:rPr>
              <a:t>ペットケア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⽝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や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のストレス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に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する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雷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⽝、落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ち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きのない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ペットのストレスにも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効果的。具体的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をご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紹介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動物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の聴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覚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特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徴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猫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25Hz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60" dirty="0">
                <a:solidFill>
                  <a:srgbClr val="333333"/>
                </a:solidFill>
                <a:latin typeface="Comic Sans MS"/>
                <a:cs typeface="Comic Sans MS"/>
              </a:rPr>
              <a:t>75,000Hz</a:t>
            </a:r>
            <a:r>
              <a:rPr sz="1300" spc="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倍以上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範囲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⽝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65Hz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50,000Hz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動物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よりはるかに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範囲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いており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敏感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⽇常的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活⽤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留守番時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⾷事時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すと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⾷欲改善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すと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ち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着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緊急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時</a:t>
            </a:r>
            <a:r>
              <a:rPr sz="1450" b="1" spc="1185" dirty="0">
                <a:solidFill>
                  <a:srgbClr val="2D5926"/>
                </a:solidFill>
                <a:latin typeface="BIZ UDPゴシック"/>
                <a:cs typeface="BIZ UDPゴシック"/>
              </a:rPr>
              <a:t>（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雷</a:t>
            </a:r>
            <a:r>
              <a:rPr sz="1450" b="1" spc="750" dirty="0">
                <a:solidFill>
                  <a:srgbClr val="2D5926"/>
                </a:solidFill>
                <a:latin typeface="BIZ UDPゴシック"/>
                <a:cs typeface="BIZ UDPゴシック"/>
              </a:rPr>
              <a:t>、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花⽕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など</a:t>
            </a:r>
            <a:r>
              <a:rPr sz="1450" b="1" spc="1185" dirty="0">
                <a:solidFill>
                  <a:srgbClr val="2D5926"/>
                </a:solidFill>
                <a:latin typeface="BIZ UDPゴシック"/>
                <a:cs typeface="BIZ UDPゴシック"/>
              </a:rPr>
              <a:t>）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の対</a:t>
            </a:r>
            <a:r>
              <a:rPr sz="1450" b="1" spc="-50" dirty="0">
                <a:solidFill>
                  <a:srgbClr val="2D5926"/>
                </a:solidFill>
                <a:latin typeface="メイリオ"/>
                <a:cs typeface="メイリオ"/>
              </a:rPr>
              <a:t>策</a:t>
            </a:r>
            <a:endParaRPr sz="1450">
              <a:latin typeface="メイリオ"/>
              <a:cs typeface="メイリオ"/>
            </a:endParaRPr>
          </a:p>
          <a:p>
            <a:pPr marL="187960" marR="4175760" indent="-187960" algn="r">
              <a:lnSpc>
                <a:spcPct val="100000"/>
              </a:lnSpc>
              <a:spcBef>
                <a:spcPts val="1360"/>
              </a:spcBef>
              <a:buSzPct val="103846"/>
              <a:buFont typeface="Comic Sans MS"/>
              <a:buAutoNum type="arabicPeriod"/>
              <a:tabLst>
                <a:tab pos="18796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事前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endParaRPr sz="135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Font typeface="Comic Sans MS"/>
              <a:buAutoNum type="arabicPeriod"/>
              <a:tabLst>
                <a:tab pos="198755" algn="l"/>
              </a:tabLst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ペットを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安⼼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できる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場所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移動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480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にリラックスする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ペットは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97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32782" y="7217703"/>
            <a:ext cx="15449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2240" marR="5080" indent="-130175">
              <a:lnSpc>
                <a:spcPct val="134300"/>
              </a:lnSpc>
              <a:spcBef>
                <a:spcPts val="60"/>
              </a:spcBef>
            </a:pP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ペット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⽤⾳源</a:t>
            </a:r>
            <a:r>
              <a:rPr sz="1350" spc="-16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2"/>
            <a:ext cx="7063105" cy="8505825"/>
            <a:chOff x="352425" y="352442"/>
            <a:chExt cx="7063105" cy="8505825"/>
          </a:xfrm>
        </p:grpSpPr>
        <p:sp>
          <p:nvSpPr>
            <p:cNvPr id="3" name="object 3"/>
            <p:cNvSpPr/>
            <p:nvPr/>
          </p:nvSpPr>
          <p:spPr>
            <a:xfrm>
              <a:off x="376237" y="357137"/>
              <a:ext cx="7038975" cy="8496300"/>
            </a:xfrm>
            <a:custGeom>
              <a:avLst/>
              <a:gdLst/>
              <a:ahLst/>
              <a:cxnLst/>
              <a:rect l="l" t="t" r="r" b="b"/>
              <a:pathLst>
                <a:path w="7038975" h="8496300">
                  <a:moveTo>
                    <a:pt x="6936628" y="8496223"/>
                  </a:moveTo>
                  <a:lnTo>
                    <a:pt x="84545" y="8496223"/>
                  </a:lnTo>
                  <a:lnTo>
                    <a:pt x="78661" y="8495556"/>
                  </a:lnTo>
                  <a:lnTo>
                    <a:pt x="35275" y="8473753"/>
                  </a:lnTo>
                  <a:lnTo>
                    <a:pt x="11948" y="8441530"/>
                  </a:lnTo>
                  <a:lnTo>
                    <a:pt x="579" y="8400973"/>
                  </a:lnTo>
                  <a:lnTo>
                    <a:pt x="0" y="8393905"/>
                  </a:lnTo>
                  <a:lnTo>
                    <a:pt x="0" y="838676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571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6985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8393905"/>
                  </a:lnTo>
                  <a:lnTo>
                    <a:pt x="7027882" y="8435205"/>
                  </a:lnTo>
                  <a:lnTo>
                    <a:pt x="7001805" y="8469210"/>
                  </a:lnTo>
                  <a:lnTo>
                    <a:pt x="6964709" y="8490641"/>
                  </a:lnTo>
                  <a:lnTo>
                    <a:pt x="6943752" y="8495556"/>
                  </a:lnTo>
                  <a:lnTo>
                    <a:pt x="6936628" y="849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8505825"/>
            </a:xfrm>
            <a:custGeom>
              <a:avLst/>
              <a:gdLst/>
              <a:ahLst/>
              <a:cxnLst/>
              <a:rect l="l" t="t" r="r" b="b"/>
              <a:pathLst>
                <a:path w="6999605" h="8505825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391487"/>
                  </a:lnTo>
                  <a:lnTo>
                    <a:pt x="6987819" y="8431581"/>
                  </a:lnTo>
                  <a:lnTo>
                    <a:pt x="6965112" y="8465566"/>
                  </a:lnTo>
                  <a:lnTo>
                    <a:pt x="6931126" y="8488324"/>
                  </a:lnTo>
                  <a:lnTo>
                    <a:pt x="6891020" y="8496300"/>
                  </a:lnTo>
                  <a:lnTo>
                    <a:pt x="52082" y="8496300"/>
                  </a:lnTo>
                  <a:lnTo>
                    <a:pt x="26085" y="8487969"/>
                  </a:lnTo>
                  <a:lnTo>
                    <a:pt x="0" y="8493188"/>
                  </a:lnTo>
                  <a:lnTo>
                    <a:pt x="40817" y="8505279"/>
                  </a:lnTo>
                  <a:lnTo>
                    <a:pt x="52082" y="8505825"/>
                  </a:lnTo>
                  <a:lnTo>
                    <a:pt x="6891020" y="8505825"/>
                  </a:lnTo>
                  <a:lnTo>
                    <a:pt x="6934771" y="8497125"/>
                  </a:lnTo>
                  <a:lnTo>
                    <a:pt x="6936511" y="8496300"/>
                  </a:lnTo>
                  <a:lnTo>
                    <a:pt x="6944957" y="8492312"/>
                  </a:lnTo>
                  <a:lnTo>
                    <a:pt x="6954545" y="8486572"/>
                  </a:lnTo>
                  <a:lnTo>
                    <a:pt x="6963499" y="8479917"/>
                  </a:lnTo>
                  <a:lnTo>
                    <a:pt x="6971843" y="8472348"/>
                  </a:lnTo>
                  <a:lnTo>
                    <a:pt x="6972300" y="8471840"/>
                  </a:lnTo>
                  <a:lnTo>
                    <a:pt x="6979425" y="8463966"/>
                  </a:lnTo>
                  <a:lnTo>
                    <a:pt x="6986079" y="8455000"/>
                  </a:lnTo>
                  <a:lnTo>
                    <a:pt x="6991807" y="8445424"/>
                  </a:lnTo>
                  <a:lnTo>
                    <a:pt x="6996620" y="8435226"/>
                  </a:lnTo>
                  <a:lnTo>
                    <a:pt x="6999071" y="842839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99"/>
              <a:ext cx="88900" cy="8481060"/>
            </a:xfrm>
            <a:custGeom>
              <a:avLst/>
              <a:gdLst/>
              <a:ahLst/>
              <a:cxnLst/>
              <a:rect l="l" t="t" r="r" b="b"/>
              <a:pathLst>
                <a:path w="88900" h="8481060">
                  <a:moveTo>
                    <a:pt x="62523" y="8480836"/>
                  </a:moveTo>
                  <a:lnTo>
                    <a:pt x="25900" y="8451505"/>
                  </a:lnTo>
                  <a:lnTo>
                    <a:pt x="4894" y="8412160"/>
                  </a:lnTo>
                  <a:lnTo>
                    <a:pt x="0" y="83790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379030"/>
                  </a:lnTo>
                  <a:lnTo>
                    <a:pt x="52700" y="8419125"/>
                  </a:lnTo>
                  <a:lnTo>
                    <a:pt x="72022" y="8460062"/>
                  </a:lnTo>
                  <a:lnTo>
                    <a:pt x="88529" y="8475640"/>
                  </a:lnTo>
                  <a:lnTo>
                    <a:pt x="62523" y="848083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3667125"/>
            </a:xfrm>
            <a:custGeom>
              <a:avLst/>
              <a:gdLst/>
              <a:ahLst/>
              <a:cxnLst/>
              <a:rect l="l" t="t" r="r" b="b"/>
              <a:pathLst>
                <a:path w="28575" h="3667125">
                  <a:moveTo>
                    <a:pt x="28575" y="3371850"/>
                  </a:moveTo>
                  <a:lnTo>
                    <a:pt x="0" y="3371850"/>
                  </a:lnTo>
                  <a:lnTo>
                    <a:pt x="0" y="3667125"/>
                  </a:lnTo>
                  <a:lnTo>
                    <a:pt x="28575" y="3667125"/>
                  </a:lnTo>
                  <a:lnTo>
                    <a:pt x="28575" y="3371850"/>
                  </a:lnTo>
                  <a:close/>
                </a:path>
                <a:path w="28575" h="3667125">
                  <a:moveTo>
                    <a:pt x="28575" y="1685925"/>
                  </a:moveTo>
                  <a:lnTo>
                    <a:pt x="0" y="1685925"/>
                  </a:lnTo>
                  <a:lnTo>
                    <a:pt x="0" y="1990725"/>
                  </a:lnTo>
                  <a:lnTo>
                    <a:pt x="28575" y="1990725"/>
                  </a:lnTo>
                  <a:lnTo>
                    <a:pt x="28575" y="1685925"/>
                  </a:lnTo>
                  <a:close/>
                </a:path>
                <a:path w="28575" h="36671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639030"/>
              <a:ext cx="6438899" cy="9239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650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33" y="351167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85"/>
                  </a:lnTo>
                  <a:lnTo>
                    <a:pt x="381000" y="309791"/>
                  </a:lnTo>
                  <a:lnTo>
                    <a:pt x="381000" y="71221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818"/>
                  </a:lnTo>
                  <a:lnTo>
                    <a:pt x="1037043" y="109651"/>
                  </a:lnTo>
                  <a:lnTo>
                    <a:pt x="1012875" y="75336"/>
                  </a:lnTo>
                  <a:lnTo>
                    <a:pt x="981087" y="47929"/>
                  </a:lnTo>
                  <a:lnTo>
                    <a:pt x="943584" y="29083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218"/>
                  </a:lnTo>
                  <a:lnTo>
                    <a:pt x="614514" y="39217"/>
                  </a:lnTo>
                  <a:lnTo>
                    <a:pt x="580199" y="63474"/>
                  </a:lnTo>
                  <a:lnTo>
                    <a:pt x="552780" y="95173"/>
                  </a:lnTo>
                  <a:lnTo>
                    <a:pt x="533895" y="132740"/>
                  </a:lnTo>
                  <a:lnTo>
                    <a:pt x="524700" y="173659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07"/>
                  </a:lnTo>
                  <a:lnTo>
                    <a:pt x="548271" y="278511"/>
                  </a:lnTo>
                  <a:lnTo>
                    <a:pt x="574103" y="311658"/>
                  </a:lnTo>
                  <a:lnTo>
                    <a:pt x="607199" y="337477"/>
                  </a:lnTo>
                  <a:lnTo>
                    <a:pt x="645566" y="354469"/>
                  </a:lnTo>
                  <a:lnTo>
                    <a:pt x="686904" y="361708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04"/>
                  </a:lnTo>
                  <a:lnTo>
                    <a:pt x="966647" y="341579"/>
                  </a:lnTo>
                  <a:lnTo>
                    <a:pt x="1000963" y="317474"/>
                  </a:lnTo>
                  <a:lnTo>
                    <a:pt x="1028382" y="285597"/>
                  </a:lnTo>
                  <a:lnTo>
                    <a:pt x="1047267" y="248158"/>
                  </a:lnTo>
                  <a:lnTo>
                    <a:pt x="1056462" y="207302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36970" cy="67062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27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家庭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リビングの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750" b="1" spc="-215" dirty="0">
                <a:solidFill>
                  <a:srgbClr val="333333"/>
                </a:solidFill>
                <a:latin typeface="BIZ UDPゴシック"/>
                <a:cs typeface="BIZ UDPゴシック"/>
              </a:rPr>
              <a:t>えて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守</a:t>
            </a:r>
            <a:r>
              <a:rPr sz="17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る</a:t>
            </a:r>
            <a:endParaRPr sz="17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 dirty="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まるリビングの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⾳環境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えることで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、家庭全体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雰囲気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わります</a:t>
            </a:r>
            <a:r>
              <a:rPr sz="1350" i="1" spc="-140" dirty="0">
                <a:solidFill>
                  <a:srgbClr val="333333"/>
                </a:solidFill>
                <a:latin typeface="メイリオ"/>
                <a:cs typeface="メイリオ"/>
              </a:rPr>
              <a:t>。具体的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をご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紹介。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70" dirty="0">
                <a:solidFill>
                  <a:srgbClr val="2D5926"/>
                </a:solidFill>
                <a:latin typeface="BIZ UDPゴシック"/>
                <a:cs typeface="BIZ UDPゴシック"/>
              </a:rPr>
              <a:t>リビングの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問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題</a:t>
            </a:r>
            <a:endParaRPr sz="1450" dirty="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テレビの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れている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動作⾳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それぞれのスマホやゲ</a:t>
            </a:r>
            <a:r>
              <a:rPr sz="130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ムの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endParaRPr sz="13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これらの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⼈⼯⾳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混在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らず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らずのうちにストレスが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蓄積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されます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改善⽅法</a:t>
            </a:r>
            <a:endParaRPr sz="1450" dirty="0">
              <a:latin typeface="メイリオ"/>
              <a:cs typeface="メイリオ"/>
            </a:endParaRPr>
          </a:p>
          <a:p>
            <a:pPr marL="200660" indent="-187960">
              <a:lnSpc>
                <a:spcPct val="100000"/>
              </a:lnSpc>
              <a:spcBef>
                <a:spcPts val="1360"/>
              </a:spcBef>
              <a:buFont typeface="Comic Sans MS"/>
              <a:buAutoNum type="arabicPeriod"/>
              <a:tabLst>
                <a:tab pos="200660" algn="l"/>
              </a:tabLst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テレビをつけていない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endParaRPr sz="1350" dirty="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480"/>
              </a:spcBef>
              <a:buFont typeface="Comic Sans MS"/>
              <a:buAutoNum type="arabicPeriod"/>
              <a:tabLst>
                <a:tab pos="198755" algn="l"/>
              </a:tabLst>
            </a:pPr>
            <a:r>
              <a:rPr lang="ja-JP" altLang="en-US" sz="1350" spc="-170" dirty="0">
                <a:solidFill>
                  <a:srgbClr val="333333"/>
                </a:solidFill>
                <a:latin typeface="SimSun"/>
                <a:cs typeface="SimSun"/>
              </a:rPr>
              <a:t>テレビの音と同時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35" dirty="0" err="1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200" dirty="0" err="1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lang="ja-JP" altLang="en-US" sz="1300" spc="-110" dirty="0">
                <a:solidFill>
                  <a:srgbClr val="333333"/>
                </a:solidFill>
                <a:latin typeface="メイリオ"/>
                <a:cs typeface="メイリオ"/>
              </a:rPr>
              <a:t>してみる</a:t>
            </a:r>
            <a:endParaRPr sz="1350" dirty="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⾷事時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だけの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 dirty="0">
              <a:latin typeface="SimSun"/>
              <a:cs typeface="SimSun"/>
            </a:endParaRPr>
          </a:p>
          <a:p>
            <a:pPr marL="199390" indent="-18669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就寝</a:t>
            </a: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はテレビを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替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endParaRPr sz="13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報告</a:t>
            </a:r>
            <a:r>
              <a:rPr sz="1450" b="1" spc="-150" dirty="0">
                <a:solidFill>
                  <a:srgbClr val="2D5926"/>
                </a:solidFill>
                <a:latin typeface="BIZ UDPゴシック"/>
                <a:cs typeface="BIZ UDPゴシック"/>
              </a:rPr>
              <a:t>されている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効果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料理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した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会話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えた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雰囲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穏</a:t>
            </a:r>
            <a:r>
              <a:rPr sz="1350" spc="-150" dirty="0">
                <a:solidFill>
                  <a:srgbClr val="333333"/>
                </a:solidFill>
                <a:latin typeface="SimSun"/>
                <a:cs typeface="SimSun"/>
              </a:rPr>
              <a:t>やかになった</a:t>
            </a:r>
            <a:endParaRPr sz="1350" dirty="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98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177579" y="7766139"/>
            <a:ext cx="1455420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7155" marR="5080" indent="-85090">
              <a:lnSpc>
                <a:spcPct val="134300"/>
              </a:lnSpc>
              <a:spcBef>
                <a:spcPts val="9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家庭⽤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BGM</a:t>
            </a:r>
            <a:r>
              <a:rPr sz="1350" spc="-165" dirty="0">
                <a:solidFill>
                  <a:srgbClr val="FFFFFF"/>
                </a:solidFill>
                <a:latin typeface="SimSun"/>
                <a:cs typeface="SimSun"/>
              </a:rPr>
              <a:t>リストを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3"/>
            <a:ext cx="7063105" cy="7848600"/>
            <a:chOff x="352425" y="352443"/>
            <a:chExt cx="7063105" cy="7848600"/>
          </a:xfrm>
        </p:grpSpPr>
        <p:sp>
          <p:nvSpPr>
            <p:cNvPr id="3" name="object 3"/>
            <p:cNvSpPr/>
            <p:nvPr/>
          </p:nvSpPr>
          <p:spPr>
            <a:xfrm>
              <a:off x="376237" y="357137"/>
              <a:ext cx="7038975" cy="7839075"/>
            </a:xfrm>
            <a:custGeom>
              <a:avLst/>
              <a:gdLst/>
              <a:ahLst/>
              <a:cxnLst/>
              <a:rect l="l" t="t" r="r" b="b"/>
              <a:pathLst>
                <a:path w="7038975" h="7839075">
                  <a:moveTo>
                    <a:pt x="6936628" y="7839074"/>
                  </a:moveTo>
                  <a:lnTo>
                    <a:pt x="84545" y="7839074"/>
                  </a:lnTo>
                  <a:lnTo>
                    <a:pt x="78661" y="7838407"/>
                  </a:lnTo>
                  <a:lnTo>
                    <a:pt x="35275" y="7816604"/>
                  </a:lnTo>
                  <a:lnTo>
                    <a:pt x="11948" y="7784229"/>
                  </a:lnTo>
                  <a:lnTo>
                    <a:pt x="579" y="7743824"/>
                  </a:lnTo>
                  <a:lnTo>
                    <a:pt x="0" y="7736756"/>
                  </a:lnTo>
                  <a:lnTo>
                    <a:pt x="0" y="77295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7012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7736756"/>
                  </a:lnTo>
                  <a:lnTo>
                    <a:pt x="7027882" y="7777981"/>
                  </a:lnTo>
                  <a:lnTo>
                    <a:pt x="7001805" y="7812061"/>
                  </a:lnTo>
                  <a:lnTo>
                    <a:pt x="6964709" y="7833416"/>
                  </a:lnTo>
                  <a:lnTo>
                    <a:pt x="6943752" y="7838331"/>
                  </a:lnTo>
                  <a:lnTo>
                    <a:pt x="6936628" y="7839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7848600"/>
            </a:xfrm>
            <a:custGeom>
              <a:avLst/>
              <a:gdLst/>
              <a:ahLst/>
              <a:cxnLst/>
              <a:rect l="l" t="t" r="r" b="b"/>
              <a:pathLst>
                <a:path w="6999605" h="784860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734262"/>
                  </a:lnTo>
                  <a:lnTo>
                    <a:pt x="6987819" y="7774356"/>
                  </a:lnTo>
                  <a:lnTo>
                    <a:pt x="6965112" y="7808341"/>
                  </a:lnTo>
                  <a:lnTo>
                    <a:pt x="6931126" y="7831099"/>
                  </a:lnTo>
                  <a:lnTo>
                    <a:pt x="6891020" y="7839075"/>
                  </a:lnTo>
                  <a:lnTo>
                    <a:pt x="52082" y="7839075"/>
                  </a:lnTo>
                  <a:lnTo>
                    <a:pt x="26085" y="7830744"/>
                  </a:lnTo>
                  <a:lnTo>
                    <a:pt x="0" y="7835963"/>
                  </a:lnTo>
                  <a:lnTo>
                    <a:pt x="40817" y="7848054"/>
                  </a:lnTo>
                  <a:lnTo>
                    <a:pt x="52082" y="7848600"/>
                  </a:lnTo>
                  <a:lnTo>
                    <a:pt x="6891020" y="7848600"/>
                  </a:lnTo>
                  <a:lnTo>
                    <a:pt x="6934771" y="7839900"/>
                  </a:lnTo>
                  <a:lnTo>
                    <a:pt x="6936511" y="7839075"/>
                  </a:lnTo>
                  <a:lnTo>
                    <a:pt x="6944957" y="7835087"/>
                  </a:lnTo>
                  <a:lnTo>
                    <a:pt x="6954545" y="7829347"/>
                  </a:lnTo>
                  <a:lnTo>
                    <a:pt x="6963499" y="7822692"/>
                  </a:lnTo>
                  <a:lnTo>
                    <a:pt x="6971843" y="7815123"/>
                  </a:lnTo>
                  <a:lnTo>
                    <a:pt x="6972300" y="7814615"/>
                  </a:lnTo>
                  <a:lnTo>
                    <a:pt x="6979425" y="7806741"/>
                  </a:lnTo>
                  <a:lnTo>
                    <a:pt x="6986079" y="7797774"/>
                  </a:lnTo>
                  <a:lnTo>
                    <a:pt x="6991807" y="7788199"/>
                  </a:lnTo>
                  <a:lnTo>
                    <a:pt x="6996620" y="7778001"/>
                  </a:lnTo>
                  <a:lnTo>
                    <a:pt x="6999071" y="777116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0"/>
              <a:ext cx="88900" cy="7823834"/>
            </a:xfrm>
            <a:custGeom>
              <a:avLst/>
              <a:gdLst/>
              <a:ahLst/>
              <a:cxnLst/>
              <a:rect l="l" t="t" r="r" b="b"/>
              <a:pathLst>
                <a:path w="88900" h="7823834">
                  <a:moveTo>
                    <a:pt x="62524" y="7823611"/>
                  </a:moveTo>
                  <a:lnTo>
                    <a:pt x="25900" y="7794281"/>
                  </a:lnTo>
                  <a:lnTo>
                    <a:pt x="4894" y="7754934"/>
                  </a:lnTo>
                  <a:lnTo>
                    <a:pt x="0" y="77218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721805"/>
                  </a:lnTo>
                  <a:lnTo>
                    <a:pt x="52700" y="7761900"/>
                  </a:lnTo>
                  <a:lnTo>
                    <a:pt x="72022" y="7802838"/>
                  </a:lnTo>
                  <a:lnTo>
                    <a:pt x="88529" y="7818415"/>
                  </a:lnTo>
                  <a:lnTo>
                    <a:pt x="62524" y="782361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5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1438275"/>
            </a:xfrm>
            <a:custGeom>
              <a:avLst/>
              <a:gdLst/>
              <a:ahLst/>
              <a:cxnLst/>
              <a:rect l="l" t="t" r="r" b="b"/>
              <a:pathLst>
                <a:path w="28575" h="14382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14382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953074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953074"/>
              <a:ext cx="38100" cy="838200"/>
            </a:xfrm>
            <a:custGeom>
              <a:avLst/>
              <a:gdLst/>
              <a:ahLst/>
              <a:cxnLst/>
              <a:rect l="l" t="t" r="r" b="b"/>
              <a:pathLst>
                <a:path w="38100" h="838200">
                  <a:moveTo>
                    <a:pt x="380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381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981806"/>
              <a:ext cx="6438899" cy="923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949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33" y="351167"/>
                  </a:lnTo>
                  <a:lnTo>
                    <a:pt x="51663" y="377063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85"/>
                  </a:lnTo>
                  <a:lnTo>
                    <a:pt x="381000" y="309791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55"/>
                  </a:lnTo>
                  <a:lnTo>
                    <a:pt x="1037043" y="109575"/>
                  </a:lnTo>
                  <a:lnTo>
                    <a:pt x="1012875" y="75374"/>
                  </a:lnTo>
                  <a:lnTo>
                    <a:pt x="981087" y="48006"/>
                  </a:lnTo>
                  <a:lnTo>
                    <a:pt x="943584" y="29083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217"/>
                  </a:lnTo>
                  <a:lnTo>
                    <a:pt x="580199" y="63474"/>
                  </a:lnTo>
                  <a:lnTo>
                    <a:pt x="552780" y="95250"/>
                  </a:lnTo>
                  <a:lnTo>
                    <a:pt x="533895" y="132626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31"/>
                  </a:lnTo>
                  <a:lnTo>
                    <a:pt x="548271" y="278472"/>
                  </a:lnTo>
                  <a:lnTo>
                    <a:pt x="574103" y="311658"/>
                  </a:lnTo>
                  <a:lnTo>
                    <a:pt x="607199" y="337400"/>
                  </a:lnTo>
                  <a:lnTo>
                    <a:pt x="645566" y="354406"/>
                  </a:lnTo>
                  <a:lnTo>
                    <a:pt x="686904" y="361708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666"/>
                  </a:lnTo>
                  <a:lnTo>
                    <a:pt x="966647" y="341579"/>
                  </a:lnTo>
                  <a:lnTo>
                    <a:pt x="1000963" y="317461"/>
                  </a:lnTo>
                  <a:lnTo>
                    <a:pt x="1028382" y="285597"/>
                  </a:lnTo>
                  <a:lnTo>
                    <a:pt x="1047267" y="248119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5666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28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想⼊⾨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750" b="1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った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初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者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750" b="1" spc="-114" dirty="0">
                <a:solidFill>
                  <a:srgbClr val="333333"/>
                </a:solidFill>
                <a:latin typeface="BIZ UDPゴシック"/>
                <a:cs typeface="BIZ UDPゴシック"/>
              </a:rPr>
              <a:t>けメディテ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10" dirty="0">
                <a:solidFill>
                  <a:srgbClr val="333333"/>
                </a:solidFill>
                <a:latin typeface="BIZ UDPゴシック"/>
                <a:cs typeface="BIZ UDPゴシック"/>
              </a:rPr>
              <a:t>ション</a:t>
            </a:r>
            <a:endParaRPr sz="175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 dirty="0">
              <a:latin typeface="BIZ UDPゴシック"/>
              <a:cs typeface="BIZ UDPゴシック"/>
            </a:endParaRPr>
          </a:p>
          <a:p>
            <a:pPr marL="155575" marR="23495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瞑想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めたいけど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えないのが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しい</a:t>
            </a: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えば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、初⼼者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簡単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瞑想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れます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が瞑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に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良</a:t>
            </a:r>
            <a:r>
              <a:rPr sz="1450" b="1" spc="-110" dirty="0">
                <a:solidFill>
                  <a:srgbClr val="2D5926"/>
                </a:solidFill>
                <a:latin typeface="BIZ UDPゴシック"/>
                <a:cs typeface="BIZ UDPゴシック"/>
              </a:rPr>
              <a:t>いのか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42545">
              <a:lnSpc>
                <a:spcPct val="129600"/>
              </a:lnSpc>
              <a:spcBef>
                <a:spcPts val="880"/>
              </a:spcBef>
            </a:pP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しいのは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無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になること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えば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意識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けることで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雑念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払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うことができます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無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⽬指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必要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はありません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実践⽅法</a:t>
            </a:r>
            <a:r>
              <a:rPr sz="1450" b="1" spc="395" dirty="0">
                <a:solidFill>
                  <a:srgbClr val="2D5926"/>
                </a:solidFill>
                <a:latin typeface="BIZ UDPゴシック"/>
                <a:cs typeface="BIZ UDPゴシック"/>
              </a:rPr>
              <a:t>（</a:t>
            </a:r>
            <a:r>
              <a:rPr sz="1550" b="1" spc="395" dirty="0">
                <a:solidFill>
                  <a:srgbClr val="2D5926"/>
                </a:solidFill>
                <a:latin typeface="Comic Sans MS"/>
                <a:cs typeface="Comic Sans MS"/>
              </a:rPr>
              <a:t>10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分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間</a:t>
            </a:r>
            <a:r>
              <a:rPr sz="1450" b="1" spc="1135" dirty="0">
                <a:solidFill>
                  <a:srgbClr val="2D5926"/>
                </a:solidFill>
                <a:latin typeface="BIZ UDPゴシック"/>
                <a:cs typeface="BIZ UDPゴシック"/>
              </a:rPr>
              <a:t>）</a:t>
            </a:r>
            <a:endParaRPr sz="1450" dirty="0">
              <a:latin typeface="BIZ UDPゴシック"/>
              <a:cs typeface="BIZ UDPゴシック"/>
            </a:endParaRPr>
          </a:p>
          <a:p>
            <a:pPr marL="200660" indent="-187960">
              <a:lnSpc>
                <a:spcPct val="100000"/>
              </a:lnSpc>
              <a:spcBef>
                <a:spcPts val="1340"/>
              </a:spcBef>
              <a:buSzPct val="103846"/>
              <a:buFont typeface="Comic Sans MS"/>
              <a:buAutoNum type="arabicPeriod"/>
              <a:tabLst>
                <a:tab pos="20066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静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場所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姿勢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endParaRPr sz="1350" dirty="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のせせらぎがおすすめ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 dirty="0">
              <a:latin typeface="BIZ UDPゴシック"/>
              <a:cs typeface="BIZ UDPゴシック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だけに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意識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ける</a:t>
            </a:r>
            <a:endParaRPr sz="1350" dirty="0">
              <a:latin typeface="SimSun"/>
              <a:cs typeface="SimSun"/>
            </a:endParaRPr>
          </a:p>
          <a:p>
            <a:pPr marL="199390" indent="-186690">
              <a:lnSpc>
                <a:spcPct val="100000"/>
              </a:lnSpc>
              <a:spcBef>
                <a:spcPts val="480"/>
              </a:spcBef>
              <a:buSzPct val="103846"/>
              <a:buFont typeface="Comic Sans MS"/>
              <a:buAutoNum type="arabicPeriod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雑念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浮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かんでも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意識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戻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す</a:t>
            </a:r>
            <a:endParaRPr sz="1350" dirty="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198755" algn="l"/>
              </a:tabLst>
            </a:pP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分後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ゆっくりと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開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ける</a:t>
            </a:r>
            <a:endParaRPr sz="13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200" dirty="0">
              <a:latin typeface="SimSun"/>
              <a:cs typeface="SimSun"/>
            </a:endParaRPr>
          </a:p>
          <a:p>
            <a:pPr marL="193040" marR="166370" algn="l">
              <a:lnSpc>
                <a:spcPct val="134300"/>
              </a:lnSpc>
            </a:pPr>
            <a:r>
              <a:rPr lang="en-US"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潜在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350" spc="-185" dirty="0" err="1">
                <a:solidFill>
                  <a:srgbClr val="333333"/>
                </a:solidFill>
                <a:latin typeface="SimSun"/>
                <a:cs typeface="SimSun"/>
              </a:rPr>
              <a:t>とつながるメディテ</a:t>
            </a:r>
            <a:r>
              <a:rPr sz="1300" spc="-60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ションを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⽣活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lang="ja-JP" altLang="en-US" sz="13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れると、</a:t>
            </a:r>
            <a:r>
              <a:rPr lang="ja-JP" altLang="en-US" sz="1300" spc="675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心が</a:t>
            </a:r>
            <a:r>
              <a:rPr lang="ja-JP" altLang="en-US" sz="13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おおらかになり、体も</a:t>
            </a:r>
            <a:r>
              <a:rPr lang="ja-JP" altLang="en-US" sz="1300" spc="-11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健康</a:t>
            </a:r>
            <a:r>
              <a:rPr lang="ja-JP" altLang="en-US" sz="1300" spc="-17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imSun"/>
              </a:rPr>
              <a:t>になります</a:t>
            </a:r>
            <a:r>
              <a:rPr lang="ja-JP" altLang="en-US" sz="1300" spc="104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BIZ UDPゴシック"/>
              </a:rPr>
              <a:t>」</a:t>
            </a:r>
            <a:endParaRPr sz="1300" dirty="0">
              <a:latin typeface="メイリオ" panose="020B0604030504040204" pitchFamily="50" charset="-128"/>
              <a:ea typeface="メイリオ" panose="020B0604030504040204" pitchFamily="50" charset="-128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265">
              <a:lnSpc>
                <a:spcPts val="860"/>
              </a:lnSpc>
            </a:pPr>
            <a:fld id="{81D60167-4931-47E6-BA6A-407CBD079E47}" type="slidenum">
              <a:rPr spc="-10" dirty="0"/>
              <a:t>99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62411" y="7122268"/>
            <a:ext cx="1285875" cy="5549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172720">
              <a:lnSpc>
                <a:spcPct val="129600"/>
              </a:lnSpc>
              <a:spcBef>
                <a:spcPts val="65"/>
              </a:spcBef>
            </a:pP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瞑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想⽤⾳源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を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75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4"/>
            <a:ext cx="7063105" cy="7686675"/>
            <a:chOff x="352425" y="352444"/>
            <a:chExt cx="7063105" cy="7686675"/>
          </a:xfrm>
        </p:grpSpPr>
        <p:sp>
          <p:nvSpPr>
            <p:cNvPr id="3" name="object 3"/>
            <p:cNvSpPr/>
            <p:nvPr/>
          </p:nvSpPr>
          <p:spPr>
            <a:xfrm>
              <a:off x="376237" y="357137"/>
              <a:ext cx="7038975" cy="7677150"/>
            </a:xfrm>
            <a:custGeom>
              <a:avLst/>
              <a:gdLst/>
              <a:ahLst/>
              <a:cxnLst/>
              <a:rect l="l" t="t" r="r" b="b"/>
              <a:pathLst>
                <a:path w="7038975" h="7677150">
                  <a:moveTo>
                    <a:pt x="6936628" y="7677149"/>
                  </a:moveTo>
                  <a:lnTo>
                    <a:pt x="84545" y="7677149"/>
                  </a:lnTo>
                  <a:lnTo>
                    <a:pt x="78661" y="7676406"/>
                  </a:lnTo>
                  <a:lnTo>
                    <a:pt x="35275" y="7654527"/>
                  </a:lnTo>
                  <a:lnTo>
                    <a:pt x="11948" y="7622304"/>
                  </a:lnTo>
                  <a:lnTo>
                    <a:pt x="579" y="7581823"/>
                  </a:lnTo>
                  <a:lnTo>
                    <a:pt x="0" y="7574755"/>
                  </a:lnTo>
                  <a:lnTo>
                    <a:pt x="0" y="756761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574755"/>
                  </a:lnTo>
                  <a:lnTo>
                    <a:pt x="7027882" y="7615979"/>
                  </a:lnTo>
                  <a:lnTo>
                    <a:pt x="7001805" y="7649984"/>
                  </a:lnTo>
                  <a:lnTo>
                    <a:pt x="6964709" y="7671491"/>
                  </a:lnTo>
                  <a:lnTo>
                    <a:pt x="6943752" y="7676406"/>
                  </a:lnTo>
                  <a:lnTo>
                    <a:pt x="6936628" y="7677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7686675"/>
            </a:xfrm>
            <a:custGeom>
              <a:avLst/>
              <a:gdLst/>
              <a:ahLst/>
              <a:cxnLst/>
              <a:rect l="l" t="t" r="r" b="b"/>
              <a:pathLst>
                <a:path w="6999605" h="7686675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572337"/>
                  </a:lnTo>
                  <a:lnTo>
                    <a:pt x="6987819" y="7612431"/>
                  </a:lnTo>
                  <a:lnTo>
                    <a:pt x="6965112" y="7646416"/>
                  </a:lnTo>
                  <a:lnTo>
                    <a:pt x="6931126" y="7669174"/>
                  </a:lnTo>
                  <a:lnTo>
                    <a:pt x="6891020" y="7677150"/>
                  </a:lnTo>
                  <a:lnTo>
                    <a:pt x="52082" y="7677150"/>
                  </a:lnTo>
                  <a:lnTo>
                    <a:pt x="26085" y="7668819"/>
                  </a:lnTo>
                  <a:lnTo>
                    <a:pt x="0" y="7674038"/>
                  </a:lnTo>
                  <a:lnTo>
                    <a:pt x="40817" y="7686129"/>
                  </a:lnTo>
                  <a:lnTo>
                    <a:pt x="52082" y="7686675"/>
                  </a:lnTo>
                  <a:lnTo>
                    <a:pt x="6891020" y="7686675"/>
                  </a:lnTo>
                  <a:lnTo>
                    <a:pt x="6934771" y="7677975"/>
                  </a:lnTo>
                  <a:lnTo>
                    <a:pt x="6936511" y="7677150"/>
                  </a:lnTo>
                  <a:lnTo>
                    <a:pt x="6944957" y="7673162"/>
                  </a:lnTo>
                  <a:lnTo>
                    <a:pt x="6954545" y="7667422"/>
                  </a:lnTo>
                  <a:lnTo>
                    <a:pt x="6963499" y="7660767"/>
                  </a:lnTo>
                  <a:lnTo>
                    <a:pt x="6971843" y="7653198"/>
                  </a:lnTo>
                  <a:lnTo>
                    <a:pt x="6972300" y="7652702"/>
                  </a:lnTo>
                  <a:lnTo>
                    <a:pt x="6979425" y="7644816"/>
                  </a:lnTo>
                  <a:lnTo>
                    <a:pt x="6986079" y="7635849"/>
                  </a:lnTo>
                  <a:lnTo>
                    <a:pt x="6991807" y="7626274"/>
                  </a:lnTo>
                  <a:lnTo>
                    <a:pt x="6996620" y="7616076"/>
                  </a:lnTo>
                  <a:lnTo>
                    <a:pt x="6999071" y="760924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1"/>
              <a:ext cx="88900" cy="7661909"/>
            </a:xfrm>
            <a:custGeom>
              <a:avLst/>
              <a:gdLst/>
              <a:ahLst/>
              <a:cxnLst/>
              <a:rect l="l" t="t" r="r" b="b"/>
              <a:pathLst>
                <a:path w="88900" h="7661909">
                  <a:moveTo>
                    <a:pt x="62524" y="7661686"/>
                  </a:moveTo>
                  <a:lnTo>
                    <a:pt x="25900" y="7632356"/>
                  </a:lnTo>
                  <a:lnTo>
                    <a:pt x="4894" y="7593010"/>
                  </a:lnTo>
                  <a:lnTo>
                    <a:pt x="0" y="75598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559880"/>
                  </a:lnTo>
                  <a:lnTo>
                    <a:pt x="52700" y="7599975"/>
                  </a:lnTo>
                  <a:lnTo>
                    <a:pt x="72022" y="7640912"/>
                  </a:lnTo>
                  <a:lnTo>
                    <a:pt x="88530" y="7656490"/>
                  </a:lnTo>
                  <a:lnTo>
                    <a:pt x="62524" y="7661686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69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847975"/>
            </a:xfrm>
            <a:custGeom>
              <a:avLst/>
              <a:gdLst/>
              <a:ahLst/>
              <a:cxnLst/>
              <a:rect l="l" t="t" r="r" b="b"/>
              <a:pathLst>
                <a:path w="28575" h="2847975">
                  <a:moveTo>
                    <a:pt x="28575" y="2543175"/>
                  </a:moveTo>
                  <a:lnTo>
                    <a:pt x="0" y="2543175"/>
                  </a:lnTo>
                  <a:lnTo>
                    <a:pt x="0" y="2847975"/>
                  </a:lnTo>
                  <a:lnTo>
                    <a:pt x="28575" y="2847975"/>
                  </a:lnTo>
                  <a:lnTo>
                    <a:pt x="28575" y="2543175"/>
                  </a:lnTo>
                  <a:close/>
                </a:path>
                <a:path w="28575" h="2847975">
                  <a:moveTo>
                    <a:pt x="28575" y="1133475"/>
                  </a:moveTo>
                  <a:lnTo>
                    <a:pt x="0" y="1133475"/>
                  </a:lnTo>
                  <a:lnTo>
                    <a:pt x="0" y="1438275"/>
                  </a:lnTo>
                  <a:lnTo>
                    <a:pt x="28575" y="1438275"/>
                  </a:lnTo>
                  <a:lnTo>
                    <a:pt x="28575" y="1133475"/>
                  </a:lnTo>
                  <a:close/>
                </a:path>
                <a:path w="28575" h="28479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810357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633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320"/>
                  </a:lnTo>
                  <a:lnTo>
                    <a:pt x="51663" y="377063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22"/>
                  </a:lnTo>
                  <a:lnTo>
                    <a:pt x="381000" y="309714"/>
                  </a:lnTo>
                  <a:lnTo>
                    <a:pt x="381000" y="71145"/>
                  </a:lnTo>
                  <a:close/>
                </a:path>
                <a:path w="1057275" h="381000">
                  <a:moveTo>
                    <a:pt x="1057275" y="190500"/>
                  </a:moveTo>
                  <a:lnTo>
                    <a:pt x="1052144" y="148742"/>
                  </a:lnTo>
                  <a:lnTo>
                    <a:pt x="1037043" y="109562"/>
                  </a:lnTo>
                  <a:lnTo>
                    <a:pt x="1012875" y="75311"/>
                  </a:lnTo>
                  <a:lnTo>
                    <a:pt x="981087" y="47853"/>
                  </a:lnTo>
                  <a:lnTo>
                    <a:pt x="943584" y="29006"/>
                  </a:lnTo>
                  <a:lnTo>
                    <a:pt x="902639" y="19888"/>
                  </a:lnTo>
                  <a:lnTo>
                    <a:pt x="88582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41"/>
                  </a:lnTo>
                  <a:lnTo>
                    <a:pt x="580199" y="63347"/>
                  </a:lnTo>
                  <a:lnTo>
                    <a:pt x="552780" y="95173"/>
                  </a:lnTo>
                  <a:lnTo>
                    <a:pt x="533895" y="132600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23"/>
                  </a:lnTo>
                  <a:lnTo>
                    <a:pt x="574103" y="311658"/>
                  </a:lnTo>
                  <a:lnTo>
                    <a:pt x="607199" y="337439"/>
                  </a:lnTo>
                  <a:lnTo>
                    <a:pt x="645566" y="354533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885825" y="361950"/>
                  </a:lnTo>
                  <a:lnTo>
                    <a:pt x="927506" y="356730"/>
                  </a:lnTo>
                  <a:lnTo>
                    <a:pt x="966647" y="341515"/>
                  </a:lnTo>
                  <a:lnTo>
                    <a:pt x="1000963" y="317474"/>
                  </a:lnTo>
                  <a:lnTo>
                    <a:pt x="1028382" y="285673"/>
                  </a:lnTo>
                  <a:lnTo>
                    <a:pt x="1047267" y="248119"/>
                  </a:lnTo>
                  <a:lnTo>
                    <a:pt x="1056462" y="207264"/>
                  </a:lnTo>
                  <a:lnTo>
                    <a:pt x="1057275" y="190500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410960" cy="55662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29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動</a:t>
            </a:r>
            <a:r>
              <a:rPr sz="1800" b="1" spc="-50" dirty="0">
                <a:solidFill>
                  <a:srgbClr val="333333"/>
                </a:solidFill>
                <a:latin typeface="Comic Sans MS"/>
                <a:cs typeface="Comic Sans MS"/>
              </a:rPr>
              <a:t>×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80" dirty="0">
                <a:solidFill>
                  <a:srgbClr val="333333"/>
                </a:solidFill>
                <a:latin typeface="BIZ UDPゴシック"/>
                <a:cs typeface="BIZ UDPゴシック"/>
              </a:rPr>
              <a:t>ストレッチやヨガに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取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り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れる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70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 dirty="0">
              <a:latin typeface="メイリオ"/>
              <a:cs typeface="メイリオ"/>
            </a:endParaRPr>
          </a:p>
          <a:p>
            <a:pPr marL="155575" marR="268605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運動時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400" i="1" spc="-7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えるだけで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、効果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まります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かしながら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、統合的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なアプロ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チをご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紹介。</a:t>
            </a:r>
            <a:endParaRPr sz="1350" dirty="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 dirty="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なぜ運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動</a:t>
            </a:r>
            <a:r>
              <a:rPr sz="1550" b="1" spc="-45" dirty="0">
                <a:solidFill>
                  <a:srgbClr val="2D5926"/>
                </a:solidFill>
                <a:latin typeface="Comic Sans MS"/>
                <a:cs typeface="Comic Sans MS"/>
              </a:rPr>
              <a:t>×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⾃然⾳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が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効果的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か</a:t>
            </a:r>
            <a:endParaRPr sz="1450" dirty="0">
              <a:latin typeface="BIZ UDPゴシック"/>
              <a:cs typeface="BIZ UDPゴシック"/>
            </a:endParaRPr>
          </a:p>
          <a:p>
            <a:pPr marL="12700" marR="5080">
              <a:lnSpc>
                <a:spcPct val="129600"/>
              </a:lnSpc>
              <a:spcBef>
                <a:spcPts val="86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運動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わせにより</a:t>
            </a:r>
            <a:r>
              <a:rPr sz="1300" spc="-5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運動後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とリラックス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移⾏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でき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早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まります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 dirty="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 dirty="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25" dirty="0">
                <a:solidFill>
                  <a:srgbClr val="2D5926"/>
                </a:solidFill>
                <a:latin typeface="BIZ UDPゴシック"/>
                <a:cs typeface="BIZ UDPゴシック"/>
              </a:rPr>
              <a:t>ストレッチ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時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活⽤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のせせらぎを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のリズムに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わせてゆっくり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動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⻑</a:t>
            </a:r>
            <a:r>
              <a:rPr sz="1350" spc="-6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endParaRPr sz="13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 dirty="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90" dirty="0">
                <a:solidFill>
                  <a:srgbClr val="2D5926"/>
                </a:solidFill>
                <a:latin typeface="BIZ UDPゴシック"/>
                <a:cs typeface="BIZ UDPゴシック"/>
              </a:rPr>
              <a:t>ヨガ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時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活⽤</a:t>
            </a:r>
            <a:endParaRPr sz="1450" dirty="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 err="1">
                <a:solidFill>
                  <a:srgbClr val="333333"/>
                </a:solidFill>
                <a:latin typeface="SimSun"/>
                <a:cs typeface="SimSun"/>
              </a:rPr>
              <a:t>休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息</a:t>
            </a:r>
            <a:r>
              <a:rPr sz="1350" spc="-190" dirty="0" err="1">
                <a:solidFill>
                  <a:srgbClr val="333333"/>
                </a:solidFill>
                <a:latin typeface="SimSun"/>
                <a:cs typeface="SimSun"/>
              </a:rPr>
              <a:t>のポ</a:t>
            </a:r>
            <a:r>
              <a:rPr sz="1300" spc="-204" dirty="0" err="1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lang="ja-JP" altLang="en-US" sz="1350" spc="-170" dirty="0">
                <a:solidFill>
                  <a:srgbClr val="333333"/>
                </a:solidFill>
                <a:latin typeface="SimSun"/>
                <a:cs typeface="SimSun"/>
              </a:rPr>
              <a:t>　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切</a:t>
            </a:r>
            <a:r>
              <a:rPr sz="1350" spc="-170" dirty="0" err="1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 err="1">
                <a:solidFill>
                  <a:srgbClr val="333333"/>
                </a:solidFill>
                <a:latin typeface="メイリオ"/>
                <a:cs typeface="メイリオ"/>
              </a:rPr>
              <a:t>替</a:t>
            </a:r>
            <a:r>
              <a:rPr sz="1350" spc="-50" dirty="0" err="1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lang="ja-JP" altLang="en-US" sz="1350" spc="-50" dirty="0">
                <a:solidFill>
                  <a:srgbClr val="333333"/>
                </a:solidFill>
                <a:latin typeface="SimSun"/>
                <a:cs typeface="SimSun"/>
              </a:rPr>
              <a:t>るものお勧め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最後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のメディテ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ションでは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endParaRPr sz="1350" dirty="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121822" y="9750472"/>
            <a:ext cx="35877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z="800" spc="-10" dirty="0">
                <a:latin typeface="Times New Roman"/>
                <a:cs typeface="Times New Roman"/>
              </a:rPr>
              <a:t>100/135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2782" y="6941478"/>
            <a:ext cx="1544955" cy="5740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42240" marR="5080" indent="-130175">
              <a:lnSpc>
                <a:spcPct val="134300"/>
              </a:lnSpc>
              <a:spcBef>
                <a:spcPts val="6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運動⽤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プレイリストを</a:t>
            </a:r>
            <a:r>
              <a:rPr sz="1350" spc="-105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配布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5"/>
            <a:ext cx="7063105" cy="8039100"/>
            <a:chOff x="352425" y="352445"/>
            <a:chExt cx="7063105" cy="8039100"/>
          </a:xfrm>
        </p:grpSpPr>
        <p:sp>
          <p:nvSpPr>
            <p:cNvPr id="3" name="object 3"/>
            <p:cNvSpPr/>
            <p:nvPr/>
          </p:nvSpPr>
          <p:spPr>
            <a:xfrm>
              <a:off x="376237" y="357136"/>
              <a:ext cx="7038975" cy="8029575"/>
            </a:xfrm>
            <a:custGeom>
              <a:avLst/>
              <a:gdLst/>
              <a:ahLst/>
              <a:cxnLst/>
              <a:rect l="l" t="t" r="r" b="b"/>
              <a:pathLst>
                <a:path w="7038975" h="8029575">
                  <a:moveTo>
                    <a:pt x="6936628" y="8029574"/>
                  </a:moveTo>
                  <a:lnTo>
                    <a:pt x="84545" y="8029574"/>
                  </a:lnTo>
                  <a:lnTo>
                    <a:pt x="78661" y="8028831"/>
                  </a:lnTo>
                  <a:lnTo>
                    <a:pt x="35275" y="8007028"/>
                  </a:lnTo>
                  <a:lnTo>
                    <a:pt x="11948" y="7974729"/>
                  </a:lnTo>
                  <a:lnTo>
                    <a:pt x="579" y="7934248"/>
                  </a:lnTo>
                  <a:lnTo>
                    <a:pt x="0" y="7927180"/>
                  </a:lnTo>
                  <a:lnTo>
                    <a:pt x="0" y="792003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927180"/>
                  </a:lnTo>
                  <a:lnTo>
                    <a:pt x="7027882" y="7968404"/>
                  </a:lnTo>
                  <a:lnTo>
                    <a:pt x="7001805" y="8002561"/>
                  </a:lnTo>
                  <a:lnTo>
                    <a:pt x="6964709" y="8023840"/>
                  </a:lnTo>
                  <a:lnTo>
                    <a:pt x="6943752" y="8028831"/>
                  </a:lnTo>
                  <a:lnTo>
                    <a:pt x="6936628" y="8029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8039100"/>
            </a:xfrm>
            <a:custGeom>
              <a:avLst/>
              <a:gdLst/>
              <a:ahLst/>
              <a:cxnLst/>
              <a:rect l="l" t="t" r="r" b="b"/>
              <a:pathLst>
                <a:path w="6999605" h="803910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924762"/>
                  </a:lnTo>
                  <a:lnTo>
                    <a:pt x="6987819" y="7964856"/>
                  </a:lnTo>
                  <a:lnTo>
                    <a:pt x="6965112" y="7998854"/>
                  </a:lnTo>
                  <a:lnTo>
                    <a:pt x="6957466" y="8005826"/>
                  </a:lnTo>
                  <a:lnTo>
                    <a:pt x="6921398" y="8025092"/>
                  </a:lnTo>
                  <a:lnTo>
                    <a:pt x="6891020" y="8029575"/>
                  </a:lnTo>
                  <a:lnTo>
                    <a:pt x="52082" y="8029575"/>
                  </a:lnTo>
                  <a:lnTo>
                    <a:pt x="26085" y="8021244"/>
                  </a:lnTo>
                  <a:lnTo>
                    <a:pt x="0" y="8026463"/>
                  </a:lnTo>
                  <a:lnTo>
                    <a:pt x="40817" y="8038554"/>
                  </a:lnTo>
                  <a:lnTo>
                    <a:pt x="52082" y="8039100"/>
                  </a:lnTo>
                  <a:lnTo>
                    <a:pt x="6891020" y="8039100"/>
                  </a:lnTo>
                  <a:lnTo>
                    <a:pt x="6934771" y="8030400"/>
                  </a:lnTo>
                  <a:lnTo>
                    <a:pt x="6936511" y="8029575"/>
                  </a:lnTo>
                  <a:lnTo>
                    <a:pt x="6944957" y="8025587"/>
                  </a:lnTo>
                  <a:lnTo>
                    <a:pt x="6954545" y="8019859"/>
                  </a:lnTo>
                  <a:lnTo>
                    <a:pt x="6963499" y="8013192"/>
                  </a:lnTo>
                  <a:lnTo>
                    <a:pt x="6971843" y="8005623"/>
                  </a:lnTo>
                  <a:lnTo>
                    <a:pt x="6972300" y="8005127"/>
                  </a:lnTo>
                  <a:lnTo>
                    <a:pt x="6979425" y="7997241"/>
                  </a:lnTo>
                  <a:lnTo>
                    <a:pt x="6986079" y="7988274"/>
                  </a:lnTo>
                  <a:lnTo>
                    <a:pt x="6991807" y="7978699"/>
                  </a:lnTo>
                  <a:lnTo>
                    <a:pt x="6996620" y="7968501"/>
                  </a:lnTo>
                  <a:lnTo>
                    <a:pt x="6999071" y="796166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1"/>
              <a:ext cx="88900" cy="8014334"/>
            </a:xfrm>
            <a:custGeom>
              <a:avLst/>
              <a:gdLst/>
              <a:ahLst/>
              <a:cxnLst/>
              <a:rect l="l" t="t" r="r" b="b"/>
              <a:pathLst>
                <a:path w="88900" h="8014334">
                  <a:moveTo>
                    <a:pt x="62523" y="8014111"/>
                  </a:moveTo>
                  <a:lnTo>
                    <a:pt x="25900" y="7984781"/>
                  </a:lnTo>
                  <a:lnTo>
                    <a:pt x="4894" y="7945434"/>
                  </a:lnTo>
                  <a:lnTo>
                    <a:pt x="0" y="7912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912305"/>
                  </a:lnTo>
                  <a:lnTo>
                    <a:pt x="52700" y="7952400"/>
                  </a:lnTo>
                  <a:lnTo>
                    <a:pt x="72022" y="7993337"/>
                  </a:lnTo>
                  <a:lnTo>
                    <a:pt x="88529" y="8008915"/>
                  </a:lnTo>
                  <a:lnTo>
                    <a:pt x="62523" y="8014111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69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510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3743325"/>
            </a:xfrm>
            <a:custGeom>
              <a:avLst/>
              <a:gdLst/>
              <a:ahLst/>
              <a:cxnLst/>
              <a:rect l="l" t="t" r="r" b="b"/>
              <a:pathLst>
                <a:path w="28575" h="3743325">
                  <a:moveTo>
                    <a:pt x="28575" y="3448050"/>
                  </a:moveTo>
                  <a:lnTo>
                    <a:pt x="0" y="3448050"/>
                  </a:lnTo>
                  <a:lnTo>
                    <a:pt x="0" y="3743325"/>
                  </a:lnTo>
                  <a:lnTo>
                    <a:pt x="28575" y="3743325"/>
                  </a:lnTo>
                  <a:lnTo>
                    <a:pt x="28575" y="3448050"/>
                  </a:lnTo>
                  <a:close/>
                </a:path>
                <a:path w="28575" h="3743325">
                  <a:moveTo>
                    <a:pt x="28575" y="2581275"/>
                  </a:moveTo>
                  <a:lnTo>
                    <a:pt x="0" y="2581275"/>
                  </a:lnTo>
                  <a:lnTo>
                    <a:pt x="0" y="2886075"/>
                  </a:lnTo>
                  <a:lnTo>
                    <a:pt x="28575" y="2886075"/>
                  </a:lnTo>
                  <a:lnTo>
                    <a:pt x="28575" y="2581275"/>
                  </a:lnTo>
                  <a:close/>
                </a:path>
                <a:path w="28575" h="3743325">
                  <a:moveTo>
                    <a:pt x="28575" y="1724025"/>
                  </a:moveTo>
                  <a:lnTo>
                    <a:pt x="0" y="1724025"/>
                  </a:lnTo>
                  <a:lnTo>
                    <a:pt x="0" y="2028825"/>
                  </a:lnTo>
                  <a:lnTo>
                    <a:pt x="28575" y="2028825"/>
                  </a:lnTo>
                  <a:lnTo>
                    <a:pt x="28575" y="1724025"/>
                  </a:lnTo>
                  <a:close/>
                </a:path>
                <a:path w="28575" h="3743325">
                  <a:moveTo>
                    <a:pt x="28575" y="857250"/>
                  </a:moveTo>
                  <a:lnTo>
                    <a:pt x="0" y="857250"/>
                  </a:lnTo>
                  <a:lnTo>
                    <a:pt x="0" y="1162050"/>
                  </a:lnTo>
                  <a:lnTo>
                    <a:pt x="28575" y="1162050"/>
                  </a:lnTo>
                  <a:lnTo>
                    <a:pt x="28575" y="857250"/>
                  </a:lnTo>
                  <a:close/>
                </a:path>
                <a:path w="28575" h="37433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162782"/>
              <a:ext cx="6438899" cy="933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724"/>
              <a:ext cx="1057275" cy="381000"/>
            </a:xfrm>
            <a:custGeom>
              <a:avLst/>
              <a:gdLst/>
              <a:ahLst/>
              <a:cxnLst/>
              <a:rect l="l" t="t" r="r" b="b"/>
              <a:pathLst>
                <a:path w="1057275" h="381000">
                  <a:moveTo>
                    <a:pt x="381000" y="71069"/>
                  </a:moveTo>
                  <a:lnTo>
                    <a:pt x="365379" y="29540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422"/>
                  </a:lnTo>
                  <a:lnTo>
                    <a:pt x="0" y="71069"/>
                  </a:lnTo>
                  <a:lnTo>
                    <a:pt x="0" y="304723"/>
                  </a:lnTo>
                  <a:lnTo>
                    <a:pt x="0" y="309714"/>
                  </a:lnTo>
                  <a:lnTo>
                    <a:pt x="15633" y="351167"/>
                  </a:lnTo>
                  <a:lnTo>
                    <a:pt x="51663" y="37691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45"/>
                  </a:lnTo>
                  <a:lnTo>
                    <a:pt x="381000" y="309714"/>
                  </a:lnTo>
                  <a:lnTo>
                    <a:pt x="381000" y="71069"/>
                  </a:lnTo>
                  <a:close/>
                </a:path>
                <a:path w="1057275" h="381000">
                  <a:moveTo>
                    <a:pt x="1057275" y="190423"/>
                  </a:moveTo>
                  <a:lnTo>
                    <a:pt x="1052144" y="148666"/>
                  </a:lnTo>
                  <a:lnTo>
                    <a:pt x="1037043" y="109550"/>
                  </a:lnTo>
                  <a:lnTo>
                    <a:pt x="1012875" y="75247"/>
                  </a:lnTo>
                  <a:lnTo>
                    <a:pt x="981087" y="47777"/>
                  </a:lnTo>
                  <a:lnTo>
                    <a:pt x="943584" y="28930"/>
                  </a:lnTo>
                  <a:lnTo>
                    <a:pt x="902639" y="19773"/>
                  </a:lnTo>
                  <a:lnTo>
                    <a:pt x="885825" y="18973"/>
                  </a:lnTo>
                  <a:lnTo>
                    <a:pt x="695325" y="18973"/>
                  </a:lnTo>
                  <a:lnTo>
                    <a:pt x="653656" y="24041"/>
                  </a:lnTo>
                  <a:lnTo>
                    <a:pt x="614514" y="39128"/>
                  </a:lnTo>
                  <a:lnTo>
                    <a:pt x="580199" y="63322"/>
                  </a:lnTo>
                  <a:lnTo>
                    <a:pt x="552780" y="95097"/>
                  </a:lnTo>
                  <a:lnTo>
                    <a:pt x="533895" y="132524"/>
                  </a:lnTo>
                  <a:lnTo>
                    <a:pt x="524700" y="173570"/>
                  </a:lnTo>
                  <a:lnTo>
                    <a:pt x="523875" y="190423"/>
                  </a:lnTo>
                  <a:lnTo>
                    <a:pt x="524090" y="198831"/>
                  </a:lnTo>
                  <a:lnTo>
                    <a:pt x="531266" y="240118"/>
                  </a:lnTo>
                  <a:lnTo>
                    <a:pt x="548271" y="278447"/>
                  </a:lnTo>
                  <a:lnTo>
                    <a:pt x="574103" y="311581"/>
                  </a:lnTo>
                  <a:lnTo>
                    <a:pt x="607199" y="337439"/>
                  </a:lnTo>
                  <a:lnTo>
                    <a:pt x="645566" y="354393"/>
                  </a:lnTo>
                  <a:lnTo>
                    <a:pt x="686904" y="361632"/>
                  </a:lnTo>
                  <a:lnTo>
                    <a:pt x="695325" y="361873"/>
                  </a:lnTo>
                  <a:lnTo>
                    <a:pt x="885825" y="361873"/>
                  </a:lnTo>
                  <a:lnTo>
                    <a:pt x="927506" y="356616"/>
                  </a:lnTo>
                  <a:lnTo>
                    <a:pt x="966647" y="341490"/>
                  </a:lnTo>
                  <a:lnTo>
                    <a:pt x="1000963" y="317385"/>
                  </a:lnTo>
                  <a:lnTo>
                    <a:pt x="1028382" y="285521"/>
                  </a:lnTo>
                  <a:lnTo>
                    <a:pt x="1047267" y="248081"/>
                  </a:lnTo>
                  <a:lnTo>
                    <a:pt x="1056462" y="207187"/>
                  </a:lnTo>
                  <a:lnTo>
                    <a:pt x="1057275" y="190423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180455" cy="6229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164590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30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料</a:t>
            </a:r>
            <a:r>
              <a:rPr sz="1300" dirty="0">
                <a:solidFill>
                  <a:srgbClr val="FFFFFF"/>
                </a:solidFill>
                <a:latin typeface="メイリオ"/>
                <a:cs typeface="メイリオ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総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まとめ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今⽇</a:t>
            </a:r>
            <a:r>
              <a:rPr sz="17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から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める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⾃然⾳⽣活</a:t>
            </a:r>
            <a:r>
              <a:rPr sz="1700" b="1" spc="70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800" b="1" spc="705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間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チャレンジ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これまでの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内容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移</a:t>
            </a:r>
            <a:r>
              <a:rPr sz="1400" i="1" spc="-330" dirty="0">
                <a:solidFill>
                  <a:srgbClr val="333333"/>
                </a:solidFill>
                <a:latin typeface="メイリオ"/>
                <a:cs typeface="メイリオ"/>
              </a:rPr>
              <a:t>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⽇間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のチャレンジプログラム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。⼀週間後、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あなたの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⼼⾝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現</a:t>
            </a:r>
            <a:r>
              <a:rPr sz="1400" i="1" spc="-245" dirty="0">
                <a:solidFill>
                  <a:srgbClr val="333333"/>
                </a:solidFill>
                <a:latin typeface="メイリオ"/>
                <a:cs typeface="メイリオ"/>
              </a:rPr>
              <a:t>れているはずです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550" b="1" spc="-45" dirty="0">
                <a:solidFill>
                  <a:srgbClr val="2D5926"/>
                </a:solidFill>
                <a:latin typeface="Comic Sans MS"/>
                <a:cs typeface="Comic Sans MS"/>
              </a:rPr>
              <a:t>Day</a:t>
            </a:r>
            <a:r>
              <a:rPr sz="1550" b="1" spc="-135" dirty="0">
                <a:solidFill>
                  <a:srgbClr val="2D5926"/>
                </a:solidFill>
                <a:latin typeface="Comic Sans MS"/>
                <a:cs typeface="Comic Sans MS"/>
              </a:rPr>
              <a:t> 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1</a:t>
            </a:r>
            <a:r>
              <a:rPr sz="1450" b="1" spc="100" dirty="0">
                <a:solidFill>
                  <a:srgbClr val="2D5926"/>
                </a:solidFill>
                <a:latin typeface="BIZ UDPゴシック"/>
                <a:cs typeface="BIZ UDPゴシック"/>
              </a:rPr>
              <a:t>：朝の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⽬覚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めを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変</a:t>
            </a:r>
            <a:r>
              <a:rPr sz="1450" b="1" spc="-85" dirty="0">
                <a:solidFill>
                  <a:srgbClr val="2D5926"/>
                </a:solidFill>
                <a:latin typeface="BIZ UDPゴシック"/>
                <a:cs typeface="BIZ UDPゴシック"/>
              </a:rPr>
              <a:t>える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まし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わりに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⼩⿃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のさえずりを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設定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体験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をしてみましょう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550" b="1" spc="-45" dirty="0">
                <a:solidFill>
                  <a:srgbClr val="2D5926"/>
                </a:solidFill>
                <a:latin typeface="Comic Sans MS"/>
                <a:cs typeface="Comic Sans MS"/>
              </a:rPr>
              <a:t>Day</a:t>
            </a:r>
            <a:r>
              <a:rPr sz="1550" b="1" spc="-120" dirty="0">
                <a:solidFill>
                  <a:srgbClr val="2D5926"/>
                </a:solidFill>
                <a:latin typeface="Comic Sans MS"/>
                <a:cs typeface="Comic Sans MS"/>
              </a:rPr>
              <a:t> 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2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仕事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中の</a:t>
            </a:r>
            <a:r>
              <a:rPr sz="1550" b="1" spc="-40" dirty="0">
                <a:solidFill>
                  <a:srgbClr val="2D5926"/>
                </a:solidFill>
                <a:latin typeface="Comic Sans MS"/>
                <a:cs typeface="Comic Sans MS"/>
              </a:rPr>
              <a:t>BGM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変</a:t>
            </a:r>
            <a:r>
              <a:rPr sz="1450" b="1" spc="-85" dirty="0">
                <a:solidFill>
                  <a:srgbClr val="2D5926"/>
                </a:solidFill>
                <a:latin typeface="BIZ UDPゴシック"/>
                <a:cs typeface="BIZ UDPゴシック"/>
              </a:rPr>
              <a:t>える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だけ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をしてみましょう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じてください</a:t>
            </a:r>
            <a:r>
              <a:rPr sz="1300" spc="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550" b="1" spc="-45" dirty="0">
                <a:solidFill>
                  <a:srgbClr val="2D5926"/>
                </a:solidFill>
                <a:latin typeface="Comic Sans MS"/>
                <a:cs typeface="Comic Sans MS"/>
              </a:rPr>
              <a:t>Day</a:t>
            </a:r>
            <a:r>
              <a:rPr sz="1550" b="1" spc="-145" dirty="0">
                <a:solidFill>
                  <a:srgbClr val="2D5926"/>
                </a:solidFill>
                <a:latin typeface="Comic Sans MS"/>
                <a:cs typeface="Comic Sans MS"/>
              </a:rPr>
              <a:t> 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3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夜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の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睡眠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を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変</a:t>
            </a:r>
            <a:r>
              <a:rPr sz="1450" b="1" spc="-85" dirty="0">
                <a:solidFill>
                  <a:srgbClr val="2D5926"/>
                </a:solidFill>
                <a:latin typeface="BIZ UDPゴシック"/>
                <a:cs typeface="BIZ UDPゴシック"/>
              </a:rPr>
              <a:t>える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就寝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流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してみましょう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じてください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550" b="1" spc="-45" dirty="0">
                <a:solidFill>
                  <a:srgbClr val="2D5926"/>
                </a:solidFill>
                <a:latin typeface="Comic Sans MS"/>
                <a:cs typeface="Comic Sans MS"/>
              </a:rPr>
              <a:t>Day</a:t>
            </a:r>
            <a:r>
              <a:rPr sz="1550" b="1" spc="-130" dirty="0">
                <a:solidFill>
                  <a:srgbClr val="2D5926"/>
                </a:solidFill>
                <a:latin typeface="Comic Sans MS"/>
                <a:cs typeface="Comic Sans MS"/>
              </a:rPr>
              <a:t> </a:t>
            </a:r>
            <a:r>
              <a:rPr sz="1550" b="1" spc="-210" dirty="0">
                <a:solidFill>
                  <a:srgbClr val="2D5926"/>
                </a:solidFill>
                <a:latin typeface="Comic Sans MS"/>
                <a:cs typeface="Comic Sans MS"/>
              </a:rPr>
              <a:t>4-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6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⽇常</a:t>
            </a:r>
            <a:r>
              <a:rPr sz="1450" b="1" spc="-140" dirty="0">
                <a:solidFill>
                  <a:srgbClr val="2D5926"/>
                </a:solidFill>
                <a:latin typeface="BIZ UDPゴシック"/>
                <a:cs typeface="BIZ UDPゴシック"/>
              </a:rPr>
              <a:t>に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定</a:t>
            </a:r>
            <a:r>
              <a:rPr sz="1450" b="1" spc="-120" dirty="0">
                <a:solidFill>
                  <a:srgbClr val="2D5926"/>
                </a:solidFill>
                <a:latin typeface="BIZ UDPゴシック"/>
                <a:cs typeface="BIZ UDPゴシック"/>
              </a:rPr>
              <a:t>着させる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Day</a:t>
            </a:r>
            <a:r>
              <a:rPr sz="1350" spc="19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1-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習慣化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していきます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無理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なく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できる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範囲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けましょう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550" b="1" spc="-45" dirty="0">
                <a:solidFill>
                  <a:srgbClr val="2D5926"/>
                </a:solidFill>
                <a:latin typeface="Comic Sans MS"/>
                <a:cs typeface="Comic Sans MS"/>
              </a:rPr>
              <a:t>Day</a:t>
            </a:r>
            <a:r>
              <a:rPr sz="1550" b="1" spc="-190" dirty="0">
                <a:solidFill>
                  <a:srgbClr val="2D5926"/>
                </a:solidFill>
                <a:latin typeface="Comic Sans MS"/>
                <a:cs typeface="Comic Sans MS"/>
              </a:rPr>
              <a:t> </a:t>
            </a:r>
            <a:r>
              <a:rPr sz="1550" b="1" spc="590" dirty="0">
                <a:solidFill>
                  <a:srgbClr val="2D5926"/>
                </a:solidFill>
                <a:latin typeface="Comic Sans MS"/>
                <a:cs typeface="Comic Sans MS"/>
              </a:rPr>
              <a:t>7</a:t>
            </a:r>
            <a:r>
              <a:rPr sz="1450" b="1" spc="590" dirty="0">
                <a:solidFill>
                  <a:srgbClr val="2D5926"/>
                </a:solidFill>
                <a:latin typeface="BIZ UDPゴシック"/>
                <a:cs typeface="BIZ UDPゴシック"/>
              </a:rPr>
              <a:t>：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振</a:t>
            </a:r>
            <a:r>
              <a:rPr sz="1450" b="1" dirty="0">
                <a:solidFill>
                  <a:srgbClr val="2D5926"/>
                </a:solidFill>
                <a:latin typeface="BIZ UDPゴシック"/>
                <a:cs typeface="BIZ UDPゴシック"/>
              </a:rPr>
              <a:t>り</a:t>
            </a:r>
            <a:r>
              <a:rPr sz="1450" b="1" spc="-140" dirty="0">
                <a:solidFill>
                  <a:srgbClr val="2D5926"/>
                </a:solidFill>
                <a:latin typeface="メイリオ"/>
                <a:cs typeface="メイリオ"/>
              </a:rPr>
              <a:t>返</a:t>
            </a:r>
            <a:r>
              <a:rPr sz="145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り</a:t>
            </a:r>
            <a:endParaRPr sz="145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振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録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します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⾒逃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さないでください</a:t>
            </a:r>
            <a:r>
              <a:rPr sz="1300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。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101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05211" y="7289889"/>
            <a:ext cx="2200275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27000">
              <a:lnSpc>
                <a:spcPct val="134300"/>
              </a:lnSpc>
              <a:spcBef>
                <a:spcPts val="90"/>
              </a:spcBef>
            </a:pP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7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間</a:t>
            </a:r>
            <a:r>
              <a:rPr sz="1350" spc="-190" dirty="0">
                <a:solidFill>
                  <a:srgbClr val="FFFFFF"/>
                </a:solidFill>
                <a:latin typeface="SimSun"/>
                <a:cs typeface="SimSun"/>
              </a:rPr>
              <a:t>チャレンジ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⽤</a:t>
            </a:r>
            <a:r>
              <a:rPr sz="1350" spc="-140" dirty="0">
                <a:solidFill>
                  <a:srgbClr val="FFFFFF"/>
                </a:solidFill>
                <a:latin typeface="SimSun"/>
                <a:cs typeface="SimSun"/>
              </a:rPr>
              <a:t>キットを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Comic Sans MS"/>
                <a:cs typeface="Comic Sans MS"/>
              </a:rPr>
              <a:t>LINE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登録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者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無料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プレゼント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中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733408"/>
            <a:ext cx="7061298" cy="16763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Part</a:t>
            </a:r>
            <a:r>
              <a:rPr spc="-385" dirty="0"/>
              <a:t> </a:t>
            </a:r>
            <a:r>
              <a:rPr spc="-285" dirty="0"/>
              <a:t>3</a:t>
            </a:r>
            <a:r>
              <a:rPr spc="-335" dirty="0"/>
              <a:t>: </a:t>
            </a:r>
            <a:r>
              <a:rPr sz="2650" spc="-265" dirty="0">
                <a:latin typeface="メイリオ"/>
                <a:cs typeface="メイリオ"/>
              </a:rPr>
              <a:t>有料</a:t>
            </a:r>
            <a:r>
              <a:rPr spc="-25" dirty="0"/>
              <a:t>note</a:t>
            </a:r>
            <a:r>
              <a:rPr sz="2650" spc="-290" dirty="0">
                <a:latin typeface="BIZ UDPゴシック"/>
                <a:cs typeface="BIZ UDPゴシック"/>
              </a:rPr>
              <a:t>記事</a:t>
            </a:r>
            <a:endParaRPr sz="2650">
              <a:latin typeface="BIZ UDPゴシック"/>
              <a:cs typeface="BIZ UDPゴシック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102</a:t>
            </a:fld>
            <a:r>
              <a:rPr spc="-10" dirty="0"/>
              <a:t>/135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9349" y="1764756"/>
            <a:ext cx="4533900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50" dirty="0">
                <a:solidFill>
                  <a:srgbClr val="FFFFFF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件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有料</a:t>
            </a:r>
            <a:r>
              <a:rPr sz="1350" spc="-40" dirty="0">
                <a:solidFill>
                  <a:srgbClr val="FFFFFF"/>
                </a:solidFill>
                <a:latin typeface="Comic Sans MS"/>
                <a:cs typeface="Comic Sans MS"/>
              </a:rPr>
              <a:t>note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事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サンプル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（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各</a:t>
            </a:r>
            <a:r>
              <a:rPr sz="1350" spc="-35" dirty="0">
                <a:solidFill>
                  <a:srgbClr val="FFFFFF"/>
                </a:solidFill>
                <a:latin typeface="Comic Sans MS"/>
                <a:cs typeface="Comic Sans MS"/>
              </a:rPr>
              <a:t>1,500-</a:t>
            </a:r>
            <a:r>
              <a:rPr sz="1350" spc="-60" dirty="0">
                <a:solidFill>
                  <a:srgbClr val="FFFFFF"/>
                </a:solidFill>
                <a:latin typeface="Comic Sans MS"/>
                <a:cs typeface="Comic Sans MS"/>
              </a:rPr>
              <a:t>2,500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⽂字相当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構成</a:t>
            </a:r>
            <a:r>
              <a:rPr sz="1300" spc="-50" dirty="0">
                <a:solidFill>
                  <a:srgbClr val="FFFFFF"/>
                </a:solidFill>
                <a:latin typeface="SimSun"/>
                <a:cs typeface="SimSun"/>
              </a:rPr>
              <a:t>）</a:t>
            </a:r>
            <a:endParaRPr sz="130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7"/>
            <a:ext cx="7063105" cy="9239250"/>
            <a:chOff x="352425" y="352447"/>
            <a:chExt cx="7063105" cy="9239250"/>
          </a:xfrm>
        </p:grpSpPr>
        <p:sp>
          <p:nvSpPr>
            <p:cNvPr id="3" name="object 3"/>
            <p:cNvSpPr/>
            <p:nvPr/>
          </p:nvSpPr>
          <p:spPr>
            <a:xfrm>
              <a:off x="376237" y="357136"/>
              <a:ext cx="7038975" cy="9229725"/>
            </a:xfrm>
            <a:custGeom>
              <a:avLst/>
              <a:gdLst/>
              <a:ahLst/>
              <a:cxnLst/>
              <a:rect l="l" t="t" r="r" b="b"/>
              <a:pathLst>
                <a:path w="7038975" h="9229725">
                  <a:moveTo>
                    <a:pt x="6936628" y="9229724"/>
                  </a:moveTo>
                  <a:lnTo>
                    <a:pt x="84545" y="9229724"/>
                  </a:lnTo>
                  <a:lnTo>
                    <a:pt x="78661" y="9229057"/>
                  </a:lnTo>
                  <a:lnTo>
                    <a:pt x="35275" y="9207178"/>
                  </a:lnTo>
                  <a:lnTo>
                    <a:pt x="11948" y="9174879"/>
                  </a:lnTo>
                  <a:lnTo>
                    <a:pt x="579" y="9134398"/>
                  </a:lnTo>
                  <a:lnTo>
                    <a:pt x="0" y="9127330"/>
                  </a:lnTo>
                  <a:lnTo>
                    <a:pt x="0" y="91201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571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9127330"/>
                  </a:lnTo>
                  <a:lnTo>
                    <a:pt x="7027882" y="9168554"/>
                  </a:lnTo>
                  <a:lnTo>
                    <a:pt x="7001805" y="9202635"/>
                  </a:lnTo>
                  <a:lnTo>
                    <a:pt x="6964709" y="9224066"/>
                  </a:lnTo>
                  <a:lnTo>
                    <a:pt x="6943752" y="9228981"/>
                  </a:lnTo>
                  <a:lnTo>
                    <a:pt x="6936628" y="9229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9239250"/>
            </a:xfrm>
            <a:custGeom>
              <a:avLst/>
              <a:gdLst/>
              <a:ahLst/>
              <a:cxnLst/>
              <a:rect l="l" t="t" r="r" b="b"/>
              <a:pathLst>
                <a:path w="6999605" h="923925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9124912"/>
                  </a:lnTo>
                  <a:lnTo>
                    <a:pt x="6987819" y="9165006"/>
                  </a:lnTo>
                  <a:lnTo>
                    <a:pt x="6965112" y="9199004"/>
                  </a:lnTo>
                  <a:lnTo>
                    <a:pt x="6931126" y="9221749"/>
                  </a:lnTo>
                  <a:lnTo>
                    <a:pt x="6891020" y="9229725"/>
                  </a:lnTo>
                  <a:lnTo>
                    <a:pt x="52082" y="9229725"/>
                  </a:lnTo>
                  <a:lnTo>
                    <a:pt x="26085" y="9221394"/>
                  </a:lnTo>
                  <a:lnTo>
                    <a:pt x="0" y="9226613"/>
                  </a:lnTo>
                  <a:lnTo>
                    <a:pt x="40817" y="9238704"/>
                  </a:lnTo>
                  <a:lnTo>
                    <a:pt x="52082" y="9239250"/>
                  </a:lnTo>
                  <a:lnTo>
                    <a:pt x="6891020" y="9239250"/>
                  </a:lnTo>
                  <a:lnTo>
                    <a:pt x="6934771" y="9230550"/>
                  </a:lnTo>
                  <a:lnTo>
                    <a:pt x="6936511" y="9229725"/>
                  </a:lnTo>
                  <a:lnTo>
                    <a:pt x="6944957" y="9225737"/>
                  </a:lnTo>
                  <a:lnTo>
                    <a:pt x="6954545" y="9220009"/>
                  </a:lnTo>
                  <a:lnTo>
                    <a:pt x="6963499" y="9213355"/>
                  </a:lnTo>
                  <a:lnTo>
                    <a:pt x="6971843" y="9205773"/>
                  </a:lnTo>
                  <a:lnTo>
                    <a:pt x="6972300" y="9205277"/>
                  </a:lnTo>
                  <a:lnTo>
                    <a:pt x="6979425" y="9197391"/>
                  </a:lnTo>
                  <a:lnTo>
                    <a:pt x="6986079" y="9188425"/>
                  </a:lnTo>
                  <a:lnTo>
                    <a:pt x="6991807" y="9178849"/>
                  </a:lnTo>
                  <a:lnTo>
                    <a:pt x="6996620" y="9168651"/>
                  </a:lnTo>
                  <a:lnTo>
                    <a:pt x="6999071" y="916181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2"/>
              <a:ext cx="88900" cy="9214485"/>
            </a:xfrm>
            <a:custGeom>
              <a:avLst/>
              <a:gdLst/>
              <a:ahLst/>
              <a:cxnLst/>
              <a:rect l="l" t="t" r="r" b="b"/>
              <a:pathLst>
                <a:path w="88900" h="9214485">
                  <a:moveTo>
                    <a:pt x="62524" y="9214261"/>
                  </a:moveTo>
                  <a:lnTo>
                    <a:pt x="25900" y="9184931"/>
                  </a:lnTo>
                  <a:lnTo>
                    <a:pt x="4894" y="9145584"/>
                  </a:lnTo>
                  <a:lnTo>
                    <a:pt x="0" y="91124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9112455"/>
                  </a:lnTo>
                  <a:lnTo>
                    <a:pt x="52700" y="9152550"/>
                  </a:lnTo>
                  <a:lnTo>
                    <a:pt x="72022" y="9193487"/>
                  </a:lnTo>
                  <a:lnTo>
                    <a:pt x="88529" y="9209065"/>
                  </a:lnTo>
                  <a:lnTo>
                    <a:pt x="62524" y="921426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3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8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60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874"/>
                  </a:moveTo>
                  <a:lnTo>
                    <a:pt x="66746" y="1666874"/>
                  </a:lnTo>
                  <a:lnTo>
                    <a:pt x="62101" y="1666427"/>
                  </a:lnTo>
                  <a:lnTo>
                    <a:pt x="24240" y="1649167"/>
                  </a:lnTo>
                  <a:lnTo>
                    <a:pt x="2287" y="1613820"/>
                  </a:lnTo>
                  <a:lnTo>
                    <a:pt x="0" y="1600123"/>
                  </a:lnTo>
                  <a:lnTo>
                    <a:pt x="0" y="1595437"/>
                  </a:lnTo>
                  <a:lnTo>
                    <a:pt x="0" y="66674"/>
                  </a:lnTo>
                  <a:lnTo>
                    <a:pt x="14645" y="27679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600123"/>
                  </a:lnTo>
                  <a:lnTo>
                    <a:pt x="6414728" y="1638966"/>
                  </a:lnTo>
                  <a:lnTo>
                    <a:pt x="6380940" y="1663150"/>
                  </a:lnTo>
                  <a:lnTo>
                    <a:pt x="6367272" y="1666427"/>
                  </a:lnTo>
                  <a:lnTo>
                    <a:pt x="6362626" y="1666874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60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39765" y="7143"/>
                  </a:lnTo>
                  <a:lnTo>
                    <a:pt x="44099" y="5362"/>
                  </a:lnTo>
                  <a:lnTo>
                    <a:pt x="48433" y="3571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80940" y="3571"/>
                  </a:lnTo>
                  <a:lnTo>
                    <a:pt x="6385274" y="5362"/>
                  </a:lnTo>
                  <a:lnTo>
                    <a:pt x="6389607" y="7143"/>
                  </a:lnTo>
                  <a:lnTo>
                    <a:pt x="6393724" y="9372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487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566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17334" y="1635023"/>
                  </a:lnTo>
                  <a:lnTo>
                    <a:pt x="6414728" y="1638966"/>
                  </a:lnTo>
                  <a:lnTo>
                    <a:pt x="6380940" y="1663150"/>
                  </a:lnTo>
                  <a:lnTo>
                    <a:pt x="6362626" y="1666874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66746" y="1666874"/>
                  </a:lnTo>
                  <a:lnTo>
                    <a:pt x="62101" y="1666427"/>
                  </a:lnTo>
                  <a:lnTo>
                    <a:pt x="24240" y="1649167"/>
                  </a:lnTo>
                  <a:lnTo>
                    <a:pt x="2287" y="1613820"/>
                  </a:lnTo>
                  <a:lnTo>
                    <a:pt x="1372" y="1609277"/>
                  </a:lnTo>
                  <a:lnTo>
                    <a:pt x="457" y="1604743"/>
                  </a:lnTo>
                  <a:lnTo>
                    <a:pt x="0" y="1600123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686498"/>
              <a:ext cx="28575" cy="295275"/>
            </a:xfrm>
            <a:custGeom>
              <a:avLst/>
              <a:gdLst/>
              <a:ahLst/>
              <a:cxnLst/>
              <a:rect l="l" t="t" r="r" b="b"/>
              <a:pathLst>
                <a:path w="28575" h="295275">
                  <a:moveTo>
                    <a:pt x="2857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52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8362933"/>
              <a:ext cx="6438899" cy="9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650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33" y="351167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145"/>
                  </a:lnTo>
                  <a:lnTo>
                    <a:pt x="381000" y="309791"/>
                  </a:lnTo>
                  <a:lnTo>
                    <a:pt x="381000" y="71221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04"/>
                  </a:lnTo>
                  <a:lnTo>
                    <a:pt x="1170393" y="109486"/>
                  </a:lnTo>
                  <a:lnTo>
                    <a:pt x="1146225" y="75196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888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34"/>
                  </a:lnTo>
                  <a:lnTo>
                    <a:pt x="552780" y="95034"/>
                  </a:lnTo>
                  <a:lnTo>
                    <a:pt x="533895" y="132600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07"/>
                  </a:lnTo>
                  <a:lnTo>
                    <a:pt x="548271" y="278599"/>
                  </a:lnTo>
                  <a:lnTo>
                    <a:pt x="574103" y="311734"/>
                  </a:lnTo>
                  <a:lnTo>
                    <a:pt x="607199" y="337464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30"/>
                  </a:lnTo>
                  <a:lnTo>
                    <a:pt x="1099997" y="341591"/>
                  </a:lnTo>
                  <a:lnTo>
                    <a:pt x="1134313" y="317550"/>
                  </a:lnTo>
                  <a:lnTo>
                    <a:pt x="1161732" y="285673"/>
                  </a:lnTo>
                  <a:lnTo>
                    <a:pt x="1180617" y="248158"/>
                  </a:lnTo>
                  <a:lnTo>
                    <a:pt x="1189812" y="207302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297295" cy="74396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¥980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学会発表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完全版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9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科学的根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拠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700" b="1" spc="-1180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2000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年〜</a:t>
            </a: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2023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発表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された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学会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完全網羅。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セラピストやインストラクタ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顧客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説明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際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、信頼性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いエビデンス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集。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⽇本温泉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候医学会発表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件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⽇本催眠学会発表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件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⽇本健康科学学会発表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件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京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⼤学⼤学院研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件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その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他国内学会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40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405" dirty="0">
                <a:solidFill>
                  <a:srgbClr val="333333"/>
                </a:solidFill>
                <a:latin typeface="Comic Sans MS"/>
                <a:cs typeface="Comic Sans MS"/>
              </a:rPr>
              <a:t>19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件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</a:pPr>
            <a:r>
              <a:rPr sz="1350" b="1" spc="-145" dirty="0">
                <a:solidFill>
                  <a:srgbClr val="333333"/>
                </a:solidFill>
                <a:latin typeface="BIZ UDPゴシック"/>
                <a:cs typeface="BIZ UDPゴシック"/>
              </a:rPr>
              <a:t>サンプルデ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 marR="3637915">
              <a:lnSpc>
                <a:spcPts val="2180"/>
              </a:lnSpc>
              <a:spcBef>
                <a:spcPts val="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第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83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回⽇本温泉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候物理医学会</a:t>
            </a:r>
            <a:r>
              <a:rPr sz="1300" spc="-130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対象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男⼦学⽣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38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オキシトシン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濃度有意増加</a:t>
            </a:r>
            <a:r>
              <a:rPr sz="1300" spc="22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20" dirty="0">
                <a:solidFill>
                  <a:srgbClr val="333333"/>
                </a:solidFill>
                <a:latin typeface="Comic Sans MS"/>
                <a:cs typeface="Comic Sans MS"/>
              </a:rPr>
              <a:t>p=0.01</a:t>
            </a:r>
            <a:r>
              <a:rPr sz="1300" spc="22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減少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p=0.043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本編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では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詳細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タを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収録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活⽤⽅法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顧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説明資料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セミナ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やワ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クショップでの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引⽤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55" dirty="0">
                <a:solidFill>
                  <a:srgbClr val="333333"/>
                </a:solidFill>
                <a:latin typeface="Comic Sans MS"/>
                <a:cs typeface="Comic Sans MS"/>
              </a:rPr>
              <a:t>SNS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発信時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のエビデンスとして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学習資料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103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825749" y="8485267"/>
            <a:ext cx="2159000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06045">
              <a:lnSpc>
                <a:spcPct val="1343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¥980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購⼊後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すぐにダウンロ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ド</a:t>
            </a:r>
            <a:r>
              <a:rPr sz="1300" spc="-80" dirty="0">
                <a:solidFill>
                  <a:srgbClr val="FFFFFF"/>
                </a:solidFill>
                <a:latin typeface="メイリオ"/>
                <a:cs typeface="メイリオ"/>
              </a:rPr>
              <a:t>可能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8"/>
            <a:ext cx="7063105" cy="8401050"/>
            <a:chOff x="352425" y="352448"/>
            <a:chExt cx="7063105" cy="8401050"/>
          </a:xfrm>
        </p:grpSpPr>
        <p:sp>
          <p:nvSpPr>
            <p:cNvPr id="3" name="object 3"/>
            <p:cNvSpPr/>
            <p:nvPr/>
          </p:nvSpPr>
          <p:spPr>
            <a:xfrm>
              <a:off x="376237" y="357135"/>
              <a:ext cx="7038975" cy="8391525"/>
            </a:xfrm>
            <a:custGeom>
              <a:avLst/>
              <a:gdLst/>
              <a:ahLst/>
              <a:cxnLst/>
              <a:rect l="l" t="t" r="r" b="b"/>
              <a:pathLst>
                <a:path w="7038975" h="8391525">
                  <a:moveTo>
                    <a:pt x="6936628" y="8391448"/>
                  </a:moveTo>
                  <a:lnTo>
                    <a:pt x="84545" y="8391448"/>
                  </a:lnTo>
                  <a:lnTo>
                    <a:pt x="78661" y="8390781"/>
                  </a:lnTo>
                  <a:lnTo>
                    <a:pt x="35275" y="8369054"/>
                  </a:lnTo>
                  <a:lnTo>
                    <a:pt x="11948" y="8336755"/>
                  </a:lnTo>
                  <a:lnTo>
                    <a:pt x="579" y="8296198"/>
                  </a:lnTo>
                  <a:lnTo>
                    <a:pt x="0" y="8289130"/>
                  </a:lnTo>
                  <a:lnTo>
                    <a:pt x="0" y="828198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289130"/>
                  </a:lnTo>
                  <a:lnTo>
                    <a:pt x="7027882" y="8330430"/>
                  </a:lnTo>
                  <a:lnTo>
                    <a:pt x="7001805" y="8364511"/>
                  </a:lnTo>
                  <a:lnTo>
                    <a:pt x="6964709" y="8385866"/>
                  </a:lnTo>
                  <a:lnTo>
                    <a:pt x="6943752" y="8390781"/>
                  </a:lnTo>
                  <a:lnTo>
                    <a:pt x="6936628" y="8391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8401050"/>
            </a:xfrm>
            <a:custGeom>
              <a:avLst/>
              <a:gdLst/>
              <a:ahLst/>
              <a:cxnLst/>
              <a:rect l="l" t="t" r="r" b="b"/>
              <a:pathLst>
                <a:path w="6999605" h="840105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286712"/>
                  </a:lnTo>
                  <a:lnTo>
                    <a:pt x="6987819" y="8326806"/>
                  </a:lnTo>
                  <a:lnTo>
                    <a:pt x="6965112" y="8360804"/>
                  </a:lnTo>
                  <a:lnTo>
                    <a:pt x="6931126" y="8383549"/>
                  </a:lnTo>
                  <a:lnTo>
                    <a:pt x="6891020" y="8391525"/>
                  </a:lnTo>
                  <a:lnTo>
                    <a:pt x="52082" y="8391525"/>
                  </a:lnTo>
                  <a:lnTo>
                    <a:pt x="26085" y="8383194"/>
                  </a:lnTo>
                  <a:lnTo>
                    <a:pt x="0" y="8388413"/>
                  </a:lnTo>
                  <a:lnTo>
                    <a:pt x="40817" y="8400504"/>
                  </a:lnTo>
                  <a:lnTo>
                    <a:pt x="52082" y="8401050"/>
                  </a:lnTo>
                  <a:lnTo>
                    <a:pt x="6891020" y="8401050"/>
                  </a:lnTo>
                  <a:lnTo>
                    <a:pt x="6934771" y="8392350"/>
                  </a:lnTo>
                  <a:lnTo>
                    <a:pt x="6936511" y="8391525"/>
                  </a:lnTo>
                  <a:lnTo>
                    <a:pt x="6944957" y="8387537"/>
                  </a:lnTo>
                  <a:lnTo>
                    <a:pt x="6954545" y="8381809"/>
                  </a:lnTo>
                  <a:lnTo>
                    <a:pt x="6963499" y="8375155"/>
                  </a:lnTo>
                  <a:lnTo>
                    <a:pt x="6971843" y="8367573"/>
                  </a:lnTo>
                  <a:lnTo>
                    <a:pt x="6972300" y="8367077"/>
                  </a:lnTo>
                  <a:lnTo>
                    <a:pt x="6979425" y="8359191"/>
                  </a:lnTo>
                  <a:lnTo>
                    <a:pt x="6986079" y="8350224"/>
                  </a:lnTo>
                  <a:lnTo>
                    <a:pt x="6991807" y="8340649"/>
                  </a:lnTo>
                  <a:lnTo>
                    <a:pt x="6996620" y="8330451"/>
                  </a:lnTo>
                  <a:lnTo>
                    <a:pt x="6999071" y="832361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3"/>
              <a:ext cx="88900" cy="8376284"/>
            </a:xfrm>
            <a:custGeom>
              <a:avLst/>
              <a:gdLst/>
              <a:ahLst/>
              <a:cxnLst/>
              <a:rect l="l" t="t" r="r" b="b"/>
              <a:pathLst>
                <a:path w="88900" h="8376284">
                  <a:moveTo>
                    <a:pt x="62524" y="8376061"/>
                  </a:moveTo>
                  <a:lnTo>
                    <a:pt x="25900" y="8346731"/>
                  </a:lnTo>
                  <a:lnTo>
                    <a:pt x="4894" y="8307384"/>
                  </a:lnTo>
                  <a:lnTo>
                    <a:pt x="0" y="82742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274255"/>
                  </a:lnTo>
                  <a:lnTo>
                    <a:pt x="52700" y="8314350"/>
                  </a:lnTo>
                  <a:lnTo>
                    <a:pt x="72022" y="8355287"/>
                  </a:lnTo>
                  <a:lnTo>
                    <a:pt x="88529" y="8370865"/>
                  </a:lnTo>
                  <a:lnTo>
                    <a:pt x="62524" y="837606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3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8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08629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086298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28575" y="1028700"/>
                  </a:moveTo>
                  <a:lnTo>
                    <a:pt x="0" y="1028700"/>
                  </a:lnTo>
                  <a:lnTo>
                    <a:pt x="0" y="1333500"/>
                  </a:lnTo>
                  <a:lnTo>
                    <a:pt x="28575" y="1333500"/>
                  </a:lnTo>
                  <a:lnTo>
                    <a:pt x="28575" y="1028700"/>
                  </a:lnTo>
                  <a:close/>
                </a:path>
                <a:path w="38100" h="1333500">
                  <a:moveTo>
                    <a:pt x="381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8100" y="838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524734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343025" cy="381000"/>
            </a:xfrm>
            <a:custGeom>
              <a:avLst/>
              <a:gdLst/>
              <a:ahLst/>
              <a:cxnLst/>
              <a:rect l="l" t="t" r="r" b="b"/>
              <a:pathLst>
                <a:path w="134302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33" y="351167"/>
                  </a:lnTo>
                  <a:lnTo>
                    <a:pt x="51663" y="377063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22"/>
                  </a:lnTo>
                  <a:lnTo>
                    <a:pt x="381000" y="309791"/>
                  </a:lnTo>
                  <a:lnTo>
                    <a:pt x="381000" y="71145"/>
                  </a:lnTo>
                  <a:close/>
                </a:path>
                <a:path w="1343025" h="381000">
                  <a:moveTo>
                    <a:pt x="1343025" y="190500"/>
                  </a:moveTo>
                  <a:lnTo>
                    <a:pt x="1337894" y="148755"/>
                  </a:lnTo>
                  <a:lnTo>
                    <a:pt x="1322793" y="109575"/>
                  </a:lnTo>
                  <a:lnTo>
                    <a:pt x="1298625" y="75311"/>
                  </a:lnTo>
                  <a:lnTo>
                    <a:pt x="1266837" y="47929"/>
                  </a:lnTo>
                  <a:lnTo>
                    <a:pt x="1229334" y="29006"/>
                  </a:lnTo>
                  <a:lnTo>
                    <a:pt x="1188389" y="19875"/>
                  </a:lnTo>
                  <a:lnTo>
                    <a:pt x="117157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79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562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44"/>
                  </a:lnTo>
                  <a:lnTo>
                    <a:pt x="548271" y="278523"/>
                  </a:lnTo>
                  <a:lnTo>
                    <a:pt x="574103" y="311658"/>
                  </a:lnTo>
                  <a:lnTo>
                    <a:pt x="607199" y="337439"/>
                  </a:lnTo>
                  <a:lnTo>
                    <a:pt x="645566" y="354482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171575" y="361950"/>
                  </a:lnTo>
                  <a:lnTo>
                    <a:pt x="1213256" y="356692"/>
                  </a:lnTo>
                  <a:lnTo>
                    <a:pt x="1252397" y="341566"/>
                  </a:lnTo>
                  <a:lnTo>
                    <a:pt x="1286713" y="317461"/>
                  </a:lnTo>
                  <a:lnTo>
                    <a:pt x="1314132" y="285597"/>
                  </a:lnTo>
                  <a:lnTo>
                    <a:pt x="1333017" y="248119"/>
                  </a:lnTo>
                  <a:lnTo>
                    <a:pt x="1342212" y="207264"/>
                  </a:lnTo>
                  <a:lnTo>
                    <a:pt x="13430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65919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45224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omic Sans MS"/>
                <a:cs typeface="Comic Sans MS"/>
              </a:rPr>
              <a:t>¥1,480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セラピスト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750" b="1" spc="35" dirty="0">
                <a:solidFill>
                  <a:srgbClr val="333333"/>
                </a:solidFill>
                <a:latin typeface="BIZ UDPゴシック"/>
                <a:cs typeface="BIZ UDPゴシック"/>
              </a:rPr>
              <a:t>ガイド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響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施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術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750" b="1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マニュアル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19304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プロのセラピストが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体感⾳響施術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全⼯程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公開。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クライアント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対応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テ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クニック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アフタ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ケアまで</a:t>
            </a:r>
            <a:r>
              <a:rPr sz="1350" i="1" spc="-150" dirty="0">
                <a:solidFill>
                  <a:srgbClr val="333333"/>
                </a:solidFill>
                <a:latin typeface="メイリオ"/>
                <a:cs typeface="メイリオ"/>
              </a:rPr>
              <a:t>完全解説。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準備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設定</a:t>
            </a:r>
            <a:endParaRPr sz="1300">
              <a:latin typeface="メイリオ"/>
              <a:cs typeface="メイリオ"/>
            </a:endParaRPr>
          </a:p>
          <a:p>
            <a:pPr marL="12700" marR="2926715" algn="just">
              <a:lnSpc>
                <a:spcPts val="2180"/>
              </a:lnSpc>
              <a:spcBef>
                <a:spcPts val="85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クライアントとの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事前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カウンセリン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グ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実際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ステップバイステッ</a:t>
            </a:r>
            <a:r>
              <a:rPr sz="1350" spc="-1100" dirty="0">
                <a:solidFill>
                  <a:srgbClr val="333333"/>
                </a:solidFill>
                <a:latin typeface="SimSun"/>
                <a:cs typeface="SimSun"/>
              </a:rPr>
              <a:t>プ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545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施術中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察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ポイント</a:t>
            </a:r>
            <a:endParaRPr sz="1350">
              <a:latin typeface="SimSun"/>
              <a:cs typeface="SimSun"/>
            </a:endParaRPr>
          </a:p>
          <a:p>
            <a:pPr marL="12700" algn="just">
              <a:lnSpc>
                <a:spcPct val="100000"/>
              </a:lnSpc>
              <a:spcBef>
                <a:spcPts val="380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のアフタ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ケアとフォロ</a:t>
            </a:r>
            <a:r>
              <a:rPr sz="130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endParaRPr sz="1300">
              <a:latin typeface="BIZ UDPゴシック"/>
              <a:cs typeface="BIZ UDPゴシック"/>
            </a:endParaRPr>
          </a:p>
          <a:p>
            <a:pPr marL="12700" algn="just">
              <a:lnSpc>
                <a:spcPct val="100000"/>
              </a:lnSpc>
              <a:spcBef>
                <a:spcPts val="555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よくあるトラブルと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対処法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メイリオ"/>
              <a:cs typeface="メイリオ"/>
            </a:endParaRPr>
          </a:p>
          <a:p>
            <a:pPr marL="193040" marR="186055">
              <a:lnSpc>
                <a:spcPct val="1343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40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名以上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のクライアントから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『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にしっかり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って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ちいい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』『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軽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くなった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という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感想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をいただいています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70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実践者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チェックリスト</a:t>
            </a:r>
            <a:r>
              <a:rPr sz="1300" spc="40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400" dirty="0">
                <a:solidFill>
                  <a:srgbClr val="333333"/>
                </a:solidFill>
                <a:latin typeface="Comic Sans MS"/>
                <a:cs typeface="Comic Sans MS"/>
              </a:rPr>
              <a:t>PDF</a:t>
            </a:r>
            <a:r>
              <a:rPr sz="1300" spc="40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カウンセリングシ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施術後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フィ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ドバックシ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104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27982" y="7647067"/>
            <a:ext cx="215455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111760">
              <a:lnSpc>
                <a:spcPct val="134300"/>
              </a:lnSpc>
              <a:spcBef>
                <a:spcPts val="130"/>
              </a:spcBef>
            </a:pP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¥1,480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使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えるテンプレ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ト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付</a:t>
            </a:r>
            <a:r>
              <a:rPr sz="1350" spc="-75" dirty="0">
                <a:solidFill>
                  <a:srgbClr val="FFFFFF"/>
                </a:solidFill>
                <a:latin typeface="SimSun"/>
                <a:cs typeface="SimSun"/>
              </a:rPr>
              <a:t>き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49"/>
            <a:ext cx="7063105" cy="8143875"/>
            <a:chOff x="352425" y="352449"/>
            <a:chExt cx="7063105" cy="8143875"/>
          </a:xfrm>
        </p:grpSpPr>
        <p:sp>
          <p:nvSpPr>
            <p:cNvPr id="3" name="object 3"/>
            <p:cNvSpPr/>
            <p:nvPr/>
          </p:nvSpPr>
          <p:spPr>
            <a:xfrm>
              <a:off x="376237" y="357135"/>
              <a:ext cx="7038975" cy="8134350"/>
            </a:xfrm>
            <a:custGeom>
              <a:avLst/>
              <a:gdLst/>
              <a:ahLst/>
              <a:cxnLst/>
              <a:rect l="l" t="t" r="r" b="b"/>
              <a:pathLst>
                <a:path w="7038975" h="8134350">
                  <a:moveTo>
                    <a:pt x="6936628" y="8134349"/>
                  </a:moveTo>
                  <a:lnTo>
                    <a:pt x="84545" y="8134349"/>
                  </a:lnTo>
                  <a:lnTo>
                    <a:pt x="78661" y="8133606"/>
                  </a:lnTo>
                  <a:lnTo>
                    <a:pt x="35275" y="8111803"/>
                  </a:lnTo>
                  <a:lnTo>
                    <a:pt x="11948" y="8079428"/>
                  </a:lnTo>
                  <a:lnTo>
                    <a:pt x="579" y="8039023"/>
                  </a:lnTo>
                  <a:lnTo>
                    <a:pt x="0" y="8031955"/>
                  </a:lnTo>
                  <a:lnTo>
                    <a:pt x="0" y="802481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8031955"/>
                  </a:lnTo>
                  <a:lnTo>
                    <a:pt x="7027882" y="8073179"/>
                  </a:lnTo>
                  <a:lnTo>
                    <a:pt x="7001805" y="8107260"/>
                  </a:lnTo>
                  <a:lnTo>
                    <a:pt x="6964709" y="8128615"/>
                  </a:lnTo>
                  <a:lnTo>
                    <a:pt x="6943752" y="8133606"/>
                  </a:lnTo>
                  <a:lnTo>
                    <a:pt x="6936628" y="8134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8143875"/>
            </a:xfrm>
            <a:custGeom>
              <a:avLst/>
              <a:gdLst/>
              <a:ahLst/>
              <a:cxnLst/>
              <a:rect l="l" t="t" r="r" b="b"/>
              <a:pathLst>
                <a:path w="6999605" h="8143875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029537"/>
                  </a:lnTo>
                  <a:lnTo>
                    <a:pt x="6987819" y="8069631"/>
                  </a:lnTo>
                  <a:lnTo>
                    <a:pt x="6965112" y="8103629"/>
                  </a:lnTo>
                  <a:lnTo>
                    <a:pt x="6931126" y="8126374"/>
                  </a:lnTo>
                  <a:lnTo>
                    <a:pt x="6891020" y="8134350"/>
                  </a:lnTo>
                  <a:lnTo>
                    <a:pt x="52082" y="8134350"/>
                  </a:lnTo>
                  <a:lnTo>
                    <a:pt x="26085" y="8126019"/>
                  </a:lnTo>
                  <a:lnTo>
                    <a:pt x="0" y="8131238"/>
                  </a:lnTo>
                  <a:lnTo>
                    <a:pt x="40817" y="8143329"/>
                  </a:lnTo>
                  <a:lnTo>
                    <a:pt x="52082" y="8143875"/>
                  </a:lnTo>
                  <a:lnTo>
                    <a:pt x="6891020" y="8143875"/>
                  </a:lnTo>
                  <a:lnTo>
                    <a:pt x="6934771" y="8135175"/>
                  </a:lnTo>
                  <a:lnTo>
                    <a:pt x="6936511" y="8134350"/>
                  </a:lnTo>
                  <a:lnTo>
                    <a:pt x="6944957" y="8130362"/>
                  </a:lnTo>
                  <a:lnTo>
                    <a:pt x="6954545" y="8124634"/>
                  </a:lnTo>
                  <a:lnTo>
                    <a:pt x="6963499" y="8117980"/>
                  </a:lnTo>
                  <a:lnTo>
                    <a:pt x="6971843" y="8110398"/>
                  </a:lnTo>
                  <a:lnTo>
                    <a:pt x="6972300" y="8109902"/>
                  </a:lnTo>
                  <a:lnTo>
                    <a:pt x="6979425" y="8102016"/>
                  </a:lnTo>
                  <a:lnTo>
                    <a:pt x="6986079" y="8093049"/>
                  </a:lnTo>
                  <a:lnTo>
                    <a:pt x="6991807" y="8083474"/>
                  </a:lnTo>
                  <a:lnTo>
                    <a:pt x="6996620" y="8073276"/>
                  </a:lnTo>
                  <a:lnTo>
                    <a:pt x="6999071" y="806644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4"/>
              <a:ext cx="88900" cy="8119109"/>
            </a:xfrm>
            <a:custGeom>
              <a:avLst/>
              <a:gdLst/>
              <a:ahLst/>
              <a:cxnLst/>
              <a:rect l="l" t="t" r="r" b="b"/>
              <a:pathLst>
                <a:path w="88900" h="8119109">
                  <a:moveTo>
                    <a:pt x="62523" y="8118886"/>
                  </a:moveTo>
                  <a:lnTo>
                    <a:pt x="25900" y="8089555"/>
                  </a:lnTo>
                  <a:lnTo>
                    <a:pt x="4894" y="8050209"/>
                  </a:lnTo>
                  <a:lnTo>
                    <a:pt x="0" y="801708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017080"/>
                  </a:lnTo>
                  <a:lnTo>
                    <a:pt x="52700" y="8057175"/>
                  </a:lnTo>
                  <a:lnTo>
                    <a:pt x="72022" y="8098113"/>
                  </a:lnTo>
                  <a:lnTo>
                    <a:pt x="88529" y="8113690"/>
                  </a:lnTo>
                  <a:lnTo>
                    <a:pt x="62523" y="8118886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7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426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7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60"/>
              <a:ext cx="6429375" cy="1114425"/>
            </a:xfrm>
            <a:custGeom>
              <a:avLst/>
              <a:gdLst/>
              <a:ahLst/>
              <a:cxnLst/>
              <a:rect l="l" t="t" r="r" b="b"/>
              <a:pathLst>
                <a:path w="6429375" h="1114425">
                  <a:moveTo>
                    <a:pt x="6362626" y="1114424"/>
                  </a:moveTo>
                  <a:lnTo>
                    <a:pt x="66746" y="1114424"/>
                  </a:lnTo>
                  <a:lnTo>
                    <a:pt x="62101" y="1113977"/>
                  </a:lnTo>
                  <a:lnTo>
                    <a:pt x="24240" y="1096784"/>
                  </a:lnTo>
                  <a:lnTo>
                    <a:pt x="2287" y="1061513"/>
                  </a:lnTo>
                  <a:lnTo>
                    <a:pt x="0" y="1047673"/>
                  </a:lnTo>
                  <a:lnTo>
                    <a:pt x="0" y="1042987"/>
                  </a:lnTo>
                  <a:lnTo>
                    <a:pt x="0" y="66751"/>
                  </a:lnTo>
                  <a:lnTo>
                    <a:pt x="14645" y="27832"/>
                  </a:lnTo>
                  <a:lnTo>
                    <a:pt x="48433" y="3648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658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1047673"/>
                  </a:lnTo>
                  <a:lnTo>
                    <a:pt x="6414728" y="1086516"/>
                  </a:lnTo>
                  <a:lnTo>
                    <a:pt x="6380940" y="1110700"/>
                  </a:lnTo>
                  <a:lnTo>
                    <a:pt x="6367272" y="1113977"/>
                  </a:lnTo>
                  <a:lnTo>
                    <a:pt x="6362626" y="1114424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60"/>
              <a:ext cx="6429375" cy="1114425"/>
            </a:xfrm>
            <a:custGeom>
              <a:avLst/>
              <a:gdLst/>
              <a:ahLst/>
              <a:cxnLst/>
              <a:rect l="l" t="t" r="r" b="b"/>
              <a:pathLst>
                <a:path w="6429375" h="1114425">
                  <a:moveTo>
                    <a:pt x="0" y="104298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7606" y="24260"/>
                  </a:lnTo>
                  <a:lnTo>
                    <a:pt x="31749" y="12058"/>
                  </a:lnTo>
                  <a:lnTo>
                    <a:pt x="35649" y="944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97624" y="12058"/>
                  </a:lnTo>
                  <a:lnTo>
                    <a:pt x="6401525" y="14658"/>
                  </a:lnTo>
                  <a:lnTo>
                    <a:pt x="6423936" y="44053"/>
                  </a:lnTo>
                  <a:lnTo>
                    <a:pt x="6425731" y="48367"/>
                  </a:lnTo>
                  <a:lnTo>
                    <a:pt x="6429374" y="71437"/>
                  </a:lnTo>
                  <a:lnTo>
                    <a:pt x="6429374" y="1042987"/>
                  </a:lnTo>
                  <a:lnTo>
                    <a:pt x="6423936" y="1070219"/>
                  </a:lnTo>
                  <a:lnTo>
                    <a:pt x="6422141" y="1074543"/>
                  </a:lnTo>
                  <a:lnTo>
                    <a:pt x="6419940" y="1078629"/>
                  </a:lnTo>
                  <a:lnTo>
                    <a:pt x="6417334" y="1082573"/>
                  </a:lnTo>
                  <a:lnTo>
                    <a:pt x="6414728" y="1086516"/>
                  </a:lnTo>
                  <a:lnTo>
                    <a:pt x="6385274" y="1108843"/>
                  </a:lnTo>
                  <a:lnTo>
                    <a:pt x="6380940" y="1110700"/>
                  </a:lnTo>
                  <a:lnTo>
                    <a:pt x="6376473" y="1112043"/>
                  </a:lnTo>
                  <a:lnTo>
                    <a:pt x="6371872" y="1113015"/>
                  </a:lnTo>
                  <a:lnTo>
                    <a:pt x="6367272" y="1113977"/>
                  </a:lnTo>
                  <a:lnTo>
                    <a:pt x="6362626" y="1114424"/>
                  </a:lnTo>
                  <a:lnTo>
                    <a:pt x="6357937" y="1114424"/>
                  </a:lnTo>
                  <a:lnTo>
                    <a:pt x="71437" y="1114424"/>
                  </a:lnTo>
                  <a:lnTo>
                    <a:pt x="66746" y="1114424"/>
                  </a:lnTo>
                  <a:lnTo>
                    <a:pt x="62101" y="1113977"/>
                  </a:lnTo>
                  <a:lnTo>
                    <a:pt x="57500" y="1113015"/>
                  </a:lnTo>
                  <a:lnTo>
                    <a:pt x="52900" y="1112043"/>
                  </a:lnTo>
                  <a:lnTo>
                    <a:pt x="48433" y="1110700"/>
                  </a:lnTo>
                  <a:lnTo>
                    <a:pt x="44099" y="1108843"/>
                  </a:lnTo>
                  <a:lnTo>
                    <a:pt x="39765" y="1107062"/>
                  </a:lnTo>
                  <a:lnTo>
                    <a:pt x="9433" y="1078629"/>
                  </a:lnTo>
                  <a:lnTo>
                    <a:pt x="5437" y="1070219"/>
                  </a:lnTo>
                  <a:lnTo>
                    <a:pt x="3642" y="1065980"/>
                  </a:lnTo>
                  <a:lnTo>
                    <a:pt x="2287" y="1061513"/>
                  </a:lnTo>
                  <a:lnTo>
                    <a:pt x="1372" y="1056903"/>
                  </a:lnTo>
                  <a:lnTo>
                    <a:pt x="457" y="1052293"/>
                  </a:lnTo>
                  <a:lnTo>
                    <a:pt x="0" y="1047673"/>
                  </a:lnTo>
                  <a:lnTo>
                    <a:pt x="0" y="104298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134047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267559"/>
              <a:ext cx="6438899" cy="9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55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67"/>
                  </a:lnTo>
                  <a:lnTo>
                    <a:pt x="51663" y="377063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150"/>
                  </a:lnTo>
                  <a:lnTo>
                    <a:pt x="377126" y="329069"/>
                  </a:lnTo>
                  <a:lnTo>
                    <a:pt x="381000" y="309714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42"/>
                  </a:lnTo>
                  <a:lnTo>
                    <a:pt x="1170393" y="109562"/>
                  </a:lnTo>
                  <a:lnTo>
                    <a:pt x="1146225" y="75311"/>
                  </a:lnTo>
                  <a:lnTo>
                    <a:pt x="1114437" y="47853"/>
                  </a:lnTo>
                  <a:lnTo>
                    <a:pt x="1076934" y="29006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41"/>
                  </a:lnTo>
                  <a:lnTo>
                    <a:pt x="580199" y="63347"/>
                  </a:lnTo>
                  <a:lnTo>
                    <a:pt x="552780" y="95173"/>
                  </a:lnTo>
                  <a:lnTo>
                    <a:pt x="533895" y="132600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31"/>
                  </a:lnTo>
                  <a:lnTo>
                    <a:pt x="548271" y="278511"/>
                  </a:lnTo>
                  <a:lnTo>
                    <a:pt x="574103" y="311658"/>
                  </a:lnTo>
                  <a:lnTo>
                    <a:pt x="607199" y="337439"/>
                  </a:lnTo>
                  <a:lnTo>
                    <a:pt x="645566" y="354533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30"/>
                  </a:lnTo>
                  <a:lnTo>
                    <a:pt x="1099997" y="341515"/>
                  </a:lnTo>
                  <a:lnTo>
                    <a:pt x="1134313" y="317461"/>
                  </a:lnTo>
                  <a:lnTo>
                    <a:pt x="1161732" y="285673"/>
                  </a:lnTo>
                  <a:lnTo>
                    <a:pt x="1180617" y="248119"/>
                  </a:lnTo>
                  <a:lnTo>
                    <a:pt x="1189812" y="207264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220460" cy="6345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⾃然⾳活⽤</a:t>
            </a:r>
            <a:r>
              <a:rPr sz="1750" b="1" spc="-95" dirty="0">
                <a:solidFill>
                  <a:srgbClr val="333333"/>
                </a:solidFill>
                <a:latin typeface="BIZ UDPゴシック"/>
                <a:cs typeface="BIZ UDPゴシック"/>
              </a:rPr>
              <a:t>マニュアル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常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⽣活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への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完全導⼊</a:t>
            </a:r>
            <a:r>
              <a:rPr sz="1750" b="1" spc="15" dirty="0">
                <a:solidFill>
                  <a:srgbClr val="333333"/>
                </a:solidFill>
                <a:latin typeface="BIZ UDPゴシック"/>
                <a:cs typeface="BIZ UDPゴシック"/>
              </a:rPr>
              <a:t>ガイド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朝・昼・夜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のシ</a:t>
            </a:r>
            <a:r>
              <a:rPr sz="1350" i="1" spc="-275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別活⽤法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、特殊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なシチュエ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ション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（育児、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ペット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45" dirty="0">
                <a:solidFill>
                  <a:srgbClr val="333333"/>
                </a:solidFill>
                <a:latin typeface="メイリオ"/>
                <a:cs typeface="メイリオ"/>
              </a:rPr>
              <a:t>オフィス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）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⽣活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れるための</a:t>
            </a:r>
            <a:r>
              <a:rPr sz="1350" i="1" spc="-140" dirty="0">
                <a:solidFill>
                  <a:srgbClr val="333333"/>
                </a:solidFill>
                <a:latin typeface="メイリオ"/>
                <a:cs typeface="メイリオ"/>
              </a:rPr>
              <a:t>実践書。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580765">
              <a:lnSpc>
                <a:spcPct val="133100"/>
              </a:lnSpc>
              <a:spcBef>
                <a:spcPts val="825"/>
              </a:spcBef>
            </a:pP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帯別</a:t>
            </a:r>
            <a:r>
              <a:rPr sz="1300" spc="-124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別活⽤法</a:t>
            </a:r>
            <a:r>
              <a:rPr sz="1300" spc="409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409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3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⽬的別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プレイリス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65" dirty="0">
                <a:solidFill>
                  <a:srgbClr val="333333"/>
                </a:solidFill>
                <a:latin typeface="メイリオ"/>
                <a:cs typeface="メイリオ"/>
              </a:rPr>
              <a:t>⽅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1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最⼤化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65" dirty="0">
                <a:solidFill>
                  <a:srgbClr val="333333"/>
                </a:solidFill>
                <a:latin typeface="メイリオ"/>
                <a:cs typeface="メイリオ"/>
              </a:rPr>
              <a:t>⽅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1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409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409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409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ヶ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⽉継続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プロ</a:t>
            </a:r>
            <a:r>
              <a:rPr sz="1350" spc="-150" dirty="0">
                <a:solidFill>
                  <a:srgbClr val="333333"/>
                </a:solidFill>
                <a:latin typeface="SimSun"/>
                <a:cs typeface="SimSun"/>
              </a:rPr>
              <a:t>グラム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読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者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300" b="1" spc="-5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読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んで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したら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明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らかに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わりました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家族全員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れたら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雰囲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やかになりました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180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ヶ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⽉継続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チェックシ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105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08362" y="7389892"/>
            <a:ext cx="179387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19" marR="5080" indent="-46355">
              <a:lnSpc>
                <a:spcPct val="1343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今⽇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から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できる</a:t>
            </a:r>
            <a:r>
              <a:rPr sz="1300" spc="-80" dirty="0">
                <a:solidFill>
                  <a:srgbClr val="FFFFFF"/>
                </a:solidFill>
                <a:latin typeface="メイリオ"/>
                <a:cs typeface="メイリオ"/>
              </a:rPr>
              <a:t>内容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0"/>
            <a:ext cx="7063105" cy="8401050"/>
            <a:chOff x="352425" y="352450"/>
            <a:chExt cx="7063105" cy="8401050"/>
          </a:xfrm>
        </p:grpSpPr>
        <p:sp>
          <p:nvSpPr>
            <p:cNvPr id="3" name="object 3"/>
            <p:cNvSpPr/>
            <p:nvPr/>
          </p:nvSpPr>
          <p:spPr>
            <a:xfrm>
              <a:off x="376237" y="357135"/>
              <a:ext cx="7038975" cy="8391525"/>
            </a:xfrm>
            <a:custGeom>
              <a:avLst/>
              <a:gdLst/>
              <a:ahLst/>
              <a:cxnLst/>
              <a:rect l="l" t="t" r="r" b="b"/>
              <a:pathLst>
                <a:path w="7038975" h="8391525">
                  <a:moveTo>
                    <a:pt x="6936628" y="8391448"/>
                  </a:moveTo>
                  <a:lnTo>
                    <a:pt x="84545" y="8391448"/>
                  </a:lnTo>
                  <a:lnTo>
                    <a:pt x="78661" y="8390781"/>
                  </a:lnTo>
                  <a:lnTo>
                    <a:pt x="35275" y="8368978"/>
                  </a:lnTo>
                  <a:lnTo>
                    <a:pt x="11948" y="8336679"/>
                  </a:lnTo>
                  <a:lnTo>
                    <a:pt x="579" y="8296198"/>
                  </a:lnTo>
                  <a:lnTo>
                    <a:pt x="0" y="8289130"/>
                  </a:lnTo>
                  <a:lnTo>
                    <a:pt x="0" y="828198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8289130"/>
                  </a:lnTo>
                  <a:lnTo>
                    <a:pt x="7027882" y="8330430"/>
                  </a:lnTo>
                  <a:lnTo>
                    <a:pt x="7001805" y="8364435"/>
                  </a:lnTo>
                  <a:lnTo>
                    <a:pt x="6964709" y="8385866"/>
                  </a:lnTo>
                  <a:lnTo>
                    <a:pt x="6943752" y="8390781"/>
                  </a:lnTo>
                  <a:lnTo>
                    <a:pt x="6936628" y="83914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8401050"/>
            </a:xfrm>
            <a:custGeom>
              <a:avLst/>
              <a:gdLst/>
              <a:ahLst/>
              <a:cxnLst/>
              <a:rect l="l" t="t" r="r" b="b"/>
              <a:pathLst>
                <a:path w="6999605" h="840105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286712"/>
                  </a:lnTo>
                  <a:lnTo>
                    <a:pt x="6987819" y="8326806"/>
                  </a:lnTo>
                  <a:lnTo>
                    <a:pt x="6965112" y="8360804"/>
                  </a:lnTo>
                  <a:lnTo>
                    <a:pt x="6931126" y="8383549"/>
                  </a:lnTo>
                  <a:lnTo>
                    <a:pt x="6891020" y="8391525"/>
                  </a:lnTo>
                  <a:lnTo>
                    <a:pt x="52082" y="8391525"/>
                  </a:lnTo>
                  <a:lnTo>
                    <a:pt x="26085" y="8383194"/>
                  </a:lnTo>
                  <a:lnTo>
                    <a:pt x="0" y="8388413"/>
                  </a:lnTo>
                  <a:lnTo>
                    <a:pt x="40817" y="8400504"/>
                  </a:lnTo>
                  <a:lnTo>
                    <a:pt x="52082" y="8401050"/>
                  </a:lnTo>
                  <a:lnTo>
                    <a:pt x="6891020" y="8401050"/>
                  </a:lnTo>
                  <a:lnTo>
                    <a:pt x="6934771" y="8392350"/>
                  </a:lnTo>
                  <a:lnTo>
                    <a:pt x="6936511" y="8391525"/>
                  </a:lnTo>
                  <a:lnTo>
                    <a:pt x="6944957" y="8387537"/>
                  </a:lnTo>
                  <a:lnTo>
                    <a:pt x="6954545" y="8381809"/>
                  </a:lnTo>
                  <a:lnTo>
                    <a:pt x="6963499" y="8375155"/>
                  </a:lnTo>
                  <a:lnTo>
                    <a:pt x="6971843" y="8367573"/>
                  </a:lnTo>
                  <a:lnTo>
                    <a:pt x="6972300" y="8367077"/>
                  </a:lnTo>
                  <a:lnTo>
                    <a:pt x="6979425" y="8359191"/>
                  </a:lnTo>
                  <a:lnTo>
                    <a:pt x="6986079" y="8350224"/>
                  </a:lnTo>
                  <a:lnTo>
                    <a:pt x="6991807" y="8340649"/>
                  </a:lnTo>
                  <a:lnTo>
                    <a:pt x="6996620" y="8330451"/>
                  </a:lnTo>
                  <a:lnTo>
                    <a:pt x="6999071" y="832361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4"/>
              <a:ext cx="88900" cy="8376284"/>
            </a:xfrm>
            <a:custGeom>
              <a:avLst/>
              <a:gdLst/>
              <a:ahLst/>
              <a:cxnLst/>
              <a:rect l="l" t="t" r="r" b="b"/>
              <a:pathLst>
                <a:path w="88900" h="8376284">
                  <a:moveTo>
                    <a:pt x="62524" y="8376061"/>
                  </a:moveTo>
                  <a:lnTo>
                    <a:pt x="25900" y="8346731"/>
                  </a:lnTo>
                  <a:lnTo>
                    <a:pt x="4894" y="8307384"/>
                  </a:lnTo>
                  <a:lnTo>
                    <a:pt x="0" y="82742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274255"/>
                  </a:lnTo>
                  <a:lnTo>
                    <a:pt x="52700" y="8314350"/>
                  </a:lnTo>
                  <a:lnTo>
                    <a:pt x="72022" y="8355287"/>
                  </a:lnTo>
                  <a:lnTo>
                    <a:pt x="88529" y="8370865"/>
                  </a:lnTo>
                  <a:lnTo>
                    <a:pt x="62524" y="837606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7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7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086297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086298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38100" h="1333500">
                  <a:moveTo>
                    <a:pt x="28575" y="1028700"/>
                  </a:moveTo>
                  <a:lnTo>
                    <a:pt x="0" y="1028700"/>
                  </a:lnTo>
                  <a:lnTo>
                    <a:pt x="0" y="1333500"/>
                  </a:lnTo>
                  <a:lnTo>
                    <a:pt x="28575" y="1333500"/>
                  </a:lnTo>
                  <a:lnTo>
                    <a:pt x="28575" y="1028700"/>
                  </a:lnTo>
                  <a:close/>
                </a:path>
                <a:path w="38100" h="1333500">
                  <a:moveTo>
                    <a:pt x="381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38100" y="838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524735"/>
              <a:ext cx="6438899" cy="9334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724"/>
              <a:ext cx="1343025" cy="381000"/>
            </a:xfrm>
            <a:custGeom>
              <a:avLst/>
              <a:gdLst/>
              <a:ahLst/>
              <a:cxnLst/>
              <a:rect l="l" t="t" r="r" b="b"/>
              <a:pathLst>
                <a:path w="1343025" h="381000">
                  <a:moveTo>
                    <a:pt x="381000" y="71069"/>
                  </a:moveTo>
                  <a:lnTo>
                    <a:pt x="365379" y="29540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05"/>
                  </a:lnTo>
                  <a:lnTo>
                    <a:pt x="3886" y="51498"/>
                  </a:lnTo>
                  <a:lnTo>
                    <a:pt x="0" y="71069"/>
                  </a:lnTo>
                  <a:lnTo>
                    <a:pt x="0" y="304723"/>
                  </a:lnTo>
                  <a:lnTo>
                    <a:pt x="0" y="309638"/>
                  </a:lnTo>
                  <a:lnTo>
                    <a:pt x="15633" y="351078"/>
                  </a:lnTo>
                  <a:lnTo>
                    <a:pt x="51663" y="37691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638"/>
                  </a:lnTo>
                  <a:lnTo>
                    <a:pt x="381000" y="71069"/>
                  </a:lnTo>
                  <a:close/>
                </a:path>
                <a:path w="1343025" h="381000">
                  <a:moveTo>
                    <a:pt x="1343025" y="190423"/>
                  </a:moveTo>
                  <a:lnTo>
                    <a:pt x="1337894" y="148691"/>
                  </a:lnTo>
                  <a:lnTo>
                    <a:pt x="1322793" y="109613"/>
                  </a:lnTo>
                  <a:lnTo>
                    <a:pt x="1298625" y="75298"/>
                  </a:lnTo>
                  <a:lnTo>
                    <a:pt x="1266837" y="47840"/>
                  </a:lnTo>
                  <a:lnTo>
                    <a:pt x="1229334" y="28956"/>
                  </a:lnTo>
                  <a:lnTo>
                    <a:pt x="1188389" y="19799"/>
                  </a:lnTo>
                  <a:lnTo>
                    <a:pt x="1171575" y="18973"/>
                  </a:lnTo>
                  <a:lnTo>
                    <a:pt x="695325" y="18973"/>
                  </a:lnTo>
                  <a:lnTo>
                    <a:pt x="653656" y="24041"/>
                  </a:lnTo>
                  <a:lnTo>
                    <a:pt x="614514" y="39179"/>
                  </a:lnTo>
                  <a:lnTo>
                    <a:pt x="580199" y="63385"/>
                  </a:lnTo>
                  <a:lnTo>
                    <a:pt x="552780" y="95173"/>
                  </a:lnTo>
                  <a:lnTo>
                    <a:pt x="533895" y="132626"/>
                  </a:lnTo>
                  <a:lnTo>
                    <a:pt x="524700" y="173634"/>
                  </a:lnTo>
                  <a:lnTo>
                    <a:pt x="523875" y="190423"/>
                  </a:lnTo>
                  <a:lnTo>
                    <a:pt x="524090" y="198831"/>
                  </a:lnTo>
                  <a:lnTo>
                    <a:pt x="531266" y="240118"/>
                  </a:lnTo>
                  <a:lnTo>
                    <a:pt x="548271" y="278434"/>
                  </a:lnTo>
                  <a:lnTo>
                    <a:pt x="574103" y="311569"/>
                  </a:lnTo>
                  <a:lnTo>
                    <a:pt x="607199" y="337439"/>
                  </a:lnTo>
                  <a:lnTo>
                    <a:pt x="645566" y="354393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1171575" y="361873"/>
                  </a:lnTo>
                  <a:lnTo>
                    <a:pt x="1213256" y="356616"/>
                  </a:lnTo>
                  <a:lnTo>
                    <a:pt x="1252397" y="341490"/>
                  </a:lnTo>
                  <a:lnTo>
                    <a:pt x="1286713" y="317385"/>
                  </a:lnTo>
                  <a:lnTo>
                    <a:pt x="1314132" y="285521"/>
                  </a:lnTo>
                  <a:lnTo>
                    <a:pt x="1333017" y="248081"/>
                  </a:lnTo>
                  <a:lnTo>
                    <a:pt x="1342212" y="207175"/>
                  </a:lnTo>
                  <a:lnTo>
                    <a:pt x="1343025" y="190423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65919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45224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4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omic Sans MS"/>
                <a:cs typeface="Comic Sans MS"/>
              </a:rPr>
              <a:t>¥1,280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10" dirty="0">
                <a:solidFill>
                  <a:srgbClr val="333333"/>
                </a:solidFill>
                <a:latin typeface="BIZ UDPゴシック"/>
                <a:cs typeface="BIZ UDPゴシック"/>
              </a:rPr>
              <a:t>インストラクタ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養成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講座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り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220979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クショップや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講座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きたい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へ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カリキュラム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設計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集客、運営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イ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ンストラクタ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として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活動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するためのノウハウ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251200">
              <a:lnSpc>
                <a:spcPct val="133300"/>
              </a:lnSpc>
              <a:spcBef>
                <a:spcPts val="819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インストラクタ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⼼構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え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1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カリキュラムの</a:t>
            </a:r>
            <a:r>
              <a:rPr sz="1300" spc="-95" dirty="0">
                <a:solidFill>
                  <a:srgbClr val="333333"/>
                </a:solidFill>
                <a:latin typeface="メイリオ"/>
                <a:cs typeface="メイリオ"/>
              </a:rPr>
              <a:t>設計⽅法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参加者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1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160" dirty="0">
                <a:solidFill>
                  <a:srgbClr val="333333"/>
                </a:solidFill>
                <a:latin typeface="Comic Sans MS"/>
                <a:cs typeface="Comic Sans MS"/>
              </a:rPr>
              <a:t>SNS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術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575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クショップ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当⽇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5" dirty="0">
                <a:solidFill>
                  <a:srgbClr val="333333"/>
                </a:solidFill>
                <a:latin typeface="メイリオ"/>
                <a:cs typeface="メイリオ"/>
              </a:rPr>
              <a:t>進⾏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リピ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やす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-65" dirty="0">
                <a:solidFill>
                  <a:srgbClr val="333333"/>
                </a:solidFill>
                <a:latin typeface="メイリオ"/>
                <a:cs typeface="メイリオ"/>
              </a:rPr>
              <a:t>法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2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オンライン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講座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展開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メイリオ"/>
              <a:cs typeface="メイリオ"/>
            </a:endParaRPr>
          </a:p>
          <a:p>
            <a:pPr marL="193040" marR="260985">
              <a:lnSpc>
                <a:spcPct val="134300"/>
              </a:lnSpc>
              <a:spcBef>
                <a:spcPts val="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やすらいだ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他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⼈達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地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球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とも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調和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して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⽣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きていくことができます</a:t>
            </a:r>
            <a:r>
              <a:rPr sz="1300" spc="-915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135" dirty="0">
                <a:solidFill>
                  <a:srgbClr val="333333"/>
                </a:solidFill>
                <a:latin typeface="Comic Sans MS"/>
                <a:cs typeface="Comic Sans MS"/>
              </a:rPr>
              <a:t>-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協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教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2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講座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告知⽂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サンプル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当⽇進⾏表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106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04926" y="7647067"/>
            <a:ext cx="200088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34925">
              <a:lnSpc>
                <a:spcPct val="134300"/>
              </a:lnSpc>
              <a:spcBef>
                <a:spcPts val="130"/>
              </a:spcBef>
            </a:pP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¥1,280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インストラクタ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への</a:t>
            </a:r>
            <a:r>
              <a:rPr sz="1300" spc="-90" dirty="0">
                <a:solidFill>
                  <a:srgbClr val="FFFFFF"/>
                </a:solidFill>
                <a:latin typeface="メイリオ"/>
                <a:cs typeface="メイリオ"/>
              </a:rPr>
              <a:t>第⼀歩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1"/>
            <a:ext cx="7063105" cy="8686800"/>
            <a:chOff x="352425" y="352451"/>
            <a:chExt cx="7063105" cy="8686800"/>
          </a:xfrm>
        </p:grpSpPr>
        <p:sp>
          <p:nvSpPr>
            <p:cNvPr id="3" name="object 3"/>
            <p:cNvSpPr/>
            <p:nvPr/>
          </p:nvSpPr>
          <p:spPr>
            <a:xfrm>
              <a:off x="376237" y="357210"/>
              <a:ext cx="7038975" cy="8677275"/>
            </a:xfrm>
            <a:custGeom>
              <a:avLst/>
              <a:gdLst/>
              <a:ahLst/>
              <a:cxnLst/>
              <a:rect l="l" t="t" r="r" b="b"/>
              <a:pathLst>
                <a:path w="7038975" h="8677275">
                  <a:moveTo>
                    <a:pt x="6936628" y="8677121"/>
                  </a:moveTo>
                  <a:lnTo>
                    <a:pt x="84545" y="8677121"/>
                  </a:lnTo>
                  <a:lnTo>
                    <a:pt x="78661" y="8676455"/>
                  </a:lnTo>
                  <a:lnTo>
                    <a:pt x="35275" y="8654652"/>
                  </a:lnTo>
                  <a:lnTo>
                    <a:pt x="11948" y="8622429"/>
                  </a:lnTo>
                  <a:lnTo>
                    <a:pt x="579" y="8581948"/>
                  </a:lnTo>
                  <a:lnTo>
                    <a:pt x="0" y="8574804"/>
                  </a:lnTo>
                  <a:lnTo>
                    <a:pt x="0" y="8567660"/>
                  </a:lnTo>
                  <a:lnTo>
                    <a:pt x="0" y="102241"/>
                  </a:lnTo>
                  <a:lnTo>
                    <a:pt x="9161" y="60721"/>
                  </a:lnTo>
                  <a:lnTo>
                    <a:pt x="30704" y="26717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6985"/>
                  </a:lnTo>
                  <a:lnTo>
                    <a:pt x="7033387" y="74037"/>
                  </a:lnTo>
                  <a:lnTo>
                    <a:pt x="7038973" y="102241"/>
                  </a:lnTo>
                  <a:lnTo>
                    <a:pt x="7038973" y="8574804"/>
                  </a:lnTo>
                  <a:lnTo>
                    <a:pt x="7027882" y="8616104"/>
                  </a:lnTo>
                  <a:lnTo>
                    <a:pt x="7001805" y="8650109"/>
                  </a:lnTo>
                  <a:lnTo>
                    <a:pt x="6964709" y="8671464"/>
                  </a:lnTo>
                  <a:lnTo>
                    <a:pt x="6943752" y="8676455"/>
                  </a:lnTo>
                  <a:lnTo>
                    <a:pt x="6936628" y="8677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49"/>
              <a:ext cx="6999605" cy="8686800"/>
            </a:xfrm>
            <a:custGeom>
              <a:avLst/>
              <a:gdLst/>
              <a:ahLst/>
              <a:cxnLst/>
              <a:rect l="l" t="t" r="r" b="b"/>
              <a:pathLst>
                <a:path w="6999605" h="8686800">
                  <a:moveTo>
                    <a:pt x="6999071" y="77355"/>
                  </a:moveTo>
                  <a:lnTo>
                    <a:pt x="6979425" y="41795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24154" y="4902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712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8572462"/>
                  </a:lnTo>
                  <a:lnTo>
                    <a:pt x="6987819" y="8612556"/>
                  </a:lnTo>
                  <a:lnTo>
                    <a:pt x="6965112" y="8646554"/>
                  </a:lnTo>
                  <a:lnTo>
                    <a:pt x="6931126" y="8669299"/>
                  </a:lnTo>
                  <a:lnTo>
                    <a:pt x="6891020" y="8677275"/>
                  </a:lnTo>
                  <a:lnTo>
                    <a:pt x="52082" y="8677275"/>
                  </a:lnTo>
                  <a:lnTo>
                    <a:pt x="26085" y="8668956"/>
                  </a:lnTo>
                  <a:lnTo>
                    <a:pt x="0" y="8674163"/>
                  </a:lnTo>
                  <a:lnTo>
                    <a:pt x="40817" y="8686267"/>
                  </a:lnTo>
                  <a:lnTo>
                    <a:pt x="52082" y="8686800"/>
                  </a:lnTo>
                  <a:lnTo>
                    <a:pt x="6891020" y="8686800"/>
                  </a:lnTo>
                  <a:lnTo>
                    <a:pt x="6934771" y="8678100"/>
                  </a:lnTo>
                  <a:lnTo>
                    <a:pt x="6936511" y="8677275"/>
                  </a:lnTo>
                  <a:lnTo>
                    <a:pt x="6944957" y="8673287"/>
                  </a:lnTo>
                  <a:lnTo>
                    <a:pt x="6954545" y="8667559"/>
                  </a:lnTo>
                  <a:lnTo>
                    <a:pt x="6963499" y="8660905"/>
                  </a:lnTo>
                  <a:lnTo>
                    <a:pt x="6971843" y="8653323"/>
                  </a:lnTo>
                  <a:lnTo>
                    <a:pt x="6972300" y="8652827"/>
                  </a:lnTo>
                  <a:lnTo>
                    <a:pt x="6979425" y="8644941"/>
                  </a:lnTo>
                  <a:lnTo>
                    <a:pt x="6986079" y="8635975"/>
                  </a:lnTo>
                  <a:lnTo>
                    <a:pt x="6991807" y="8626399"/>
                  </a:lnTo>
                  <a:lnTo>
                    <a:pt x="6996620" y="8616201"/>
                  </a:lnTo>
                  <a:lnTo>
                    <a:pt x="6999071" y="8609381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5"/>
              <a:ext cx="88900" cy="8662035"/>
            </a:xfrm>
            <a:custGeom>
              <a:avLst/>
              <a:gdLst/>
              <a:ahLst/>
              <a:cxnLst/>
              <a:rect l="l" t="t" r="r" b="b"/>
              <a:pathLst>
                <a:path w="88900" h="8662035">
                  <a:moveTo>
                    <a:pt x="62523" y="8661811"/>
                  </a:moveTo>
                  <a:lnTo>
                    <a:pt x="25900" y="8632481"/>
                  </a:lnTo>
                  <a:lnTo>
                    <a:pt x="4894" y="8593134"/>
                  </a:lnTo>
                  <a:lnTo>
                    <a:pt x="0" y="85600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560005"/>
                  </a:lnTo>
                  <a:lnTo>
                    <a:pt x="52700" y="8600100"/>
                  </a:lnTo>
                  <a:lnTo>
                    <a:pt x="72022" y="8641037"/>
                  </a:lnTo>
                  <a:lnTo>
                    <a:pt x="88529" y="8656615"/>
                  </a:lnTo>
                  <a:lnTo>
                    <a:pt x="62523" y="86618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2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33"/>
                  </a:lnTo>
                  <a:lnTo>
                    <a:pt x="29705" y="822426"/>
                  </a:lnTo>
                  <a:lnTo>
                    <a:pt x="3885" y="786260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142"/>
                  </a:lnTo>
                  <a:lnTo>
                    <a:pt x="15621" y="29394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01"/>
                  </a:lnTo>
                  <a:lnTo>
                    <a:pt x="6435013" y="51492"/>
                  </a:lnTo>
                  <a:lnTo>
                    <a:pt x="6438899" y="71142"/>
                  </a:lnTo>
                  <a:lnTo>
                    <a:pt x="6438899" y="766905"/>
                  </a:lnTo>
                  <a:lnTo>
                    <a:pt x="6423277" y="808281"/>
                  </a:lnTo>
                  <a:lnTo>
                    <a:pt x="6387236" y="834104"/>
                  </a:lnTo>
                  <a:lnTo>
                    <a:pt x="6372658" y="837599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7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5091059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6362626" y="1123873"/>
                  </a:moveTo>
                  <a:lnTo>
                    <a:pt x="66746" y="1123873"/>
                  </a:lnTo>
                  <a:lnTo>
                    <a:pt x="62101" y="1123426"/>
                  </a:lnTo>
                  <a:lnTo>
                    <a:pt x="24240" y="1106242"/>
                  </a:lnTo>
                  <a:lnTo>
                    <a:pt x="2287" y="1070895"/>
                  </a:lnTo>
                  <a:lnTo>
                    <a:pt x="0" y="1057198"/>
                  </a:lnTo>
                  <a:lnTo>
                    <a:pt x="0" y="1052512"/>
                  </a:lnTo>
                  <a:lnTo>
                    <a:pt x="0" y="66674"/>
                  </a:lnTo>
                  <a:lnTo>
                    <a:pt x="14645" y="27679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439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057198"/>
                  </a:lnTo>
                  <a:lnTo>
                    <a:pt x="6414728" y="1095974"/>
                  </a:lnTo>
                  <a:lnTo>
                    <a:pt x="6380940" y="1120158"/>
                  </a:lnTo>
                  <a:lnTo>
                    <a:pt x="6367272" y="1123426"/>
                  </a:lnTo>
                  <a:lnTo>
                    <a:pt x="6362626" y="1123873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5091059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0" y="1052512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372" y="57369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9433" y="35499"/>
                  </a:lnTo>
                  <a:lnTo>
                    <a:pt x="12039" y="31622"/>
                  </a:lnTo>
                  <a:lnTo>
                    <a:pt x="14645" y="27679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499"/>
                  </a:lnTo>
                  <a:lnTo>
                    <a:pt x="6422141" y="39585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9374" y="71437"/>
                  </a:lnTo>
                  <a:lnTo>
                    <a:pt x="6429374" y="1052512"/>
                  </a:lnTo>
                  <a:lnTo>
                    <a:pt x="6429373" y="1057198"/>
                  </a:lnTo>
                  <a:lnTo>
                    <a:pt x="6428916" y="1061818"/>
                  </a:lnTo>
                  <a:lnTo>
                    <a:pt x="6428001" y="1066352"/>
                  </a:lnTo>
                  <a:lnTo>
                    <a:pt x="6427086" y="1070895"/>
                  </a:lnTo>
                  <a:lnTo>
                    <a:pt x="6417334" y="1092022"/>
                  </a:lnTo>
                  <a:lnTo>
                    <a:pt x="6414728" y="1095974"/>
                  </a:lnTo>
                  <a:lnTo>
                    <a:pt x="6411767" y="1099546"/>
                  </a:lnTo>
                  <a:lnTo>
                    <a:pt x="6408450" y="1102890"/>
                  </a:lnTo>
                  <a:lnTo>
                    <a:pt x="6405133" y="1106242"/>
                  </a:lnTo>
                  <a:lnTo>
                    <a:pt x="6385274" y="1118368"/>
                  </a:lnTo>
                  <a:lnTo>
                    <a:pt x="6380940" y="1120158"/>
                  </a:lnTo>
                  <a:lnTo>
                    <a:pt x="6357937" y="1123949"/>
                  </a:lnTo>
                  <a:lnTo>
                    <a:pt x="71437" y="1123949"/>
                  </a:lnTo>
                  <a:lnTo>
                    <a:pt x="44099" y="1118368"/>
                  </a:lnTo>
                  <a:lnTo>
                    <a:pt x="39765" y="1116587"/>
                  </a:lnTo>
                  <a:lnTo>
                    <a:pt x="20923" y="1102890"/>
                  </a:lnTo>
                  <a:lnTo>
                    <a:pt x="17606" y="1099546"/>
                  </a:lnTo>
                  <a:lnTo>
                    <a:pt x="14645" y="1095974"/>
                  </a:lnTo>
                  <a:lnTo>
                    <a:pt x="12039" y="1092022"/>
                  </a:lnTo>
                  <a:lnTo>
                    <a:pt x="9433" y="1088078"/>
                  </a:lnTo>
                  <a:lnTo>
                    <a:pt x="1372" y="1066352"/>
                  </a:lnTo>
                  <a:lnTo>
                    <a:pt x="457" y="1061818"/>
                  </a:lnTo>
                  <a:lnTo>
                    <a:pt x="0" y="1057198"/>
                  </a:lnTo>
                  <a:lnTo>
                    <a:pt x="0" y="105251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410271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820010"/>
              <a:ext cx="6438899" cy="9239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48"/>
              <a:ext cx="1343025" cy="381000"/>
            </a:xfrm>
            <a:custGeom>
              <a:avLst/>
              <a:gdLst/>
              <a:ahLst/>
              <a:cxnLst/>
              <a:rect l="l" t="t" r="r" b="b"/>
              <a:pathLst>
                <a:path w="134302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8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343025" h="381000">
                  <a:moveTo>
                    <a:pt x="1343025" y="190500"/>
                  </a:moveTo>
                  <a:lnTo>
                    <a:pt x="1337894" y="148704"/>
                  </a:lnTo>
                  <a:lnTo>
                    <a:pt x="1322793" y="109562"/>
                  </a:lnTo>
                  <a:lnTo>
                    <a:pt x="1298625" y="75361"/>
                  </a:lnTo>
                  <a:lnTo>
                    <a:pt x="1266837" y="47917"/>
                  </a:lnTo>
                  <a:lnTo>
                    <a:pt x="1229334" y="29044"/>
                  </a:lnTo>
                  <a:lnTo>
                    <a:pt x="1188389" y="19951"/>
                  </a:lnTo>
                  <a:lnTo>
                    <a:pt x="11715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204"/>
                  </a:lnTo>
                  <a:lnTo>
                    <a:pt x="580199" y="63461"/>
                  </a:lnTo>
                  <a:lnTo>
                    <a:pt x="552780" y="95173"/>
                  </a:lnTo>
                  <a:lnTo>
                    <a:pt x="533895" y="132626"/>
                  </a:lnTo>
                  <a:lnTo>
                    <a:pt x="524700" y="173672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07"/>
                  </a:lnTo>
                  <a:lnTo>
                    <a:pt x="548271" y="278472"/>
                  </a:lnTo>
                  <a:lnTo>
                    <a:pt x="574103" y="311569"/>
                  </a:lnTo>
                  <a:lnTo>
                    <a:pt x="607199" y="337324"/>
                  </a:lnTo>
                  <a:lnTo>
                    <a:pt x="645566" y="354406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171575" y="361950"/>
                  </a:lnTo>
                  <a:lnTo>
                    <a:pt x="1213256" y="356666"/>
                  </a:lnTo>
                  <a:lnTo>
                    <a:pt x="1252397" y="341452"/>
                  </a:lnTo>
                  <a:lnTo>
                    <a:pt x="1286713" y="317385"/>
                  </a:lnTo>
                  <a:lnTo>
                    <a:pt x="1314132" y="285597"/>
                  </a:lnTo>
                  <a:lnTo>
                    <a:pt x="1333017" y="248158"/>
                  </a:lnTo>
                  <a:lnTo>
                    <a:pt x="1342212" y="207289"/>
                  </a:lnTo>
                  <a:lnTo>
                    <a:pt x="13430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249035" cy="6887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45224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5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omic Sans MS"/>
                <a:cs typeface="Comic Sans MS"/>
              </a:rPr>
              <a:t>¥1,980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療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従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者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統合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療</a:t>
            </a:r>
            <a:r>
              <a:rPr sz="175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としてのサウンドヒ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導⼊</a:t>
            </a:r>
            <a:r>
              <a:rPr sz="1750" b="1" spc="-960" dirty="0">
                <a:solidFill>
                  <a:srgbClr val="333333"/>
                </a:solidFill>
                <a:latin typeface="BIZ UDPゴシック"/>
                <a:cs typeface="BIZ UDPゴシック"/>
              </a:rPr>
              <a:t>ガ</a:t>
            </a:r>
            <a:r>
              <a:rPr sz="1750" b="1" spc="114" dirty="0">
                <a:solidFill>
                  <a:srgbClr val="333333"/>
                </a:solidFill>
                <a:latin typeface="BIZ UDPゴシック"/>
                <a:cs typeface="BIZ UDPゴシック"/>
              </a:rPr>
              <a:t>イド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医師・看護師・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リハビリ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専⾨職向</a:t>
            </a:r>
            <a:r>
              <a:rPr sz="1400" i="1" spc="-270" dirty="0">
                <a:solidFill>
                  <a:srgbClr val="333333"/>
                </a:solidFill>
                <a:latin typeface="メイリオ"/>
                <a:cs typeface="メイリオ"/>
              </a:rPr>
              <a:t>け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。医療現場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でサウンドヒ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リングを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導⼊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するための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エビデンスに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基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づいた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ガイド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036570">
              <a:lnSpc>
                <a:spcPct val="132700"/>
              </a:lnSpc>
              <a:spcBef>
                <a:spcPts val="830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統合医療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概要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位置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づけ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リングの</a:t>
            </a:r>
            <a:r>
              <a:rPr sz="1300" spc="-130" dirty="0">
                <a:solidFill>
                  <a:srgbClr val="333333"/>
                </a:solidFill>
                <a:latin typeface="メイリオ"/>
                <a:cs typeface="メイリオ"/>
              </a:rPr>
              <a:t>科学的根</a:t>
            </a:r>
            <a:r>
              <a:rPr sz="1300" spc="-80" dirty="0">
                <a:solidFill>
                  <a:srgbClr val="333333"/>
                </a:solidFill>
                <a:latin typeface="SimSun"/>
                <a:cs typeface="SimSun"/>
              </a:rPr>
              <a:t>拠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導⼊事例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病院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クリニック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545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プロトコル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設計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300">
              <a:latin typeface="メイリオ"/>
              <a:cs typeface="メイリオ"/>
            </a:endParaRPr>
          </a:p>
          <a:p>
            <a:pPr marL="12700" marR="3790950">
              <a:lnSpc>
                <a:spcPct val="134300"/>
              </a:lnSpc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効果測定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評価⽅法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法的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倫理的考慮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                                             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項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導⼊事</a:t>
            </a:r>
            <a:r>
              <a:rPr sz="130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例</a:t>
            </a:r>
            <a:endParaRPr sz="1300">
              <a:latin typeface="BIZ UDPゴシック"/>
              <a:cs typeface="BIZ UDPゴシック"/>
            </a:endParaRPr>
          </a:p>
          <a:p>
            <a:pPr marL="164465" marR="2302510">
              <a:lnSpc>
                <a:spcPct val="134300"/>
              </a:lnSpc>
              <a:spcBef>
                <a:spcPts val="10"/>
              </a:spcBef>
            </a:pP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しのだの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ホスピタル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ストレスケア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病棟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での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分障害患者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62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全項⽬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導⼊計画書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効果測定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患者説明⽤資料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サンプル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107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40049" y="7942343"/>
            <a:ext cx="1930400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8765" marR="5080" indent="-266700">
              <a:lnSpc>
                <a:spcPct val="134300"/>
              </a:lnSpc>
              <a:spcBef>
                <a:spcPts val="130"/>
              </a:spcBef>
            </a:pP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¥1,980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医療現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場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実践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2"/>
            <a:ext cx="7063105" cy="8686800"/>
            <a:chOff x="352425" y="352452"/>
            <a:chExt cx="7063105" cy="8686800"/>
          </a:xfrm>
        </p:grpSpPr>
        <p:sp>
          <p:nvSpPr>
            <p:cNvPr id="3" name="object 3"/>
            <p:cNvSpPr/>
            <p:nvPr/>
          </p:nvSpPr>
          <p:spPr>
            <a:xfrm>
              <a:off x="376237" y="357134"/>
              <a:ext cx="7038975" cy="8677275"/>
            </a:xfrm>
            <a:custGeom>
              <a:avLst/>
              <a:gdLst/>
              <a:ahLst/>
              <a:cxnLst/>
              <a:rect l="l" t="t" r="r" b="b"/>
              <a:pathLst>
                <a:path w="7038975" h="8677275">
                  <a:moveTo>
                    <a:pt x="6936628" y="8677198"/>
                  </a:moveTo>
                  <a:lnTo>
                    <a:pt x="84545" y="8677198"/>
                  </a:lnTo>
                  <a:lnTo>
                    <a:pt x="78661" y="8676455"/>
                  </a:lnTo>
                  <a:lnTo>
                    <a:pt x="35275" y="8654652"/>
                  </a:lnTo>
                  <a:lnTo>
                    <a:pt x="11948" y="8622429"/>
                  </a:lnTo>
                  <a:lnTo>
                    <a:pt x="579" y="8581948"/>
                  </a:lnTo>
                  <a:lnTo>
                    <a:pt x="0" y="8574880"/>
                  </a:lnTo>
                  <a:lnTo>
                    <a:pt x="0" y="85677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85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8574880"/>
                  </a:lnTo>
                  <a:lnTo>
                    <a:pt x="7027882" y="8616180"/>
                  </a:lnTo>
                  <a:lnTo>
                    <a:pt x="7001805" y="8650109"/>
                  </a:lnTo>
                  <a:lnTo>
                    <a:pt x="6964709" y="8671540"/>
                  </a:lnTo>
                  <a:lnTo>
                    <a:pt x="6943752" y="8676455"/>
                  </a:lnTo>
                  <a:lnTo>
                    <a:pt x="6936628" y="86771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8686800"/>
            </a:xfrm>
            <a:custGeom>
              <a:avLst/>
              <a:gdLst/>
              <a:ahLst/>
              <a:cxnLst/>
              <a:rect l="l" t="t" r="r" b="b"/>
              <a:pathLst>
                <a:path w="6999605" h="86868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00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23"/>
                  </a:lnTo>
                  <a:lnTo>
                    <a:pt x="26085" y="17843"/>
                  </a:lnTo>
                  <a:lnTo>
                    <a:pt x="26555" y="17487"/>
                  </a:lnTo>
                  <a:lnTo>
                    <a:pt x="32753" y="14008"/>
                  </a:lnTo>
                  <a:lnTo>
                    <a:pt x="39065" y="11506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487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8572449"/>
                  </a:lnTo>
                  <a:lnTo>
                    <a:pt x="6987819" y="8612543"/>
                  </a:lnTo>
                  <a:lnTo>
                    <a:pt x="6965112" y="8646541"/>
                  </a:lnTo>
                  <a:lnTo>
                    <a:pt x="6931126" y="8669287"/>
                  </a:lnTo>
                  <a:lnTo>
                    <a:pt x="6891020" y="8677262"/>
                  </a:lnTo>
                  <a:lnTo>
                    <a:pt x="52082" y="8677262"/>
                  </a:lnTo>
                  <a:lnTo>
                    <a:pt x="26085" y="8668944"/>
                  </a:lnTo>
                  <a:lnTo>
                    <a:pt x="0" y="8674151"/>
                  </a:lnTo>
                  <a:lnTo>
                    <a:pt x="40817" y="8686254"/>
                  </a:lnTo>
                  <a:lnTo>
                    <a:pt x="52082" y="8686787"/>
                  </a:lnTo>
                  <a:lnTo>
                    <a:pt x="6891020" y="8686787"/>
                  </a:lnTo>
                  <a:lnTo>
                    <a:pt x="6934771" y="8678088"/>
                  </a:lnTo>
                  <a:lnTo>
                    <a:pt x="6936511" y="8677262"/>
                  </a:lnTo>
                  <a:lnTo>
                    <a:pt x="6944957" y="8673274"/>
                  </a:lnTo>
                  <a:lnTo>
                    <a:pt x="6954545" y="8667547"/>
                  </a:lnTo>
                  <a:lnTo>
                    <a:pt x="6963499" y="8660892"/>
                  </a:lnTo>
                  <a:lnTo>
                    <a:pt x="6971843" y="8653310"/>
                  </a:lnTo>
                  <a:lnTo>
                    <a:pt x="6972300" y="8652815"/>
                  </a:lnTo>
                  <a:lnTo>
                    <a:pt x="6979425" y="8644928"/>
                  </a:lnTo>
                  <a:lnTo>
                    <a:pt x="6986079" y="8635962"/>
                  </a:lnTo>
                  <a:lnTo>
                    <a:pt x="6991807" y="8626386"/>
                  </a:lnTo>
                  <a:lnTo>
                    <a:pt x="6996620" y="8616188"/>
                  </a:lnTo>
                  <a:lnTo>
                    <a:pt x="6999071" y="86093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6"/>
              <a:ext cx="88900" cy="8662035"/>
            </a:xfrm>
            <a:custGeom>
              <a:avLst/>
              <a:gdLst/>
              <a:ahLst/>
              <a:cxnLst/>
              <a:rect l="l" t="t" r="r" b="b"/>
              <a:pathLst>
                <a:path w="88900" h="8662035">
                  <a:moveTo>
                    <a:pt x="62523" y="8661811"/>
                  </a:moveTo>
                  <a:lnTo>
                    <a:pt x="25900" y="8632481"/>
                  </a:lnTo>
                  <a:lnTo>
                    <a:pt x="4894" y="8593134"/>
                  </a:lnTo>
                  <a:lnTo>
                    <a:pt x="0" y="85600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560005"/>
                  </a:lnTo>
                  <a:lnTo>
                    <a:pt x="52700" y="8600100"/>
                  </a:lnTo>
                  <a:lnTo>
                    <a:pt x="72022" y="8641037"/>
                  </a:lnTo>
                  <a:lnTo>
                    <a:pt x="88529" y="8656615"/>
                  </a:lnTo>
                  <a:lnTo>
                    <a:pt x="62523" y="86618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1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6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6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5091059"/>
              <a:ext cx="6429375" cy="1400175"/>
            </a:xfrm>
            <a:custGeom>
              <a:avLst/>
              <a:gdLst/>
              <a:ahLst/>
              <a:cxnLst/>
              <a:rect l="l" t="t" r="r" b="b"/>
              <a:pathLst>
                <a:path w="6429375" h="1400175">
                  <a:moveTo>
                    <a:pt x="6362626" y="1400098"/>
                  </a:moveTo>
                  <a:lnTo>
                    <a:pt x="66746" y="1400098"/>
                  </a:lnTo>
                  <a:lnTo>
                    <a:pt x="62101" y="1399651"/>
                  </a:lnTo>
                  <a:lnTo>
                    <a:pt x="24240" y="1382467"/>
                  </a:lnTo>
                  <a:lnTo>
                    <a:pt x="2287" y="1347120"/>
                  </a:lnTo>
                  <a:lnTo>
                    <a:pt x="0" y="1333423"/>
                  </a:lnTo>
                  <a:lnTo>
                    <a:pt x="0" y="1328737"/>
                  </a:lnTo>
                  <a:lnTo>
                    <a:pt x="0" y="66751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06"/>
                  </a:lnTo>
                  <a:lnTo>
                    <a:pt x="6425731" y="48291"/>
                  </a:lnTo>
                  <a:lnTo>
                    <a:pt x="6429373" y="66751"/>
                  </a:lnTo>
                  <a:lnTo>
                    <a:pt x="6429373" y="1333423"/>
                  </a:lnTo>
                  <a:lnTo>
                    <a:pt x="6414728" y="1372266"/>
                  </a:lnTo>
                  <a:lnTo>
                    <a:pt x="6380940" y="1396450"/>
                  </a:lnTo>
                  <a:lnTo>
                    <a:pt x="6367272" y="1399651"/>
                  </a:lnTo>
                  <a:lnTo>
                    <a:pt x="6362626" y="14000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5091059"/>
              <a:ext cx="6429375" cy="1400175"/>
            </a:xfrm>
            <a:custGeom>
              <a:avLst/>
              <a:gdLst/>
              <a:ahLst/>
              <a:cxnLst/>
              <a:rect l="l" t="t" r="r" b="b"/>
              <a:pathLst>
                <a:path w="6429375" h="1400175">
                  <a:moveTo>
                    <a:pt x="0" y="13287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9433" y="35499"/>
                  </a:lnTo>
                  <a:lnTo>
                    <a:pt x="12039" y="31622"/>
                  </a:lnTo>
                  <a:lnTo>
                    <a:pt x="14645" y="27755"/>
                  </a:lnTo>
                  <a:lnTo>
                    <a:pt x="17606" y="24183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229"/>
                  </a:lnTo>
                  <a:lnTo>
                    <a:pt x="39765" y="6991"/>
                  </a:lnTo>
                  <a:lnTo>
                    <a:pt x="44099" y="5286"/>
                  </a:lnTo>
                  <a:lnTo>
                    <a:pt x="48433" y="3571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80940" y="3571"/>
                  </a:lnTo>
                  <a:lnTo>
                    <a:pt x="6385274" y="5286"/>
                  </a:lnTo>
                  <a:lnTo>
                    <a:pt x="6389607" y="6991"/>
                  </a:lnTo>
                  <a:lnTo>
                    <a:pt x="6393724" y="9229"/>
                  </a:lnTo>
                  <a:lnTo>
                    <a:pt x="6397624" y="11906"/>
                  </a:lnTo>
                  <a:lnTo>
                    <a:pt x="6401525" y="14506"/>
                  </a:lnTo>
                  <a:lnTo>
                    <a:pt x="6405133" y="17487"/>
                  </a:lnTo>
                  <a:lnTo>
                    <a:pt x="6408450" y="20840"/>
                  </a:lnTo>
                  <a:lnTo>
                    <a:pt x="6411767" y="24183"/>
                  </a:lnTo>
                  <a:lnTo>
                    <a:pt x="6414728" y="27755"/>
                  </a:lnTo>
                  <a:lnTo>
                    <a:pt x="6417334" y="31699"/>
                  </a:lnTo>
                  <a:lnTo>
                    <a:pt x="6419940" y="35499"/>
                  </a:lnTo>
                  <a:lnTo>
                    <a:pt x="6422141" y="39585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7086" y="52758"/>
                  </a:lnTo>
                  <a:lnTo>
                    <a:pt x="6428001" y="57445"/>
                  </a:lnTo>
                  <a:lnTo>
                    <a:pt x="6428916" y="62064"/>
                  </a:lnTo>
                  <a:lnTo>
                    <a:pt x="6429373" y="66751"/>
                  </a:lnTo>
                  <a:lnTo>
                    <a:pt x="6429374" y="71437"/>
                  </a:lnTo>
                  <a:lnTo>
                    <a:pt x="6429374" y="1328737"/>
                  </a:lnTo>
                  <a:lnTo>
                    <a:pt x="6417334" y="1368323"/>
                  </a:lnTo>
                  <a:lnTo>
                    <a:pt x="6414728" y="1372266"/>
                  </a:lnTo>
                  <a:lnTo>
                    <a:pt x="6380940" y="1396450"/>
                  </a:lnTo>
                  <a:lnTo>
                    <a:pt x="6371872" y="1398688"/>
                  </a:lnTo>
                  <a:lnTo>
                    <a:pt x="6367272" y="1399651"/>
                  </a:lnTo>
                  <a:lnTo>
                    <a:pt x="6362626" y="1400098"/>
                  </a:lnTo>
                  <a:lnTo>
                    <a:pt x="6357937" y="1400174"/>
                  </a:lnTo>
                  <a:lnTo>
                    <a:pt x="71437" y="1400174"/>
                  </a:lnTo>
                  <a:lnTo>
                    <a:pt x="66746" y="1400098"/>
                  </a:lnTo>
                  <a:lnTo>
                    <a:pt x="62101" y="1399651"/>
                  </a:lnTo>
                  <a:lnTo>
                    <a:pt x="57500" y="1398688"/>
                  </a:lnTo>
                  <a:lnTo>
                    <a:pt x="52900" y="1397793"/>
                  </a:lnTo>
                  <a:lnTo>
                    <a:pt x="17606" y="1375838"/>
                  </a:lnTo>
                  <a:lnTo>
                    <a:pt x="1372" y="1342577"/>
                  </a:lnTo>
                  <a:lnTo>
                    <a:pt x="457" y="1338043"/>
                  </a:lnTo>
                  <a:lnTo>
                    <a:pt x="0" y="1333423"/>
                  </a:lnTo>
                  <a:lnTo>
                    <a:pt x="0" y="13287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686496"/>
              <a:ext cx="28575" cy="295275"/>
            </a:xfrm>
            <a:custGeom>
              <a:avLst/>
              <a:gdLst/>
              <a:ahLst/>
              <a:cxnLst/>
              <a:rect l="l" t="t" r="r" b="b"/>
              <a:pathLst>
                <a:path w="28575" h="295275">
                  <a:moveTo>
                    <a:pt x="2857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5274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820012"/>
              <a:ext cx="6438899" cy="9239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650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7063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66"/>
                  </a:lnTo>
                  <a:lnTo>
                    <a:pt x="377126" y="329285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04"/>
                  </a:lnTo>
                  <a:lnTo>
                    <a:pt x="1170393" y="109626"/>
                  </a:lnTo>
                  <a:lnTo>
                    <a:pt x="1146225" y="75311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888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204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645"/>
                  </a:lnTo>
                  <a:lnTo>
                    <a:pt x="607199" y="337464"/>
                  </a:lnTo>
                  <a:lnTo>
                    <a:pt x="645566" y="354469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04"/>
                  </a:lnTo>
                  <a:lnTo>
                    <a:pt x="1099997" y="341579"/>
                  </a:lnTo>
                  <a:lnTo>
                    <a:pt x="1134313" y="317461"/>
                  </a:lnTo>
                  <a:lnTo>
                    <a:pt x="1161732" y="285597"/>
                  </a:lnTo>
                  <a:lnTo>
                    <a:pt x="1180617" y="248158"/>
                  </a:lnTo>
                  <a:lnTo>
                    <a:pt x="1189812" y="207289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238875" cy="6888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6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360" dirty="0">
                <a:solidFill>
                  <a:srgbClr val="333333"/>
                </a:solidFill>
                <a:latin typeface="BIZ UDPゴシック"/>
                <a:cs typeface="BIZ UDPゴシック"/>
              </a:rPr>
              <a:t>【企業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オフィス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750" b="1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のためのサウンドデザイン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従業員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のストレス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軽減、⽣産性向上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のために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オフィスの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⾳環境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するための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具体的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</a:t>
            </a:r>
            <a:r>
              <a:rPr sz="1400" i="1" spc="-220" dirty="0">
                <a:solidFill>
                  <a:srgbClr val="333333"/>
                </a:solidFill>
                <a:latin typeface="Comic Sans MS"/>
                <a:cs typeface="Comic Sans MS"/>
              </a:rPr>
              <a:t>ROI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え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⽅。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322954">
              <a:lnSpc>
                <a:spcPct val="129600"/>
              </a:lnSpc>
              <a:spcBef>
                <a:spcPts val="880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オフィスの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問題点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⾃然⾳導⼊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のメリットと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300">
              <a:latin typeface="メイリオ"/>
              <a:cs typeface="メイリオ"/>
            </a:endParaRPr>
          </a:p>
          <a:p>
            <a:pPr marL="12700" marR="2569845">
              <a:lnSpc>
                <a:spcPct val="134300"/>
              </a:lnSpc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導⼊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ステップ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材選定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から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運⽤</a:t>
            </a:r>
            <a:r>
              <a:rPr sz="1350" spc="-760" dirty="0">
                <a:solidFill>
                  <a:srgbClr val="333333"/>
                </a:solidFill>
                <a:latin typeface="SimSun"/>
                <a:cs typeface="SimSun"/>
              </a:rPr>
              <a:t>まで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545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効果測定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300">
              <a:latin typeface="メイリオ"/>
              <a:cs typeface="メイリオ"/>
            </a:endParaRPr>
          </a:p>
          <a:p>
            <a:pPr marL="12700" marR="3932554">
              <a:lnSpc>
                <a:spcPct val="134300"/>
              </a:lnSpc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社内提案書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導⼊事例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成果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期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待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される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効</a:t>
            </a:r>
            <a:r>
              <a:rPr sz="1300" b="1" spc="-5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議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20%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短縮</a:t>
            </a:r>
            <a:endParaRPr sz="1300">
              <a:latin typeface="メイリオ"/>
              <a:cs typeface="メイリオ"/>
            </a:endParaRPr>
          </a:p>
          <a:p>
            <a:pPr marR="4385310" algn="ctr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従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業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員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60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創造性向上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R="4376420" algn="ctr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社内提案書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31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Comic Sans MS"/>
                <a:cs typeface="Comic Sans MS"/>
              </a:rPr>
              <a:t>ROI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計算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108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08362" y="7942343"/>
            <a:ext cx="179387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7020" marR="5080" indent="-274955">
              <a:lnSpc>
                <a:spcPct val="1343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企業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健康経営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3"/>
            <a:ext cx="7063105" cy="7848600"/>
            <a:chOff x="352425" y="352453"/>
            <a:chExt cx="7063105" cy="7848600"/>
          </a:xfrm>
        </p:grpSpPr>
        <p:sp>
          <p:nvSpPr>
            <p:cNvPr id="3" name="object 3"/>
            <p:cNvSpPr/>
            <p:nvPr/>
          </p:nvSpPr>
          <p:spPr>
            <a:xfrm>
              <a:off x="376237" y="357134"/>
              <a:ext cx="7038975" cy="7839075"/>
            </a:xfrm>
            <a:custGeom>
              <a:avLst/>
              <a:gdLst/>
              <a:ahLst/>
              <a:cxnLst/>
              <a:rect l="l" t="t" r="r" b="b"/>
              <a:pathLst>
                <a:path w="7038975" h="7839075">
                  <a:moveTo>
                    <a:pt x="6936628" y="7839074"/>
                  </a:moveTo>
                  <a:lnTo>
                    <a:pt x="84545" y="7839074"/>
                  </a:lnTo>
                  <a:lnTo>
                    <a:pt x="78661" y="7838407"/>
                  </a:lnTo>
                  <a:lnTo>
                    <a:pt x="35275" y="7816528"/>
                  </a:lnTo>
                  <a:lnTo>
                    <a:pt x="11948" y="7784229"/>
                  </a:lnTo>
                  <a:lnTo>
                    <a:pt x="579" y="7743824"/>
                  </a:lnTo>
                  <a:lnTo>
                    <a:pt x="0" y="7736756"/>
                  </a:lnTo>
                  <a:lnTo>
                    <a:pt x="0" y="772953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736756"/>
                  </a:lnTo>
                  <a:lnTo>
                    <a:pt x="7027882" y="7777981"/>
                  </a:lnTo>
                  <a:lnTo>
                    <a:pt x="7001805" y="7811985"/>
                  </a:lnTo>
                  <a:lnTo>
                    <a:pt x="6964709" y="7833340"/>
                  </a:lnTo>
                  <a:lnTo>
                    <a:pt x="6943752" y="7838331"/>
                  </a:lnTo>
                  <a:lnTo>
                    <a:pt x="6936628" y="7839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848600"/>
            </a:xfrm>
            <a:custGeom>
              <a:avLst/>
              <a:gdLst/>
              <a:ahLst/>
              <a:cxnLst/>
              <a:rect l="l" t="t" r="r" b="b"/>
              <a:pathLst>
                <a:path w="6999605" h="78486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7734249"/>
                  </a:lnTo>
                  <a:lnTo>
                    <a:pt x="6987819" y="7774343"/>
                  </a:lnTo>
                  <a:lnTo>
                    <a:pt x="6965112" y="7808341"/>
                  </a:lnTo>
                  <a:lnTo>
                    <a:pt x="6931126" y="7831099"/>
                  </a:lnTo>
                  <a:lnTo>
                    <a:pt x="6891020" y="7839075"/>
                  </a:lnTo>
                  <a:lnTo>
                    <a:pt x="52082" y="7839075"/>
                  </a:lnTo>
                  <a:lnTo>
                    <a:pt x="26085" y="7830744"/>
                  </a:lnTo>
                  <a:lnTo>
                    <a:pt x="0" y="7835963"/>
                  </a:lnTo>
                  <a:lnTo>
                    <a:pt x="40817" y="7848054"/>
                  </a:lnTo>
                  <a:lnTo>
                    <a:pt x="52082" y="7848600"/>
                  </a:lnTo>
                  <a:lnTo>
                    <a:pt x="6891020" y="7848600"/>
                  </a:lnTo>
                  <a:lnTo>
                    <a:pt x="6934771" y="7839888"/>
                  </a:lnTo>
                  <a:lnTo>
                    <a:pt x="6971843" y="7815110"/>
                  </a:lnTo>
                  <a:lnTo>
                    <a:pt x="6972300" y="7814615"/>
                  </a:lnTo>
                  <a:lnTo>
                    <a:pt x="6979425" y="7806728"/>
                  </a:lnTo>
                  <a:lnTo>
                    <a:pt x="6986079" y="7797762"/>
                  </a:lnTo>
                  <a:lnTo>
                    <a:pt x="6991807" y="7788186"/>
                  </a:lnTo>
                  <a:lnTo>
                    <a:pt x="6996620" y="7777988"/>
                  </a:lnTo>
                  <a:lnTo>
                    <a:pt x="6999071" y="77711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6"/>
              <a:ext cx="88900" cy="7823834"/>
            </a:xfrm>
            <a:custGeom>
              <a:avLst/>
              <a:gdLst/>
              <a:ahLst/>
              <a:cxnLst/>
              <a:rect l="l" t="t" r="r" b="b"/>
              <a:pathLst>
                <a:path w="88900" h="7823834">
                  <a:moveTo>
                    <a:pt x="62524" y="7823611"/>
                  </a:moveTo>
                  <a:lnTo>
                    <a:pt x="25900" y="7794281"/>
                  </a:lnTo>
                  <a:lnTo>
                    <a:pt x="4894" y="7754934"/>
                  </a:lnTo>
                  <a:lnTo>
                    <a:pt x="0" y="77218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721805"/>
                  </a:lnTo>
                  <a:lnTo>
                    <a:pt x="52700" y="7761900"/>
                  </a:lnTo>
                  <a:lnTo>
                    <a:pt x="72022" y="7802838"/>
                  </a:lnTo>
                  <a:lnTo>
                    <a:pt x="88529" y="7818415"/>
                  </a:lnTo>
                  <a:lnTo>
                    <a:pt x="62524" y="78236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1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6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14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14"/>
                  </a:lnTo>
                  <a:lnTo>
                    <a:pt x="6423277" y="808510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6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086296"/>
              <a:ext cx="6438900" cy="561975"/>
            </a:xfrm>
            <a:custGeom>
              <a:avLst/>
              <a:gdLst/>
              <a:ahLst/>
              <a:cxnLst/>
              <a:rect l="l" t="t" r="r" b="b"/>
              <a:pathLst>
                <a:path w="6438900" h="561975">
                  <a:moveTo>
                    <a:pt x="6438899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5619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086298"/>
              <a:ext cx="38100" cy="1057275"/>
            </a:xfrm>
            <a:custGeom>
              <a:avLst/>
              <a:gdLst/>
              <a:ahLst/>
              <a:cxnLst/>
              <a:rect l="l" t="t" r="r" b="b"/>
              <a:pathLst>
                <a:path w="38100" h="1057275">
                  <a:moveTo>
                    <a:pt x="28575" y="752475"/>
                  </a:moveTo>
                  <a:lnTo>
                    <a:pt x="0" y="752475"/>
                  </a:lnTo>
                  <a:lnTo>
                    <a:pt x="0" y="1057275"/>
                  </a:lnTo>
                  <a:lnTo>
                    <a:pt x="28575" y="1057275"/>
                  </a:lnTo>
                  <a:lnTo>
                    <a:pt x="28575" y="752475"/>
                  </a:lnTo>
                  <a:close/>
                </a:path>
                <a:path w="38100" h="1057275">
                  <a:moveTo>
                    <a:pt x="38100" y="0"/>
                  </a:moveTo>
                  <a:lnTo>
                    <a:pt x="0" y="0"/>
                  </a:lnTo>
                  <a:lnTo>
                    <a:pt x="0" y="561975"/>
                  </a:lnTo>
                  <a:lnTo>
                    <a:pt x="38100" y="5619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981813"/>
              <a:ext cx="6438899" cy="923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343025" cy="381000"/>
            </a:xfrm>
            <a:custGeom>
              <a:avLst/>
              <a:gdLst/>
              <a:ahLst/>
              <a:cxnLst/>
              <a:rect l="l" t="t" r="r" b="b"/>
              <a:pathLst>
                <a:path w="134302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7063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85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343025" h="381000">
                  <a:moveTo>
                    <a:pt x="1343025" y="190500"/>
                  </a:moveTo>
                  <a:lnTo>
                    <a:pt x="1337894" y="148767"/>
                  </a:lnTo>
                  <a:lnTo>
                    <a:pt x="1322793" y="109562"/>
                  </a:lnTo>
                  <a:lnTo>
                    <a:pt x="1298625" y="75311"/>
                  </a:lnTo>
                  <a:lnTo>
                    <a:pt x="1266837" y="47777"/>
                  </a:lnTo>
                  <a:lnTo>
                    <a:pt x="1229334" y="28994"/>
                  </a:lnTo>
                  <a:lnTo>
                    <a:pt x="1188389" y="19875"/>
                  </a:lnTo>
                  <a:lnTo>
                    <a:pt x="117157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79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562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31"/>
                  </a:lnTo>
                  <a:lnTo>
                    <a:pt x="548271" y="278472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482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171575" y="361950"/>
                  </a:lnTo>
                  <a:lnTo>
                    <a:pt x="1213256" y="356692"/>
                  </a:lnTo>
                  <a:lnTo>
                    <a:pt x="1252397" y="341566"/>
                  </a:lnTo>
                  <a:lnTo>
                    <a:pt x="1286713" y="317461"/>
                  </a:lnTo>
                  <a:lnTo>
                    <a:pt x="1314132" y="285597"/>
                  </a:lnTo>
                  <a:lnTo>
                    <a:pt x="1333017" y="248119"/>
                  </a:lnTo>
                  <a:lnTo>
                    <a:pt x="1342212" y="207251"/>
                  </a:lnTo>
                  <a:lnTo>
                    <a:pt x="13430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6049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45224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7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omic Sans MS"/>
                <a:cs typeface="Comic Sans MS"/>
              </a:rPr>
              <a:t>¥1,180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⻭科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医院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患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者</a:t>
            </a:r>
            <a:r>
              <a:rPr sz="1750" b="1" spc="-95" dirty="0">
                <a:solidFill>
                  <a:srgbClr val="333333"/>
                </a:solidFill>
                <a:latin typeface="BIZ UDPゴシック"/>
                <a:cs typeface="BIZ UDPゴシック"/>
              </a:rPr>
              <a:t>のストレスを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する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設計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55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「⻭医者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」</a:t>
            </a:r>
            <a:r>
              <a:rPr sz="1400" i="1" spc="-245" dirty="0">
                <a:solidFill>
                  <a:srgbClr val="333333"/>
                </a:solidFill>
                <a:latin typeface="メイリオ"/>
                <a:cs typeface="メイリオ"/>
              </a:rPr>
              <a:t>をなくす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。⻭科治療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不安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、患者満⾜度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める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⾳環境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り</a:t>
            </a:r>
            <a:endParaRPr sz="140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  <a:spcBef>
                <a:spcPts val="495"/>
              </a:spcBef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⽅。導⼊事例付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688715">
              <a:lnSpc>
                <a:spcPct val="133300"/>
              </a:lnSpc>
              <a:spcBef>
                <a:spcPts val="819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⻭科治療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における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問題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導⼊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具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体的⽅法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スタッフへの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影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対策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コスト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計算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投資回収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導⼊事例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河野⻭科医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院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93040">
              <a:lnSpc>
                <a:spcPct val="1000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⻭医者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さんの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怖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いイメ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ジが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わった</a:t>
            </a:r>
            <a:r>
              <a:rPr sz="1300" spc="790" dirty="0">
                <a:solidFill>
                  <a:srgbClr val="333333"/>
                </a:solidFill>
                <a:latin typeface="BIZ UDPゴシック"/>
                <a:cs typeface="BIZ UDPゴシック"/>
              </a:rPr>
              <a:t>」「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リラックスして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治療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けられる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50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患 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導⼊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チェックリスト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患者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アンケ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109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40049" y="7113856"/>
            <a:ext cx="1930400" cy="5632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marR="5080" indent="-342900">
              <a:lnSpc>
                <a:spcPct val="129600"/>
              </a:lnSpc>
              <a:spcBef>
                <a:spcPts val="130"/>
              </a:spcBef>
            </a:pPr>
            <a:r>
              <a:rPr sz="1350" dirty="0">
                <a:solidFill>
                  <a:srgbClr val="FFFFFF"/>
                </a:solidFill>
                <a:latin typeface="Comic Sans MS"/>
                <a:cs typeface="Comic Sans MS"/>
              </a:rPr>
              <a:t>¥1,180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患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者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満⾜度向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上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4"/>
            <a:ext cx="7063105" cy="8420100"/>
            <a:chOff x="352425" y="352454"/>
            <a:chExt cx="7063105" cy="8420100"/>
          </a:xfrm>
        </p:grpSpPr>
        <p:sp>
          <p:nvSpPr>
            <p:cNvPr id="3" name="object 3"/>
            <p:cNvSpPr/>
            <p:nvPr/>
          </p:nvSpPr>
          <p:spPr>
            <a:xfrm>
              <a:off x="376237" y="357133"/>
              <a:ext cx="7038975" cy="8410575"/>
            </a:xfrm>
            <a:custGeom>
              <a:avLst/>
              <a:gdLst/>
              <a:ahLst/>
              <a:cxnLst/>
              <a:rect l="l" t="t" r="r" b="b"/>
              <a:pathLst>
                <a:path w="7038975" h="8410575">
                  <a:moveTo>
                    <a:pt x="6936628" y="8410498"/>
                  </a:moveTo>
                  <a:lnTo>
                    <a:pt x="84545" y="8410498"/>
                  </a:lnTo>
                  <a:lnTo>
                    <a:pt x="78661" y="8409831"/>
                  </a:lnTo>
                  <a:lnTo>
                    <a:pt x="35275" y="8388104"/>
                  </a:lnTo>
                  <a:lnTo>
                    <a:pt x="11948" y="8355805"/>
                  </a:lnTo>
                  <a:lnTo>
                    <a:pt x="579" y="8315324"/>
                  </a:lnTo>
                  <a:lnTo>
                    <a:pt x="0" y="8308256"/>
                  </a:lnTo>
                  <a:lnTo>
                    <a:pt x="0" y="83010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7012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204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308256"/>
                  </a:lnTo>
                  <a:lnTo>
                    <a:pt x="7027882" y="8349480"/>
                  </a:lnTo>
                  <a:lnTo>
                    <a:pt x="7001805" y="8383561"/>
                  </a:lnTo>
                  <a:lnTo>
                    <a:pt x="6964709" y="8404916"/>
                  </a:lnTo>
                  <a:lnTo>
                    <a:pt x="6943752" y="8409831"/>
                  </a:lnTo>
                  <a:lnTo>
                    <a:pt x="6936628" y="8410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8420100"/>
            </a:xfrm>
            <a:custGeom>
              <a:avLst/>
              <a:gdLst/>
              <a:ahLst/>
              <a:cxnLst/>
              <a:rect l="l" t="t" r="r" b="b"/>
              <a:pathLst>
                <a:path w="6999605" h="8420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8305749"/>
                  </a:lnTo>
                  <a:lnTo>
                    <a:pt x="6987819" y="8345843"/>
                  </a:lnTo>
                  <a:lnTo>
                    <a:pt x="6965112" y="8379841"/>
                  </a:lnTo>
                  <a:lnTo>
                    <a:pt x="6931126" y="8402599"/>
                  </a:lnTo>
                  <a:lnTo>
                    <a:pt x="6891020" y="8410575"/>
                  </a:lnTo>
                  <a:lnTo>
                    <a:pt x="52082" y="8410575"/>
                  </a:lnTo>
                  <a:lnTo>
                    <a:pt x="26085" y="8402244"/>
                  </a:lnTo>
                  <a:lnTo>
                    <a:pt x="0" y="8407463"/>
                  </a:lnTo>
                  <a:lnTo>
                    <a:pt x="40817" y="8419554"/>
                  </a:lnTo>
                  <a:lnTo>
                    <a:pt x="52082" y="8420100"/>
                  </a:lnTo>
                  <a:lnTo>
                    <a:pt x="6891020" y="8420100"/>
                  </a:lnTo>
                  <a:lnTo>
                    <a:pt x="6934771" y="8411388"/>
                  </a:lnTo>
                  <a:lnTo>
                    <a:pt x="6971843" y="8386623"/>
                  </a:lnTo>
                  <a:lnTo>
                    <a:pt x="6972300" y="8386115"/>
                  </a:lnTo>
                  <a:lnTo>
                    <a:pt x="6979425" y="8378228"/>
                  </a:lnTo>
                  <a:lnTo>
                    <a:pt x="6986079" y="8369262"/>
                  </a:lnTo>
                  <a:lnTo>
                    <a:pt x="6991807" y="8359686"/>
                  </a:lnTo>
                  <a:lnTo>
                    <a:pt x="6996620" y="8349488"/>
                  </a:lnTo>
                  <a:lnTo>
                    <a:pt x="6999071" y="8342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7"/>
              <a:ext cx="88900" cy="8395335"/>
            </a:xfrm>
            <a:custGeom>
              <a:avLst/>
              <a:gdLst/>
              <a:ahLst/>
              <a:cxnLst/>
              <a:rect l="l" t="t" r="r" b="b"/>
              <a:pathLst>
                <a:path w="88900" h="8395335">
                  <a:moveTo>
                    <a:pt x="62524" y="8395111"/>
                  </a:moveTo>
                  <a:lnTo>
                    <a:pt x="25900" y="8365781"/>
                  </a:lnTo>
                  <a:lnTo>
                    <a:pt x="4894" y="8326435"/>
                  </a:lnTo>
                  <a:lnTo>
                    <a:pt x="0" y="8293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293305"/>
                  </a:lnTo>
                  <a:lnTo>
                    <a:pt x="52700" y="8333400"/>
                  </a:lnTo>
                  <a:lnTo>
                    <a:pt x="72022" y="8374337"/>
                  </a:lnTo>
                  <a:lnTo>
                    <a:pt x="88529" y="8389915"/>
                  </a:lnTo>
                  <a:lnTo>
                    <a:pt x="62524" y="8395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1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6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6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5091134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6362626" y="1123797"/>
                  </a:moveTo>
                  <a:lnTo>
                    <a:pt x="66746" y="1123797"/>
                  </a:lnTo>
                  <a:lnTo>
                    <a:pt x="62101" y="1123349"/>
                  </a:lnTo>
                  <a:lnTo>
                    <a:pt x="24240" y="1106166"/>
                  </a:lnTo>
                  <a:lnTo>
                    <a:pt x="2287" y="1070743"/>
                  </a:lnTo>
                  <a:lnTo>
                    <a:pt x="0" y="1057046"/>
                  </a:lnTo>
                  <a:lnTo>
                    <a:pt x="0" y="1052436"/>
                  </a:lnTo>
                  <a:lnTo>
                    <a:pt x="0" y="66674"/>
                  </a:lnTo>
                  <a:lnTo>
                    <a:pt x="14645" y="27603"/>
                  </a:lnTo>
                  <a:lnTo>
                    <a:pt x="48433" y="3495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430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057046"/>
                  </a:lnTo>
                  <a:lnTo>
                    <a:pt x="6414728" y="1095898"/>
                  </a:lnTo>
                  <a:lnTo>
                    <a:pt x="6380940" y="1120082"/>
                  </a:lnTo>
                  <a:lnTo>
                    <a:pt x="6367272" y="1123349"/>
                  </a:lnTo>
                  <a:lnTo>
                    <a:pt x="6362626" y="1123797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5091058"/>
              <a:ext cx="6429375" cy="1123950"/>
            </a:xfrm>
            <a:custGeom>
              <a:avLst/>
              <a:gdLst/>
              <a:ahLst/>
              <a:cxnLst/>
              <a:rect l="l" t="t" r="r" b="b"/>
              <a:pathLst>
                <a:path w="6429375" h="1123950">
                  <a:moveTo>
                    <a:pt x="0" y="1052512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2039" y="31622"/>
                  </a:lnTo>
                  <a:lnTo>
                    <a:pt x="14645" y="27679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305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76"/>
                  </a:lnTo>
                  <a:lnTo>
                    <a:pt x="6367272" y="523"/>
                  </a:lnTo>
                  <a:lnTo>
                    <a:pt x="6371872" y="1409"/>
                  </a:lnTo>
                  <a:lnTo>
                    <a:pt x="6376473" y="2228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499"/>
                  </a:lnTo>
                  <a:lnTo>
                    <a:pt x="6429374" y="71437"/>
                  </a:lnTo>
                  <a:lnTo>
                    <a:pt x="6429374" y="1052512"/>
                  </a:lnTo>
                  <a:lnTo>
                    <a:pt x="6429373" y="1057122"/>
                  </a:lnTo>
                  <a:lnTo>
                    <a:pt x="6428916" y="1061742"/>
                  </a:lnTo>
                  <a:lnTo>
                    <a:pt x="6428001" y="1066276"/>
                  </a:lnTo>
                  <a:lnTo>
                    <a:pt x="6427086" y="1070819"/>
                  </a:lnTo>
                  <a:lnTo>
                    <a:pt x="6405133" y="1106242"/>
                  </a:lnTo>
                  <a:lnTo>
                    <a:pt x="6385274" y="1118368"/>
                  </a:lnTo>
                  <a:lnTo>
                    <a:pt x="6380940" y="1120158"/>
                  </a:lnTo>
                  <a:lnTo>
                    <a:pt x="6357937" y="1123949"/>
                  </a:lnTo>
                  <a:lnTo>
                    <a:pt x="71437" y="1123949"/>
                  </a:lnTo>
                  <a:lnTo>
                    <a:pt x="44099" y="1118368"/>
                  </a:lnTo>
                  <a:lnTo>
                    <a:pt x="39765" y="1116587"/>
                  </a:lnTo>
                  <a:lnTo>
                    <a:pt x="12039" y="1092022"/>
                  </a:lnTo>
                  <a:lnTo>
                    <a:pt x="9433" y="1088154"/>
                  </a:lnTo>
                  <a:lnTo>
                    <a:pt x="1372" y="1066276"/>
                  </a:lnTo>
                  <a:lnTo>
                    <a:pt x="457" y="1061742"/>
                  </a:lnTo>
                  <a:lnTo>
                    <a:pt x="0" y="1057122"/>
                  </a:lnTo>
                  <a:lnTo>
                    <a:pt x="0" y="105251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6410270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543788"/>
              <a:ext cx="6438899" cy="9334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692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55"/>
                  </a:lnTo>
                  <a:lnTo>
                    <a:pt x="51663" y="377063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14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550"/>
                  </a:lnTo>
                  <a:lnTo>
                    <a:pt x="1146225" y="75260"/>
                  </a:lnTo>
                  <a:lnTo>
                    <a:pt x="1114437" y="47840"/>
                  </a:lnTo>
                  <a:lnTo>
                    <a:pt x="1076934" y="28994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41"/>
                  </a:lnTo>
                  <a:lnTo>
                    <a:pt x="580199" y="63347"/>
                  </a:lnTo>
                  <a:lnTo>
                    <a:pt x="552780" y="95034"/>
                  </a:lnTo>
                  <a:lnTo>
                    <a:pt x="533895" y="132588"/>
                  </a:lnTo>
                  <a:lnTo>
                    <a:pt x="524700" y="17364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207"/>
                  </a:lnTo>
                  <a:lnTo>
                    <a:pt x="548271" y="278549"/>
                  </a:lnTo>
                  <a:lnTo>
                    <a:pt x="574103" y="311721"/>
                  </a:lnTo>
                  <a:lnTo>
                    <a:pt x="607199" y="337439"/>
                  </a:lnTo>
                  <a:lnTo>
                    <a:pt x="645566" y="354469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04"/>
                  </a:lnTo>
                  <a:lnTo>
                    <a:pt x="1099997" y="341591"/>
                  </a:lnTo>
                  <a:lnTo>
                    <a:pt x="1134313" y="317525"/>
                  </a:lnTo>
                  <a:lnTo>
                    <a:pt x="1161732" y="285673"/>
                  </a:lnTo>
                  <a:lnTo>
                    <a:pt x="1180617" y="248119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99" y="703800"/>
            <a:ext cx="6264275" cy="6610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8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¥980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介護施設向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⾼齢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者</a:t>
            </a:r>
            <a:r>
              <a:rPr sz="1750" b="1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ケアのためのサウンドヒ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</a:t>
            </a:r>
            <a:r>
              <a:rPr sz="1700" b="1" spc="-370" dirty="0">
                <a:solidFill>
                  <a:srgbClr val="333333"/>
                </a:solidFill>
                <a:latin typeface="メイリオ"/>
                <a:cs typeface="メイリオ"/>
              </a:rPr>
              <a:t>活⽤法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⾼齢者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不穏、睡眠障害、認知症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ケアに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。介護現場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⾃然⾳・体感⾳響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180" dirty="0">
                <a:solidFill>
                  <a:srgbClr val="333333"/>
                </a:solidFill>
                <a:latin typeface="メイリオ"/>
                <a:cs typeface="メイリオ"/>
              </a:rPr>
              <a:t>するための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ガイド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1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⾼齢者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endParaRPr sz="1300">
              <a:latin typeface="メイリオ"/>
              <a:cs typeface="メイリオ"/>
            </a:endParaRPr>
          </a:p>
          <a:p>
            <a:pPr marL="12700" marR="3354704">
              <a:lnSpc>
                <a:spcPts val="2180"/>
              </a:lnSpc>
              <a:spcBef>
                <a:spcPts val="85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待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される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とエビデン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ス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⽇常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ケアへの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導⼊⽅法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レクリエ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ションへの</a:t>
            </a:r>
            <a:r>
              <a:rPr sz="1300" spc="-145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終末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ケアでの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スタッフのケアにも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120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研究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福祉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300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13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</a:t>
            </a:r>
            <a:r>
              <a:rPr sz="1350" spc="90" dirty="0">
                <a:solidFill>
                  <a:srgbClr val="333333"/>
                </a:solidFill>
                <a:latin typeface="Comic Sans MS"/>
                <a:cs typeface="Comic Sans MS"/>
              </a:rPr>
              <a:t>×15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⾃然⾳聴取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値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低下</a:t>
            </a:r>
            <a:r>
              <a:rPr sz="130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60" dirty="0">
                <a:solidFill>
                  <a:srgbClr val="333333"/>
                </a:solidFill>
                <a:latin typeface="Comic Sans MS"/>
                <a:cs typeface="Comic Sans MS"/>
              </a:rPr>
              <a:t>p&lt;0.05</a:t>
            </a:r>
            <a:r>
              <a:rPr sz="130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ケア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レクリエ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ション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画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サンプル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110</a:t>
            </a:fld>
            <a:r>
              <a:rPr spc="-10" dirty="0"/>
              <a:t>/135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08362" y="7666117"/>
            <a:ext cx="179387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63220" marR="5080" indent="-351155">
              <a:lnSpc>
                <a:spcPct val="1343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¥980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介護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質向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上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5"/>
            <a:ext cx="7063105" cy="8477250"/>
            <a:chOff x="352425" y="352455"/>
            <a:chExt cx="7063105" cy="8477250"/>
          </a:xfrm>
        </p:grpSpPr>
        <p:sp>
          <p:nvSpPr>
            <p:cNvPr id="3" name="object 3"/>
            <p:cNvSpPr/>
            <p:nvPr/>
          </p:nvSpPr>
          <p:spPr>
            <a:xfrm>
              <a:off x="376237" y="357133"/>
              <a:ext cx="7038975" cy="8467725"/>
            </a:xfrm>
            <a:custGeom>
              <a:avLst/>
              <a:gdLst/>
              <a:ahLst/>
              <a:cxnLst/>
              <a:rect l="l" t="t" r="r" b="b"/>
              <a:pathLst>
                <a:path w="7038975" h="8467725">
                  <a:moveTo>
                    <a:pt x="6936628" y="8467648"/>
                  </a:moveTo>
                  <a:lnTo>
                    <a:pt x="84545" y="8467648"/>
                  </a:lnTo>
                  <a:lnTo>
                    <a:pt x="78661" y="8466905"/>
                  </a:lnTo>
                  <a:lnTo>
                    <a:pt x="35275" y="8445254"/>
                  </a:lnTo>
                  <a:lnTo>
                    <a:pt x="11948" y="8413031"/>
                  </a:lnTo>
                  <a:lnTo>
                    <a:pt x="579" y="8372398"/>
                  </a:lnTo>
                  <a:lnTo>
                    <a:pt x="0" y="8365330"/>
                  </a:lnTo>
                  <a:lnTo>
                    <a:pt x="0" y="835818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8365330"/>
                  </a:lnTo>
                  <a:lnTo>
                    <a:pt x="7027882" y="8406707"/>
                  </a:lnTo>
                  <a:lnTo>
                    <a:pt x="7001805" y="8440711"/>
                  </a:lnTo>
                  <a:lnTo>
                    <a:pt x="6964709" y="8462066"/>
                  </a:lnTo>
                  <a:lnTo>
                    <a:pt x="6943752" y="8466905"/>
                  </a:lnTo>
                  <a:lnTo>
                    <a:pt x="6936628" y="84676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8477250"/>
            </a:xfrm>
            <a:custGeom>
              <a:avLst/>
              <a:gdLst/>
              <a:ahLst/>
              <a:cxnLst/>
              <a:rect l="l" t="t" r="r" b="b"/>
              <a:pathLst>
                <a:path w="6999605" h="847725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61"/>
                  </a:lnTo>
                  <a:lnTo>
                    <a:pt x="6995795" y="8362899"/>
                  </a:lnTo>
                  <a:lnTo>
                    <a:pt x="6987819" y="8403006"/>
                  </a:lnTo>
                  <a:lnTo>
                    <a:pt x="6965112" y="8436991"/>
                  </a:lnTo>
                  <a:lnTo>
                    <a:pt x="6931126" y="8459749"/>
                  </a:lnTo>
                  <a:lnTo>
                    <a:pt x="6891020" y="8467725"/>
                  </a:lnTo>
                  <a:lnTo>
                    <a:pt x="52082" y="8467725"/>
                  </a:lnTo>
                  <a:lnTo>
                    <a:pt x="26085" y="8459394"/>
                  </a:lnTo>
                  <a:lnTo>
                    <a:pt x="0" y="8464613"/>
                  </a:lnTo>
                  <a:lnTo>
                    <a:pt x="40817" y="8476704"/>
                  </a:lnTo>
                  <a:lnTo>
                    <a:pt x="52082" y="8477250"/>
                  </a:lnTo>
                  <a:lnTo>
                    <a:pt x="6891020" y="8477250"/>
                  </a:lnTo>
                  <a:lnTo>
                    <a:pt x="6934771" y="8468550"/>
                  </a:lnTo>
                  <a:lnTo>
                    <a:pt x="6936511" y="8467725"/>
                  </a:lnTo>
                  <a:lnTo>
                    <a:pt x="6944957" y="8463737"/>
                  </a:lnTo>
                  <a:lnTo>
                    <a:pt x="6954545" y="8457997"/>
                  </a:lnTo>
                  <a:lnTo>
                    <a:pt x="6963499" y="8451342"/>
                  </a:lnTo>
                  <a:lnTo>
                    <a:pt x="6971843" y="8443773"/>
                  </a:lnTo>
                  <a:lnTo>
                    <a:pt x="6972300" y="8443265"/>
                  </a:lnTo>
                  <a:lnTo>
                    <a:pt x="6979425" y="8435378"/>
                  </a:lnTo>
                  <a:lnTo>
                    <a:pt x="6986079" y="8426412"/>
                  </a:lnTo>
                  <a:lnTo>
                    <a:pt x="6991807" y="8416836"/>
                  </a:lnTo>
                  <a:lnTo>
                    <a:pt x="6996620" y="8406651"/>
                  </a:lnTo>
                  <a:lnTo>
                    <a:pt x="6999071" y="839981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8"/>
              <a:ext cx="88900" cy="8452485"/>
            </a:xfrm>
            <a:custGeom>
              <a:avLst/>
              <a:gdLst/>
              <a:ahLst/>
              <a:cxnLst/>
              <a:rect l="l" t="t" r="r" b="b"/>
              <a:pathLst>
                <a:path w="88900" h="8452485">
                  <a:moveTo>
                    <a:pt x="62524" y="8452261"/>
                  </a:moveTo>
                  <a:lnTo>
                    <a:pt x="25900" y="8422931"/>
                  </a:lnTo>
                  <a:lnTo>
                    <a:pt x="4894" y="8383584"/>
                  </a:lnTo>
                  <a:lnTo>
                    <a:pt x="0" y="83504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8350455"/>
                  </a:lnTo>
                  <a:lnTo>
                    <a:pt x="52700" y="8390550"/>
                  </a:lnTo>
                  <a:lnTo>
                    <a:pt x="72022" y="8431487"/>
                  </a:lnTo>
                  <a:lnTo>
                    <a:pt x="88529" y="8447065"/>
                  </a:lnTo>
                  <a:lnTo>
                    <a:pt x="62524" y="845226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2028770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2190695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367702" y="828598"/>
                  </a:moveTo>
                  <a:lnTo>
                    <a:pt x="71196" y="828598"/>
                  </a:lnTo>
                  <a:lnTo>
                    <a:pt x="66241" y="828084"/>
                  </a:lnTo>
                  <a:lnTo>
                    <a:pt x="29705" y="812977"/>
                  </a:lnTo>
                  <a:lnTo>
                    <a:pt x="3885" y="776887"/>
                  </a:lnTo>
                  <a:lnTo>
                    <a:pt x="0" y="757456"/>
                  </a:lnTo>
                  <a:lnTo>
                    <a:pt x="0" y="752474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644"/>
                  </a:lnTo>
                  <a:lnTo>
                    <a:pt x="6438899" y="71218"/>
                  </a:lnTo>
                  <a:lnTo>
                    <a:pt x="6438899" y="757456"/>
                  </a:lnTo>
                  <a:lnTo>
                    <a:pt x="6423277" y="798833"/>
                  </a:lnTo>
                  <a:lnTo>
                    <a:pt x="6387236" y="824579"/>
                  </a:lnTo>
                  <a:lnTo>
                    <a:pt x="6372658" y="828084"/>
                  </a:lnTo>
                  <a:lnTo>
                    <a:pt x="6367702" y="828598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3209870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448245"/>
              <a:ext cx="6438900" cy="828675"/>
            </a:xfrm>
            <a:custGeom>
              <a:avLst/>
              <a:gdLst/>
              <a:ahLst/>
              <a:cxnLst/>
              <a:rect l="l" t="t" r="r" b="b"/>
              <a:pathLst>
                <a:path w="6438900" h="828675">
                  <a:moveTo>
                    <a:pt x="6438899" y="828674"/>
                  </a:moveTo>
                  <a:lnTo>
                    <a:pt x="0" y="828674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28674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87" y="5448248"/>
              <a:ext cx="38100" cy="1323975"/>
            </a:xfrm>
            <a:custGeom>
              <a:avLst/>
              <a:gdLst/>
              <a:ahLst/>
              <a:cxnLst/>
              <a:rect l="l" t="t" r="r" b="b"/>
              <a:pathLst>
                <a:path w="38100" h="1323975">
                  <a:moveTo>
                    <a:pt x="28575" y="1019175"/>
                  </a:moveTo>
                  <a:lnTo>
                    <a:pt x="0" y="1019175"/>
                  </a:lnTo>
                  <a:lnTo>
                    <a:pt x="0" y="1323975"/>
                  </a:lnTo>
                  <a:lnTo>
                    <a:pt x="28575" y="1323975"/>
                  </a:lnTo>
                  <a:lnTo>
                    <a:pt x="28575" y="1019175"/>
                  </a:lnTo>
                  <a:close/>
                </a:path>
                <a:path w="38100" h="1323975">
                  <a:moveTo>
                    <a:pt x="38100" y="0"/>
                  </a:moveTo>
                  <a:lnTo>
                    <a:pt x="0" y="0"/>
                  </a:lnTo>
                  <a:lnTo>
                    <a:pt x="0" y="828675"/>
                  </a:lnTo>
                  <a:lnTo>
                    <a:pt x="38100" y="8286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7610464"/>
              <a:ext cx="6438899" cy="9239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724"/>
              <a:ext cx="1343025" cy="381000"/>
            </a:xfrm>
            <a:custGeom>
              <a:avLst/>
              <a:gdLst/>
              <a:ahLst/>
              <a:cxnLst/>
              <a:rect l="l" t="t" r="r" b="b"/>
              <a:pathLst>
                <a:path w="1343025" h="381000">
                  <a:moveTo>
                    <a:pt x="381000" y="71069"/>
                  </a:moveTo>
                  <a:lnTo>
                    <a:pt x="365379" y="29540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05"/>
                  </a:lnTo>
                  <a:lnTo>
                    <a:pt x="3886" y="51498"/>
                  </a:lnTo>
                  <a:lnTo>
                    <a:pt x="0" y="71069"/>
                  </a:lnTo>
                  <a:lnTo>
                    <a:pt x="0" y="304723"/>
                  </a:lnTo>
                  <a:lnTo>
                    <a:pt x="0" y="309702"/>
                  </a:lnTo>
                  <a:lnTo>
                    <a:pt x="15633" y="351078"/>
                  </a:lnTo>
                  <a:lnTo>
                    <a:pt x="51663" y="37691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02"/>
                  </a:lnTo>
                  <a:lnTo>
                    <a:pt x="381000" y="71069"/>
                  </a:lnTo>
                  <a:close/>
                </a:path>
                <a:path w="1343025" h="381000">
                  <a:moveTo>
                    <a:pt x="1343025" y="190423"/>
                  </a:moveTo>
                  <a:lnTo>
                    <a:pt x="1337894" y="148615"/>
                  </a:lnTo>
                  <a:lnTo>
                    <a:pt x="1322793" y="109474"/>
                  </a:lnTo>
                  <a:lnTo>
                    <a:pt x="1298625" y="75158"/>
                  </a:lnTo>
                  <a:lnTo>
                    <a:pt x="1266837" y="47764"/>
                  </a:lnTo>
                  <a:lnTo>
                    <a:pt x="1229334" y="28917"/>
                  </a:lnTo>
                  <a:lnTo>
                    <a:pt x="1188389" y="19761"/>
                  </a:lnTo>
                  <a:lnTo>
                    <a:pt x="1171575" y="18973"/>
                  </a:lnTo>
                  <a:lnTo>
                    <a:pt x="695325" y="18973"/>
                  </a:lnTo>
                  <a:lnTo>
                    <a:pt x="653656" y="24041"/>
                  </a:lnTo>
                  <a:lnTo>
                    <a:pt x="614514" y="39128"/>
                  </a:lnTo>
                  <a:lnTo>
                    <a:pt x="580199" y="63246"/>
                  </a:lnTo>
                  <a:lnTo>
                    <a:pt x="552780" y="94957"/>
                  </a:lnTo>
                  <a:lnTo>
                    <a:pt x="533895" y="132511"/>
                  </a:lnTo>
                  <a:lnTo>
                    <a:pt x="524700" y="173558"/>
                  </a:lnTo>
                  <a:lnTo>
                    <a:pt x="523875" y="190423"/>
                  </a:lnTo>
                  <a:lnTo>
                    <a:pt x="524090" y="198831"/>
                  </a:lnTo>
                  <a:lnTo>
                    <a:pt x="531266" y="240157"/>
                  </a:lnTo>
                  <a:lnTo>
                    <a:pt x="548271" y="278434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393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1171575" y="361873"/>
                  </a:lnTo>
                  <a:lnTo>
                    <a:pt x="1213256" y="356654"/>
                  </a:lnTo>
                  <a:lnTo>
                    <a:pt x="1252397" y="341566"/>
                  </a:lnTo>
                  <a:lnTo>
                    <a:pt x="1286713" y="317411"/>
                  </a:lnTo>
                  <a:lnTo>
                    <a:pt x="1314132" y="285521"/>
                  </a:lnTo>
                  <a:lnTo>
                    <a:pt x="1333017" y="248081"/>
                  </a:lnTo>
                  <a:lnTo>
                    <a:pt x="1342212" y="207175"/>
                  </a:lnTo>
                  <a:lnTo>
                    <a:pt x="1343025" y="190423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6678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452245" algn="l"/>
              </a:tabLst>
            </a:pPr>
            <a:r>
              <a:rPr sz="1400" b="1" spc="-50" dirty="0">
                <a:solidFill>
                  <a:srgbClr val="FFFFFF"/>
                </a:solidFill>
                <a:latin typeface="Comic Sans MS"/>
                <a:cs typeface="Comic Sans MS"/>
              </a:rPr>
              <a:t>9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omic Sans MS"/>
                <a:cs typeface="Comic Sans MS"/>
              </a:rPr>
              <a:t>¥1,480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 marL="12700" marR="118745">
              <a:lnSpc>
                <a:spcPct val="132100"/>
              </a:lnSpc>
              <a:spcBef>
                <a:spcPts val="1800"/>
              </a:spcBef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ヨガ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ピラティスインストラクタ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レッスンを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進化</a:t>
            </a:r>
            <a:r>
              <a:rPr sz="1750" b="1" spc="-1689" dirty="0">
                <a:solidFill>
                  <a:srgbClr val="333333"/>
                </a:solidFill>
                <a:latin typeface="BIZ UDPゴシック"/>
                <a:cs typeface="BIZ UDPゴシック"/>
              </a:rPr>
              <a:t>さ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せる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い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156845">
              <a:lnSpc>
                <a:spcPct val="129500"/>
              </a:lnSpc>
            </a:pPr>
            <a:r>
              <a:rPr sz="1400" i="1" spc="-70" dirty="0">
                <a:solidFill>
                  <a:srgbClr val="333333"/>
                </a:solidFill>
                <a:latin typeface="Comic Sans MS"/>
                <a:cs typeface="Comic Sans MS"/>
              </a:rPr>
              <a:t>BGM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びに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悩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んでいませんか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？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レッスンの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める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⽅、使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50" dirty="0">
                <a:solidFill>
                  <a:srgbClr val="333333"/>
                </a:solidFill>
                <a:latin typeface="メイリオ"/>
                <a:cs typeface="メイリオ"/>
              </a:rPr>
              <a:t>徹底解説。差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別化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武器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になります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091180">
              <a:lnSpc>
                <a:spcPct val="134300"/>
              </a:lnSpc>
              <a:spcBef>
                <a:spcPts val="805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なぜ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がレッスンの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左右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か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ポ</a:t>
            </a:r>
            <a:r>
              <a:rPr sz="1300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最適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誘導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のシンクロ</a:t>
            </a:r>
            <a:endParaRPr sz="1350">
              <a:latin typeface="SimSun"/>
              <a:cs typeface="SimSun"/>
            </a:endParaRPr>
          </a:p>
          <a:p>
            <a:pPr marL="12700" marR="3243580" algn="just">
              <a:lnSpc>
                <a:spcPts val="2180"/>
              </a:lnSpc>
              <a:spcBef>
                <a:spcPts val="85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シャバ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サナを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24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70" dirty="0">
                <a:solidFill>
                  <a:srgbClr val="333333"/>
                </a:solidFill>
                <a:latin typeface="メイリオ"/>
                <a:cs typeface="メイリオ"/>
              </a:rPr>
              <a:t>⽅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オンラインレッスンでの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5" dirty="0">
                <a:solidFill>
                  <a:srgbClr val="333333"/>
                </a:solidFill>
                <a:latin typeface="メイリオ"/>
                <a:cs typeface="メイリオ"/>
              </a:rPr>
              <a:t>⼯夫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オリジナリティを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すヒント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>
              <a:latin typeface="SimSun"/>
              <a:cs typeface="SimSun"/>
            </a:endParaRPr>
          </a:p>
          <a:p>
            <a:pPr marL="193040" marR="186055">
              <a:lnSpc>
                <a:spcPct val="134300"/>
              </a:lnSpc>
              <a:spcBef>
                <a:spcPts val="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えただけで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さんから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『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今⽇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のレッスン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いつもより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く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285" dirty="0">
                <a:solidFill>
                  <a:srgbClr val="333333"/>
                </a:solidFill>
                <a:latin typeface="SimSun"/>
                <a:cs typeface="SimSun"/>
              </a:rPr>
              <a:t>れました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われました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</a:pPr>
            <a:endParaRPr sz="12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60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レッスン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⽤⾳楽構成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サンプル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111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9752" y="7732792"/>
            <a:ext cx="193103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115" marR="5080" indent="-273050">
              <a:lnSpc>
                <a:spcPct val="134300"/>
              </a:lnSpc>
              <a:spcBef>
                <a:spcPts val="130"/>
              </a:spcBef>
            </a:pP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¥1,480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5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50" spc="-195" dirty="0">
                <a:solidFill>
                  <a:srgbClr val="FFFFFF"/>
                </a:solidFill>
                <a:latin typeface="SimSun"/>
                <a:cs typeface="SimSun"/>
              </a:rPr>
              <a:t>レッスンの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差別化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6"/>
            <a:ext cx="7063105" cy="7096125"/>
            <a:chOff x="352425" y="352456"/>
            <a:chExt cx="7063105" cy="7096125"/>
          </a:xfrm>
        </p:grpSpPr>
        <p:sp>
          <p:nvSpPr>
            <p:cNvPr id="3" name="object 3"/>
            <p:cNvSpPr/>
            <p:nvPr/>
          </p:nvSpPr>
          <p:spPr>
            <a:xfrm>
              <a:off x="376237" y="357209"/>
              <a:ext cx="7038975" cy="7086600"/>
            </a:xfrm>
            <a:custGeom>
              <a:avLst/>
              <a:gdLst/>
              <a:ahLst/>
              <a:cxnLst/>
              <a:rect l="l" t="t" r="r" b="b"/>
              <a:pathLst>
                <a:path w="7038975" h="7086600">
                  <a:moveTo>
                    <a:pt x="6936628" y="7086523"/>
                  </a:moveTo>
                  <a:lnTo>
                    <a:pt x="84545" y="7086523"/>
                  </a:lnTo>
                  <a:lnTo>
                    <a:pt x="78661" y="7085780"/>
                  </a:lnTo>
                  <a:lnTo>
                    <a:pt x="35275" y="7063977"/>
                  </a:lnTo>
                  <a:lnTo>
                    <a:pt x="11948" y="7031678"/>
                  </a:lnTo>
                  <a:lnTo>
                    <a:pt x="579" y="6991197"/>
                  </a:lnTo>
                  <a:lnTo>
                    <a:pt x="0" y="6984129"/>
                  </a:lnTo>
                  <a:lnTo>
                    <a:pt x="0" y="6976985"/>
                  </a:lnTo>
                  <a:lnTo>
                    <a:pt x="0" y="102241"/>
                  </a:lnTo>
                  <a:lnTo>
                    <a:pt x="9161" y="60798"/>
                  </a:lnTo>
                  <a:lnTo>
                    <a:pt x="30704" y="26784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0934"/>
                  </a:lnTo>
                  <a:lnTo>
                    <a:pt x="7011976" y="36985"/>
                  </a:lnTo>
                  <a:lnTo>
                    <a:pt x="7033387" y="74037"/>
                  </a:lnTo>
                  <a:lnTo>
                    <a:pt x="7038973" y="102241"/>
                  </a:lnTo>
                  <a:lnTo>
                    <a:pt x="7038973" y="6984129"/>
                  </a:lnTo>
                  <a:lnTo>
                    <a:pt x="7027882" y="7025353"/>
                  </a:lnTo>
                  <a:lnTo>
                    <a:pt x="7001805" y="7059434"/>
                  </a:lnTo>
                  <a:lnTo>
                    <a:pt x="6964709" y="7080865"/>
                  </a:lnTo>
                  <a:lnTo>
                    <a:pt x="6943752" y="7085780"/>
                  </a:lnTo>
                  <a:lnTo>
                    <a:pt x="6936628" y="7086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096125"/>
            </a:xfrm>
            <a:custGeom>
              <a:avLst/>
              <a:gdLst/>
              <a:ahLst/>
              <a:cxnLst/>
              <a:rect l="l" t="t" r="r" b="b"/>
              <a:pathLst>
                <a:path w="6999605" h="7096125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61"/>
                  </a:lnTo>
                  <a:lnTo>
                    <a:pt x="6995795" y="6981787"/>
                  </a:lnTo>
                  <a:lnTo>
                    <a:pt x="6987819" y="7021881"/>
                  </a:lnTo>
                  <a:lnTo>
                    <a:pt x="6965112" y="7055866"/>
                  </a:lnTo>
                  <a:lnTo>
                    <a:pt x="6931126" y="7078624"/>
                  </a:lnTo>
                  <a:lnTo>
                    <a:pt x="6891020" y="7086600"/>
                  </a:lnTo>
                  <a:lnTo>
                    <a:pt x="52082" y="7086600"/>
                  </a:lnTo>
                  <a:lnTo>
                    <a:pt x="26085" y="7078269"/>
                  </a:lnTo>
                  <a:lnTo>
                    <a:pt x="0" y="7083488"/>
                  </a:lnTo>
                  <a:lnTo>
                    <a:pt x="40817" y="7095579"/>
                  </a:lnTo>
                  <a:lnTo>
                    <a:pt x="52082" y="7096125"/>
                  </a:lnTo>
                  <a:lnTo>
                    <a:pt x="6891020" y="7096125"/>
                  </a:lnTo>
                  <a:lnTo>
                    <a:pt x="6934771" y="7087425"/>
                  </a:lnTo>
                  <a:lnTo>
                    <a:pt x="6936511" y="7086600"/>
                  </a:lnTo>
                  <a:lnTo>
                    <a:pt x="6944957" y="7082612"/>
                  </a:lnTo>
                  <a:lnTo>
                    <a:pt x="6954545" y="7076872"/>
                  </a:lnTo>
                  <a:lnTo>
                    <a:pt x="6963499" y="7070217"/>
                  </a:lnTo>
                  <a:lnTo>
                    <a:pt x="6971843" y="7062648"/>
                  </a:lnTo>
                  <a:lnTo>
                    <a:pt x="6972300" y="7062140"/>
                  </a:lnTo>
                  <a:lnTo>
                    <a:pt x="6979425" y="7054253"/>
                  </a:lnTo>
                  <a:lnTo>
                    <a:pt x="6986079" y="7045299"/>
                  </a:lnTo>
                  <a:lnTo>
                    <a:pt x="6991807" y="7035711"/>
                  </a:lnTo>
                  <a:lnTo>
                    <a:pt x="6996620" y="7025526"/>
                  </a:lnTo>
                  <a:lnTo>
                    <a:pt x="6999071" y="7018693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8"/>
              <a:ext cx="88900" cy="7071359"/>
            </a:xfrm>
            <a:custGeom>
              <a:avLst/>
              <a:gdLst/>
              <a:ahLst/>
              <a:cxnLst/>
              <a:rect l="l" t="t" r="r" b="b"/>
              <a:pathLst>
                <a:path w="88900" h="7071359">
                  <a:moveTo>
                    <a:pt x="62523" y="7071137"/>
                  </a:moveTo>
                  <a:lnTo>
                    <a:pt x="25900" y="7041806"/>
                  </a:lnTo>
                  <a:lnTo>
                    <a:pt x="4894" y="7002460"/>
                  </a:lnTo>
                  <a:lnTo>
                    <a:pt x="0" y="69693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969330"/>
                  </a:lnTo>
                  <a:lnTo>
                    <a:pt x="52700" y="7009425"/>
                  </a:lnTo>
                  <a:lnTo>
                    <a:pt x="72022" y="7050362"/>
                  </a:lnTo>
                  <a:lnTo>
                    <a:pt x="88529" y="7065940"/>
                  </a:lnTo>
                  <a:lnTo>
                    <a:pt x="62523" y="70711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0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82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047"/>
                  </a:moveTo>
                  <a:lnTo>
                    <a:pt x="71196" y="838047"/>
                  </a:lnTo>
                  <a:lnTo>
                    <a:pt x="66241" y="837533"/>
                  </a:lnTo>
                  <a:lnTo>
                    <a:pt x="29705" y="822426"/>
                  </a:lnTo>
                  <a:lnTo>
                    <a:pt x="3885" y="786260"/>
                  </a:lnTo>
                  <a:lnTo>
                    <a:pt x="0" y="766905"/>
                  </a:lnTo>
                  <a:lnTo>
                    <a:pt x="0" y="761923"/>
                  </a:lnTo>
                  <a:lnTo>
                    <a:pt x="0" y="71142"/>
                  </a:lnTo>
                  <a:lnTo>
                    <a:pt x="15621" y="29537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01"/>
                  </a:lnTo>
                  <a:lnTo>
                    <a:pt x="6435013" y="51492"/>
                  </a:lnTo>
                  <a:lnTo>
                    <a:pt x="6438899" y="71142"/>
                  </a:lnTo>
                  <a:lnTo>
                    <a:pt x="6438899" y="766905"/>
                  </a:lnTo>
                  <a:lnTo>
                    <a:pt x="6423277" y="808281"/>
                  </a:lnTo>
                  <a:lnTo>
                    <a:pt x="6387236" y="834180"/>
                  </a:lnTo>
                  <a:lnTo>
                    <a:pt x="6372658" y="837599"/>
                  </a:lnTo>
                  <a:lnTo>
                    <a:pt x="6367702" y="838047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533650"/>
            </a:xfrm>
            <a:custGeom>
              <a:avLst/>
              <a:gdLst/>
              <a:ahLst/>
              <a:cxnLst/>
              <a:rect l="l" t="t" r="r" b="b"/>
              <a:pathLst>
                <a:path w="28575" h="2533650">
                  <a:moveTo>
                    <a:pt x="28575" y="2228850"/>
                  </a:moveTo>
                  <a:lnTo>
                    <a:pt x="0" y="2228850"/>
                  </a:lnTo>
                  <a:lnTo>
                    <a:pt x="0" y="2533650"/>
                  </a:lnTo>
                  <a:lnTo>
                    <a:pt x="28575" y="2533650"/>
                  </a:lnTo>
                  <a:lnTo>
                    <a:pt x="28575" y="2228850"/>
                  </a:lnTo>
                  <a:close/>
                </a:path>
                <a:path w="28575" h="253365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229339"/>
              <a:ext cx="6438899" cy="9239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873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8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66"/>
                  </a:lnTo>
                  <a:lnTo>
                    <a:pt x="1170393" y="109486"/>
                  </a:lnTo>
                  <a:lnTo>
                    <a:pt x="1146225" y="75234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939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22"/>
                  </a:lnTo>
                  <a:lnTo>
                    <a:pt x="552780" y="94957"/>
                  </a:lnTo>
                  <a:lnTo>
                    <a:pt x="533895" y="132588"/>
                  </a:lnTo>
                  <a:lnTo>
                    <a:pt x="524700" y="173659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207"/>
                  </a:lnTo>
                  <a:lnTo>
                    <a:pt x="548271" y="278485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457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04"/>
                  </a:lnTo>
                  <a:lnTo>
                    <a:pt x="1099997" y="341579"/>
                  </a:lnTo>
                  <a:lnTo>
                    <a:pt x="1134313" y="317461"/>
                  </a:lnTo>
                  <a:lnTo>
                    <a:pt x="1161732" y="285597"/>
                  </a:lnTo>
                  <a:lnTo>
                    <a:pt x="1180617" y="248158"/>
                  </a:lnTo>
                  <a:lnTo>
                    <a:pt x="1189812" y="207289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365240" cy="529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プロフェッショナル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カウンセラ</a:t>
            </a:r>
            <a:r>
              <a:rPr sz="1700" b="1" spc="660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75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コ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チ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45" dirty="0">
                <a:solidFill>
                  <a:srgbClr val="333333"/>
                </a:solidFill>
                <a:latin typeface="BIZ UDPゴシック"/>
                <a:cs typeface="BIZ UDPゴシック"/>
              </a:rPr>
              <a:t>セッションの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める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00" b="1" spc="-285" dirty="0">
                <a:solidFill>
                  <a:srgbClr val="333333"/>
                </a:solidFill>
                <a:latin typeface="BIZ UDPゴシック"/>
                <a:cs typeface="BIZ UDPゴシック"/>
              </a:rPr>
              <a:t>環境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り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12700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クライアントが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安⼼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して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話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せる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空間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カウンセリングやコ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チングのセッション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効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める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40" dirty="0">
                <a:solidFill>
                  <a:srgbClr val="333333"/>
                </a:solidFill>
                <a:latin typeface="メイリオ"/>
                <a:cs typeface="メイリオ"/>
              </a:rPr>
              <a:t>活⽤法。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296920">
              <a:lnSpc>
                <a:spcPct val="133300"/>
              </a:lnSpc>
              <a:spcBef>
                <a:spcPts val="819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セッションにおける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重要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性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待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機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スペ</a:t>
            </a:r>
            <a:r>
              <a:rPr sz="1300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スの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00" spc="-5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セッション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オンラインセッションでの</a:t>
            </a:r>
            <a:r>
              <a:rPr sz="1300" spc="-705" dirty="0">
                <a:solidFill>
                  <a:srgbClr val="333333"/>
                </a:solidFill>
                <a:latin typeface="メイリオ"/>
                <a:cs typeface="メイリオ"/>
              </a:rPr>
              <a:t>⼯夫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セッション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前後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のル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ティン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⾃分⾃⾝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のケアにも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セッションル</a:t>
            </a:r>
            <a:r>
              <a:rPr sz="130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ム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設計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チェックリスト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112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351667"/>
            <a:ext cx="1793875" cy="582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4620" marR="5080" indent="-122555">
              <a:lnSpc>
                <a:spcPct val="1343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セッション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効果向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上</a:t>
            </a:r>
            <a:r>
              <a:rPr sz="1350" spc="-50" dirty="0">
                <a:solidFill>
                  <a:srgbClr val="FFFFFF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7"/>
            <a:ext cx="7063105" cy="7277100"/>
            <a:chOff x="352425" y="352457"/>
            <a:chExt cx="7063105" cy="7277100"/>
          </a:xfrm>
        </p:grpSpPr>
        <p:sp>
          <p:nvSpPr>
            <p:cNvPr id="3" name="object 3"/>
            <p:cNvSpPr/>
            <p:nvPr/>
          </p:nvSpPr>
          <p:spPr>
            <a:xfrm>
              <a:off x="376237" y="357132"/>
              <a:ext cx="7038975" cy="7267575"/>
            </a:xfrm>
            <a:custGeom>
              <a:avLst/>
              <a:gdLst/>
              <a:ahLst/>
              <a:cxnLst/>
              <a:rect l="l" t="t" r="r" b="b"/>
              <a:pathLst>
                <a:path w="7038975" h="7267575">
                  <a:moveTo>
                    <a:pt x="6936628" y="7267498"/>
                  </a:moveTo>
                  <a:lnTo>
                    <a:pt x="84545" y="7267498"/>
                  </a:lnTo>
                  <a:lnTo>
                    <a:pt x="78661" y="7266755"/>
                  </a:lnTo>
                  <a:lnTo>
                    <a:pt x="35275" y="7244952"/>
                  </a:lnTo>
                  <a:lnTo>
                    <a:pt x="11948" y="7212729"/>
                  </a:lnTo>
                  <a:lnTo>
                    <a:pt x="579" y="7172248"/>
                  </a:lnTo>
                  <a:lnTo>
                    <a:pt x="0" y="7165180"/>
                  </a:lnTo>
                  <a:lnTo>
                    <a:pt x="0" y="71580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85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165180"/>
                  </a:lnTo>
                  <a:lnTo>
                    <a:pt x="7027882" y="7206481"/>
                  </a:lnTo>
                  <a:lnTo>
                    <a:pt x="7001805" y="7240409"/>
                  </a:lnTo>
                  <a:lnTo>
                    <a:pt x="6964709" y="7261840"/>
                  </a:lnTo>
                  <a:lnTo>
                    <a:pt x="6943752" y="7266755"/>
                  </a:lnTo>
                  <a:lnTo>
                    <a:pt x="6936628" y="726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277100"/>
            </a:xfrm>
            <a:custGeom>
              <a:avLst/>
              <a:gdLst/>
              <a:ahLst/>
              <a:cxnLst/>
              <a:rect l="l" t="t" r="r" b="b"/>
              <a:pathLst>
                <a:path w="6999605" h="7277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61"/>
                  </a:lnTo>
                  <a:lnTo>
                    <a:pt x="6995795" y="7162762"/>
                  </a:lnTo>
                  <a:lnTo>
                    <a:pt x="6987819" y="7202856"/>
                  </a:lnTo>
                  <a:lnTo>
                    <a:pt x="6965112" y="7236841"/>
                  </a:lnTo>
                  <a:lnTo>
                    <a:pt x="6931126" y="7259599"/>
                  </a:lnTo>
                  <a:lnTo>
                    <a:pt x="6891020" y="7267575"/>
                  </a:lnTo>
                  <a:lnTo>
                    <a:pt x="52082" y="7267575"/>
                  </a:lnTo>
                  <a:lnTo>
                    <a:pt x="26085" y="7259244"/>
                  </a:lnTo>
                  <a:lnTo>
                    <a:pt x="0" y="7264463"/>
                  </a:lnTo>
                  <a:lnTo>
                    <a:pt x="40817" y="7276554"/>
                  </a:lnTo>
                  <a:lnTo>
                    <a:pt x="52082" y="7277100"/>
                  </a:lnTo>
                  <a:lnTo>
                    <a:pt x="6891020" y="7277100"/>
                  </a:lnTo>
                  <a:lnTo>
                    <a:pt x="6934771" y="7268400"/>
                  </a:lnTo>
                  <a:lnTo>
                    <a:pt x="6936511" y="7267575"/>
                  </a:lnTo>
                  <a:lnTo>
                    <a:pt x="6944957" y="7263587"/>
                  </a:lnTo>
                  <a:lnTo>
                    <a:pt x="6954545" y="7257847"/>
                  </a:lnTo>
                  <a:lnTo>
                    <a:pt x="6963499" y="7251192"/>
                  </a:lnTo>
                  <a:lnTo>
                    <a:pt x="6971843" y="7243623"/>
                  </a:lnTo>
                  <a:lnTo>
                    <a:pt x="6972300" y="7243127"/>
                  </a:lnTo>
                  <a:lnTo>
                    <a:pt x="6979425" y="7235228"/>
                  </a:lnTo>
                  <a:lnTo>
                    <a:pt x="6986079" y="7226274"/>
                  </a:lnTo>
                  <a:lnTo>
                    <a:pt x="6991807" y="7216686"/>
                  </a:lnTo>
                  <a:lnTo>
                    <a:pt x="6996620" y="7206501"/>
                  </a:lnTo>
                  <a:lnTo>
                    <a:pt x="6999071" y="7199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09"/>
              <a:ext cx="88900" cy="7252334"/>
            </a:xfrm>
            <a:custGeom>
              <a:avLst/>
              <a:gdLst/>
              <a:ahLst/>
              <a:cxnLst/>
              <a:rect l="l" t="t" r="r" b="b"/>
              <a:pathLst>
                <a:path w="88900" h="7252334">
                  <a:moveTo>
                    <a:pt x="62524" y="7252111"/>
                  </a:moveTo>
                  <a:lnTo>
                    <a:pt x="25900" y="7222781"/>
                  </a:lnTo>
                  <a:lnTo>
                    <a:pt x="4894" y="7183435"/>
                  </a:lnTo>
                  <a:lnTo>
                    <a:pt x="0" y="7150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50305"/>
                  </a:lnTo>
                  <a:lnTo>
                    <a:pt x="52700" y="7190400"/>
                  </a:lnTo>
                  <a:lnTo>
                    <a:pt x="72022" y="7231338"/>
                  </a:lnTo>
                  <a:lnTo>
                    <a:pt x="88528" y="7246915"/>
                  </a:lnTo>
                  <a:lnTo>
                    <a:pt x="62524" y="7252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20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5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4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57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798"/>
                  </a:moveTo>
                  <a:lnTo>
                    <a:pt x="66746" y="1666798"/>
                  </a:lnTo>
                  <a:lnTo>
                    <a:pt x="62101" y="1666350"/>
                  </a:lnTo>
                  <a:lnTo>
                    <a:pt x="24240" y="1649091"/>
                  </a:lnTo>
                  <a:lnTo>
                    <a:pt x="2287" y="1613820"/>
                  </a:lnTo>
                  <a:lnTo>
                    <a:pt x="0" y="1600123"/>
                  </a:lnTo>
                  <a:lnTo>
                    <a:pt x="0" y="1595437"/>
                  </a:lnTo>
                  <a:lnTo>
                    <a:pt x="0" y="66674"/>
                  </a:lnTo>
                  <a:lnTo>
                    <a:pt x="14645" y="27679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06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600123"/>
                  </a:lnTo>
                  <a:lnTo>
                    <a:pt x="6414728" y="1638823"/>
                  </a:lnTo>
                  <a:lnTo>
                    <a:pt x="6380940" y="1663150"/>
                  </a:lnTo>
                  <a:lnTo>
                    <a:pt x="6367272" y="1666350"/>
                  </a:lnTo>
                  <a:lnTo>
                    <a:pt x="6362626" y="16667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7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7606" y="24107"/>
                  </a:lnTo>
                  <a:lnTo>
                    <a:pt x="20923" y="20764"/>
                  </a:lnTo>
                  <a:lnTo>
                    <a:pt x="24240" y="17411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305"/>
                  </a:lnTo>
                  <a:lnTo>
                    <a:pt x="39765" y="7143"/>
                  </a:lnTo>
                  <a:lnTo>
                    <a:pt x="44099" y="5362"/>
                  </a:lnTo>
                  <a:lnTo>
                    <a:pt x="48433" y="3571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80940" y="3571"/>
                  </a:lnTo>
                  <a:lnTo>
                    <a:pt x="6385274" y="5362"/>
                  </a:lnTo>
                  <a:lnTo>
                    <a:pt x="6389607" y="7143"/>
                  </a:lnTo>
                  <a:lnTo>
                    <a:pt x="6393724" y="9372"/>
                  </a:lnTo>
                  <a:lnTo>
                    <a:pt x="6397624" y="11982"/>
                  </a:lnTo>
                  <a:lnTo>
                    <a:pt x="6401525" y="14506"/>
                  </a:lnTo>
                  <a:lnTo>
                    <a:pt x="6405133" y="17411"/>
                  </a:lnTo>
                  <a:lnTo>
                    <a:pt x="6408450" y="20764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566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123"/>
                  </a:lnTo>
                  <a:lnTo>
                    <a:pt x="6428916" y="1604743"/>
                  </a:lnTo>
                  <a:lnTo>
                    <a:pt x="6428001" y="1609277"/>
                  </a:lnTo>
                  <a:lnTo>
                    <a:pt x="6427086" y="1613820"/>
                  </a:lnTo>
                  <a:lnTo>
                    <a:pt x="6417334" y="1634880"/>
                  </a:lnTo>
                  <a:lnTo>
                    <a:pt x="6414728" y="1638823"/>
                  </a:lnTo>
                  <a:lnTo>
                    <a:pt x="6380940" y="1663150"/>
                  </a:lnTo>
                  <a:lnTo>
                    <a:pt x="6371872" y="1665388"/>
                  </a:lnTo>
                  <a:lnTo>
                    <a:pt x="6367272" y="1666350"/>
                  </a:lnTo>
                  <a:lnTo>
                    <a:pt x="6362626" y="1666798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66746" y="1666798"/>
                  </a:lnTo>
                  <a:lnTo>
                    <a:pt x="62101" y="1666350"/>
                  </a:lnTo>
                  <a:lnTo>
                    <a:pt x="57500" y="1665388"/>
                  </a:lnTo>
                  <a:lnTo>
                    <a:pt x="52900" y="1664493"/>
                  </a:lnTo>
                  <a:lnTo>
                    <a:pt x="17606" y="1642471"/>
                  </a:lnTo>
                  <a:lnTo>
                    <a:pt x="1372" y="1609277"/>
                  </a:lnTo>
                  <a:lnTo>
                    <a:pt x="457" y="1604743"/>
                  </a:lnTo>
                  <a:lnTo>
                    <a:pt x="0" y="1600123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686540"/>
              <a:ext cx="6438899" cy="647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21"/>
                  </a:moveTo>
                  <a:lnTo>
                    <a:pt x="365379" y="29552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05"/>
                  </a:lnTo>
                  <a:lnTo>
                    <a:pt x="3886" y="51574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015"/>
                  </a:lnTo>
                  <a:lnTo>
                    <a:pt x="51663" y="37698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04"/>
                  </a:lnTo>
                  <a:lnTo>
                    <a:pt x="1170393" y="109626"/>
                  </a:lnTo>
                  <a:lnTo>
                    <a:pt x="1146225" y="75311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888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204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20"/>
                  </a:lnTo>
                  <a:lnTo>
                    <a:pt x="531266" y="240195"/>
                  </a:lnTo>
                  <a:lnTo>
                    <a:pt x="548271" y="278498"/>
                  </a:lnTo>
                  <a:lnTo>
                    <a:pt x="574103" y="311645"/>
                  </a:lnTo>
                  <a:lnTo>
                    <a:pt x="607199" y="337464"/>
                  </a:lnTo>
                  <a:lnTo>
                    <a:pt x="645566" y="354469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04"/>
                  </a:lnTo>
                  <a:lnTo>
                    <a:pt x="1099997" y="341579"/>
                  </a:lnTo>
                  <a:lnTo>
                    <a:pt x="1134313" y="317461"/>
                  </a:lnTo>
                  <a:lnTo>
                    <a:pt x="1161732" y="285597"/>
                  </a:lnTo>
                  <a:lnTo>
                    <a:pt x="1180617" y="248158"/>
                  </a:lnTo>
                  <a:lnTo>
                    <a:pt x="1189812" y="207289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264275" cy="5602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11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⼼拍変動研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究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解説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⻄條⼀⽌博⼠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中⼼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、⾃律神経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関係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60" dirty="0">
                <a:solidFill>
                  <a:srgbClr val="333333"/>
                </a:solidFill>
                <a:latin typeface="メイリオ"/>
                <a:cs typeface="メイリオ"/>
              </a:rPr>
              <a:t>完全解説。瞬時⼼拍数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変動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読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み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れること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瞬時⼼拍数測定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意味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⾃然⾳聴取時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⼼拍変動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体感⾳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響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使⽤時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⼼拍変動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年齢別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性別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⽐較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解釈⽅法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50" b="1" spc="-145" dirty="0">
                <a:solidFill>
                  <a:srgbClr val="333333"/>
                </a:solidFill>
                <a:latin typeface="BIZ UDPゴシック"/>
                <a:cs typeface="BIZ UDPゴシック"/>
              </a:rPr>
              <a:t>サンプルデ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分聴取後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副交感神経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交感神経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同時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活性化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⼼拍数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変動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全例</a:t>
            </a:r>
            <a:r>
              <a:rPr sz="1300" spc="204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04" dirty="0">
                <a:solidFill>
                  <a:srgbClr val="333333"/>
                </a:solidFill>
                <a:latin typeface="Comic Sans MS"/>
                <a:cs typeface="Comic Sans MS"/>
              </a:rPr>
              <a:t>10/10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反応確認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113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8796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8"/>
            <a:ext cx="7063105" cy="7277100"/>
            <a:chOff x="352425" y="352458"/>
            <a:chExt cx="7063105" cy="7277100"/>
          </a:xfrm>
        </p:grpSpPr>
        <p:sp>
          <p:nvSpPr>
            <p:cNvPr id="3" name="object 3"/>
            <p:cNvSpPr/>
            <p:nvPr/>
          </p:nvSpPr>
          <p:spPr>
            <a:xfrm>
              <a:off x="376237" y="357132"/>
              <a:ext cx="7038975" cy="7267575"/>
            </a:xfrm>
            <a:custGeom>
              <a:avLst/>
              <a:gdLst/>
              <a:ahLst/>
              <a:cxnLst/>
              <a:rect l="l" t="t" r="r" b="b"/>
              <a:pathLst>
                <a:path w="7038975" h="7267575">
                  <a:moveTo>
                    <a:pt x="6936628" y="7267498"/>
                  </a:moveTo>
                  <a:lnTo>
                    <a:pt x="84545" y="7267498"/>
                  </a:lnTo>
                  <a:lnTo>
                    <a:pt x="78661" y="7266755"/>
                  </a:lnTo>
                  <a:lnTo>
                    <a:pt x="35275" y="7245028"/>
                  </a:lnTo>
                  <a:lnTo>
                    <a:pt x="11948" y="7212805"/>
                  </a:lnTo>
                  <a:lnTo>
                    <a:pt x="579" y="7172324"/>
                  </a:lnTo>
                  <a:lnTo>
                    <a:pt x="0" y="7165180"/>
                  </a:lnTo>
                  <a:lnTo>
                    <a:pt x="0" y="715803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165180"/>
                  </a:lnTo>
                  <a:lnTo>
                    <a:pt x="7027882" y="7206481"/>
                  </a:lnTo>
                  <a:lnTo>
                    <a:pt x="7001805" y="7240485"/>
                  </a:lnTo>
                  <a:lnTo>
                    <a:pt x="6964709" y="7261840"/>
                  </a:lnTo>
                  <a:lnTo>
                    <a:pt x="6943752" y="7266755"/>
                  </a:lnTo>
                  <a:lnTo>
                    <a:pt x="6936628" y="726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277100"/>
            </a:xfrm>
            <a:custGeom>
              <a:avLst/>
              <a:gdLst/>
              <a:ahLst/>
              <a:cxnLst/>
              <a:rect l="l" t="t" r="r" b="b"/>
              <a:pathLst>
                <a:path w="6999605" h="7277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162762"/>
                  </a:lnTo>
                  <a:lnTo>
                    <a:pt x="6987819" y="7202856"/>
                  </a:lnTo>
                  <a:lnTo>
                    <a:pt x="6965112" y="7236841"/>
                  </a:lnTo>
                  <a:lnTo>
                    <a:pt x="6931126" y="7259599"/>
                  </a:lnTo>
                  <a:lnTo>
                    <a:pt x="6891020" y="7267575"/>
                  </a:lnTo>
                  <a:lnTo>
                    <a:pt x="52082" y="7267575"/>
                  </a:lnTo>
                  <a:lnTo>
                    <a:pt x="26085" y="7259244"/>
                  </a:lnTo>
                  <a:lnTo>
                    <a:pt x="0" y="7264463"/>
                  </a:lnTo>
                  <a:lnTo>
                    <a:pt x="40817" y="7276554"/>
                  </a:lnTo>
                  <a:lnTo>
                    <a:pt x="52082" y="7277100"/>
                  </a:lnTo>
                  <a:lnTo>
                    <a:pt x="6891020" y="7277100"/>
                  </a:lnTo>
                  <a:lnTo>
                    <a:pt x="6934771" y="7268400"/>
                  </a:lnTo>
                  <a:lnTo>
                    <a:pt x="6936511" y="7267575"/>
                  </a:lnTo>
                  <a:lnTo>
                    <a:pt x="6944957" y="7263587"/>
                  </a:lnTo>
                  <a:lnTo>
                    <a:pt x="6954545" y="7257847"/>
                  </a:lnTo>
                  <a:lnTo>
                    <a:pt x="6963499" y="7251192"/>
                  </a:lnTo>
                  <a:lnTo>
                    <a:pt x="6971843" y="7243623"/>
                  </a:lnTo>
                  <a:lnTo>
                    <a:pt x="6972300" y="7243127"/>
                  </a:lnTo>
                  <a:lnTo>
                    <a:pt x="6979425" y="7235228"/>
                  </a:lnTo>
                  <a:lnTo>
                    <a:pt x="6986079" y="7226274"/>
                  </a:lnTo>
                  <a:lnTo>
                    <a:pt x="6991807" y="7216686"/>
                  </a:lnTo>
                  <a:lnTo>
                    <a:pt x="6996620" y="7206501"/>
                  </a:lnTo>
                  <a:lnTo>
                    <a:pt x="6999071" y="7199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10"/>
              <a:ext cx="88900" cy="7252334"/>
            </a:xfrm>
            <a:custGeom>
              <a:avLst/>
              <a:gdLst/>
              <a:ahLst/>
              <a:cxnLst/>
              <a:rect l="l" t="t" r="r" b="b"/>
              <a:pathLst>
                <a:path w="88900" h="7252334">
                  <a:moveTo>
                    <a:pt x="62524" y="7252111"/>
                  </a:moveTo>
                  <a:lnTo>
                    <a:pt x="25900" y="7222781"/>
                  </a:lnTo>
                  <a:lnTo>
                    <a:pt x="4894" y="7183435"/>
                  </a:lnTo>
                  <a:lnTo>
                    <a:pt x="0" y="7150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50305"/>
                  </a:lnTo>
                  <a:lnTo>
                    <a:pt x="52700" y="7190400"/>
                  </a:lnTo>
                  <a:lnTo>
                    <a:pt x="72022" y="7231338"/>
                  </a:lnTo>
                  <a:lnTo>
                    <a:pt x="88528" y="7246915"/>
                  </a:lnTo>
                  <a:lnTo>
                    <a:pt x="62524" y="7252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4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350"/>
                  </a:lnTo>
                  <a:lnTo>
                    <a:pt x="3885" y="786336"/>
                  </a:lnTo>
                  <a:lnTo>
                    <a:pt x="0" y="766914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14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4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433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798"/>
                  </a:moveTo>
                  <a:lnTo>
                    <a:pt x="66746" y="1666798"/>
                  </a:lnTo>
                  <a:lnTo>
                    <a:pt x="62101" y="1666350"/>
                  </a:lnTo>
                  <a:lnTo>
                    <a:pt x="24240" y="1649091"/>
                  </a:lnTo>
                  <a:lnTo>
                    <a:pt x="2287" y="1613668"/>
                  </a:lnTo>
                  <a:lnTo>
                    <a:pt x="0" y="1600047"/>
                  </a:lnTo>
                  <a:lnTo>
                    <a:pt x="0" y="1595361"/>
                  </a:lnTo>
                  <a:lnTo>
                    <a:pt x="0" y="66674"/>
                  </a:lnTo>
                  <a:lnTo>
                    <a:pt x="14645" y="27603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430"/>
                  </a:lnTo>
                  <a:lnTo>
                    <a:pt x="6425731" y="48215"/>
                  </a:lnTo>
                  <a:lnTo>
                    <a:pt x="6429373" y="66674"/>
                  </a:lnTo>
                  <a:lnTo>
                    <a:pt x="6429373" y="1600047"/>
                  </a:lnTo>
                  <a:lnTo>
                    <a:pt x="6414728" y="1638747"/>
                  </a:lnTo>
                  <a:lnTo>
                    <a:pt x="6380940" y="1663007"/>
                  </a:lnTo>
                  <a:lnTo>
                    <a:pt x="6367272" y="1666350"/>
                  </a:lnTo>
                  <a:lnTo>
                    <a:pt x="6362626" y="16667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7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5437" y="43976"/>
                  </a:lnTo>
                  <a:lnTo>
                    <a:pt x="7232" y="39585"/>
                  </a:lnTo>
                  <a:lnTo>
                    <a:pt x="9433" y="35499"/>
                  </a:lnTo>
                  <a:lnTo>
                    <a:pt x="12039" y="31622"/>
                  </a:lnTo>
                  <a:lnTo>
                    <a:pt x="14645" y="27679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305"/>
                  </a:lnTo>
                  <a:lnTo>
                    <a:pt x="39765" y="7143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97624" y="11906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499"/>
                  </a:lnTo>
                  <a:lnTo>
                    <a:pt x="6422141" y="39585"/>
                  </a:lnTo>
                  <a:lnTo>
                    <a:pt x="6423936" y="43976"/>
                  </a:lnTo>
                  <a:lnTo>
                    <a:pt x="6425731" y="48291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123"/>
                  </a:lnTo>
                  <a:lnTo>
                    <a:pt x="6428916" y="1604667"/>
                  </a:lnTo>
                  <a:lnTo>
                    <a:pt x="6428001" y="1609200"/>
                  </a:lnTo>
                  <a:lnTo>
                    <a:pt x="6427086" y="1613744"/>
                  </a:lnTo>
                  <a:lnTo>
                    <a:pt x="6408450" y="1645815"/>
                  </a:lnTo>
                  <a:lnTo>
                    <a:pt x="6405133" y="1649167"/>
                  </a:lnTo>
                  <a:lnTo>
                    <a:pt x="6401525" y="1652063"/>
                  </a:lnTo>
                  <a:lnTo>
                    <a:pt x="6397625" y="1654597"/>
                  </a:lnTo>
                  <a:lnTo>
                    <a:pt x="6393724" y="1657273"/>
                  </a:lnTo>
                  <a:lnTo>
                    <a:pt x="6389607" y="1659512"/>
                  </a:lnTo>
                  <a:lnTo>
                    <a:pt x="6385274" y="1661293"/>
                  </a:lnTo>
                  <a:lnTo>
                    <a:pt x="6380940" y="1663083"/>
                  </a:lnTo>
                  <a:lnTo>
                    <a:pt x="6376473" y="1664493"/>
                  </a:lnTo>
                  <a:lnTo>
                    <a:pt x="6371872" y="1665465"/>
                  </a:lnTo>
                  <a:lnTo>
                    <a:pt x="6367272" y="1666427"/>
                  </a:lnTo>
                  <a:lnTo>
                    <a:pt x="6362626" y="1666874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66746" y="1666874"/>
                  </a:lnTo>
                  <a:lnTo>
                    <a:pt x="62101" y="1666427"/>
                  </a:lnTo>
                  <a:lnTo>
                    <a:pt x="57500" y="1665465"/>
                  </a:lnTo>
                  <a:lnTo>
                    <a:pt x="52900" y="1664493"/>
                  </a:lnTo>
                  <a:lnTo>
                    <a:pt x="48433" y="1663083"/>
                  </a:lnTo>
                  <a:lnTo>
                    <a:pt x="44099" y="1661293"/>
                  </a:lnTo>
                  <a:lnTo>
                    <a:pt x="39765" y="1659512"/>
                  </a:lnTo>
                  <a:lnTo>
                    <a:pt x="35649" y="1657273"/>
                  </a:lnTo>
                  <a:lnTo>
                    <a:pt x="31749" y="1654597"/>
                  </a:lnTo>
                  <a:lnTo>
                    <a:pt x="27848" y="1652063"/>
                  </a:lnTo>
                  <a:lnTo>
                    <a:pt x="24240" y="1649167"/>
                  </a:lnTo>
                  <a:lnTo>
                    <a:pt x="20923" y="1645815"/>
                  </a:lnTo>
                  <a:lnTo>
                    <a:pt x="17606" y="1642471"/>
                  </a:lnTo>
                  <a:lnTo>
                    <a:pt x="1372" y="1609200"/>
                  </a:lnTo>
                  <a:lnTo>
                    <a:pt x="457" y="1604667"/>
                  </a:lnTo>
                  <a:lnTo>
                    <a:pt x="0" y="1600123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686540"/>
              <a:ext cx="6438899" cy="647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540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485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55"/>
                  </a:lnTo>
                  <a:lnTo>
                    <a:pt x="1170393" y="109524"/>
                  </a:lnTo>
                  <a:lnTo>
                    <a:pt x="1146225" y="75311"/>
                  </a:lnTo>
                  <a:lnTo>
                    <a:pt x="1114437" y="47777"/>
                  </a:lnTo>
                  <a:lnTo>
                    <a:pt x="1076934" y="28994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179"/>
                  </a:lnTo>
                  <a:lnTo>
                    <a:pt x="580199" y="63398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31"/>
                  </a:lnTo>
                  <a:lnTo>
                    <a:pt x="548271" y="278472"/>
                  </a:lnTo>
                  <a:lnTo>
                    <a:pt x="574103" y="311645"/>
                  </a:lnTo>
                  <a:lnTo>
                    <a:pt x="607199" y="337439"/>
                  </a:lnTo>
                  <a:lnTo>
                    <a:pt x="645566" y="354482"/>
                  </a:lnTo>
                  <a:lnTo>
                    <a:pt x="686904" y="36174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92"/>
                  </a:lnTo>
                  <a:lnTo>
                    <a:pt x="1099997" y="341566"/>
                  </a:lnTo>
                  <a:lnTo>
                    <a:pt x="1134313" y="317449"/>
                  </a:lnTo>
                  <a:lnTo>
                    <a:pt x="1161732" y="285597"/>
                  </a:lnTo>
                  <a:lnTo>
                    <a:pt x="1180617" y="248119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252210" cy="5602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12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150" dirty="0">
                <a:solidFill>
                  <a:srgbClr val="333333"/>
                </a:solidFill>
                <a:latin typeface="BIZ UDPゴシック"/>
                <a:cs typeface="BIZ UDPゴシック"/>
              </a:rPr>
              <a:t>ホルモン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究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オキシトシン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50" b="1" spc="-150" dirty="0">
                <a:solidFill>
                  <a:srgbClr val="333333"/>
                </a:solidFill>
                <a:latin typeface="BIZ UDPゴシック"/>
                <a:cs typeface="BIZ UDPゴシック"/>
              </a:rPr>
              <a:t>コルチゾ</a:t>
            </a:r>
            <a:r>
              <a:rPr sz="1700" b="1" spc="-13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ル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50" b="1" spc="-1160" dirty="0">
                <a:solidFill>
                  <a:srgbClr val="333333"/>
                </a:solidFill>
                <a:latin typeface="BIZ UDPゴシック"/>
                <a:cs typeface="BIZ UDPゴシック"/>
              </a:rPr>
              <a:t>セ</a:t>
            </a:r>
            <a:r>
              <a:rPr sz="1750" b="1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ロトニン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リングが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各種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ホルモンに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影響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完全収録。幸</a:t>
            </a:r>
            <a:r>
              <a:rPr sz="1400" i="1" spc="-180" dirty="0">
                <a:solidFill>
                  <a:srgbClr val="333333"/>
                </a:solidFill>
                <a:latin typeface="メイリオ"/>
                <a:cs typeface="メイリオ"/>
              </a:rPr>
              <a:t>せホルモン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増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やすメカニズムを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解説。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オキシトシン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東海⼤学他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セロトニン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有⽥秀穂博⼠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共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同研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ホルモンの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役割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相互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endParaRPr sz="1300">
              <a:latin typeface="メイリオ"/>
              <a:cs typeface="メイリオ"/>
            </a:endParaRPr>
          </a:p>
          <a:p>
            <a:pPr marR="4846955" algn="ctr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応⽤⽅</a:t>
            </a:r>
            <a:r>
              <a:rPr sz="1300" spc="-1195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主要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R="4846955" algn="ctr">
              <a:lnSpc>
                <a:spcPct val="100000"/>
              </a:lnSpc>
              <a:spcBef>
                <a:spcPts val="53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⾃然⾳聴取後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6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オキシトシン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有意増加</a:t>
            </a:r>
            <a:r>
              <a:rPr sz="1300" spc="28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85" dirty="0">
                <a:solidFill>
                  <a:srgbClr val="333333"/>
                </a:solidFill>
                <a:latin typeface="Comic Sans MS"/>
                <a:cs typeface="Comic Sans MS"/>
              </a:rPr>
              <a:t>p=0.01</a:t>
            </a:r>
            <a:r>
              <a:rPr sz="1300" spc="28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コルチゾ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有意減少</a:t>
            </a:r>
            <a:r>
              <a:rPr sz="1300" spc="2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25" dirty="0">
                <a:solidFill>
                  <a:srgbClr val="333333"/>
                </a:solidFill>
                <a:latin typeface="Comic Sans MS"/>
                <a:cs typeface="Comic Sans MS"/>
              </a:rPr>
              <a:t>p=0.043</a:t>
            </a:r>
            <a:r>
              <a:rPr sz="1300" spc="225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セロトニン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増加傾向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114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8796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59"/>
            <a:ext cx="7063105" cy="7277100"/>
            <a:chOff x="352425" y="352459"/>
            <a:chExt cx="7063105" cy="7277100"/>
          </a:xfrm>
        </p:grpSpPr>
        <p:sp>
          <p:nvSpPr>
            <p:cNvPr id="3" name="object 3"/>
            <p:cNvSpPr/>
            <p:nvPr/>
          </p:nvSpPr>
          <p:spPr>
            <a:xfrm>
              <a:off x="376237" y="357131"/>
              <a:ext cx="7038975" cy="7267575"/>
            </a:xfrm>
            <a:custGeom>
              <a:avLst/>
              <a:gdLst/>
              <a:ahLst/>
              <a:cxnLst/>
              <a:rect l="l" t="t" r="r" b="b"/>
              <a:pathLst>
                <a:path w="7038975" h="7267575">
                  <a:moveTo>
                    <a:pt x="6936628" y="7267498"/>
                  </a:moveTo>
                  <a:lnTo>
                    <a:pt x="84545" y="7267498"/>
                  </a:lnTo>
                  <a:lnTo>
                    <a:pt x="78661" y="7266755"/>
                  </a:lnTo>
                  <a:lnTo>
                    <a:pt x="35275" y="7245028"/>
                  </a:lnTo>
                  <a:lnTo>
                    <a:pt x="11948" y="7212805"/>
                  </a:lnTo>
                  <a:lnTo>
                    <a:pt x="579" y="7172324"/>
                  </a:lnTo>
                  <a:lnTo>
                    <a:pt x="0" y="7165256"/>
                  </a:lnTo>
                  <a:lnTo>
                    <a:pt x="0" y="715803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7165256"/>
                  </a:lnTo>
                  <a:lnTo>
                    <a:pt x="7027882" y="7206481"/>
                  </a:lnTo>
                  <a:lnTo>
                    <a:pt x="7001805" y="7240561"/>
                  </a:lnTo>
                  <a:lnTo>
                    <a:pt x="6964709" y="7261840"/>
                  </a:lnTo>
                  <a:lnTo>
                    <a:pt x="6943752" y="7266755"/>
                  </a:lnTo>
                  <a:lnTo>
                    <a:pt x="6936628" y="726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277100"/>
            </a:xfrm>
            <a:custGeom>
              <a:avLst/>
              <a:gdLst/>
              <a:ahLst/>
              <a:cxnLst/>
              <a:rect l="l" t="t" r="r" b="b"/>
              <a:pathLst>
                <a:path w="6999605" h="7277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162762"/>
                  </a:lnTo>
                  <a:lnTo>
                    <a:pt x="6987819" y="7202856"/>
                  </a:lnTo>
                  <a:lnTo>
                    <a:pt x="6965112" y="7236841"/>
                  </a:lnTo>
                  <a:lnTo>
                    <a:pt x="6931126" y="7259599"/>
                  </a:lnTo>
                  <a:lnTo>
                    <a:pt x="6891020" y="7267575"/>
                  </a:lnTo>
                  <a:lnTo>
                    <a:pt x="52082" y="7267575"/>
                  </a:lnTo>
                  <a:lnTo>
                    <a:pt x="26085" y="7259244"/>
                  </a:lnTo>
                  <a:lnTo>
                    <a:pt x="0" y="7264463"/>
                  </a:lnTo>
                  <a:lnTo>
                    <a:pt x="40817" y="7276554"/>
                  </a:lnTo>
                  <a:lnTo>
                    <a:pt x="52082" y="7277100"/>
                  </a:lnTo>
                  <a:lnTo>
                    <a:pt x="6891020" y="7277100"/>
                  </a:lnTo>
                  <a:lnTo>
                    <a:pt x="6934771" y="7268400"/>
                  </a:lnTo>
                  <a:lnTo>
                    <a:pt x="6936511" y="7267575"/>
                  </a:lnTo>
                  <a:lnTo>
                    <a:pt x="6944957" y="7263587"/>
                  </a:lnTo>
                  <a:lnTo>
                    <a:pt x="6954545" y="7257859"/>
                  </a:lnTo>
                  <a:lnTo>
                    <a:pt x="6963499" y="7251205"/>
                  </a:lnTo>
                  <a:lnTo>
                    <a:pt x="6971843" y="7243623"/>
                  </a:lnTo>
                  <a:lnTo>
                    <a:pt x="6972300" y="7243127"/>
                  </a:lnTo>
                  <a:lnTo>
                    <a:pt x="6979425" y="7235228"/>
                  </a:lnTo>
                  <a:lnTo>
                    <a:pt x="6986079" y="7226274"/>
                  </a:lnTo>
                  <a:lnTo>
                    <a:pt x="6991807" y="7216686"/>
                  </a:lnTo>
                  <a:lnTo>
                    <a:pt x="6996620" y="7206501"/>
                  </a:lnTo>
                  <a:lnTo>
                    <a:pt x="6999071" y="7199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10"/>
              <a:ext cx="88900" cy="7252334"/>
            </a:xfrm>
            <a:custGeom>
              <a:avLst/>
              <a:gdLst/>
              <a:ahLst/>
              <a:cxnLst/>
              <a:rect l="l" t="t" r="r" b="b"/>
              <a:pathLst>
                <a:path w="88900" h="7252334">
                  <a:moveTo>
                    <a:pt x="62524" y="7252111"/>
                  </a:moveTo>
                  <a:lnTo>
                    <a:pt x="25900" y="7222781"/>
                  </a:lnTo>
                  <a:lnTo>
                    <a:pt x="4894" y="7183435"/>
                  </a:lnTo>
                  <a:lnTo>
                    <a:pt x="0" y="7150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50305"/>
                  </a:lnTo>
                  <a:lnTo>
                    <a:pt x="52700" y="7190400"/>
                  </a:lnTo>
                  <a:lnTo>
                    <a:pt x="72022" y="7231338"/>
                  </a:lnTo>
                  <a:lnTo>
                    <a:pt x="88528" y="7246915"/>
                  </a:lnTo>
                  <a:lnTo>
                    <a:pt x="62524" y="7252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4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426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546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15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4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56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798"/>
                  </a:moveTo>
                  <a:lnTo>
                    <a:pt x="66746" y="1666798"/>
                  </a:lnTo>
                  <a:lnTo>
                    <a:pt x="62101" y="1666350"/>
                  </a:lnTo>
                  <a:lnTo>
                    <a:pt x="24240" y="1649167"/>
                  </a:lnTo>
                  <a:lnTo>
                    <a:pt x="2287" y="1613896"/>
                  </a:lnTo>
                  <a:lnTo>
                    <a:pt x="0" y="1600047"/>
                  </a:lnTo>
                  <a:lnTo>
                    <a:pt x="0" y="1595437"/>
                  </a:lnTo>
                  <a:lnTo>
                    <a:pt x="0" y="66751"/>
                  </a:lnTo>
                  <a:lnTo>
                    <a:pt x="14645" y="27679"/>
                  </a:lnTo>
                  <a:lnTo>
                    <a:pt x="48433" y="3648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1600047"/>
                  </a:lnTo>
                  <a:lnTo>
                    <a:pt x="6414728" y="1638899"/>
                  </a:lnTo>
                  <a:lnTo>
                    <a:pt x="6380940" y="1663150"/>
                  </a:lnTo>
                  <a:lnTo>
                    <a:pt x="6367272" y="1666350"/>
                  </a:lnTo>
                  <a:lnTo>
                    <a:pt x="6362626" y="16667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6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487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28916" y="62064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047"/>
                  </a:lnTo>
                  <a:lnTo>
                    <a:pt x="6428916" y="1604667"/>
                  </a:lnTo>
                  <a:lnTo>
                    <a:pt x="6428001" y="1609277"/>
                  </a:lnTo>
                  <a:lnTo>
                    <a:pt x="6427086" y="1613896"/>
                  </a:lnTo>
                  <a:lnTo>
                    <a:pt x="6425731" y="1618354"/>
                  </a:lnTo>
                  <a:lnTo>
                    <a:pt x="6423936" y="1622669"/>
                  </a:lnTo>
                  <a:lnTo>
                    <a:pt x="6422141" y="1626993"/>
                  </a:lnTo>
                  <a:lnTo>
                    <a:pt x="6419940" y="1631079"/>
                  </a:lnTo>
                  <a:lnTo>
                    <a:pt x="6417334" y="1634947"/>
                  </a:lnTo>
                  <a:lnTo>
                    <a:pt x="6414728" y="1638899"/>
                  </a:lnTo>
                  <a:lnTo>
                    <a:pt x="6380940" y="1663150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31749" y="1654816"/>
                  </a:lnTo>
                  <a:lnTo>
                    <a:pt x="12039" y="1634947"/>
                  </a:lnTo>
                  <a:lnTo>
                    <a:pt x="9433" y="1631079"/>
                  </a:lnTo>
                  <a:lnTo>
                    <a:pt x="7232" y="1626993"/>
                  </a:lnTo>
                  <a:lnTo>
                    <a:pt x="5437" y="1622669"/>
                  </a:lnTo>
                  <a:lnTo>
                    <a:pt x="3642" y="1618354"/>
                  </a:lnTo>
                  <a:lnTo>
                    <a:pt x="2287" y="1613896"/>
                  </a:lnTo>
                  <a:lnTo>
                    <a:pt x="1372" y="1609277"/>
                  </a:lnTo>
                  <a:lnTo>
                    <a:pt x="457" y="1604667"/>
                  </a:lnTo>
                  <a:lnTo>
                    <a:pt x="0" y="1600047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686541"/>
              <a:ext cx="6438899" cy="647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62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14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29"/>
                  </a:lnTo>
                  <a:lnTo>
                    <a:pt x="1170393" y="109562"/>
                  </a:lnTo>
                  <a:lnTo>
                    <a:pt x="1146225" y="75311"/>
                  </a:lnTo>
                  <a:lnTo>
                    <a:pt x="1114437" y="47840"/>
                  </a:lnTo>
                  <a:lnTo>
                    <a:pt x="1076934" y="28994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41"/>
                  </a:lnTo>
                  <a:lnTo>
                    <a:pt x="580199" y="63347"/>
                  </a:lnTo>
                  <a:lnTo>
                    <a:pt x="552780" y="95173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31"/>
                  </a:lnTo>
                  <a:lnTo>
                    <a:pt x="548271" y="278511"/>
                  </a:lnTo>
                  <a:lnTo>
                    <a:pt x="574103" y="311569"/>
                  </a:lnTo>
                  <a:lnTo>
                    <a:pt x="607199" y="337362"/>
                  </a:lnTo>
                  <a:lnTo>
                    <a:pt x="645566" y="354393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28"/>
                  </a:lnTo>
                  <a:lnTo>
                    <a:pt x="1099997" y="341490"/>
                  </a:lnTo>
                  <a:lnTo>
                    <a:pt x="1134313" y="317373"/>
                  </a:lnTo>
                  <a:lnTo>
                    <a:pt x="1161732" y="285673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254115" cy="5601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13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睡眠研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究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ノンレム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に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関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する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49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影響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完全収録。睡眠改善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のエビデンスを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理解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し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たい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京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⼤学⼤学院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睡眠研</a:t>
            </a:r>
            <a:r>
              <a:rPr sz="1300" spc="-50" dirty="0">
                <a:solidFill>
                  <a:srgbClr val="333333"/>
                </a:solidFill>
                <a:latin typeface="SimSun"/>
                <a:cs typeface="SimSun"/>
              </a:rPr>
              <a:t>究</a:t>
            </a:r>
            <a:endParaRPr sz="13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ノンレム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割合変化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するアンケ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結果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介⼊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期間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最適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聴取時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考察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主要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回</a:t>
            </a:r>
            <a:r>
              <a:rPr sz="1350" spc="90" dirty="0">
                <a:solidFill>
                  <a:srgbClr val="333333"/>
                </a:solidFill>
                <a:latin typeface="Comic Sans MS"/>
                <a:cs typeface="Comic Sans MS"/>
              </a:rPr>
              <a:t>×15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⾃然⾳聴取</a:t>
            </a:r>
            <a:r>
              <a:rPr sz="1300" spc="40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405" dirty="0">
                <a:solidFill>
                  <a:srgbClr val="333333"/>
                </a:solidFill>
                <a:latin typeface="Comic Sans MS"/>
                <a:cs typeface="Comic Sans MS"/>
              </a:rPr>
              <a:t>12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765" dirty="0">
                <a:solidFill>
                  <a:srgbClr val="333333"/>
                </a:solidFill>
                <a:latin typeface="BIZ UDPゴシック"/>
                <a:cs typeface="BIZ UDPゴシック"/>
              </a:rPr>
              <a:t>）：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値有意低下</a:t>
            </a:r>
            <a:r>
              <a:rPr sz="130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60" dirty="0">
                <a:solidFill>
                  <a:srgbClr val="333333"/>
                </a:solidFill>
                <a:latin typeface="Comic Sans MS"/>
                <a:cs typeface="Comic Sans MS"/>
              </a:rPr>
              <a:t>p&lt;0.05</a:t>
            </a:r>
            <a:r>
              <a:rPr sz="1300" spc="26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ノンレム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睡眠割合増加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質向上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115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8796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60"/>
            <a:ext cx="7063105" cy="7277100"/>
            <a:chOff x="352425" y="352460"/>
            <a:chExt cx="7063105" cy="7277100"/>
          </a:xfrm>
        </p:grpSpPr>
        <p:sp>
          <p:nvSpPr>
            <p:cNvPr id="3" name="object 3"/>
            <p:cNvSpPr/>
            <p:nvPr/>
          </p:nvSpPr>
          <p:spPr>
            <a:xfrm>
              <a:off x="376237" y="357131"/>
              <a:ext cx="7038975" cy="7267575"/>
            </a:xfrm>
            <a:custGeom>
              <a:avLst/>
              <a:gdLst/>
              <a:ahLst/>
              <a:cxnLst/>
              <a:rect l="l" t="t" r="r" b="b"/>
              <a:pathLst>
                <a:path w="7038975" h="7267575">
                  <a:moveTo>
                    <a:pt x="6936628" y="7267498"/>
                  </a:moveTo>
                  <a:lnTo>
                    <a:pt x="84545" y="7267498"/>
                  </a:lnTo>
                  <a:lnTo>
                    <a:pt x="78661" y="7266831"/>
                  </a:lnTo>
                  <a:lnTo>
                    <a:pt x="35275" y="7244952"/>
                  </a:lnTo>
                  <a:lnTo>
                    <a:pt x="11948" y="7212653"/>
                  </a:lnTo>
                  <a:lnTo>
                    <a:pt x="579" y="7172324"/>
                  </a:lnTo>
                  <a:lnTo>
                    <a:pt x="0" y="7165256"/>
                  </a:lnTo>
                  <a:lnTo>
                    <a:pt x="0" y="715803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165256"/>
                  </a:lnTo>
                  <a:lnTo>
                    <a:pt x="7027882" y="7206481"/>
                  </a:lnTo>
                  <a:lnTo>
                    <a:pt x="7001805" y="7240409"/>
                  </a:lnTo>
                  <a:lnTo>
                    <a:pt x="6964709" y="7261840"/>
                  </a:lnTo>
                  <a:lnTo>
                    <a:pt x="6943752" y="7266755"/>
                  </a:lnTo>
                  <a:lnTo>
                    <a:pt x="6936628" y="726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277100"/>
            </a:xfrm>
            <a:custGeom>
              <a:avLst/>
              <a:gdLst/>
              <a:ahLst/>
              <a:cxnLst/>
              <a:rect l="l" t="t" r="r" b="b"/>
              <a:pathLst>
                <a:path w="6999605" h="7277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162762"/>
                  </a:lnTo>
                  <a:lnTo>
                    <a:pt x="6987819" y="7202856"/>
                  </a:lnTo>
                  <a:lnTo>
                    <a:pt x="6965112" y="7236841"/>
                  </a:lnTo>
                  <a:lnTo>
                    <a:pt x="6931126" y="7259599"/>
                  </a:lnTo>
                  <a:lnTo>
                    <a:pt x="6891020" y="7267575"/>
                  </a:lnTo>
                  <a:lnTo>
                    <a:pt x="52082" y="7267575"/>
                  </a:lnTo>
                  <a:lnTo>
                    <a:pt x="26085" y="7259244"/>
                  </a:lnTo>
                  <a:lnTo>
                    <a:pt x="0" y="7264463"/>
                  </a:lnTo>
                  <a:lnTo>
                    <a:pt x="40817" y="7276554"/>
                  </a:lnTo>
                  <a:lnTo>
                    <a:pt x="52082" y="7277100"/>
                  </a:lnTo>
                  <a:lnTo>
                    <a:pt x="6891020" y="7277100"/>
                  </a:lnTo>
                  <a:lnTo>
                    <a:pt x="6934771" y="7268400"/>
                  </a:lnTo>
                  <a:lnTo>
                    <a:pt x="6936511" y="7267575"/>
                  </a:lnTo>
                  <a:lnTo>
                    <a:pt x="6944957" y="7263587"/>
                  </a:lnTo>
                  <a:lnTo>
                    <a:pt x="6954545" y="7257859"/>
                  </a:lnTo>
                  <a:lnTo>
                    <a:pt x="6963499" y="7251205"/>
                  </a:lnTo>
                  <a:lnTo>
                    <a:pt x="6971843" y="7243623"/>
                  </a:lnTo>
                  <a:lnTo>
                    <a:pt x="6972300" y="7243127"/>
                  </a:lnTo>
                  <a:lnTo>
                    <a:pt x="6979425" y="7235228"/>
                  </a:lnTo>
                  <a:lnTo>
                    <a:pt x="6986079" y="7226274"/>
                  </a:lnTo>
                  <a:lnTo>
                    <a:pt x="6991807" y="7216699"/>
                  </a:lnTo>
                  <a:lnTo>
                    <a:pt x="6996620" y="7206501"/>
                  </a:lnTo>
                  <a:lnTo>
                    <a:pt x="6999071" y="7199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11"/>
              <a:ext cx="88900" cy="7252334"/>
            </a:xfrm>
            <a:custGeom>
              <a:avLst/>
              <a:gdLst/>
              <a:ahLst/>
              <a:cxnLst/>
              <a:rect l="l" t="t" r="r" b="b"/>
              <a:pathLst>
                <a:path w="88900" h="7252334">
                  <a:moveTo>
                    <a:pt x="62524" y="7252111"/>
                  </a:moveTo>
                  <a:lnTo>
                    <a:pt x="25900" y="7222781"/>
                  </a:lnTo>
                  <a:lnTo>
                    <a:pt x="4894" y="7183435"/>
                  </a:lnTo>
                  <a:lnTo>
                    <a:pt x="0" y="7150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50305"/>
                  </a:lnTo>
                  <a:lnTo>
                    <a:pt x="52700" y="7190400"/>
                  </a:lnTo>
                  <a:lnTo>
                    <a:pt x="72022" y="7231338"/>
                  </a:lnTo>
                  <a:lnTo>
                    <a:pt x="88528" y="7246915"/>
                  </a:lnTo>
                  <a:lnTo>
                    <a:pt x="62524" y="7252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9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3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56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798"/>
                  </a:moveTo>
                  <a:lnTo>
                    <a:pt x="66746" y="1666798"/>
                  </a:lnTo>
                  <a:lnTo>
                    <a:pt x="62101" y="1666350"/>
                  </a:lnTo>
                  <a:lnTo>
                    <a:pt x="24240" y="1649167"/>
                  </a:lnTo>
                  <a:lnTo>
                    <a:pt x="2287" y="1613896"/>
                  </a:lnTo>
                  <a:lnTo>
                    <a:pt x="0" y="1600123"/>
                  </a:lnTo>
                  <a:lnTo>
                    <a:pt x="0" y="1595437"/>
                  </a:lnTo>
                  <a:lnTo>
                    <a:pt x="0" y="66674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600123"/>
                  </a:lnTo>
                  <a:lnTo>
                    <a:pt x="6414728" y="1638966"/>
                  </a:lnTo>
                  <a:lnTo>
                    <a:pt x="6380940" y="1663150"/>
                  </a:lnTo>
                  <a:lnTo>
                    <a:pt x="6367272" y="1666350"/>
                  </a:lnTo>
                  <a:lnTo>
                    <a:pt x="6362626" y="16667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6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7606" y="24183"/>
                  </a:lnTo>
                  <a:lnTo>
                    <a:pt x="20923" y="20907"/>
                  </a:lnTo>
                  <a:lnTo>
                    <a:pt x="24240" y="17564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397624" y="11982"/>
                  </a:lnTo>
                  <a:lnTo>
                    <a:pt x="6401525" y="14582"/>
                  </a:lnTo>
                  <a:lnTo>
                    <a:pt x="6405133" y="17564"/>
                  </a:lnTo>
                  <a:lnTo>
                    <a:pt x="6408450" y="20907"/>
                  </a:lnTo>
                  <a:lnTo>
                    <a:pt x="6411767" y="24183"/>
                  </a:lnTo>
                  <a:lnTo>
                    <a:pt x="6423936" y="44053"/>
                  </a:lnTo>
                  <a:lnTo>
                    <a:pt x="6425731" y="48291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123"/>
                  </a:lnTo>
                  <a:lnTo>
                    <a:pt x="6428916" y="1604743"/>
                  </a:lnTo>
                  <a:lnTo>
                    <a:pt x="6428001" y="1609277"/>
                  </a:lnTo>
                  <a:lnTo>
                    <a:pt x="6427086" y="1613896"/>
                  </a:lnTo>
                  <a:lnTo>
                    <a:pt x="6425731" y="1618354"/>
                  </a:lnTo>
                  <a:lnTo>
                    <a:pt x="6423936" y="1622669"/>
                  </a:lnTo>
                  <a:lnTo>
                    <a:pt x="6422141" y="1626993"/>
                  </a:lnTo>
                  <a:lnTo>
                    <a:pt x="6393724" y="1657273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31749" y="1654749"/>
                  </a:lnTo>
                  <a:lnTo>
                    <a:pt x="5437" y="1622669"/>
                  </a:lnTo>
                  <a:lnTo>
                    <a:pt x="3642" y="1618354"/>
                  </a:lnTo>
                  <a:lnTo>
                    <a:pt x="2287" y="1613896"/>
                  </a:lnTo>
                  <a:lnTo>
                    <a:pt x="1372" y="1609277"/>
                  </a:lnTo>
                  <a:lnTo>
                    <a:pt x="457" y="1604743"/>
                  </a:lnTo>
                  <a:lnTo>
                    <a:pt x="0" y="1600123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686542"/>
              <a:ext cx="6438899" cy="647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724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069"/>
                  </a:moveTo>
                  <a:lnTo>
                    <a:pt x="365379" y="29540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05"/>
                  </a:lnTo>
                  <a:lnTo>
                    <a:pt x="3886" y="51485"/>
                  </a:lnTo>
                  <a:lnTo>
                    <a:pt x="0" y="71069"/>
                  </a:lnTo>
                  <a:lnTo>
                    <a:pt x="0" y="304723"/>
                  </a:lnTo>
                  <a:lnTo>
                    <a:pt x="0" y="309702"/>
                  </a:lnTo>
                  <a:lnTo>
                    <a:pt x="15633" y="351155"/>
                  </a:lnTo>
                  <a:lnTo>
                    <a:pt x="51663" y="376897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96"/>
                  </a:lnTo>
                  <a:lnTo>
                    <a:pt x="381000" y="309702"/>
                  </a:lnTo>
                  <a:lnTo>
                    <a:pt x="381000" y="71069"/>
                  </a:lnTo>
                  <a:close/>
                </a:path>
                <a:path w="1190625" h="381000">
                  <a:moveTo>
                    <a:pt x="1190625" y="190423"/>
                  </a:moveTo>
                  <a:lnTo>
                    <a:pt x="1185494" y="148653"/>
                  </a:lnTo>
                  <a:lnTo>
                    <a:pt x="1170393" y="109550"/>
                  </a:lnTo>
                  <a:lnTo>
                    <a:pt x="1146225" y="75234"/>
                  </a:lnTo>
                  <a:lnTo>
                    <a:pt x="1114437" y="47764"/>
                  </a:lnTo>
                  <a:lnTo>
                    <a:pt x="1076934" y="28917"/>
                  </a:lnTo>
                  <a:lnTo>
                    <a:pt x="1035989" y="19761"/>
                  </a:lnTo>
                  <a:lnTo>
                    <a:pt x="1019175" y="18973"/>
                  </a:lnTo>
                  <a:lnTo>
                    <a:pt x="695325" y="18973"/>
                  </a:lnTo>
                  <a:lnTo>
                    <a:pt x="653656" y="24041"/>
                  </a:lnTo>
                  <a:lnTo>
                    <a:pt x="614514" y="39116"/>
                  </a:lnTo>
                  <a:lnTo>
                    <a:pt x="580199" y="63309"/>
                  </a:lnTo>
                  <a:lnTo>
                    <a:pt x="552780" y="95097"/>
                  </a:lnTo>
                  <a:lnTo>
                    <a:pt x="533895" y="132511"/>
                  </a:lnTo>
                  <a:lnTo>
                    <a:pt x="524700" y="173558"/>
                  </a:lnTo>
                  <a:lnTo>
                    <a:pt x="523875" y="190423"/>
                  </a:lnTo>
                  <a:lnTo>
                    <a:pt x="524090" y="198831"/>
                  </a:lnTo>
                  <a:lnTo>
                    <a:pt x="531266" y="240118"/>
                  </a:lnTo>
                  <a:lnTo>
                    <a:pt x="548271" y="278371"/>
                  </a:lnTo>
                  <a:lnTo>
                    <a:pt x="574103" y="311569"/>
                  </a:lnTo>
                  <a:lnTo>
                    <a:pt x="607199" y="337426"/>
                  </a:lnTo>
                  <a:lnTo>
                    <a:pt x="645566" y="354393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1019175" y="361873"/>
                  </a:lnTo>
                  <a:lnTo>
                    <a:pt x="1060856" y="356603"/>
                  </a:lnTo>
                  <a:lnTo>
                    <a:pt x="1099997" y="341490"/>
                  </a:lnTo>
                  <a:lnTo>
                    <a:pt x="1134313" y="317373"/>
                  </a:lnTo>
                  <a:lnTo>
                    <a:pt x="1161732" y="285521"/>
                  </a:lnTo>
                  <a:lnTo>
                    <a:pt x="1180617" y="248081"/>
                  </a:lnTo>
                  <a:lnTo>
                    <a:pt x="1189812" y="207187"/>
                  </a:lnTo>
                  <a:lnTo>
                    <a:pt x="1190625" y="190423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199505" cy="5602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14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⼼理</a:t>
            </a:r>
            <a:r>
              <a:rPr sz="175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テストデ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800" b="1" spc="-270" dirty="0">
                <a:solidFill>
                  <a:srgbClr val="333333"/>
                </a:solidFill>
                <a:latin typeface="Comic Sans MS"/>
                <a:cs typeface="Comic Sans MS"/>
              </a:rPr>
              <a:t>STAI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不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安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軽減効果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400" i="1" spc="-165" dirty="0">
                <a:solidFill>
                  <a:srgbClr val="333333"/>
                </a:solidFill>
                <a:latin typeface="Comic Sans MS"/>
                <a:cs typeface="Comic Sans MS"/>
              </a:rPr>
              <a:t>-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特性不安検査</a:t>
            </a:r>
            <a:r>
              <a:rPr sz="1350" i="1" spc="-235" dirty="0">
                <a:solidFill>
                  <a:srgbClr val="333333"/>
                </a:solidFill>
                <a:latin typeface="メイリオ"/>
                <a:cs typeface="メイリオ"/>
              </a:rPr>
              <a:t>（</a:t>
            </a:r>
            <a:r>
              <a:rPr sz="1400" i="1" spc="-235" dirty="0">
                <a:solidFill>
                  <a:srgbClr val="333333"/>
                </a:solidFill>
                <a:latin typeface="Comic Sans MS"/>
                <a:cs typeface="Comic Sans MS"/>
              </a:rPr>
              <a:t>STAI</a:t>
            </a:r>
            <a:r>
              <a:rPr sz="1350" i="1" spc="-235" dirty="0">
                <a:solidFill>
                  <a:srgbClr val="333333"/>
                </a:solidFill>
                <a:latin typeface="メイリオ"/>
                <a:cs typeface="メイリオ"/>
              </a:rPr>
              <a:t>）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研究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完全収録。⾃然⾳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不安軽減効果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数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理解。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40" dirty="0">
                <a:solidFill>
                  <a:srgbClr val="333333"/>
                </a:solidFill>
                <a:latin typeface="Comic Sans MS"/>
                <a:cs typeface="Comic Sans MS"/>
              </a:rPr>
              <a:t>STAI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概要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測定⽅法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⾃然⾳聴取前後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⽐較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スタ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ライトヒ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参加者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継続聴取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のリラクセ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ション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⽐較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主要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分聴取後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状態不安得点</a:t>
            </a:r>
            <a:r>
              <a:rPr sz="1300" spc="17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75" dirty="0">
                <a:solidFill>
                  <a:srgbClr val="333333"/>
                </a:solidFill>
                <a:latin typeface="Comic Sans MS"/>
                <a:cs typeface="Comic Sans MS"/>
              </a:rPr>
              <a:t>37.7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点</a:t>
            </a:r>
            <a:r>
              <a:rPr sz="1300" spc="-25" dirty="0">
                <a:solidFill>
                  <a:srgbClr val="333333"/>
                </a:solidFill>
                <a:latin typeface="BIZ UDPゴシック"/>
                <a:cs typeface="BIZ UDPゴシック"/>
              </a:rPr>
              <a:t>→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26.1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約</a:t>
            </a:r>
            <a:r>
              <a:rPr sz="1350" spc="-65" dirty="0">
                <a:solidFill>
                  <a:srgbClr val="333333"/>
                </a:solidFill>
                <a:latin typeface="Comic Sans MS"/>
                <a:cs typeface="Comic Sans MS"/>
              </a:rPr>
              <a:t>30%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⼈中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効果確認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柔軟性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3.3cm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向上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116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8796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61"/>
            <a:ext cx="7063105" cy="7277100"/>
            <a:chOff x="352425" y="352461"/>
            <a:chExt cx="7063105" cy="7277100"/>
          </a:xfrm>
        </p:grpSpPr>
        <p:sp>
          <p:nvSpPr>
            <p:cNvPr id="3" name="object 3"/>
            <p:cNvSpPr/>
            <p:nvPr/>
          </p:nvSpPr>
          <p:spPr>
            <a:xfrm>
              <a:off x="376237" y="357131"/>
              <a:ext cx="7038975" cy="7267575"/>
            </a:xfrm>
            <a:custGeom>
              <a:avLst/>
              <a:gdLst/>
              <a:ahLst/>
              <a:cxnLst/>
              <a:rect l="l" t="t" r="r" b="b"/>
              <a:pathLst>
                <a:path w="7038975" h="7267575">
                  <a:moveTo>
                    <a:pt x="6936628" y="7267498"/>
                  </a:moveTo>
                  <a:lnTo>
                    <a:pt x="84545" y="7267498"/>
                  </a:lnTo>
                  <a:lnTo>
                    <a:pt x="78661" y="7266831"/>
                  </a:lnTo>
                  <a:lnTo>
                    <a:pt x="35275" y="7244952"/>
                  </a:lnTo>
                  <a:lnTo>
                    <a:pt x="11948" y="7212729"/>
                  </a:lnTo>
                  <a:lnTo>
                    <a:pt x="579" y="7172324"/>
                  </a:lnTo>
                  <a:lnTo>
                    <a:pt x="0" y="7165180"/>
                  </a:lnTo>
                  <a:lnTo>
                    <a:pt x="0" y="715803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165180"/>
                  </a:lnTo>
                  <a:lnTo>
                    <a:pt x="7027882" y="7206481"/>
                  </a:lnTo>
                  <a:lnTo>
                    <a:pt x="7001805" y="7240409"/>
                  </a:lnTo>
                  <a:lnTo>
                    <a:pt x="6964709" y="7261773"/>
                  </a:lnTo>
                  <a:lnTo>
                    <a:pt x="6943752" y="7266755"/>
                  </a:lnTo>
                  <a:lnTo>
                    <a:pt x="6936628" y="7267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277100"/>
            </a:xfrm>
            <a:custGeom>
              <a:avLst/>
              <a:gdLst/>
              <a:ahLst/>
              <a:cxnLst/>
              <a:rect l="l" t="t" r="r" b="b"/>
              <a:pathLst>
                <a:path w="6999605" h="7277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162762"/>
                  </a:lnTo>
                  <a:lnTo>
                    <a:pt x="6987819" y="7202856"/>
                  </a:lnTo>
                  <a:lnTo>
                    <a:pt x="6965112" y="7236841"/>
                  </a:lnTo>
                  <a:lnTo>
                    <a:pt x="6931126" y="7259599"/>
                  </a:lnTo>
                  <a:lnTo>
                    <a:pt x="6891020" y="7267575"/>
                  </a:lnTo>
                  <a:lnTo>
                    <a:pt x="52082" y="7267575"/>
                  </a:lnTo>
                  <a:lnTo>
                    <a:pt x="26085" y="7259244"/>
                  </a:lnTo>
                  <a:lnTo>
                    <a:pt x="0" y="7264463"/>
                  </a:lnTo>
                  <a:lnTo>
                    <a:pt x="40817" y="7276554"/>
                  </a:lnTo>
                  <a:lnTo>
                    <a:pt x="52082" y="7277100"/>
                  </a:lnTo>
                  <a:lnTo>
                    <a:pt x="6891020" y="7277100"/>
                  </a:lnTo>
                  <a:lnTo>
                    <a:pt x="6934771" y="7268400"/>
                  </a:lnTo>
                  <a:lnTo>
                    <a:pt x="6936511" y="7267575"/>
                  </a:lnTo>
                  <a:lnTo>
                    <a:pt x="6944957" y="7263587"/>
                  </a:lnTo>
                  <a:lnTo>
                    <a:pt x="6954545" y="7257859"/>
                  </a:lnTo>
                  <a:lnTo>
                    <a:pt x="6963499" y="7251205"/>
                  </a:lnTo>
                  <a:lnTo>
                    <a:pt x="6971843" y="7243623"/>
                  </a:lnTo>
                  <a:lnTo>
                    <a:pt x="6972300" y="7243127"/>
                  </a:lnTo>
                  <a:lnTo>
                    <a:pt x="6979425" y="7235241"/>
                  </a:lnTo>
                  <a:lnTo>
                    <a:pt x="6986079" y="7226274"/>
                  </a:lnTo>
                  <a:lnTo>
                    <a:pt x="6991807" y="7216699"/>
                  </a:lnTo>
                  <a:lnTo>
                    <a:pt x="6996620" y="7206501"/>
                  </a:lnTo>
                  <a:lnTo>
                    <a:pt x="6999071" y="7199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11"/>
              <a:ext cx="88900" cy="7252334"/>
            </a:xfrm>
            <a:custGeom>
              <a:avLst/>
              <a:gdLst/>
              <a:ahLst/>
              <a:cxnLst/>
              <a:rect l="l" t="t" r="r" b="b"/>
              <a:pathLst>
                <a:path w="88900" h="7252334">
                  <a:moveTo>
                    <a:pt x="62524" y="7252111"/>
                  </a:moveTo>
                  <a:lnTo>
                    <a:pt x="25900" y="7222781"/>
                  </a:lnTo>
                  <a:lnTo>
                    <a:pt x="4894" y="7183435"/>
                  </a:lnTo>
                  <a:lnTo>
                    <a:pt x="0" y="7150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50305"/>
                  </a:lnTo>
                  <a:lnTo>
                    <a:pt x="52700" y="7190400"/>
                  </a:lnTo>
                  <a:lnTo>
                    <a:pt x="72022" y="7231338"/>
                  </a:lnTo>
                  <a:lnTo>
                    <a:pt x="88528" y="7246915"/>
                  </a:lnTo>
                  <a:lnTo>
                    <a:pt x="62524" y="7252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8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3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55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874"/>
                  </a:moveTo>
                  <a:lnTo>
                    <a:pt x="66746" y="1666874"/>
                  </a:lnTo>
                  <a:lnTo>
                    <a:pt x="62101" y="1666350"/>
                  </a:lnTo>
                  <a:lnTo>
                    <a:pt x="24240" y="1649234"/>
                  </a:lnTo>
                  <a:lnTo>
                    <a:pt x="2287" y="1613820"/>
                  </a:lnTo>
                  <a:lnTo>
                    <a:pt x="0" y="1600047"/>
                  </a:lnTo>
                  <a:lnTo>
                    <a:pt x="0" y="1595437"/>
                  </a:lnTo>
                  <a:lnTo>
                    <a:pt x="0" y="66674"/>
                  </a:lnTo>
                  <a:lnTo>
                    <a:pt x="14645" y="27755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82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600047"/>
                  </a:lnTo>
                  <a:lnTo>
                    <a:pt x="6414728" y="1638966"/>
                  </a:lnTo>
                  <a:lnTo>
                    <a:pt x="6380940" y="1663150"/>
                  </a:lnTo>
                  <a:lnTo>
                    <a:pt x="6367272" y="1666350"/>
                  </a:lnTo>
                  <a:lnTo>
                    <a:pt x="6362626" y="1666874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5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2039" y="31699"/>
                  </a:lnTo>
                  <a:lnTo>
                    <a:pt x="14645" y="27755"/>
                  </a:lnTo>
                  <a:lnTo>
                    <a:pt x="17606" y="24183"/>
                  </a:lnTo>
                  <a:lnTo>
                    <a:pt x="20923" y="20907"/>
                  </a:lnTo>
                  <a:lnTo>
                    <a:pt x="24240" y="17564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72"/>
                  </a:lnTo>
                  <a:lnTo>
                    <a:pt x="39765" y="7143"/>
                  </a:lnTo>
                  <a:lnTo>
                    <a:pt x="44099" y="5362"/>
                  </a:lnTo>
                  <a:lnTo>
                    <a:pt x="48433" y="3571"/>
                  </a:lnTo>
                  <a:lnTo>
                    <a:pt x="52900" y="2228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408450" y="20907"/>
                  </a:lnTo>
                  <a:lnTo>
                    <a:pt x="6411767" y="24183"/>
                  </a:lnTo>
                  <a:lnTo>
                    <a:pt x="6414728" y="27755"/>
                  </a:lnTo>
                  <a:lnTo>
                    <a:pt x="6417334" y="31699"/>
                  </a:lnTo>
                  <a:lnTo>
                    <a:pt x="6419940" y="35566"/>
                  </a:lnTo>
                  <a:lnTo>
                    <a:pt x="6422141" y="39662"/>
                  </a:lnTo>
                  <a:lnTo>
                    <a:pt x="6423936" y="44053"/>
                  </a:lnTo>
                  <a:lnTo>
                    <a:pt x="6425731" y="48291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047"/>
                  </a:lnTo>
                  <a:lnTo>
                    <a:pt x="6428916" y="1604667"/>
                  </a:lnTo>
                  <a:lnTo>
                    <a:pt x="6428001" y="1609200"/>
                  </a:lnTo>
                  <a:lnTo>
                    <a:pt x="6427086" y="1613820"/>
                  </a:lnTo>
                  <a:lnTo>
                    <a:pt x="6405133" y="1649234"/>
                  </a:lnTo>
                  <a:lnTo>
                    <a:pt x="6371872" y="1665388"/>
                  </a:lnTo>
                  <a:lnTo>
                    <a:pt x="6367272" y="1666350"/>
                  </a:lnTo>
                  <a:lnTo>
                    <a:pt x="6362626" y="1666874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66746" y="1666874"/>
                  </a:lnTo>
                  <a:lnTo>
                    <a:pt x="62101" y="1666350"/>
                  </a:lnTo>
                  <a:lnTo>
                    <a:pt x="57500" y="1665388"/>
                  </a:lnTo>
                  <a:lnTo>
                    <a:pt x="52900" y="1664493"/>
                  </a:lnTo>
                  <a:lnTo>
                    <a:pt x="17606" y="1642614"/>
                  </a:lnTo>
                  <a:lnTo>
                    <a:pt x="1372" y="1609200"/>
                  </a:lnTo>
                  <a:lnTo>
                    <a:pt x="457" y="1604667"/>
                  </a:lnTo>
                  <a:lnTo>
                    <a:pt x="0" y="1600047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686542"/>
              <a:ext cx="6438899" cy="647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21"/>
                  </a:moveTo>
                  <a:lnTo>
                    <a:pt x="365379" y="29692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62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550"/>
                  </a:lnTo>
                  <a:lnTo>
                    <a:pt x="1146225" y="75298"/>
                  </a:lnTo>
                  <a:lnTo>
                    <a:pt x="1114437" y="47777"/>
                  </a:lnTo>
                  <a:lnTo>
                    <a:pt x="1076934" y="29006"/>
                  </a:lnTo>
                  <a:lnTo>
                    <a:pt x="1035989" y="19939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59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31"/>
                  </a:lnTo>
                  <a:lnTo>
                    <a:pt x="548271" y="278472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30"/>
                  </a:lnTo>
                  <a:lnTo>
                    <a:pt x="1099997" y="341579"/>
                  </a:lnTo>
                  <a:lnTo>
                    <a:pt x="1134313" y="317449"/>
                  </a:lnTo>
                  <a:lnTo>
                    <a:pt x="1161732" y="285597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235700" cy="5602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15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臨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床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精神科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⼼療内科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しのだの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ホスピタルなど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、精神科・⼼療内科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でのサウンドヒ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リング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収録。医療現場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でのエビデンス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しのだの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森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ホスピタル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臨床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分障害患者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プロトコルの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詳細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男⼥別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効果⽐較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継続施術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主要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分障害患者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62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施術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全項⽬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有意差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あり</a:t>
            </a:r>
            <a:r>
              <a:rPr sz="1300" spc="25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50" dirty="0">
                <a:solidFill>
                  <a:srgbClr val="333333"/>
                </a:solidFill>
                <a:latin typeface="Comic Sans MS"/>
                <a:cs typeface="Comic Sans MS"/>
              </a:rPr>
              <a:t>p</a:t>
            </a:r>
            <a:r>
              <a:rPr sz="1300" spc="250" dirty="0">
                <a:solidFill>
                  <a:srgbClr val="333333"/>
                </a:solidFill>
                <a:latin typeface="Cambria"/>
                <a:cs typeface="Cambria"/>
              </a:rPr>
              <a:t>≦</a:t>
            </a:r>
            <a:r>
              <a:rPr sz="1350" spc="250" dirty="0">
                <a:solidFill>
                  <a:srgbClr val="333333"/>
                </a:solidFill>
                <a:latin typeface="Comic Sans MS"/>
                <a:cs typeface="Comic Sans MS"/>
              </a:rPr>
              <a:t>0.01</a:t>
            </a:r>
            <a:r>
              <a:rPr sz="1300" spc="25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改善 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t(61)=11.47</a:t>
            </a:r>
            <a:endParaRPr sz="1350">
              <a:latin typeface="Comic Sans MS"/>
              <a:cs typeface="Comic Sans MS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肩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背中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凝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75" dirty="0">
                <a:solidFill>
                  <a:srgbClr val="333333"/>
                </a:solidFill>
                <a:latin typeface="メイリオ"/>
                <a:cs typeface="メイリオ"/>
              </a:rPr>
              <a:t>軽減 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t(61)=10.42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117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8796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62"/>
            <a:ext cx="7063105" cy="7010400"/>
            <a:chOff x="352425" y="352462"/>
            <a:chExt cx="7063105" cy="7010400"/>
          </a:xfrm>
        </p:grpSpPr>
        <p:sp>
          <p:nvSpPr>
            <p:cNvPr id="3" name="object 3"/>
            <p:cNvSpPr/>
            <p:nvPr/>
          </p:nvSpPr>
          <p:spPr>
            <a:xfrm>
              <a:off x="376237" y="357130"/>
              <a:ext cx="7038975" cy="7000875"/>
            </a:xfrm>
            <a:custGeom>
              <a:avLst/>
              <a:gdLst/>
              <a:ahLst/>
              <a:cxnLst/>
              <a:rect l="l" t="t" r="r" b="b"/>
              <a:pathLst>
                <a:path w="7038975" h="7000875">
                  <a:moveTo>
                    <a:pt x="6936628" y="7000798"/>
                  </a:moveTo>
                  <a:lnTo>
                    <a:pt x="84545" y="7000798"/>
                  </a:lnTo>
                  <a:lnTo>
                    <a:pt x="78661" y="7000055"/>
                  </a:lnTo>
                  <a:lnTo>
                    <a:pt x="35275" y="6978328"/>
                  </a:lnTo>
                  <a:lnTo>
                    <a:pt x="11948" y="6946029"/>
                  </a:lnTo>
                  <a:lnTo>
                    <a:pt x="579" y="6905548"/>
                  </a:lnTo>
                  <a:lnTo>
                    <a:pt x="0" y="6898404"/>
                  </a:lnTo>
                  <a:lnTo>
                    <a:pt x="0" y="6891336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6898404"/>
                  </a:lnTo>
                  <a:lnTo>
                    <a:pt x="7027882" y="6939704"/>
                  </a:lnTo>
                  <a:lnTo>
                    <a:pt x="7001805" y="6973785"/>
                  </a:lnTo>
                  <a:lnTo>
                    <a:pt x="6964709" y="6995140"/>
                  </a:lnTo>
                  <a:lnTo>
                    <a:pt x="6943752" y="7000055"/>
                  </a:lnTo>
                  <a:lnTo>
                    <a:pt x="6936628" y="70007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62"/>
              <a:ext cx="6999605" cy="7010400"/>
            </a:xfrm>
            <a:custGeom>
              <a:avLst/>
              <a:gdLst/>
              <a:ahLst/>
              <a:cxnLst/>
              <a:rect l="l" t="t" r="r" b="b"/>
              <a:pathLst>
                <a:path w="6999605" h="7010400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6896062"/>
                  </a:lnTo>
                  <a:lnTo>
                    <a:pt x="6987819" y="6936156"/>
                  </a:lnTo>
                  <a:lnTo>
                    <a:pt x="6965112" y="6970141"/>
                  </a:lnTo>
                  <a:lnTo>
                    <a:pt x="6931126" y="6992899"/>
                  </a:lnTo>
                  <a:lnTo>
                    <a:pt x="6891020" y="7000875"/>
                  </a:lnTo>
                  <a:lnTo>
                    <a:pt x="52082" y="7000875"/>
                  </a:lnTo>
                  <a:lnTo>
                    <a:pt x="26085" y="6992544"/>
                  </a:lnTo>
                  <a:lnTo>
                    <a:pt x="0" y="6997763"/>
                  </a:lnTo>
                  <a:lnTo>
                    <a:pt x="40817" y="7009854"/>
                  </a:lnTo>
                  <a:lnTo>
                    <a:pt x="52082" y="7010400"/>
                  </a:lnTo>
                  <a:lnTo>
                    <a:pt x="6891020" y="7010400"/>
                  </a:lnTo>
                  <a:lnTo>
                    <a:pt x="6934771" y="7001700"/>
                  </a:lnTo>
                  <a:lnTo>
                    <a:pt x="6936511" y="7000875"/>
                  </a:lnTo>
                  <a:lnTo>
                    <a:pt x="6944957" y="6996887"/>
                  </a:lnTo>
                  <a:lnTo>
                    <a:pt x="6954545" y="6991159"/>
                  </a:lnTo>
                  <a:lnTo>
                    <a:pt x="6963499" y="6984505"/>
                  </a:lnTo>
                  <a:lnTo>
                    <a:pt x="6971843" y="6976923"/>
                  </a:lnTo>
                  <a:lnTo>
                    <a:pt x="6972300" y="6976427"/>
                  </a:lnTo>
                  <a:lnTo>
                    <a:pt x="6979425" y="6968528"/>
                  </a:lnTo>
                  <a:lnTo>
                    <a:pt x="6986079" y="6959574"/>
                  </a:lnTo>
                  <a:lnTo>
                    <a:pt x="6991807" y="6949999"/>
                  </a:lnTo>
                  <a:lnTo>
                    <a:pt x="6996620" y="6939801"/>
                  </a:lnTo>
                  <a:lnTo>
                    <a:pt x="6999071" y="6932968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912"/>
              <a:ext cx="88900" cy="6985634"/>
            </a:xfrm>
            <a:custGeom>
              <a:avLst/>
              <a:gdLst/>
              <a:ahLst/>
              <a:cxnLst/>
              <a:rect l="l" t="t" r="r" b="b"/>
              <a:pathLst>
                <a:path w="88900" h="6985634">
                  <a:moveTo>
                    <a:pt x="62524" y="6985411"/>
                  </a:moveTo>
                  <a:lnTo>
                    <a:pt x="25900" y="6956080"/>
                  </a:lnTo>
                  <a:lnTo>
                    <a:pt x="4894" y="6916734"/>
                  </a:lnTo>
                  <a:lnTo>
                    <a:pt x="0" y="68836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883605"/>
                  </a:lnTo>
                  <a:lnTo>
                    <a:pt x="52700" y="6923700"/>
                  </a:lnTo>
                  <a:lnTo>
                    <a:pt x="72022" y="6964638"/>
                  </a:lnTo>
                  <a:lnTo>
                    <a:pt x="88529" y="6980215"/>
                  </a:lnTo>
                  <a:lnTo>
                    <a:pt x="62524" y="69854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8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3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630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3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55"/>
              <a:ext cx="6429375" cy="1390650"/>
            </a:xfrm>
            <a:custGeom>
              <a:avLst/>
              <a:gdLst/>
              <a:ahLst/>
              <a:cxnLst/>
              <a:rect l="l" t="t" r="r" b="b"/>
              <a:pathLst>
                <a:path w="6429375" h="1390650">
                  <a:moveTo>
                    <a:pt x="6362626" y="1390573"/>
                  </a:moveTo>
                  <a:lnTo>
                    <a:pt x="66746" y="1390573"/>
                  </a:lnTo>
                  <a:lnTo>
                    <a:pt x="62101" y="1390059"/>
                  </a:lnTo>
                  <a:lnTo>
                    <a:pt x="24240" y="1373009"/>
                  </a:lnTo>
                  <a:lnTo>
                    <a:pt x="2287" y="1337595"/>
                  </a:lnTo>
                  <a:lnTo>
                    <a:pt x="0" y="1323822"/>
                  </a:lnTo>
                  <a:lnTo>
                    <a:pt x="0" y="1319212"/>
                  </a:lnTo>
                  <a:lnTo>
                    <a:pt x="0" y="66674"/>
                  </a:lnTo>
                  <a:lnTo>
                    <a:pt x="14645" y="27679"/>
                  </a:lnTo>
                  <a:lnTo>
                    <a:pt x="48433" y="3495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06"/>
                  </a:lnTo>
                  <a:lnTo>
                    <a:pt x="6425731" y="48291"/>
                  </a:lnTo>
                  <a:lnTo>
                    <a:pt x="6429373" y="66674"/>
                  </a:lnTo>
                  <a:lnTo>
                    <a:pt x="6429373" y="1323822"/>
                  </a:lnTo>
                  <a:lnTo>
                    <a:pt x="6414728" y="1362741"/>
                  </a:lnTo>
                  <a:lnTo>
                    <a:pt x="6380940" y="1386858"/>
                  </a:lnTo>
                  <a:lnTo>
                    <a:pt x="6367272" y="1390126"/>
                  </a:lnTo>
                  <a:lnTo>
                    <a:pt x="6362626" y="1390573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5"/>
              <a:ext cx="6429375" cy="1390650"/>
            </a:xfrm>
            <a:custGeom>
              <a:avLst/>
              <a:gdLst/>
              <a:ahLst/>
              <a:cxnLst/>
              <a:rect l="l" t="t" r="r" b="b"/>
              <a:pathLst>
                <a:path w="6429375" h="1390650">
                  <a:moveTo>
                    <a:pt x="0" y="1319212"/>
                  </a:moveTo>
                  <a:lnTo>
                    <a:pt x="0" y="71437"/>
                  </a:lnTo>
                  <a:lnTo>
                    <a:pt x="0" y="66674"/>
                  </a:lnTo>
                  <a:lnTo>
                    <a:pt x="457" y="61988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82"/>
                  </a:lnTo>
                  <a:lnTo>
                    <a:pt x="31749" y="11982"/>
                  </a:lnTo>
                  <a:lnTo>
                    <a:pt x="35649" y="9305"/>
                  </a:lnTo>
                  <a:lnTo>
                    <a:pt x="39765" y="7067"/>
                  </a:lnTo>
                  <a:lnTo>
                    <a:pt x="44099" y="5286"/>
                  </a:lnTo>
                  <a:lnTo>
                    <a:pt x="48433" y="3495"/>
                  </a:lnTo>
                  <a:lnTo>
                    <a:pt x="52900" y="2162"/>
                  </a:lnTo>
                  <a:lnTo>
                    <a:pt x="57500" y="1343"/>
                  </a:lnTo>
                  <a:lnTo>
                    <a:pt x="62101" y="44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162"/>
                  </a:lnTo>
                  <a:lnTo>
                    <a:pt x="6380940" y="3495"/>
                  </a:lnTo>
                  <a:lnTo>
                    <a:pt x="6385274" y="5286"/>
                  </a:lnTo>
                  <a:lnTo>
                    <a:pt x="6389607" y="7067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566"/>
                  </a:lnTo>
                  <a:lnTo>
                    <a:pt x="6429374" y="71437"/>
                  </a:lnTo>
                  <a:lnTo>
                    <a:pt x="6429374" y="1319212"/>
                  </a:lnTo>
                  <a:lnTo>
                    <a:pt x="6429373" y="1323822"/>
                  </a:lnTo>
                  <a:lnTo>
                    <a:pt x="6428916" y="1328442"/>
                  </a:lnTo>
                  <a:lnTo>
                    <a:pt x="6428001" y="1332976"/>
                  </a:lnTo>
                  <a:lnTo>
                    <a:pt x="6427086" y="1337595"/>
                  </a:lnTo>
                  <a:lnTo>
                    <a:pt x="6425731" y="1342053"/>
                  </a:lnTo>
                  <a:lnTo>
                    <a:pt x="6423936" y="1346377"/>
                  </a:lnTo>
                  <a:lnTo>
                    <a:pt x="6422141" y="1350768"/>
                  </a:lnTo>
                  <a:lnTo>
                    <a:pt x="6419940" y="1354854"/>
                  </a:lnTo>
                  <a:lnTo>
                    <a:pt x="6417334" y="1358798"/>
                  </a:lnTo>
                  <a:lnTo>
                    <a:pt x="6414728" y="1362741"/>
                  </a:lnTo>
                  <a:lnTo>
                    <a:pt x="6397625" y="1378448"/>
                  </a:lnTo>
                  <a:lnTo>
                    <a:pt x="6393724" y="1381124"/>
                  </a:lnTo>
                  <a:lnTo>
                    <a:pt x="6389607" y="1383353"/>
                  </a:lnTo>
                  <a:lnTo>
                    <a:pt x="6385274" y="1385068"/>
                  </a:lnTo>
                  <a:lnTo>
                    <a:pt x="6380940" y="1386858"/>
                  </a:lnTo>
                  <a:lnTo>
                    <a:pt x="6357937" y="1390649"/>
                  </a:lnTo>
                  <a:lnTo>
                    <a:pt x="71437" y="1390649"/>
                  </a:lnTo>
                  <a:lnTo>
                    <a:pt x="66746" y="1390573"/>
                  </a:lnTo>
                  <a:lnTo>
                    <a:pt x="62101" y="1390059"/>
                  </a:lnTo>
                  <a:lnTo>
                    <a:pt x="57500" y="1389087"/>
                  </a:lnTo>
                  <a:lnTo>
                    <a:pt x="52900" y="1388192"/>
                  </a:lnTo>
                  <a:lnTo>
                    <a:pt x="48433" y="1386858"/>
                  </a:lnTo>
                  <a:lnTo>
                    <a:pt x="44099" y="1385068"/>
                  </a:lnTo>
                  <a:lnTo>
                    <a:pt x="39765" y="1383353"/>
                  </a:lnTo>
                  <a:lnTo>
                    <a:pt x="12039" y="1358722"/>
                  </a:lnTo>
                  <a:lnTo>
                    <a:pt x="9433" y="1354854"/>
                  </a:lnTo>
                  <a:lnTo>
                    <a:pt x="7232" y="1350768"/>
                  </a:lnTo>
                  <a:lnTo>
                    <a:pt x="5437" y="1346377"/>
                  </a:lnTo>
                  <a:lnTo>
                    <a:pt x="3642" y="1342053"/>
                  </a:lnTo>
                  <a:lnTo>
                    <a:pt x="2287" y="1337595"/>
                  </a:lnTo>
                  <a:lnTo>
                    <a:pt x="1372" y="1332976"/>
                  </a:lnTo>
                  <a:lnTo>
                    <a:pt x="457" y="1328442"/>
                  </a:lnTo>
                  <a:lnTo>
                    <a:pt x="0" y="1323822"/>
                  </a:lnTo>
                  <a:lnTo>
                    <a:pt x="0" y="1319212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410318"/>
              <a:ext cx="6438899" cy="657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21"/>
                  </a:moveTo>
                  <a:lnTo>
                    <a:pt x="365379" y="29540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62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21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486"/>
                  </a:lnTo>
                  <a:lnTo>
                    <a:pt x="1146225" y="75298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888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204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95"/>
                  </a:lnTo>
                  <a:lnTo>
                    <a:pt x="548271" y="278498"/>
                  </a:lnTo>
                  <a:lnTo>
                    <a:pt x="574103" y="311721"/>
                  </a:lnTo>
                  <a:lnTo>
                    <a:pt x="607199" y="337464"/>
                  </a:lnTo>
                  <a:lnTo>
                    <a:pt x="645566" y="354469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30"/>
                  </a:lnTo>
                  <a:lnTo>
                    <a:pt x="1099997" y="341579"/>
                  </a:lnTo>
                  <a:lnTo>
                    <a:pt x="1134313" y="317538"/>
                  </a:lnTo>
                  <a:lnTo>
                    <a:pt x="1161732" y="285597"/>
                  </a:lnTo>
                  <a:lnTo>
                    <a:pt x="1180617" y="248158"/>
                  </a:lnTo>
                  <a:lnTo>
                    <a:pt x="1189812" y="207289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244590" cy="5325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16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¥480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【植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物実験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が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⽣命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に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影響</a:t>
            </a:r>
            <a:endParaRPr sz="17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った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完全収録。⾃然⾳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植物（⽣命）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与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影響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⽰</a:t>
            </a:r>
            <a:r>
              <a:rPr sz="1400" i="1" spc="-330" dirty="0">
                <a:solidFill>
                  <a:srgbClr val="333333"/>
                </a:solidFill>
                <a:latin typeface="メイリオ"/>
                <a:cs typeface="メイリオ"/>
              </a:rPr>
              <a:t>す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、興味深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集。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プロトコルの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詳細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33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48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経過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状態変化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録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植物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成⻑⽐較写真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考察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仮説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主要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300" b="1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endParaRPr sz="135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48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⽐較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endParaRPr sz="1300">
              <a:latin typeface="BIZ UDPゴシック"/>
              <a:cs typeface="BIZ UDPゴシック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あり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⽔消費多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透明維持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新芽成⻑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なし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⽔消費少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ない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茶⾊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枯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れる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118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1864" y="6603455"/>
            <a:ext cx="1946910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¥480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7"/>
            <a:ext cx="7063105" cy="7553325"/>
            <a:chOff x="352425" y="352397"/>
            <a:chExt cx="7063105" cy="7553325"/>
          </a:xfrm>
        </p:grpSpPr>
        <p:sp>
          <p:nvSpPr>
            <p:cNvPr id="3" name="object 3"/>
            <p:cNvSpPr/>
            <p:nvPr/>
          </p:nvSpPr>
          <p:spPr>
            <a:xfrm>
              <a:off x="376237" y="357130"/>
              <a:ext cx="7038975" cy="7543800"/>
            </a:xfrm>
            <a:custGeom>
              <a:avLst/>
              <a:gdLst/>
              <a:ahLst/>
              <a:cxnLst/>
              <a:rect l="l" t="t" r="r" b="b"/>
              <a:pathLst>
                <a:path w="7038975" h="7543800">
                  <a:moveTo>
                    <a:pt x="6936628" y="7543799"/>
                  </a:moveTo>
                  <a:lnTo>
                    <a:pt x="84545" y="7543799"/>
                  </a:lnTo>
                  <a:lnTo>
                    <a:pt x="78661" y="7543132"/>
                  </a:lnTo>
                  <a:lnTo>
                    <a:pt x="35275" y="7521253"/>
                  </a:lnTo>
                  <a:lnTo>
                    <a:pt x="11948" y="7488954"/>
                  </a:lnTo>
                  <a:lnTo>
                    <a:pt x="579" y="7448473"/>
                  </a:lnTo>
                  <a:lnTo>
                    <a:pt x="0" y="7441405"/>
                  </a:lnTo>
                  <a:lnTo>
                    <a:pt x="0" y="7434261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441405"/>
                  </a:lnTo>
                  <a:lnTo>
                    <a:pt x="7027882" y="7482629"/>
                  </a:lnTo>
                  <a:lnTo>
                    <a:pt x="7001805" y="7516710"/>
                  </a:lnTo>
                  <a:lnTo>
                    <a:pt x="6964709" y="7538141"/>
                  </a:lnTo>
                  <a:lnTo>
                    <a:pt x="6943752" y="7543056"/>
                  </a:lnTo>
                  <a:lnTo>
                    <a:pt x="6936628" y="7543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99"/>
              <a:ext cx="6999605" cy="7553325"/>
            </a:xfrm>
            <a:custGeom>
              <a:avLst/>
              <a:gdLst/>
              <a:ahLst/>
              <a:cxnLst/>
              <a:rect l="l" t="t" r="r" b="b"/>
              <a:pathLst>
                <a:path w="6999605" h="7553325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438987"/>
                  </a:lnTo>
                  <a:lnTo>
                    <a:pt x="6987819" y="7479081"/>
                  </a:lnTo>
                  <a:lnTo>
                    <a:pt x="6965112" y="7513066"/>
                  </a:lnTo>
                  <a:lnTo>
                    <a:pt x="6931126" y="7535824"/>
                  </a:lnTo>
                  <a:lnTo>
                    <a:pt x="6891020" y="7543800"/>
                  </a:lnTo>
                  <a:lnTo>
                    <a:pt x="52082" y="7543800"/>
                  </a:lnTo>
                  <a:lnTo>
                    <a:pt x="26085" y="7535469"/>
                  </a:lnTo>
                  <a:lnTo>
                    <a:pt x="0" y="7540688"/>
                  </a:lnTo>
                  <a:lnTo>
                    <a:pt x="40817" y="7552779"/>
                  </a:lnTo>
                  <a:lnTo>
                    <a:pt x="52082" y="7553325"/>
                  </a:lnTo>
                  <a:lnTo>
                    <a:pt x="6891020" y="7553325"/>
                  </a:lnTo>
                  <a:lnTo>
                    <a:pt x="6934771" y="7544625"/>
                  </a:lnTo>
                  <a:lnTo>
                    <a:pt x="6936511" y="7543800"/>
                  </a:lnTo>
                  <a:lnTo>
                    <a:pt x="6944957" y="7539812"/>
                  </a:lnTo>
                  <a:lnTo>
                    <a:pt x="6954545" y="7534084"/>
                  </a:lnTo>
                  <a:lnTo>
                    <a:pt x="6963499" y="7527430"/>
                  </a:lnTo>
                  <a:lnTo>
                    <a:pt x="6971843" y="7519848"/>
                  </a:lnTo>
                  <a:lnTo>
                    <a:pt x="6972300" y="7519352"/>
                  </a:lnTo>
                  <a:lnTo>
                    <a:pt x="6979425" y="7511453"/>
                  </a:lnTo>
                  <a:lnTo>
                    <a:pt x="6986079" y="7502499"/>
                  </a:lnTo>
                  <a:lnTo>
                    <a:pt x="6991807" y="7492911"/>
                  </a:lnTo>
                  <a:lnTo>
                    <a:pt x="6996620" y="7482726"/>
                  </a:lnTo>
                  <a:lnTo>
                    <a:pt x="6999071" y="7475893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47"/>
              <a:ext cx="88900" cy="7528559"/>
            </a:xfrm>
            <a:custGeom>
              <a:avLst/>
              <a:gdLst/>
              <a:ahLst/>
              <a:cxnLst/>
              <a:rect l="l" t="t" r="r" b="b"/>
              <a:pathLst>
                <a:path w="88900" h="7528559">
                  <a:moveTo>
                    <a:pt x="62523" y="7528337"/>
                  </a:moveTo>
                  <a:lnTo>
                    <a:pt x="25900" y="7499006"/>
                  </a:lnTo>
                  <a:lnTo>
                    <a:pt x="4894" y="7459660"/>
                  </a:lnTo>
                  <a:lnTo>
                    <a:pt x="0" y="74265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426530"/>
                  </a:lnTo>
                  <a:lnTo>
                    <a:pt x="52700" y="7466625"/>
                  </a:lnTo>
                  <a:lnTo>
                    <a:pt x="72022" y="7507563"/>
                  </a:lnTo>
                  <a:lnTo>
                    <a:pt x="88528" y="7523140"/>
                  </a:lnTo>
                  <a:lnTo>
                    <a:pt x="62523" y="75283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14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14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2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431"/>
              <a:ext cx="6429375" cy="1933575"/>
            </a:xfrm>
            <a:custGeom>
              <a:avLst/>
              <a:gdLst/>
              <a:ahLst/>
              <a:cxnLst/>
              <a:rect l="l" t="t" r="r" b="b"/>
              <a:pathLst>
                <a:path w="6429375" h="1933575">
                  <a:moveTo>
                    <a:pt x="6362626" y="1933422"/>
                  </a:moveTo>
                  <a:lnTo>
                    <a:pt x="66746" y="1933422"/>
                  </a:lnTo>
                  <a:lnTo>
                    <a:pt x="62101" y="1932974"/>
                  </a:lnTo>
                  <a:lnTo>
                    <a:pt x="24240" y="1915791"/>
                  </a:lnTo>
                  <a:lnTo>
                    <a:pt x="2287" y="1880520"/>
                  </a:lnTo>
                  <a:lnTo>
                    <a:pt x="0" y="1866747"/>
                  </a:lnTo>
                  <a:lnTo>
                    <a:pt x="0" y="1862061"/>
                  </a:lnTo>
                  <a:lnTo>
                    <a:pt x="0" y="66674"/>
                  </a:lnTo>
                  <a:lnTo>
                    <a:pt x="14645" y="27603"/>
                  </a:lnTo>
                  <a:lnTo>
                    <a:pt x="48433" y="3495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430"/>
                  </a:lnTo>
                  <a:lnTo>
                    <a:pt x="6425731" y="48215"/>
                  </a:lnTo>
                  <a:lnTo>
                    <a:pt x="6429373" y="66674"/>
                  </a:lnTo>
                  <a:lnTo>
                    <a:pt x="6429373" y="1866747"/>
                  </a:lnTo>
                  <a:lnTo>
                    <a:pt x="6414728" y="1905523"/>
                  </a:lnTo>
                  <a:lnTo>
                    <a:pt x="6380940" y="1929774"/>
                  </a:lnTo>
                  <a:lnTo>
                    <a:pt x="6367272" y="1932974"/>
                  </a:lnTo>
                  <a:lnTo>
                    <a:pt x="6362626" y="1933422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5"/>
              <a:ext cx="6429375" cy="1933575"/>
            </a:xfrm>
            <a:custGeom>
              <a:avLst/>
              <a:gdLst/>
              <a:ahLst/>
              <a:cxnLst/>
              <a:rect l="l" t="t" r="r" b="b"/>
              <a:pathLst>
                <a:path w="6429375" h="1933575">
                  <a:moveTo>
                    <a:pt x="0" y="18621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372" y="57445"/>
                  </a:lnTo>
                  <a:lnTo>
                    <a:pt x="2287" y="52758"/>
                  </a:lnTo>
                  <a:lnTo>
                    <a:pt x="3642" y="48291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305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76"/>
                  </a:lnTo>
                  <a:lnTo>
                    <a:pt x="6367272" y="523"/>
                  </a:lnTo>
                  <a:lnTo>
                    <a:pt x="6371872" y="1409"/>
                  </a:lnTo>
                  <a:lnTo>
                    <a:pt x="6376473" y="2228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14728" y="27679"/>
                  </a:lnTo>
                  <a:lnTo>
                    <a:pt x="6417334" y="31622"/>
                  </a:lnTo>
                  <a:lnTo>
                    <a:pt x="6419940" y="35566"/>
                  </a:lnTo>
                  <a:lnTo>
                    <a:pt x="6429374" y="71437"/>
                  </a:lnTo>
                  <a:lnTo>
                    <a:pt x="6429374" y="1862137"/>
                  </a:lnTo>
                  <a:lnTo>
                    <a:pt x="6417334" y="1901723"/>
                  </a:lnTo>
                  <a:lnTo>
                    <a:pt x="6385274" y="1927993"/>
                  </a:lnTo>
                  <a:lnTo>
                    <a:pt x="6380940" y="1929850"/>
                  </a:lnTo>
                  <a:lnTo>
                    <a:pt x="6376473" y="1931193"/>
                  </a:lnTo>
                  <a:lnTo>
                    <a:pt x="6371872" y="1932088"/>
                  </a:lnTo>
                  <a:lnTo>
                    <a:pt x="6367272" y="1933050"/>
                  </a:lnTo>
                  <a:lnTo>
                    <a:pt x="6362626" y="1933498"/>
                  </a:lnTo>
                  <a:lnTo>
                    <a:pt x="6357937" y="1933574"/>
                  </a:lnTo>
                  <a:lnTo>
                    <a:pt x="71437" y="1933574"/>
                  </a:lnTo>
                  <a:lnTo>
                    <a:pt x="66746" y="1933498"/>
                  </a:lnTo>
                  <a:lnTo>
                    <a:pt x="62101" y="1933050"/>
                  </a:lnTo>
                  <a:lnTo>
                    <a:pt x="57500" y="1932088"/>
                  </a:lnTo>
                  <a:lnTo>
                    <a:pt x="52900" y="1931193"/>
                  </a:lnTo>
                  <a:lnTo>
                    <a:pt x="17606" y="1909238"/>
                  </a:lnTo>
                  <a:lnTo>
                    <a:pt x="457" y="1871443"/>
                  </a:lnTo>
                  <a:lnTo>
                    <a:pt x="0" y="1866823"/>
                  </a:lnTo>
                  <a:lnTo>
                    <a:pt x="0" y="18621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953178"/>
              <a:ext cx="6438899" cy="657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57"/>
                  </a:lnTo>
                  <a:lnTo>
                    <a:pt x="3886" y="51562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55"/>
                  </a:lnTo>
                  <a:lnTo>
                    <a:pt x="1170393" y="109486"/>
                  </a:lnTo>
                  <a:lnTo>
                    <a:pt x="1146225" y="75234"/>
                  </a:lnTo>
                  <a:lnTo>
                    <a:pt x="1114437" y="47777"/>
                  </a:lnTo>
                  <a:lnTo>
                    <a:pt x="1076934" y="28930"/>
                  </a:lnTo>
                  <a:lnTo>
                    <a:pt x="1035989" y="19837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079"/>
                  </a:lnTo>
                  <a:lnTo>
                    <a:pt x="614514" y="39116"/>
                  </a:lnTo>
                  <a:lnTo>
                    <a:pt x="580199" y="63322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31"/>
                  </a:lnTo>
                  <a:lnTo>
                    <a:pt x="548271" y="278472"/>
                  </a:lnTo>
                  <a:lnTo>
                    <a:pt x="574103" y="311721"/>
                  </a:lnTo>
                  <a:lnTo>
                    <a:pt x="607199" y="337426"/>
                  </a:lnTo>
                  <a:lnTo>
                    <a:pt x="645566" y="354482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30"/>
                  </a:lnTo>
                  <a:lnTo>
                    <a:pt x="1099997" y="341579"/>
                  </a:lnTo>
                  <a:lnTo>
                    <a:pt x="1134313" y="317525"/>
                  </a:lnTo>
                  <a:lnTo>
                    <a:pt x="1161732" y="285597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243320" cy="5878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17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体験談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100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7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から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⾒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実態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実践者</a:t>
            </a:r>
            <a:r>
              <a:rPr sz="1400" i="1" dirty="0">
                <a:solidFill>
                  <a:srgbClr val="333333"/>
                </a:solidFill>
                <a:latin typeface="Comic Sans MS"/>
                <a:cs typeface="Comic Sans MS"/>
              </a:rPr>
              <a:t>100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⼈以上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体験談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分析。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どんな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多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く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されているか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タとして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しました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体験談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収集⽅法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分析⼿法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報告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された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分類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頻度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出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やすい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条件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分析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ネガティブな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声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とその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対策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属性別傾向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50" b="1" spc="-75" dirty="0">
                <a:solidFill>
                  <a:srgbClr val="333333"/>
                </a:solidFill>
                <a:latin typeface="BIZ UDPゴシック"/>
                <a:cs typeface="BIZ UDPゴシック"/>
              </a:rPr>
              <a:t>よく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報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告</a:t>
            </a:r>
            <a:r>
              <a:rPr sz="13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される</a:t>
            </a:r>
            <a:r>
              <a:rPr sz="130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効</a:t>
            </a: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果</a:t>
            </a:r>
            <a:r>
              <a:rPr sz="1400" b="1" spc="-20" dirty="0">
                <a:solidFill>
                  <a:srgbClr val="333333"/>
                </a:solidFill>
                <a:latin typeface="Comic Sans MS"/>
                <a:cs typeface="Comic Sans MS"/>
              </a:rPr>
              <a:t>TOP5</a:t>
            </a:r>
            <a:endParaRPr sz="1400">
              <a:latin typeface="Comic Sans MS"/>
              <a:cs typeface="Comic Sans MS"/>
            </a:endParaRPr>
          </a:p>
          <a:p>
            <a:pPr marL="352425" indent="-187960">
              <a:lnSpc>
                <a:spcPct val="100000"/>
              </a:lnSpc>
              <a:spcBef>
                <a:spcPts val="470"/>
              </a:spcBef>
              <a:buFont typeface="Comic Sans MS"/>
              <a:buAutoNum type="arabicPeriod"/>
              <a:tabLst>
                <a:tab pos="352425" algn="l"/>
              </a:tabLst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リラックス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分改善</a:t>
            </a:r>
            <a:endParaRPr sz="1300">
              <a:latin typeface="メイリオ"/>
              <a:cs typeface="メイリオ"/>
            </a:endParaRPr>
          </a:p>
          <a:p>
            <a:pPr marL="350520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35052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質向上</a:t>
            </a:r>
            <a:endParaRPr sz="1300">
              <a:latin typeface="メイリオ"/>
              <a:cs typeface="メイリオ"/>
            </a:endParaRPr>
          </a:p>
          <a:p>
            <a:pPr marL="350520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35052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肩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こり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張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緩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和</a:t>
            </a:r>
            <a:endParaRPr sz="1300">
              <a:latin typeface="メイリオ"/>
              <a:cs typeface="メイリオ"/>
            </a:endParaRPr>
          </a:p>
          <a:p>
            <a:pPr marL="351155" indent="-18669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351155" algn="l"/>
              </a:tabLst>
            </a:pP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集中⼒向上</a:t>
            </a:r>
            <a:endParaRPr sz="1300">
              <a:latin typeface="メイリオ"/>
              <a:cs typeface="メイリオ"/>
            </a:endParaRPr>
          </a:p>
          <a:p>
            <a:pPr marL="350520" indent="-186055">
              <a:lnSpc>
                <a:spcPct val="100000"/>
              </a:lnSpc>
              <a:spcBef>
                <a:spcPts val="555"/>
              </a:spcBef>
              <a:buFont typeface="Comic Sans MS"/>
              <a:buAutoNum type="arabicPeriod"/>
              <a:tabLst>
                <a:tab pos="350520" algn="l"/>
              </a:tabLst>
            </a:pP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軽減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119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71463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8"/>
            <a:ext cx="7063105" cy="7277100"/>
            <a:chOff x="352425" y="352398"/>
            <a:chExt cx="7063105" cy="7277100"/>
          </a:xfrm>
        </p:grpSpPr>
        <p:sp>
          <p:nvSpPr>
            <p:cNvPr id="3" name="object 3"/>
            <p:cNvSpPr/>
            <p:nvPr/>
          </p:nvSpPr>
          <p:spPr>
            <a:xfrm>
              <a:off x="376237" y="357130"/>
              <a:ext cx="7038975" cy="7267575"/>
            </a:xfrm>
            <a:custGeom>
              <a:avLst/>
              <a:gdLst/>
              <a:ahLst/>
              <a:cxnLst/>
              <a:rect l="l" t="t" r="r" b="b"/>
              <a:pathLst>
                <a:path w="7038975" h="7267575">
                  <a:moveTo>
                    <a:pt x="6936628" y="7267574"/>
                  </a:moveTo>
                  <a:lnTo>
                    <a:pt x="84545" y="7267574"/>
                  </a:lnTo>
                  <a:lnTo>
                    <a:pt x="78661" y="7266907"/>
                  </a:lnTo>
                  <a:lnTo>
                    <a:pt x="35275" y="7245104"/>
                  </a:lnTo>
                  <a:lnTo>
                    <a:pt x="11948" y="7212881"/>
                  </a:lnTo>
                  <a:lnTo>
                    <a:pt x="579" y="7172324"/>
                  </a:lnTo>
                  <a:lnTo>
                    <a:pt x="0" y="7165256"/>
                  </a:lnTo>
                  <a:lnTo>
                    <a:pt x="0" y="715803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7165256"/>
                  </a:lnTo>
                  <a:lnTo>
                    <a:pt x="7027882" y="7206481"/>
                  </a:lnTo>
                  <a:lnTo>
                    <a:pt x="7001805" y="7240561"/>
                  </a:lnTo>
                  <a:lnTo>
                    <a:pt x="6964709" y="7261916"/>
                  </a:lnTo>
                  <a:lnTo>
                    <a:pt x="6943752" y="7266831"/>
                  </a:lnTo>
                  <a:lnTo>
                    <a:pt x="6936628" y="7267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99"/>
              <a:ext cx="6999605" cy="7277100"/>
            </a:xfrm>
            <a:custGeom>
              <a:avLst/>
              <a:gdLst/>
              <a:ahLst/>
              <a:cxnLst/>
              <a:rect l="l" t="t" r="r" b="b"/>
              <a:pathLst>
                <a:path w="6999605" h="72771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7162762"/>
                  </a:lnTo>
                  <a:lnTo>
                    <a:pt x="6987819" y="7202856"/>
                  </a:lnTo>
                  <a:lnTo>
                    <a:pt x="6965112" y="7236841"/>
                  </a:lnTo>
                  <a:lnTo>
                    <a:pt x="6931126" y="7259599"/>
                  </a:lnTo>
                  <a:lnTo>
                    <a:pt x="6891020" y="7267575"/>
                  </a:lnTo>
                  <a:lnTo>
                    <a:pt x="52082" y="7267575"/>
                  </a:lnTo>
                  <a:lnTo>
                    <a:pt x="26085" y="7259244"/>
                  </a:lnTo>
                  <a:lnTo>
                    <a:pt x="0" y="7264463"/>
                  </a:lnTo>
                  <a:lnTo>
                    <a:pt x="40817" y="7276554"/>
                  </a:lnTo>
                  <a:lnTo>
                    <a:pt x="52082" y="7277100"/>
                  </a:lnTo>
                  <a:lnTo>
                    <a:pt x="6891020" y="7277100"/>
                  </a:lnTo>
                  <a:lnTo>
                    <a:pt x="6934771" y="7268400"/>
                  </a:lnTo>
                  <a:lnTo>
                    <a:pt x="6936511" y="7267575"/>
                  </a:lnTo>
                  <a:lnTo>
                    <a:pt x="6944957" y="7263587"/>
                  </a:lnTo>
                  <a:lnTo>
                    <a:pt x="6954545" y="7257859"/>
                  </a:lnTo>
                  <a:lnTo>
                    <a:pt x="6963499" y="7251205"/>
                  </a:lnTo>
                  <a:lnTo>
                    <a:pt x="6971843" y="7243623"/>
                  </a:lnTo>
                  <a:lnTo>
                    <a:pt x="6972300" y="7243127"/>
                  </a:lnTo>
                  <a:lnTo>
                    <a:pt x="6979425" y="7235228"/>
                  </a:lnTo>
                  <a:lnTo>
                    <a:pt x="6986079" y="7226274"/>
                  </a:lnTo>
                  <a:lnTo>
                    <a:pt x="6991807" y="7216699"/>
                  </a:lnTo>
                  <a:lnTo>
                    <a:pt x="6996620" y="7206501"/>
                  </a:lnTo>
                  <a:lnTo>
                    <a:pt x="6999071" y="71996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47"/>
              <a:ext cx="88900" cy="7252334"/>
            </a:xfrm>
            <a:custGeom>
              <a:avLst/>
              <a:gdLst/>
              <a:ahLst/>
              <a:cxnLst/>
              <a:rect l="l" t="t" r="r" b="b"/>
              <a:pathLst>
                <a:path w="88900" h="7252334">
                  <a:moveTo>
                    <a:pt x="62524" y="7252111"/>
                  </a:moveTo>
                  <a:lnTo>
                    <a:pt x="25900" y="7222781"/>
                  </a:lnTo>
                  <a:lnTo>
                    <a:pt x="4894" y="7183435"/>
                  </a:lnTo>
                  <a:lnTo>
                    <a:pt x="0" y="71503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150305"/>
                  </a:lnTo>
                  <a:lnTo>
                    <a:pt x="52700" y="7190400"/>
                  </a:lnTo>
                  <a:lnTo>
                    <a:pt x="72022" y="7231338"/>
                  </a:lnTo>
                  <a:lnTo>
                    <a:pt x="88528" y="7246915"/>
                  </a:lnTo>
                  <a:lnTo>
                    <a:pt x="62524" y="72521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546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2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562" y="4824354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6362626" y="1666798"/>
                  </a:moveTo>
                  <a:lnTo>
                    <a:pt x="66746" y="1666798"/>
                  </a:lnTo>
                  <a:lnTo>
                    <a:pt x="62101" y="1666350"/>
                  </a:lnTo>
                  <a:lnTo>
                    <a:pt x="24240" y="1649091"/>
                  </a:lnTo>
                  <a:lnTo>
                    <a:pt x="2287" y="1613896"/>
                  </a:lnTo>
                  <a:lnTo>
                    <a:pt x="0" y="1600123"/>
                  </a:lnTo>
                  <a:lnTo>
                    <a:pt x="0" y="1595437"/>
                  </a:lnTo>
                  <a:lnTo>
                    <a:pt x="0" y="66751"/>
                  </a:lnTo>
                  <a:lnTo>
                    <a:pt x="14645" y="27679"/>
                  </a:lnTo>
                  <a:lnTo>
                    <a:pt x="48433" y="3571"/>
                  </a:lnTo>
                  <a:lnTo>
                    <a:pt x="66746" y="0"/>
                  </a:lnTo>
                  <a:lnTo>
                    <a:pt x="6362626" y="0"/>
                  </a:lnTo>
                  <a:lnTo>
                    <a:pt x="6401525" y="14506"/>
                  </a:lnTo>
                  <a:lnTo>
                    <a:pt x="6425731" y="48367"/>
                  </a:lnTo>
                  <a:lnTo>
                    <a:pt x="6429373" y="66751"/>
                  </a:lnTo>
                  <a:lnTo>
                    <a:pt x="6429373" y="1600123"/>
                  </a:lnTo>
                  <a:lnTo>
                    <a:pt x="6414728" y="1638899"/>
                  </a:lnTo>
                  <a:lnTo>
                    <a:pt x="6380940" y="1663083"/>
                  </a:lnTo>
                  <a:lnTo>
                    <a:pt x="6367272" y="1666350"/>
                  </a:lnTo>
                  <a:lnTo>
                    <a:pt x="6362626" y="1666798"/>
                  </a:lnTo>
                  <a:close/>
                </a:path>
              </a:pathLst>
            </a:custGeom>
            <a:solidFill>
              <a:srgbClr val="FFF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4824354"/>
              <a:ext cx="6429375" cy="1666875"/>
            </a:xfrm>
            <a:custGeom>
              <a:avLst/>
              <a:gdLst/>
              <a:ahLst/>
              <a:cxnLst/>
              <a:rect l="l" t="t" r="r" b="b"/>
              <a:pathLst>
                <a:path w="6429375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751"/>
                  </a:lnTo>
                  <a:lnTo>
                    <a:pt x="457" y="62064"/>
                  </a:lnTo>
                  <a:lnTo>
                    <a:pt x="17606" y="24107"/>
                  </a:lnTo>
                  <a:lnTo>
                    <a:pt x="20923" y="20840"/>
                  </a:lnTo>
                  <a:lnTo>
                    <a:pt x="24240" y="17487"/>
                  </a:lnTo>
                  <a:lnTo>
                    <a:pt x="27848" y="14506"/>
                  </a:lnTo>
                  <a:lnTo>
                    <a:pt x="31749" y="11906"/>
                  </a:lnTo>
                  <a:lnTo>
                    <a:pt x="35649" y="9305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357937" y="0"/>
                  </a:lnTo>
                  <a:lnTo>
                    <a:pt x="6362626" y="0"/>
                  </a:lnTo>
                  <a:lnTo>
                    <a:pt x="6367272" y="447"/>
                  </a:lnTo>
                  <a:lnTo>
                    <a:pt x="6371872" y="1343"/>
                  </a:lnTo>
                  <a:lnTo>
                    <a:pt x="6376473" y="2228"/>
                  </a:lnTo>
                  <a:lnTo>
                    <a:pt x="6408450" y="20840"/>
                  </a:lnTo>
                  <a:lnTo>
                    <a:pt x="6411767" y="24107"/>
                  </a:lnTo>
                  <a:lnTo>
                    <a:pt x="6428916" y="62064"/>
                  </a:lnTo>
                  <a:lnTo>
                    <a:pt x="6429374" y="71437"/>
                  </a:lnTo>
                  <a:lnTo>
                    <a:pt x="6429374" y="1595437"/>
                  </a:lnTo>
                  <a:lnTo>
                    <a:pt x="6429373" y="1600123"/>
                  </a:lnTo>
                  <a:lnTo>
                    <a:pt x="6428916" y="1604743"/>
                  </a:lnTo>
                  <a:lnTo>
                    <a:pt x="6428001" y="1609277"/>
                  </a:lnTo>
                  <a:lnTo>
                    <a:pt x="6427086" y="1613896"/>
                  </a:lnTo>
                  <a:lnTo>
                    <a:pt x="6425731" y="1618354"/>
                  </a:lnTo>
                  <a:lnTo>
                    <a:pt x="6423936" y="1622669"/>
                  </a:lnTo>
                  <a:lnTo>
                    <a:pt x="6422141" y="1626993"/>
                  </a:lnTo>
                  <a:lnTo>
                    <a:pt x="6419940" y="1631079"/>
                  </a:lnTo>
                  <a:lnTo>
                    <a:pt x="6417334" y="1634947"/>
                  </a:lnTo>
                  <a:lnTo>
                    <a:pt x="6414728" y="1638899"/>
                  </a:lnTo>
                  <a:lnTo>
                    <a:pt x="6380940" y="1663083"/>
                  </a:lnTo>
                  <a:lnTo>
                    <a:pt x="6357937" y="1666874"/>
                  </a:lnTo>
                  <a:lnTo>
                    <a:pt x="71437" y="1666874"/>
                  </a:lnTo>
                  <a:lnTo>
                    <a:pt x="31749" y="1654673"/>
                  </a:lnTo>
                  <a:lnTo>
                    <a:pt x="12039" y="1634947"/>
                  </a:lnTo>
                  <a:lnTo>
                    <a:pt x="9433" y="1631079"/>
                  </a:lnTo>
                  <a:lnTo>
                    <a:pt x="7232" y="1626993"/>
                  </a:lnTo>
                  <a:lnTo>
                    <a:pt x="5437" y="1622669"/>
                  </a:lnTo>
                  <a:lnTo>
                    <a:pt x="3642" y="1618354"/>
                  </a:lnTo>
                  <a:lnTo>
                    <a:pt x="2287" y="1613896"/>
                  </a:lnTo>
                  <a:lnTo>
                    <a:pt x="1372" y="1609277"/>
                  </a:lnTo>
                  <a:lnTo>
                    <a:pt x="457" y="1604743"/>
                  </a:lnTo>
                  <a:lnTo>
                    <a:pt x="0" y="1600123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5A6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686478"/>
              <a:ext cx="6438899" cy="6476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616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62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14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78"/>
                  </a:lnTo>
                  <a:lnTo>
                    <a:pt x="1170393" y="109486"/>
                  </a:lnTo>
                  <a:lnTo>
                    <a:pt x="1146225" y="75222"/>
                  </a:lnTo>
                  <a:lnTo>
                    <a:pt x="1114437" y="47777"/>
                  </a:lnTo>
                  <a:lnTo>
                    <a:pt x="1076934" y="28930"/>
                  </a:lnTo>
                  <a:lnTo>
                    <a:pt x="1035989" y="19837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30"/>
                  </a:lnTo>
                  <a:lnTo>
                    <a:pt x="614514" y="39116"/>
                  </a:lnTo>
                  <a:lnTo>
                    <a:pt x="580199" y="63309"/>
                  </a:lnTo>
                  <a:lnTo>
                    <a:pt x="552780" y="95034"/>
                  </a:lnTo>
                  <a:lnTo>
                    <a:pt x="533895" y="132549"/>
                  </a:lnTo>
                  <a:lnTo>
                    <a:pt x="524700" y="173570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18"/>
                  </a:lnTo>
                  <a:lnTo>
                    <a:pt x="548271" y="278472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69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54"/>
                  </a:lnTo>
                  <a:lnTo>
                    <a:pt x="1099997" y="341515"/>
                  </a:lnTo>
                  <a:lnTo>
                    <a:pt x="1134313" y="317461"/>
                  </a:lnTo>
                  <a:lnTo>
                    <a:pt x="1161732" y="285673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181725" cy="5601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18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【周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波数分析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物理的特性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解明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周波数特性、</a:t>
            </a:r>
            <a:r>
              <a:rPr sz="1400" i="1" spc="-75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ゆらぎ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、倍⾳構成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などの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物理的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デ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タを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解説。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なぜ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いいかを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理解。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周波数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スペクトル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分析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ゆらぎの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数学的説明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倍⾳構成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⽐較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20" dirty="0">
                <a:solidFill>
                  <a:srgbClr val="333333"/>
                </a:solidFill>
                <a:latin typeface="Comic Sans MS"/>
                <a:cs typeface="Comic Sans MS"/>
              </a:rPr>
              <a:t>vs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⼈⼯⾳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可聴域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超可聴域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屋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久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島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古島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⾃然⾳特性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</a:pPr>
            <a:r>
              <a:rPr sz="1300" b="1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300" b="1" spc="-80" dirty="0">
                <a:solidFill>
                  <a:srgbClr val="333333"/>
                </a:solidFill>
                <a:latin typeface="メイリオ"/>
                <a:cs typeface="メイリオ"/>
              </a:rPr>
              <a:t>特徴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周波数帯域</a:t>
            </a:r>
            <a:r>
              <a:rPr sz="1300" spc="15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150" dirty="0">
                <a:solidFill>
                  <a:srgbClr val="333333"/>
                </a:solidFill>
                <a:latin typeface="Comic Sans MS"/>
                <a:cs typeface="Comic Sans MS"/>
              </a:rPr>
              <a:t>20Hz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〜</a:t>
            </a:r>
            <a:r>
              <a:rPr sz="1350" spc="-75" dirty="0">
                <a:solidFill>
                  <a:srgbClr val="333333"/>
                </a:solidFill>
                <a:latin typeface="Comic Sans MS"/>
                <a:cs typeface="Comic Sans MS"/>
              </a:rPr>
              <a:t>20,000Hz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以上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1/f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ゆらぎ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特性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持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つ</a:t>
            </a:r>
            <a:endParaRPr sz="1350">
              <a:latin typeface="SimSun"/>
              <a:cs typeface="SimSun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豊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かな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倍⾳構成</a:t>
            </a:r>
            <a:endParaRPr sz="1300">
              <a:latin typeface="メイリオ"/>
              <a:cs typeface="メイリオ"/>
            </a:endParaRPr>
          </a:p>
          <a:p>
            <a:pPr marL="164465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⾼周波成分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⽪膚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じる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帯域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含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む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120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879680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399"/>
            <a:ext cx="7063105" cy="6715125"/>
            <a:chOff x="352425" y="352399"/>
            <a:chExt cx="7063105" cy="6715125"/>
          </a:xfrm>
        </p:grpSpPr>
        <p:sp>
          <p:nvSpPr>
            <p:cNvPr id="3" name="object 3"/>
            <p:cNvSpPr/>
            <p:nvPr/>
          </p:nvSpPr>
          <p:spPr>
            <a:xfrm>
              <a:off x="376237" y="357129"/>
              <a:ext cx="7038975" cy="6705600"/>
            </a:xfrm>
            <a:custGeom>
              <a:avLst/>
              <a:gdLst/>
              <a:ahLst/>
              <a:cxnLst/>
              <a:rect l="l" t="t" r="r" b="b"/>
              <a:pathLst>
                <a:path w="7038975" h="6705600">
                  <a:moveTo>
                    <a:pt x="6936628" y="6705523"/>
                  </a:moveTo>
                  <a:lnTo>
                    <a:pt x="84545" y="6705523"/>
                  </a:lnTo>
                  <a:lnTo>
                    <a:pt x="78661" y="6704856"/>
                  </a:lnTo>
                  <a:lnTo>
                    <a:pt x="35275" y="6683053"/>
                  </a:lnTo>
                  <a:lnTo>
                    <a:pt x="11948" y="6650830"/>
                  </a:lnTo>
                  <a:lnTo>
                    <a:pt x="579" y="6610273"/>
                  </a:lnTo>
                  <a:lnTo>
                    <a:pt x="0" y="6603205"/>
                  </a:lnTo>
                  <a:lnTo>
                    <a:pt x="0" y="6596061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603205"/>
                  </a:lnTo>
                  <a:lnTo>
                    <a:pt x="7027882" y="6644506"/>
                  </a:lnTo>
                  <a:lnTo>
                    <a:pt x="7001805" y="6678510"/>
                  </a:lnTo>
                  <a:lnTo>
                    <a:pt x="6964709" y="6699941"/>
                  </a:lnTo>
                  <a:lnTo>
                    <a:pt x="6943752" y="6704856"/>
                  </a:lnTo>
                  <a:lnTo>
                    <a:pt x="6936628" y="6705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99"/>
              <a:ext cx="6999605" cy="6715125"/>
            </a:xfrm>
            <a:custGeom>
              <a:avLst/>
              <a:gdLst/>
              <a:ahLst/>
              <a:cxnLst/>
              <a:rect l="l" t="t" r="r" b="b"/>
              <a:pathLst>
                <a:path w="6999605" h="6715125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6600787"/>
                  </a:lnTo>
                  <a:lnTo>
                    <a:pt x="6987819" y="6640881"/>
                  </a:lnTo>
                  <a:lnTo>
                    <a:pt x="6965112" y="6674866"/>
                  </a:lnTo>
                  <a:lnTo>
                    <a:pt x="6931126" y="6697624"/>
                  </a:lnTo>
                  <a:lnTo>
                    <a:pt x="6891020" y="6705600"/>
                  </a:lnTo>
                  <a:lnTo>
                    <a:pt x="52082" y="6705600"/>
                  </a:lnTo>
                  <a:lnTo>
                    <a:pt x="26085" y="6697269"/>
                  </a:lnTo>
                  <a:lnTo>
                    <a:pt x="0" y="6702488"/>
                  </a:lnTo>
                  <a:lnTo>
                    <a:pt x="40817" y="6714579"/>
                  </a:lnTo>
                  <a:lnTo>
                    <a:pt x="52082" y="6715125"/>
                  </a:lnTo>
                  <a:lnTo>
                    <a:pt x="6891020" y="6715125"/>
                  </a:lnTo>
                  <a:lnTo>
                    <a:pt x="6934771" y="6706425"/>
                  </a:lnTo>
                  <a:lnTo>
                    <a:pt x="6936511" y="6705600"/>
                  </a:lnTo>
                  <a:lnTo>
                    <a:pt x="6944957" y="6701612"/>
                  </a:lnTo>
                  <a:lnTo>
                    <a:pt x="6954545" y="6695884"/>
                  </a:lnTo>
                  <a:lnTo>
                    <a:pt x="6963499" y="6689230"/>
                  </a:lnTo>
                  <a:lnTo>
                    <a:pt x="6971843" y="6681648"/>
                  </a:lnTo>
                  <a:lnTo>
                    <a:pt x="6972300" y="6681152"/>
                  </a:lnTo>
                  <a:lnTo>
                    <a:pt x="6979425" y="6673253"/>
                  </a:lnTo>
                  <a:lnTo>
                    <a:pt x="6986079" y="6664299"/>
                  </a:lnTo>
                  <a:lnTo>
                    <a:pt x="6991807" y="6654724"/>
                  </a:lnTo>
                  <a:lnTo>
                    <a:pt x="6996620" y="6644526"/>
                  </a:lnTo>
                  <a:lnTo>
                    <a:pt x="6999071" y="6637693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48"/>
              <a:ext cx="88900" cy="6690359"/>
            </a:xfrm>
            <a:custGeom>
              <a:avLst/>
              <a:gdLst/>
              <a:ahLst/>
              <a:cxnLst/>
              <a:rect l="l" t="t" r="r" b="b"/>
              <a:pathLst>
                <a:path w="88900" h="6690359">
                  <a:moveTo>
                    <a:pt x="62523" y="6690137"/>
                  </a:moveTo>
                  <a:lnTo>
                    <a:pt x="25900" y="6660806"/>
                  </a:lnTo>
                  <a:lnTo>
                    <a:pt x="4894" y="6621460"/>
                  </a:lnTo>
                  <a:lnTo>
                    <a:pt x="0" y="65883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588330"/>
                  </a:lnTo>
                  <a:lnTo>
                    <a:pt x="52700" y="6628425"/>
                  </a:lnTo>
                  <a:lnTo>
                    <a:pt x="72022" y="6669363"/>
                  </a:lnTo>
                  <a:lnTo>
                    <a:pt x="88529" y="6684940"/>
                  </a:lnTo>
                  <a:lnTo>
                    <a:pt x="62523" y="66901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13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2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086292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086292"/>
              <a:ext cx="38100" cy="838200"/>
            </a:xfrm>
            <a:custGeom>
              <a:avLst/>
              <a:gdLst/>
              <a:ahLst/>
              <a:cxnLst/>
              <a:rect l="l" t="t" r="r" b="b"/>
              <a:pathLst>
                <a:path w="38100" h="838200">
                  <a:moveTo>
                    <a:pt x="380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381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114979"/>
              <a:ext cx="6438899" cy="657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724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0993"/>
                  </a:moveTo>
                  <a:lnTo>
                    <a:pt x="365379" y="29387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05"/>
                  </a:lnTo>
                  <a:lnTo>
                    <a:pt x="3886" y="51485"/>
                  </a:lnTo>
                  <a:lnTo>
                    <a:pt x="0" y="70993"/>
                  </a:lnTo>
                  <a:lnTo>
                    <a:pt x="0" y="304723"/>
                  </a:lnTo>
                  <a:lnTo>
                    <a:pt x="0" y="309702"/>
                  </a:lnTo>
                  <a:lnTo>
                    <a:pt x="15633" y="351002"/>
                  </a:lnTo>
                  <a:lnTo>
                    <a:pt x="51663" y="376821"/>
                  </a:lnTo>
                  <a:lnTo>
                    <a:pt x="71208" y="380847"/>
                  </a:lnTo>
                  <a:lnTo>
                    <a:pt x="309803" y="380847"/>
                  </a:lnTo>
                  <a:lnTo>
                    <a:pt x="351294" y="365074"/>
                  </a:lnTo>
                  <a:lnTo>
                    <a:pt x="377126" y="329133"/>
                  </a:lnTo>
                  <a:lnTo>
                    <a:pt x="381000" y="309702"/>
                  </a:lnTo>
                  <a:lnTo>
                    <a:pt x="381000" y="70993"/>
                  </a:lnTo>
                  <a:close/>
                </a:path>
                <a:path w="1190625" h="381000">
                  <a:moveTo>
                    <a:pt x="1190625" y="190423"/>
                  </a:moveTo>
                  <a:lnTo>
                    <a:pt x="1185494" y="148653"/>
                  </a:lnTo>
                  <a:lnTo>
                    <a:pt x="1170393" y="109550"/>
                  </a:lnTo>
                  <a:lnTo>
                    <a:pt x="1146225" y="75234"/>
                  </a:lnTo>
                  <a:lnTo>
                    <a:pt x="1114437" y="47764"/>
                  </a:lnTo>
                  <a:lnTo>
                    <a:pt x="1076934" y="28917"/>
                  </a:lnTo>
                  <a:lnTo>
                    <a:pt x="1035989" y="19799"/>
                  </a:lnTo>
                  <a:lnTo>
                    <a:pt x="1019175" y="18973"/>
                  </a:lnTo>
                  <a:lnTo>
                    <a:pt x="695325" y="18973"/>
                  </a:lnTo>
                  <a:lnTo>
                    <a:pt x="653656" y="24066"/>
                  </a:lnTo>
                  <a:lnTo>
                    <a:pt x="614514" y="39116"/>
                  </a:lnTo>
                  <a:lnTo>
                    <a:pt x="580199" y="63309"/>
                  </a:lnTo>
                  <a:lnTo>
                    <a:pt x="552780" y="95097"/>
                  </a:lnTo>
                  <a:lnTo>
                    <a:pt x="533895" y="132511"/>
                  </a:lnTo>
                  <a:lnTo>
                    <a:pt x="524700" y="173558"/>
                  </a:lnTo>
                  <a:lnTo>
                    <a:pt x="523875" y="190423"/>
                  </a:lnTo>
                  <a:lnTo>
                    <a:pt x="524090" y="198818"/>
                  </a:lnTo>
                  <a:lnTo>
                    <a:pt x="531266" y="240055"/>
                  </a:lnTo>
                  <a:lnTo>
                    <a:pt x="548271" y="278396"/>
                  </a:lnTo>
                  <a:lnTo>
                    <a:pt x="574103" y="311569"/>
                  </a:lnTo>
                  <a:lnTo>
                    <a:pt x="607199" y="337426"/>
                  </a:lnTo>
                  <a:lnTo>
                    <a:pt x="645566" y="354444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1019175" y="361873"/>
                  </a:lnTo>
                  <a:lnTo>
                    <a:pt x="1060856" y="356603"/>
                  </a:lnTo>
                  <a:lnTo>
                    <a:pt x="1099997" y="341490"/>
                  </a:lnTo>
                  <a:lnTo>
                    <a:pt x="1134313" y="317373"/>
                  </a:lnTo>
                  <a:lnTo>
                    <a:pt x="1161732" y="285597"/>
                  </a:lnTo>
                  <a:lnTo>
                    <a:pt x="1180617" y="248081"/>
                  </a:lnTo>
                  <a:lnTo>
                    <a:pt x="1189812" y="207187"/>
                  </a:lnTo>
                  <a:lnTo>
                    <a:pt x="1190625" y="190423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5040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19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専⾨家</a:t>
            </a:r>
            <a:r>
              <a:rPr sz="1750" b="1" spc="-10" dirty="0">
                <a:solidFill>
                  <a:srgbClr val="333333"/>
                </a:solidFill>
                <a:latin typeface="BIZ UDPゴシック"/>
                <a:cs typeface="BIZ UDPゴシック"/>
              </a:rPr>
              <a:t>インタビュ</a:t>
            </a:r>
            <a:r>
              <a:rPr sz="1700" b="1" spc="-125" dirty="0">
                <a:solidFill>
                  <a:srgbClr val="333333"/>
                </a:solidFill>
                <a:latin typeface="BIZ UDPゴシック"/>
                <a:cs typeface="BIZ UDPゴシック"/>
              </a:rPr>
              <a:t>ー集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】医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師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研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究者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05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55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</a:pPr>
            <a:r>
              <a:rPr sz="1400" i="1" spc="-254" dirty="0">
                <a:solidFill>
                  <a:srgbClr val="333333"/>
                </a:solidFill>
                <a:latin typeface="メイリオ"/>
                <a:cs typeface="メイリオ"/>
              </a:rPr>
              <a:t>ゲイナ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ー博⼠、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ワイル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博⼠、⻄條博⼠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など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リングを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推奨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専⾨家</a:t>
            </a:r>
            <a:r>
              <a:rPr sz="1400" i="1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endParaRPr sz="1400">
              <a:latin typeface="メイリオ"/>
              <a:cs typeface="メイリオ"/>
            </a:endParaRPr>
          </a:p>
          <a:p>
            <a:pPr marL="155575">
              <a:lnSpc>
                <a:spcPct val="100000"/>
              </a:lnSpc>
              <a:spcBef>
                <a:spcPts val="495"/>
              </a:spcBef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収録。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ミッチェル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ゲイナ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アンドリュ</a:t>
            </a:r>
            <a:r>
              <a:rPr sz="1300" spc="335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ワイル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⻄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條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⼀⽌博⼠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ロナルド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85" dirty="0">
                <a:solidFill>
                  <a:srgbClr val="333333"/>
                </a:solidFill>
                <a:latin typeface="SimSun"/>
                <a:cs typeface="SimSun"/>
              </a:rPr>
              <a:t>ピ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204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⽥光洋博⼠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他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専⾨家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200">
              <a:latin typeface="メイリオ"/>
              <a:cs typeface="メイリオ"/>
            </a:endParaRPr>
          </a:p>
          <a:p>
            <a:pPr marL="193040" marR="185420">
              <a:lnSpc>
                <a:spcPct val="1343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はすべて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顕現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してくるもののみなもとであり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全宇宙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神秘</a:t>
            </a:r>
            <a:r>
              <a:rPr sz="1350" spc="-103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者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である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ゲイナ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博⼠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121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03562" y="6308181"/>
            <a:ext cx="24034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インタビュ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0"/>
            <a:ext cx="7063105" cy="6715125"/>
            <a:chOff x="352425" y="352400"/>
            <a:chExt cx="7063105" cy="6715125"/>
          </a:xfrm>
        </p:grpSpPr>
        <p:sp>
          <p:nvSpPr>
            <p:cNvPr id="3" name="object 3"/>
            <p:cNvSpPr/>
            <p:nvPr/>
          </p:nvSpPr>
          <p:spPr>
            <a:xfrm>
              <a:off x="376237" y="357129"/>
              <a:ext cx="7038975" cy="6705600"/>
            </a:xfrm>
            <a:custGeom>
              <a:avLst/>
              <a:gdLst/>
              <a:ahLst/>
              <a:cxnLst/>
              <a:rect l="l" t="t" r="r" b="b"/>
              <a:pathLst>
                <a:path w="7038975" h="6705600">
                  <a:moveTo>
                    <a:pt x="6936628" y="6705523"/>
                  </a:moveTo>
                  <a:lnTo>
                    <a:pt x="84545" y="6705523"/>
                  </a:lnTo>
                  <a:lnTo>
                    <a:pt x="78661" y="6704856"/>
                  </a:lnTo>
                  <a:lnTo>
                    <a:pt x="35275" y="6683053"/>
                  </a:lnTo>
                  <a:lnTo>
                    <a:pt x="11948" y="6650754"/>
                  </a:lnTo>
                  <a:lnTo>
                    <a:pt x="579" y="6610273"/>
                  </a:lnTo>
                  <a:lnTo>
                    <a:pt x="0" y="6603205"/>
                  </a:lnTo>
                  <a:lnTo>
                    <a:pt x="0" y="6596061"/>
                  </a:lnTo>
                  <a:lnTo>
                    <a:pt x="0" y="102241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241"/>
                  </a:lnTo>
                  <a:lnTo>
                    <a:pt x="7038973" y="6603205"/>
                  </a:lnTo>
                  <a:lnTo>
                    <a:pt x="7027882" y="6644506"/>
                  </a:lnTo>
                  <a:lnTo>
                    <a:pt x="7001805" y="6678510"/>
                  </a:lnTo>
                  <a:lnTo>
                    <a:pt x="6964709" y="6699941"/>
                  </a:lnTo>
                  <a:lnTo>
                    <a:pt x="6943752" y="6704856"/>
                  </a:lnTo>
                  <a:lnTo>
                    <a:pt x="6936628" y="6705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99"/>
              <a:ext cx="6999605" cy="6715125"/>
            </a:xfrm>
            <a:custGeom>
              <a:avLst/>
              <a:gdLst/>
              <a:ahLst/>
              <a:cxnLst/>
              <a:rect l="l" t="t" r="r" b="b"/>
              <a:pathLst>
                <a:path w="6999605" h="6715125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6600787"/>
                  </a:lnTo>
                  <a:lnTo>
                    <a:pt x="6987819" y="6640881"/>
                  </a:lnTo>
                  <a:lnTo>
                    <a:pt x="6965112" y="6674866"/>
                  </a:lnTo>
                  <a:lnTo>
                    <a:pt x="6931126" y="6697624"/>
                  </a:lnTo>
                  <a:lnTo>
                    <a:pt x="6891020" y="6705600"/>
                  </a:lnTo>
                  <a:lnTo>
                    <a:pt x="52082" y="6705600"/>
                  </a:lnTo>
                  <a:lnTo>
                    <a:pt x="26085" y="6697281"/>
                  </a:lnTo>
                  <a:lnTo>
                    <a:pt x="0" y="6702488"/>
                  </a:lnTo>
                  <a:lnTo>
                    <a:pt x="40817" y="6714591"/>
                  </a:lnTo>
                  <a:lnTo>
                    <a:pt x="52082" y="6715125"/>
                  </a:lnTo>
                  <a:lnTo>
                    <a:pt x="6891020" y="6715125"/>
                  </a:lnTo>
                  <a:lnTo>
                    <a:pt x="6934771" y="6706425"/>
                  </a:lnTo>
                  <a:lnTo>
                    <a:pt x="6936511" y="6705600"/>
                  </a:lnTo>
                  <a:lnTo>
                    <a:pt x="6944957" y="6701612"/>
                  </a:lnTo>
                  <a:lnTo>
                    <a:pt x="6954545" y="6695884"/>
                  </a:lnTo>
                  <a:lnTo>
                    <a:pt x="6963499" y="6689230"/>
                  </a:lnTo>
                  <a:lnTo>
                    <a:pt x="6971843" y="6681648"/>
                  </a:lnTo>
                  <a:lnTo>
                    <a:pt x="6972300" y="6681152"/>
                  </a:lnTo>
                  <a:lnTo>
                    <a:pt x="6979425" y="6673266"/>
                  </a:lnTo>
                  <a:lnTo>
                    <a:pt x="6986079" y="6664299"/>
                  </a:lnTo>
                  <a:lnTo>
                    <a:pt x="6991807" y="6654724"/>
                  </a:lnTo>
                  <a:lnTo>
                    <a:pt x="6996620" y="6644526"/>
                  </a:lnTo>
                  <a:lnTo>
                    <a:pt x="6999071" y="663769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48"/>
              <a:ext cx="88900" cy="6690359"/>
            </a:xfrm>
            <a:custGeom>
              <a:avLst/>
              <a:gdLst/>
              <a:ahLst/>
              <a:cxnLst/>
              <a:rect l="l" t="t" r="r" b="b"/>
              <a:pathLst>
                <a:path w="88900" h="6690359">
                  <a:moveTo>
                    <a:pt x="62523" y="6690137"/>
                  </a:moveTo>
                  <a:lnTo>
                    <a:pt x="25900" y="6660806"/>
                  </a:lnTo>
                  <a:lnTo>
                    <a:pt x="4894" y="6621460"/>
                  </a:lnTo>
                  <a:lnTo>
                    <a:pt x="0" y="65883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588330"/>
                  </a:lnTo>
                  <a:lnTo>
                    <a:pt x="52700" y="6628425"/>
                  </a:lnTo>
                  <a:lnTo>
                    <a:pt x="72022" y="6669363"/>
                  </a:lnTo>
                  <a:lnTo>
                    <a:pt x="88529" y="6684940"/>
                  </a:lnTo>
                  <a:lnTo>
                    <a:pt x="62523" y="66901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6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546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281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99" y="2857441"/>
              <a:ext cx="28575" cy="304800"/>
            </a:xfrm>
            <a:custGeom>
              <a:avLst/>
              <a:gdLst/>
              <a:ahLst/>
              <a:cxnLst/>
              <a:rect l="l" t="t" r="r" b="b"/>
              <a:pathLst>
                <a:path w="28575" h="304800">
                  <a:moveTo>
                    <a:pt x="28574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047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799" y="508629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4388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838199"/>
                  </a:lnTo>
                  <a:close/>
                </a:path>
              </a:pathLst>
            </a:custGeom>
            <a:solidFill>
              <a:srgbClr val="F0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799" y="5086291"/>
              <a:ext cx="38100" cy="838200"/>
            </a:xfrm>
            <a:custGeom>
              <a:avLst/>
              <a:gdLst/>
              <a:ahLst/>
              <a:cxnLst/>
              <a:rect l="l" t="t" r="r" b="b"/>
              <a:pathLst>
                <a:path w="38100" h="838200">
                  <a:moveTo>
                    <a:pt x="380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38199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114979"/>
              <a:ext cx="6438899" cy="657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540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485"/>
                  </a:lnTo>
                  <a:lnTo>
                    <a:pt x="0" y="71145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66"/>
                  </a:lnTo>
                  <a:lnTo>
                    <a:pt x="1170393" y="109486"/>
                  </a:lnTo>
                  <a:lnTo>
                    <a:pt x="1146225" y="75298"/>
                  </a:lnTo>
                  <a:lnTo>
                    <a:pt x="1114437" y="47777"/>
                  </a:lnTo>
                  <a:lnTo>
                    <a:pt x="1076934" y="28994"/>
                  </a:lnTo>
                  <a:lnTo>
                    <a:pt x="1035989" y="19837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17"/>
                  </a:lnTo>
                  <a:lnTo>
                    <a:pt x="614514" y="39192"/>
                  </a:lnTo>
                  <a:lnTo>
                    <a:pt x="580199" y="63385"/>
                  </a:lnTo>
                  <a:lnTo>
                    <a:pt x="552780" y="95173"/>
                  </a:lnTo>
                  <a:lnTo>
                    <a:pt x="533895" y="132600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068"/>
                  </a:lnTo>
                  <a:lnTo>
                    <a:pt x="548271" y="278472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69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730"/>
                  </a:lnTo>
                  <a:lnTo>
                    <a:pt x="1099997" y="341579"/>
                  </a:lnTo>
                  <a:lnTo>
                    <a:pt x="1134313" y="317449"/>
                  </a:lnTo>
                  <a:lnTo>
                    <a:pt x="1161732" y="285597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3099" y="703800"/>
            <a:ext cx="6451600" cy="5040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歴史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⽂化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デ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35" dirty="0">
                <a:solidFill>
                  <a:srgbClr val="333333"/>
                </a:solidFill>
                <a:latin typeface="BIZ UDPゴシック"/>
                <a:cs typeface="BIZ UDPゴシック"/>
              </a:rPr>
              <a:t>タ</a:t>
            </a: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集】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750" b="1" spc="-185" dirty="0">
                <a:solidFill>
                  <a:srgbClr val="333333"/>
                </a:solidFill>
                <a:latin typeface="BIZ UDPゴシック"/>
                <a:cs typeface="BIZ UDPゴシック"/>
              </a:rPr>
              <a:t>による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750" b="1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しの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歴史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紐解</a:t>
            </a:r>
            <a:r>
              <a:rPr sz="1750" b="1" spc="-50" dirty="0">
                <a:solidFill>
                  <a:srgbClr val="333333"/>
                </a:solidFill>
                <a:latin typeface="BIZ UDPゴシック"/>
                <a:cs typeface="BIZ UDPゴシック"/>
              </a:rPr>
              <a:t>く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20447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古代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現代</a:t>
            </a:r>
            <a:r>
              <a:rPr sz="1400" i="1" spc="-245" dirty="0">
                <a:solidFill>
                  <a:srgbClr val="333333"/>
                </a:solidFill>
                <a:latin typeface="メイリオ"/>
                <a:cs typeface="メイリオ"/>
              </a:rPr>
              <a:t>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による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歴史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網羅。世界各地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事例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⼒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普遍性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理解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古代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ギリシャの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⾳楽療法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チベット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シンギングボウルの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歴史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伝統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神道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仏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教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代⾳楽療法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発展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現代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のサウンドヒ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リング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沢賢治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200">
              <a:latin typeface="SimSun"/>
              <a:cs typeface="SimSun"/>
            </a:endParaRPr>
          </a:p>
          <a:p>
            <a:pPr marL="193040">
              <a:lnSpc>
                <a:spcPct val="100000"/>
              </a:lnSpc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「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先⽣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この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があんばいがわるくて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死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にそうでございますが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...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」</a:t>
            </a:r>
            <a:r>
              <a:rPr sz="1350" spc="-70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セロ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弾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きのゴ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760" dirty="0">
                <a:solidFill>
                  <a:srgbClr val="333333"/>
                </a:solidFill>
                <a:latin typeface="SimSun"/>
                <a:cs typeface="SimSun"/>
              </a:rPr>
              <a:t>シュ</a:t>
            </a:r>
            <a:endParaRPr sz="1350">
              <a:latin typeface="SimSun"/>
              <a:cs typeface="SimSun"/>
            </a:endParaRPr>
          </a:p>
          <a:p>
            <a:pPr marL="193040">
              <a:lnSpc>
                <a:spcPct val="100000"/>
              </a:lnSpc>
              <a:spcBef>
                <a:spcPts val="555"/>
              </a:spcBef>
            </a:pPr>
            <a:r>
              <a:rPr sz="1300" spc="229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29" dirty="0">
                <a:solidFill>
                  <a:srgbClr val="333333"/>
                </a:solidFill>
                <a:latin typeface="Comic Sans MS"/>
                <a:cs typeface="Comic Sans MS"/>
              </a:rPr>
              <a:t>1930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年代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122</a:t>
            </a:fld>
            <a:r>
              <a:rPr spc="-10" dirty="0"/>
              <a:t>/135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32162" y="6308181"/>
            <a:ext cx="19462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デ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ー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タにアクセス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1"/>
            <a:ext cx="7063105" cy="6829425"/>
            <a:chOff x="352425" y="352401"/>
            <a:chExt cx="7063105" cy="6829425"/>
          </a:xfrm>
        </p:grpSpPr>
        <p:sp>
          <p:nvSpPr>
            <p:cNvPr id="3" name="object 3"/>
            <p:cNvSpPr/>
            <p:nvPr/>
          </p:nvSpPr>
          <p:spPr>
            <a:xfrm>
              <a:off x="376237" y="357129"/>
              <a:ext cx="7038975" cy="6819900"/>
            </a:xfrm>
            <a:custGeom>
              <a:avLst/>
              <a:gdLst/>
              <a:ahLst/>
              <a:cxnLst/>
              <a:rect l="l" t="t" r="r" b="b"/>
              <a:pathLst>
                <a:path w="7038975" h="6819900">
                  <a:moveTo>
                    <a:pt x="6936628" y="6819823"/>
                  </a:moveTo>
                  <a:lnTo>
                    <a:pt x="84545" y="6819823"/>
                  </a:lnTo>
                  <a:lnTo>
                    <a:pt x="78661" y="6819156"/>
                  </a:lnTo>
                  <a:lnTo>
                    <a:pt x="35275" y="6797353"/>
                  </a:lnTo>
                  <a:lnTo>
                    <a:pt x="11948" y="6765054"/>
                  </a:lnTo>
                  <a:lnTo>
                    <a:pt x="579" y="6724573"/>
                  </a:lnTo>
                  <a:lnTo>
                    <a:pt x="0" y="6717505"/>
                  </a:lnTo>
                  <a:lnTo>
                    <a:pt x="0" y="6710361"/>
                  </a:lnTo>
                  <a:lnTo>
                    <a:pt x="0" y="102241"/>
                  </a:lnTo>
                  <a:lnTo>
                    <a:pt x="9161" y="60721"/>
                  </a:lnTo>
                  <a:lnTo>
                    <a:pt x="30704" y="26793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85"/>
                  </a:lnTo>
                  <a:lnTo>
                    <a:pt x="7033387" y="74037"/>
                  </a:lnTo>
                  <a:lnTo>
                    <a:pt x="7038973" y="102241"/>
                  </a:lnTo>
                  <a:lnTo>
                    <a:pt x="7038973" y="6717505"/>
                  </a:lnTo>
                  <a:lnTo>
                    <a:pt x="7027882" y="6758729"/>
                  </a:lnTo>
                  <a:lnTo>
                    <a:pt x="7001805" y="6792810"/>
                  </a:lnTo>
                  <a:lnTo>
                    <a:pt x="6964709" y="6814165"/>
                  </a:lnTo>
                  <a:lnTo>
                    <a:pt x="6943752" y="6819156"/>
                  </a:lnTo>
                  <a:lnTo>
                    <a:pt x="6936628" y="6819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399"/>
              <a:ext cx="6999605" cy="6829425"/>
            </a:xfrm>
            <a:custGeom>
              <a:avLst/>
              <a:gdLst/>
              <a:ahLst/>
              <a:cxnLst/>
              <a:rect l="l" t="t" r="r" b="b"/>
              <a:pathLst>
                <a:path w="6999605" h="6829425">
                  <a:moveTo>
                    <a:pt x="6999071" y="77355"/>
                  </a:moveTo>
                  <a:lnTo>
                    <a:pt x="6979425" y="41783"/>
                  </a:lnTo>
                  <a:lnTo>
                    <a:pt x="6971843" y="33439"/>
                  </a:lnTo>
                  <a:lnTo>
                    <a:pt x="6963499" y="25908"/>
                  </a:lnTo>
                  <a:lnTo>
                    <a:pt x="6924154" y="4902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712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68"/>
                  </a:lnTo>
                  <a:lnTo>
                    <a:pt x="6995795" y="114261"/>
                  </a:lnTo>
                  <a:lnTo>
                    <a:pt x="6995795" y="6715087"/>
                  </a:lnTo>
                  <a:lnTo>
                    <a:pt x="6987819" y="6755181"/>
                  </a:lnTo>
                  <a:lnTo>
                    <a:pt x="6965112" y="6789166"/>
                  </a:lnTo>
                  <a:lnTo>
                    <a:pt x="6931126" y="6811924"/>
                  </a:lnTo>
                  <a:lnTo>
                    <a:pt x="6891020" y="6819900"/>
                  </a:lnTo>
                  <a:lnTo>
                    <a:pt x="52082" y="6819900"/>
                  </a:lnTo>
                  <a:lnTo>
                    <a:pt x="26085" y="6811581"/>
                  </a:lnTo>
                  <a:lnTo>
                    <a:pt x="0" y="6816788"/>
                  </a:lnTo>
                  <a:lnTo>
                    <a:pt x="40817" y="6828891"/>
                  </a:lnTo>
                  <a:lnTo>
                    <a:pt x="52082" y="6829425"/>
                  </a:lnTo>
                  <a:lnTo>
                    <a:pt x="6891020" y="6829425"/>
                  </a:lnTo>
                  <a:lnTo>
                    <a:pt x="6934771" y="6820725"/>
                  </a:lnTo>
                  <a:lnTo>
                    <a:pt x="6936511" y="6819900"/>
                  </a:lnTo>
                  <a:lnTo>
                    <a:pt x="6944957" y="6815912"/>
                  </a:lnTo>
                  <a:lnTo>
                    <a:pt x="6954545" y="6810184"/>
                  </a:lnTo>
                  <a:lnTo>
                    <a:pt x="6963499" y="6803530"/>
                  </a:lnTo>
                  <a:lnTo>
                    <a:pt x="6971843" y="6795948"/>
                  </a:lnTo>
                  <a:lnTo>
                    <a:pt x="6972300" y="6795452"/>
                  </a:lnTo>
                  <a:lnTo>
                    <a:pt x="6979425" y="6787566"/>
                  </a:lnTo>
                  <a:lnTo>
                    <a:pt x="6986079" y="6778599"/>
                  </a:lnTo>
                  <a:lnTo>
                    <a:pt x="6991807" y="6769024"/>
                  </a:lnTo>
                  <a:lnTo>
                    <a:pt x="6996620" y="6758826"/>
                  </a:lnTo>
                  <a:lnTo>
                    <a:pt x="6999071" y="6751993"/>
                  </a:lnTo>
                  <a:lnTo>
                    <a:pt x="6999071" y="77355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49"/>
              <a:ext cx="88900" cy="6804659"/>
            </a:xfrm>
            <a:custGeom>
              <a:avLst/>
              <a:gdLst/>
              <a:ahLst/>
              <a:cxnLst/>
              <a:rect l="l" t="t" r="r" b="b"/>
              <a:pathLst>
                <a:path w="88900" h="6804659">
                  <a:moveTo>
                    <a:pt x="62523" y="6804437"/>
                  </a:moveTo>
                  <a:lnTo>
                    <a:pt x="25900" y="6775106"/>
                  </a:lnTo>
                  <a:lnTo>
                    <a:pt x="4894" y="6735760"/>
                  </a:lnTo>
                  <a:lnTo>
                    <a:pt x="0" y="67026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702630"/>
                  </a:lnTo>
                  <a:lnTo>
                    <a:pt x="52700" y="6742725"/>
                  </a:lnTo>
                  <a:lnTo>
                    <a:pt x="72022" y="6783663"/>
                  </a:lnTo>
                  <a:lnTo>
                    <a:pt x="88529" y="6799240"/>
                  </a:lnTo>
                  <a:lnTo>
                    <a:pt x="62523" y="68044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6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066"/>
                  </a:lnTo>
                  <a:lnTo>
                    <a:pt x="15621" y="29546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066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50"/>
                  </a:moveTo>
                  <a:lnTo>
                    <a:pt x="0" y="1962150"/>
                  </a:lnTo>
                  <a:lnTo>
                    <a:pt x="0" y="2257425"/>
                  </a:lnTo>
                  <a:lnTo>
                    <a:pt x="28575" y="2257425"/>
                  </a:lnTo>
                  <a:lnTo>
                    <a:pt x="28575" y="1962150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229280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08"/>
                  </a:moveTo>
                  <a:lnTo>
                    <a:pt x="365379" y="29540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562"/>
                  </a:lnTo>
                  <a:lnTo>
                    <a:pt x="0" y="71208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08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626"/>
                  </a:lnTo>
                  <a:lnTo>
                    <a:pt x="1146225" y="75298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888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30"/>
                  </a:lnTo>
                  <a:lnTo>
                    <a:pt x="614514" y="39204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18"/>
                  </a:lnTo>
                  <a:lnTo>
                    <a:pt x="548271" y="278460"/>
                  </a:lnTo>
                  <a:lnTo>
                    <a:pt x="574103" y="311569"/>
                  </a:lnTo>
                  <a:lnTo>
                    <a:pt x="607199" y="337388"/>
                  </a:lnTo>
                  <a:lnTo>
                    <a:pt x="645566" y="354444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92"/>
                  </a:lnTo>
                  <a:lnTo>
                    <a:pt x="1099997" y="341503"/>
                  </a:lnTo>
                  <a:lnTo>
                    <a:pt x="1134313" y="317385"/>
                  </a:lnTo>
                  <a:lnTo>
                    <a:pt x="1161732" y="285597"/>
                  </a:lnTo>
                  <a:lnTo>
                    <a:pt x="1180617" y="248158"/>
                  </a:lnTo>
                  <a:lnTo>
                    <a:pt x="1189812" y="207289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179185" cy="529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21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間</a:t>
            </a:r>
            <a:r>
              <a:rPr sz="1750" b="1" spc="-150" dirty="0">
                <a:solidFill>
                  <a:srgbClr val="333333"/>
                </a:solidFill>
                <a:latin typeface="BIZ UDPゴシック"/>
                <a:cs typeface="BIZ UDPゴシック"/>
              </a:rPr>
              <a:t>プログラム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⼈⽣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慣</a:t>
            </a:r>
            <a:r>
              <a:rPr sz="175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づくり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15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400" i="1" spc="15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つのタスクをこなすだけ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⽇後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⽣活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定着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5" dirty="0">
                <a:solidFill>
                  <a:srgbClr val="333333"/>
                </a:solidFill>
                <a:latin typeface="メイリオ"/>
                <a:cs typeface="メイリオ"/>
              </a:rPr>
              <a:t>ステップバ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イステップのプログラム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2968625">
              <a:lnSpc>
                <a:spcPct val="133100"/>
              </a:lnSpc>
              <a:spcBef>
                <a:spcPts val="825"/>
              </a:spcBef>
            </a:pPr>
            <a:r>
              <a:rPr sz="1350" spc="-85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本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⾝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につける</a:t>
            </a:r>
            <a:r>
              <a:rPr sz="1300" spc="24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45" dirty="0">
                <a:solidFill>
                  <a:srgbClr val="333333"/>
                </a:solidFill>
                <a:latin typeface="Comic Sans MS"/>
                <a:cs typeface="Comic Sans MS"/>
              </a:rPr>
              <a:t>Day</a:t>
            </a:r>
            <a:r>
              <a:rPr sz="1350" spc="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1-</a:t>
            </a:r>
            <a:r>
              <a:rPr sz="1350" spc="80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300" spc="80" dirty="0">
                <a:solidFill>
                  <a:srgbClr val="333333"/>
                </a:solidFill>
                <a:latin typeface="BIZ UDPゴシック"/>
                <a:cs typeface="BIZ UDPゴシック"/>
              </a:rPr>
              <a:t>） </a:t>
            </a:r>
            <a:r>
              <a:rPr sz="1350" spc="-85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⽣活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む</a:t>
            </a:r>
            <a:r>
              <a:rPr sz="1300" spc="24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45" dirty="0">
                <a:solidFill>
                  <a:srgbClr val="333333"/>
                </a:solidFill>
                <a:latin typeface="Comic Sans MS"/>
                <a:cs typeface="Comic Sans MS"/>
              </a:rPr>
              <a:t>Day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95" dirty="0">
                <a:solidFill>
                  <a:srgbClr val="333333"/>
                </a:solidFill>
                <a:latin typeface="Comic Sans MS"/>
                <a:cs typeface="Comic Sans MS"/>
              </a:rPr>
              <a:t>8-</a:t>
            </a:r>
            <a:r>
              <a:rPr sz="1350" spc="235" dirty="0">
                <a:solidFill>
                  <a:srgbClr val="333333"/>
                </a:solidFill>
                <a:latin typeface="Comic Sans MS"/>
                <a:cs typeface="Comic Sans MS"/>
              </a:rPr>
              <a:t>14</a:t>
            </a:r>
            <a:r>
              <a:rPr sz="1300" spc="235" dirty="0">
                <a:solidFill>
                  <a:srgbClr val="333333"/>
                </a:solidFill>
                <a:latin typeface="BIZ UDPゴシック"/>
                <a:cs typeface="BIZ UDPゴシック"/>
              </a:rPr>
              <a:t>） </a:t>
            </a:r>
            <a:r>
              <a:rPr sz="1350" spc="-85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1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効果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24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45" dirty="0">
                <a:solidFill>
                  <a:srgbClr val="333333"/>
                </a:solidFill>
                <a:latin typeface="Comic Sans MS"/>
                <a:cs typeface="Comic Sans MS"/>
              </a:rPr>
              <a:t>Day</a:t>
            </a:r>
            <a:r>
              <a:rPr sz="1350" spc="2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15-</a:t>
            </a:r>
            <a:r>
              <a:rPr sz="1350" spc="385" dirty="0">
                <a:solidFill>
                  <a:srgbClr val="333333"/>
                </a:solidFill>
                <a:latin typeface="Comic Sans MS"/>
                <a:cs typeface="Comic Sans MS"/>
              </a:rPr>
              <a:t>21</a:t>
            </a:r>
            <a:r>
              <a:rPr sz="1300" spc="385" dirty="0">
                <a:solidFill>
                  <a:srgbClr val="333333"/>
                </a:solidFill>
                <a:latin typeface="BIZ UDPゴシック"/>
                <a:cs typeface="BIZ UDPゴシック"/>
              </a:rPr>
              <a:t>） </a:t>
            </a:r>
            <a:r>
              <a:rPr sz="1350" spc="-85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習慣化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完成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させる</a:t>
            </a:r>
            <a:r>
              <a:rPr sz="1300" spc="24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45" dirty="0">
                <a:solidFill>
                  <a:srgbClr val="333333"/>
                </a:solidFill>
                <a:latin typeface="Comic Sans MS"/>
                <a:cs typeface="Comic Sans MS"/>
              </a:rPr>
              <a:t>Day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22-</a:t>
            </a:r>
            <a:r>
              <a:rPr sz="1350" spc="-790" dirty="0">
                <a:solidFill>
                  <a:srgbClr val="333333"/>
                </a:solidFill>
                <a:latin typeface="Comic Sans MS"/>
                <a:cs typeface="Comic Sans MS"/>
              </a:rPr>
              <a:t>28</a:t>
            </a:r>
            <a:r>
              <a:rPr sz="1300" spc="-18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最終⽇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振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今後</a:t>
            </a:r>
            <a:r>
              <a:rPr sz="1300" spc="24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45" dirty="0">
                <a:solidFill>
                  <a:srgbClr val="333333"/>
                </a:solidFill>
                <a:latin typeface="Comic Sans MS"/>
                <a:cs typeface="Comic Sans MS"/>
              </a:rPr>
              <a:t>Day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29-</a:t>
            </a:r>
            <a:r>
              <a:rPr sz="1350" spc="310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31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BIZ UDPゴシック"/>
              <a:cs typeface="BIZ UDPゴシック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チェックシ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タスクカ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振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返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りワ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クシ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123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07431" y="6422481"/>
            <a:ext cx="239585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プログラムにアクセス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2"/>
            <a:ext cx="7063105" cy="6553200"/>
            <a:chOff x="352425" y="352402"/>
            <a:chExt cx="7063105" cy="6553200"/>
          </a:xfrm>
        </p:grpSpPr>
        <p:sp>
          <p:nvSpPr>
            <p:cNvPr id="3" name="object 3"/>
            <p:cNvSpPr/>
            <p:nvPr/>
          </p:nvSpPr>
          <p:spPr>
            <a:xfrm>
              <a:off x="376237" y="357128"/>
              <a:ext cx="7038975" cy="6543675"/>
            </a:xfrm>
            <a:custGeom>
              <a:avLst/>
              <a:gdLst/>
              <a:ahLst/>
              <a:cxnLst/>
              <a:rect l="l" t="t" r="r" b="b"/>
              <a:pathLst>
                <a:path w="7038975" h="6543675">
                  <a:moveTo>
                    <a:pt x="6936628" y="6543598"/>
                  </a:moveTo>
                  <a:lnTo>
                    <a:pt x="84545" y="6543598"/>
                  </a:lnTo>
                  <a:lnTo>
                    <a:pt x="78661" y="6542855"/>
                  </a:lnTo>
                  <a:lnTo>
                    <a:pt x="35275" y="6521128"/>
                  </a:lnTo>
                  <a:lnTo>
                    <a:pt x="11948" y="6488829"/>
                  </a:lnTo>
                  <a:lnTo>
                    <a:pt x="579" y="6448348"/>
                  </a:lnTo>
                  <a:lnTo>
                    <a:pt x="0" y="6441280"/>
                  </a:lnTo>
                  <a:lnTo>
                    <a:pt x="0" y="643413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441280"/>
                  </a:lnTo>
                  <a:lnTo>
                    <a:pt x="7027882" y="6482581"/>
                  </a:lnTo>
                  <a:lnTo>
                    <a:pt x="7001805" y="6516585"/>
                  </a:lnTo>
                  <a:lnTo>
                    <a:pt x="6964709" y="6537940"/>
                  </a:lnTo>
                  <a:lnTo>
                    <a:pt x="6943752" y="6542855"/>
                  </a:lnTo>
                  <a:lnTo>
                    <a:pt x="6936628" y="6543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553200"/>
            </a:xfrm>
            <a:custGeom>
              <a:avLst/>
              <a:gdLst/>
              <a:ahLst/>
              <a:cxnLst/>
              <a:rect l="l" t="t" r="r" b="b"/>
              <a:pathLst>
                <a:path w="6999605" h="6553200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00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438849"/>
                  </a:lnTo>
                  <a:lnTo>
                    <a:pt x="6987819" y="6478943"/>
                  </a:lnTo>
                  <a:lnTo>
                    <a:pt x="6965112" y="6512928"/>
                  </a:lnTo>
                  <a:lnTo>
                    <a:pt x="6931126" y="6535687"/>
                  </a:lnTo>
                  <a:lnTo>
                    <a:pt x="6891020" y="6543675"/>
                  </a:lnTo>
                  <a:lnTo>
                    <a:pt x="52082" y="6543675"/>
                  </a:lnTo>
                  <a:lnTo>
                    <a:pt x="26085" y="6535344"/>
                  </a:lnTo>
                  <a:lnTo>
                    <a:pt x="0" y="6540563"/>
                  </a:lnTo>
                  <a:lnTo>
                    <a:pt x="40817" y="6552654"/>
                  </a:lnTo>
                  <a:lnTo>
                    <a:pt x="52082" y="6553200"/>
                  </a:lnTo>
                  <a:lnTo>
                    <a:pt x="6891020" y="6553200"/>
                  </a:lnTo>
                  <a:lnTo>
                    <a:pt x="6934771" y="6544488"/>
                  </a:lnTo>
                  <a:lnTo>
                    <a:pt x="6971843" y="6519710"/>
                  </a:lnTo>
                  <a:lnTo>
                    <a:pt x="6972300" y="6519215"/>
                  </a:lnTo>
                  <a:lnTo>
                    <a:pt x="6979425" y="6511328"/>
                  </a:lnTo>
                  <a:lnTo>
                    <a:pt x="6986079" y="6502362"/>
                  </a:lnTo>
                  <a:lnTo>
                    <a:pt x="6991807" y="6492786"/>
                  </a:lnTo>
                  <a:lnTo>
                    <a:pt x="6996620" y="6482588"/>
                  </a:lnTo>
                  <a:lnTo>
                    <a:pt x="6999071" y="6475755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0"/>
              <a:ext cx="88900" cy="6528434"/>
            </a:xfrm>
            <a:custGeom>
              <a:avLst/>
              <a:gdLst/>
              <a:ahLst/>
              <a:cxnLst/>
              <a:rect l="l" t="t" r="r" b="b"/>
              <a:pathLst>
                <a:path w="88900" h="6528434">
                  <a:moveTo>
                    <a:pt x="62524" y="6528211"/>
                  </a:moveTo>
                  <a:lnTo>
                    <a:pt x="25900" y="6498881"/>
                  </a:lnTo>
                  <a:lnTo>
                    <a:pt x="4894" y="6459535"/>
                  </a:lnTo>
                  <a:lnTo>
                    <a:pt x="0" y="64264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426405"/>
                  </a:lnTo>
                  <a:lnTo>
                    <a:pt x="52700" y="6466500"/>
                  </a:lnTo>
                  <a:lnTo>
                    <a:pt x="72022" y="6507438"/>
                  </a:lnTo>
                  <a:lnTo>
                    <a:pt x="88529" y="6523015"/>
                  </a:lnTo>
                  <a:lnTo>
                    <a:pt x="62524" y="65282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6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1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14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14"/>
                  </a:lnTo>
                  <a:lnTo>
                    <a:pt x="6423277" y="808358"/>
                  </a:lnTo>
                  <a:lnTo>
                    <a:pt x="6387236" y="834256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1990725"/>
            </a:xfrm>
            <a:custGeom>
              <a:avLst/>
              <a:gdLst/>
              <a:ahLst/>
              <a:cxnLst/>
              <a:rect l="l" t="t" r="r" b="b"/>
              <a:pathLst>
                <a:path w="28575" h="1990725">
                  <a:moveTo>
                    <a:pt x="28575" y="1685925"/>
                  </a:moveTo>
                  <a:lnTo>
                    <a:pt x="0" y="1685925"/>
                  </a:lnTo>
                  <a:lnTo>
                    <a:pt x="0" y="1990725"/>
                  </a:lnTo>
                  <a:lnTo>
                    <a:pt x="28575" y="1990725"/>
                  </a:lnTo>
                  <a:lnTo>
                    <a:pt x="28575" y="1685925"/>
                  </a:lnTo>
                  <a:close/>
                </a:path>
                <a:path w="28575" h="19907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5953056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32"/>
                  </a:moveTo>
                  <a:lnTo>
                    <a:pt x="365379" y="29540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562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7050"/>
                  </a:lnTo>
                  <a:lnTo>
                    <a:pt x="71208" y="381000"/>
                  </a:lnTo>
                  <a:lnTo>
                    <a:pt x="309803" y="381000"/>
                  </a:lnTo>
                  <a:lnTo>
                    <a:pt x="351294" y="365302"/>
                  </a:lnTo>
                  <a:lnTo>
                    <a:pt x="377126" y="329272"/>
                  </a:lnTo>
                  <a:lnTo>
                    <a:pt x="381000" y="309778"/>
                  </a:lnTo>
                  <a:lnTo>
                    <a:pt x="381000" y="71132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55"/>
                  </a:lnTo>
                  <a:lnTo>
                    <a:pt x="1170393" y="109626"/>
                  </a:lnTo>
                  <a:lnTo>
                    <a:pt x="1146225" y="75298"/>
                  </a:lnTo>
                  <a:lnTo>
                    <a:pt x="1114437" y="47777"/>
                  </a:lnTo>
                  <a:lnTo>
                    <a:pt x="1076934" y="28994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79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18"/>
                  </a:lnTo>
                  <a:lnTo>
                    <a:pt x="548271" y="278422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69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79"/>
                  </a:lnTo>
                  <a:lnTo>
                    <a:pt x="1099997" y="341566"/>
                  </a:lnTo>
                  <a:lnTo>
                    <a:pt x="1134313" y="317449"/>
                  </a:lnTo>
                  <a:lnTo>
                    <a:pt x="1161732" y="285597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04585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22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睡眠改善</a:t>
            </a:r>
            <a:r>
              <a:rPr sz="1750" b="1" spc="-150" dirty="0">
                <a:solidFill>
                  <a:srgbClr val="333333"/>
                </a:solidFill>
                <a:latin typeface="BIZ UDPゴシック"/>
                <a:cs typeface="BIZ UDPゴシック"/>
              </a:rPr>
              <a:t>プログラム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21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⽇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間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劇的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に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変</a:t>
            </a:r>
            <a:r>
              <a:rPr sz="175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週間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改善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するための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具体的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なプログラム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。睡眠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悩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む</a:t>
            </a:r>
            <a:r>
              <a:rPr sz="1400" i="1" spc="-245" dirty="0">
                <a:solidFill>
                  <a:srgbClr val="333333"/>
                </a:solidFill>
                <a:latin typeface="メイリオ"/>
                <a:cs typeface="メイリオ"/>
              </a:rPr>
              <a:t>すべての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へ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936365">
              <a:lnSpc>
                <a:spcPct val="131900"/>
              </a:lnSpc>
              <a:spcBef>
                <a:spcPts val="844"/>
              </a:spcBef>
            </a:pPr>
            <a:r>
              <a:rPr sz="1350" spc="-90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える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90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⼊眠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をスム</a:t>
            </a:r>
            <a:r>
              <a:rPr sz="1300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ズにす</a:t>
            </a:r>
            <a:r>
              <a:rPr sz="1350" spc="-1240" dirty="0">
                <a:solidFill>
                  <a:srgbClr val="333333"/>
                </a:solidFill>
                <a:latin typeface="SimSun"/>
                <a:cs typeface="SimSun"/>
              </a:rPr>
              <a:t>る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90" dirty="0">
                <a:solidFill>
                  <a:srgbClr val="333333"/>
                </a:solidFill>
                <a:latin typeface="Comic Sans MS"/>
                <a:cs typeface="Comic Sans MS"/>
              </a:rPr>
              <a:t>Week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深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眠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りを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⼊</a:t>
            </a:r>
            <a:r>
              <a:rPr sz="1350" spc="-760" dirty="0">
                <a:solidFill>
                  <a:srgbClr val="333333"/>
                </a:solidFill>
                <a:latin typeface="SimSun"/>
                <a:cs typeface="SimSun"/>
              </a:rPr>
              <a:t>れる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維持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する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睡眠⽇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就寝前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ティンカ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睡眠⽤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プレイリスト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124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07431" y="6146256"/>
            <a:ext cx="239585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50" spc="-185" dirty="0">
                <a:solidFill>
                  <a:srgbClr val="FFFFFF"/>
                </a:solidFill>
                <a:latin typeface="SimSun"/>
                <a:cs typeface="SimSun"/>
              </a:rPr>
              <a:t>プログラムにアクセス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3"/>
            <a:ext cx="7063105" cy="7096125"/>
            <a:chOff x="352425" y="352403"/>
            <a:chExt cx="7063105" cy="7096125"/>
          </a:xfrm>
        </p:grpSpPr>
        <p:sp>
          <p:nvSpPr>
            <p:cNvPr id="3" name="object 3"/>
            <p:cNvSpPr/>
            <p:nvPr/>
          </p:nvSpPr>
          <p:spPr>
            <a:xfrm>
              <a:off x="376237" y="357128"/>
              <a:ext cx="7038975" cy="7086600"/>
            </a:xfrm>
            <a:custGeom>
              <a:avLst/>
              <a:gdLst/>
              <a:ahLst/>
              <a:cxnLst/>
              <a:rect l="l" t="t" r="r" b="b"/>
              <a:pathLst>
                <a:path w="7038975" h="7086600">
                  <a:moveTo>
                    <a:pt x="6936628" y="7086523"/>
                  </a:moveTo>
                  <a:lnTo>
                    <a:pt x="84545" y="7086523"/>
                  </a:lnTo>
                  <a:lnTo>
                    <a:pt x="78661" y="7085780"/>
                  </a:lnTo>
                  <a:lnTo>
                    <a:pt x="35275" y="7063977"/>
                  </a:lnTo>
                  <a:lnTo>
                    <a:pt x="11948" y="7031754"/>
                  </a:lnTo>
                  <a:lnTo>
                    <a:pt x="579" y="6991273"/>
                  </a:lnTo>
                  <a:lnTo>
                    <a:pt x="0" y="6984205"/>
                  </a:lnTo>
                  <a:lnTo>
                    <a:pt x="0" y="6977061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984205"/>
                  </a:lnTo>
                  <a:lnTo>
                    <a:pt x="7027882" y="7025429"/>
                  </a:lnTo>
                  <a:lnTo>
                    <a:pt x="7001805" y="7059434"/>
                  </a:lnTo>
                  <a:lnTo>
                    <a:pt x="6964709" y="7080865"/>
                  </a:lnTo>
                  <a:lnTo>
                    <a:pt x="6943752" y="7085780"/>
                  </a:lnTo>
                  <a:lnTo>
                    <a:pt x="6936628" y="70865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7096125"/>
            </a:xfrm>
            <a:custGeom>
              <a:avLst/>
              <a:gdLst/>
              <a:ahLst/>
              <a:cxnLst/>
              <a:rect l="l" t="t" r="r" b="b"/>
              <a:pathLst>
                <a:path w="6999605" h="7096125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33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43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981774"/>
                  </a:lnTo>
                  <a:lnTo>
                    <a:pt x="6987819" y="7021868"/>
                  </a:lnTo>
                  <a:lnTo>
                    <a:pt x="6965112" y="7055866"/>
                  </a:lnTo>
                  <a:lnTo>
                    <a:pt x="6931126" y="7078624"/>
                  </a:lnTo>
                  <a:lnTo>
                    <a:pt x="6891020" y="7086600"/>
                  </a:lnTo>
                  <a:lnTo>
                    <a:pt x="52082" y="7086600"/>
                  </a:lnTo>
                  <a:lnTo>
                    <a:pt x="26085" y="7078269"/>
                  </a:lnTo>
                  <a:lnTo>
                    <a:pt x="0" y="7083488"/>
                  </a:lnTo>
                  <a:lnTo>
                    <a:pt x="40817" y="7095579"/>
                  </a:lnTo>
                  <a:lnTo>
                    <a:pt x="52082" y="7096125"/>
                  </a:lnTo>
                  <a:lnTo>
                    <a:pt x="6891020" y="7096125"/>
                  </a:lnTo>
                  <a:lnTo>
                    <a:pt x="6934771" y="7087413"/>
                  </a:lnTo>
                  <a:lnTo>
                    <a:pt x="6971843" y="7062648"/>
                  </a:lnTo>
                  <a:lnTo>
                    <a:pt x="6972300" y="7062140"/>
                  </a:lnTo>
                  <a:lnTo>
                    <a:pt x="6979425" y="7054253"/>
                  </a:lnTo>
                  <a:lnTo>
                    <a:pt x="6986079" y="7045287"/>
                  </a:lnTo>
                  <a:lnTo>
                    <a:pt x="6991807" y="7035711"/>
                  </a:lnTo>
                  <a:lnTo>
                    <a:pt x="6996620" y="7025513"/>
                  </a:lnTo>
                  <a:lnTo>
                    <a:pt x="6999071" y="7018680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0"/>
              <a:ext cx="88900" cy="7071359"/>
            </a:xfrm>
            <a:custGeom>
              <a:avLst/>
              <a:gdLst/>
              <a:ahLst/>
              <a:cxnLst/>
              <a:rect l="l" t="t" r="r" b="b"/>
              <a:pathLst>
                <a:path w="88900" h="7071359">
                  <a:moveTo>
                    <a:pt x="62523" y="7071137"/>
                  </a:moveTo>
                  <a:lnTo>
                    <a:pt x="25900" y="7041806"/>
                  </a:lnTo>
                  <a:lnTo>
                    <a:pt x="4894" y="7002460"/>
                  </a:lnTo>
                  <a:lnTo>
                    <a:pt x="0" y="69693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969330"/>
                  </a:lnTo>
                  <a:lnTo>
                    <a:pt x="52700" y="7009425"/>
                  </a:lnTo>
                  <a:lnTo>
                    <a:pt x="72022" y="7050362"/>
                  </a:lnTo>
                  <a:lnTo>
                    <a:pt x="88529" y="7065940"/>
                  </a:lnTo>
                  <a:lnTo>
                    <a:pt x="62523" y="70711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546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92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809875"/>
            </a:xfrm>
            <a:custGeom>
              <a:avLst/>
              <a:gdLst/>
              <a:ahLst/>
              <a:cxnLst/>
              <a:rect l="l" t="t" r="r" b="b"/>
              <a:pathLst>
                <a:path w="28575" h="2809875">
                  <a:moveTo>
                    <a:pt x="28575" y="2505075"/>
                  </a:moveTo>
                  <a:lnTo>
                    <a:pt x="0" y="2505075"/>
                  </a:lnTo>
                  <a:lnTo>
                    <a:pt x="0" y="2809875"/>
                  </a:lnTo>
                  <a:lnTo>
                    <a:pt x="28575" y="2809875"/>
                  </a:lnTo>
                  <a:lnTo>
                    <a:pt x="28575" y="2505075"/>
                  </a:lnTo>
                  <a:close/>
                </a:path>
                <a:path w="28575" h="280987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505506"/>
              <a:ext cx="6438899" cy="6476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32"/>
                  </a:moveTo>
                  <a:lnTo>
                    <a:pt x="365379" y="29603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544"/>
                  </a:lnTo>
                  <a:lnTo>
                    <a:pt x="3886" y="51562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132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550"/>
                  </a:lnTo>
                  <a:lnTo>
                    <a:pt x="1146225" y="75298"/>
                  </a:lnTo>
                  <a:lnTo>
                    <a:pt x="1114437" y="47840"/>
                  </a:lnTo>
                  <a:lnTo>
                    <a:pt x="1076934" y="28994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141"/>
                  </a:lnTo>
                  <a:lnTo>
                    <a:pt x="580199" y="63347"/>
                  </a:lnTo>
                  <a:lnTo>
                    <a:pt x="552780" y="95173"/>
                  </a:lnTo>
                  <a:lnTo>
                    <a:pt x="533895" y="132549"/>
                  </a:lnTo>
                  <a:lnTo>
                    <a:pt x="524700" y="173570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18"/>
                  </a:lnTo>
                  <a:lnTo>
                    <a:pt x="548271" y="278460"/>
                  </a:lnTo>
                  <a:lnTo>
                    <a:pt x="574103" y="311645"/>
                  </a:lnTo>
                  <a:lnTo>
                    <a:pt x="607199" y="337502"/>
                  </a:lnTo>
                  <a:lnTo>
                    <a:pt x="645566" y="354533"/>
                  </a:lnTo>
                  <a:lnTo>
                    <a:pt x="686904" y="361734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54"/>
                  </a:lnTo>
                  <a:lnTo>
                    <a:pt x="1099997" y="341515"/>
                  </a:lnTo>
                  <a:lnTo>
                    <a:pt x="1134313" y="317461"/>
                  </a:lnTo>
                  <a:lnTo>
                    <a:pt x="1161732" y="285673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189345" cy="5572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23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65" dirty="0">
                <a:solidFill>
                  <a:srgbClr val="333333"/>
                </a:solidFill>
                <a:latin typeface="BIZ UDPゴシック"/>
                <a:cs typeface="BIZ UDPゴシック"/>
              </a:rPr>
              <a:t>ストレスマネジメント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750" b="1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った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750" b="1" spc="-90" dirty="0">
                <a:solidFill>
                  <a:srgbClr val="333333"/>
                </a:solidFill>
                <a:latin typeface="BIZ UDPゴシック"/>
                <a:cs typeface="BIZ UDPゴシック"/>
              </a:rPr>
              <a:t>つのテクニック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ストレスフルな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乗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越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具体的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なテクニック</a:t>
            </a:r>
            <a:r>
              <a:rPr sz="1400" i="1" spc="-85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選。今⽇</a:t>
            </a:r>
            <a:r>
              <a:rPr sz="1400" i="1" spc="-13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える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内容。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279775">
              <a:lnSpc>
                <a:spcPct val="132700"/>
              </a:lnSpc>
              <a:spcBef>
                <a:spcPts val="830"/>
              </a:spcBef>
            </a:pP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409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409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409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リセット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通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勤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仕事中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のマイクロブレイ</a:t>
            </a:r>
            <a:r>
              <a:rPr sz="1350" spc="-1175" dirty="0">
                <a:solidFill>
                  <a:srgbClr val="333333"/>
                </a:solidFill>
                <a:latin typeface="SimSun"/>
                <a:cs typeface="SimSun"/>
              </a:rPr>
              <a:t>ク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ランチタイムリフレッシ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ュ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帰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宅後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切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え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週末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のリチャ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ジ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40" dirty="0">
                <a:solidFill>
                  <a:srgbClr val="333333"/>
                </a:solidFill>
                <a:latin typeface="Comic Sans MS"/>
                <a:cs typeface="Comic Sans MS"/>
              </a:rPr>
              <a:t>Technique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7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緊急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対処法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テクニック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ストレスチェックシ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125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698705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4"/>
            <a:ext cx="7063105" cy="6829425"/>
            <a:chOff x="352425" y="352404"/>
            <a:chExt cx="7063105" cy="6829425"/>
          </a:xfrm>
        </p:grpSpPr>
        <p:sp>
          <p:nvSpPr>
            <p:cNvPr id="3" name="object 3"/>
            <p:cNvSpPr/>
            <p:nvPr/>
          </p:nvSpPr>
          <p:spPr>
            <a:xfrm>
              <a:off x="376237" y="357128"/>
              <a:ext cx="7038975" cy="6819900"/>
            </a:xfrm>
            <a:custGeom>
              <a:avLst/>
              <a:gdLst/>
              <a:ahLst/>
              <a:cxnLst/>
              <a:rect l="l" t="t" r="r" b="b"/>
              <a:pathLst>
                <a:path w="7038975" h="6819900">
                  <a:moveTo>
                    <a:pt x="6936628" y="6819899"/>
                  </a:moveTo>
                  <a:lnTo>
                    <a:pt x="84545" y="6819899"/>
                  </a:lnTo>
                  <a:lnTo>
                    <a:pt x="78661" y="6819156"/>
                  </a:lnTo>
                  <a:lnTo>
                    <a:pt x="35275" y="6797353"/>
                  </a:lnTo>
                  <a:lnTo>
                    <a:pt x="11948" y="6764978"/>
                  </a:lnTo>
                  <a:lnTo>
                    <a:pt x="579" y="6724573"/>
                  </a:lnTo>
                  <a:lnTo>
                    <a:pt x="0" y="6717505"/>
                  </a:lnTo>
                  <a:lnTo>
                    <a:pt x="0" y="6710361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6717505"/>
                  </a:lnTo>
                  <a:lnTo>
                    <a:pt x="7027882" y="6758729"/>
                  </a:lnTo>
                  <a:lnTo>
                    <a:pt x="7001805" y="6792810"/>
                  </a:lnTo>
                  <a:lnTo>
                    <a:pt x="6964709" y="6814165"/>
                  </a:lnTo>
                  <a:lnTo>
                    <a:pt x="6943752" y="6819156"/>
                  </a:lnTo>
                  <a:lnTo>
                    <a:pt x="6936628" y="681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829425"/>
            </a:xfrm>
            <a:custGeom>
              <a:avLst/>
              <a:gdLst/>
              <a:ahLst/>
              <a:cxnLst/>
              <a:rect l="l" t="t" r="r" b="b"/>
              <a:pathLst>
                <a:path w="6999605" h="6829425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715074"/>
                  </a:lnTo>
                  <a:lnTo>
                    <a:pt x="6987819" y="6755168"/>
                  </a:lnTo>
                  <a:lnTo>
                    <a:pt x="6965112" y="6789166"/>
                  </a:lnTo>
                  <a:lnTo>
                    <a:pt x="6931126" y="6811924"/>
                  </a:lnTo>
                  <a:lnTo>
                    <a:pt x="6891020" y="6819900"/>
                  </a:lnTo>
                  <a:lnTo>
                    <a:pt x="52082" y="6819900"/>
                  </a:lnTo>
                  <a:lnTo>
                    <a:pt x="26085" y="6811569"/>
                  </a:lnTo>
                  <a:lnTo>
                    <a:pt x="0" y="6816788"/>
                  </a:lnTo>
                  <a:lnTo>
                    <a:pt x="40817" y="6828879"/>
                  </a:lnTo>
                  <a:lnTo>
                    <a:pt x="52082" y="6829425"/>
                  </a:lnTo>
                  <a:lnTo>
                    <a:pt x="6891020" y="6829425"/>
                  </a:lnTo>
                  <a:lnTo>
                    <a:pt x="6934771" y="6820725"/>
                  </a:lnTo>
                  <a:lnTo>
                    <a:pt x="6936511" y="6819900"/>
                  </a:lnTo>
                  <a:lnTo>
                    <a:pt x="6944957" y="6815912"/>
                  </a:lnTo>
                  <a:lnTo>
                    <a:pt x="6954545" y="6810172"/>
                  </a:lnTo>
                  <a:lnTo>
                    <a:pt x="6963499" y="6803517"/>
                  </a:lnTo>
                  <a:lnTo>
                    <a:pt x="6971843" y="6795948"/>
                  </a:lnTo>
                  <a:lnTo>
                    <a:pt x="6972300" y="6795440"/>
                  </a:lnTo>
                  <a:lnTo>
                    <a:pt x="6979425" y="6787553"/>
                  </a:lnTo>
                  <a:lnTo>
                    <a:pt x="6986079" y="6778587"/>
                  </a:lnTo>
                  <a:lnTo>
                    <a:pt x="6991807" y="6769011"/>
                  </a:lnTo>
                  <a:lnTo>
                    <a:pt x="6996620" y="6758813"/>
                  </a:lnTo>
                  <a:lnTo>
                    <a:pt x="6999071" y="6751980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1"/>
              <a:ext cx="88900" cy="6804659"/>
            </a:xfrm>
            <a:custGeom>
              <a:avLst/>
              <a:gdLst/>
              <a:ahLst/>
              <a:cxnLst/>
              <a:rect l="l" t="t" r="r" b="b"/>
              <a:pathLst>
                <a:path w="88900" h="6804659">
                  <a:moveTo>
                    <a:pt x="62523" y="6804437"/>
                  </a:moveTo>
                  <a:lnTo>
                    <a:pt x="25900" y="6775106"/>
                  </a:lnTo>
                  <a:lnTo>
                    <a:pt x="4894" y="6735760"/>
                  </a:lnTo>
                  <a:lnTo>
                    <a:pt x="0" y="67026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702630"/>
                  </a:lnTo>
                  <a:lnTo>
                    <a:pt x="52700" y="6742725"/>
                  </a:lnTo>
                  <a:lnTo>
                    <a:pt x="72022" y="6783663"/>
                  </a:lnTo>
                  <a:lnTo>
                    <a:pt x="88529" y="6799240"/>
                  </a:lnTo>
                  <a:lnTo>
                    <a:pt x="62523" y="68044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89"/>
                  </a:lnTo>
                  <a:lnTo>
                    <a:pt x="51661" y="3867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568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50"/>
                  </a:moveTo>
                  <a:lnTo>
                    <a:pt x="0" y="1962150"/>
                  </a:lnTo>
                  <a:lnTo>
                    <a:pt x="0" y="2257425"/>
                  </a:lnTo>
                  <a:lnTo>
                    <a:pt x="28575" y="2257425"/>
                  </a:lnTo>
                  <a:lnTo>
                    <a:pt x="28575" y="1962150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229282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724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32"/>
                  </a:moveTo>
                  <a:lnTo>
                    <a:pt x="365379" y="29527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392"/>
                  </a:lnTo>
                  <a:lnTo>
                    <a:pt x="3886" y="51485"/>
                  </a:lnTo>
                  <a:lnTo>
                    <a:pt x="0" y="71132"/>
                  </a:lnTo>
                  <a:lnTo>
                    <a:pt x="0" y="304723"/>
                  </a:lnTo>
                  <a:lnTo>
                    <a:pt x="0" y="309702"/>
                  </a:lnTo>
                  <a:lnTo>
                    <a:pt x="15633" y="351078"/>
                  </a:lnTo>
                  <a:lnTo>
                    <a:pt x="51663" y="376897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150"/>
                  </a:lnTo>
                  <a:lnTo>
                    <a:pt x="377126" y="329133"/>
                  </a:lnTo>
                  <a:lnTo>
                    <a:pt x="381000" y="309702"/>
                  </a:lnTo>
                  <a:lnTo>
                    <a:pt x="381000" y="71132"/>
                  </a:lnTo>
                  <a:close/>
                </a:path>
                <a:path w="1190625" h="381000">
                  <a:moveTo>
                    <a:pt x="1190625" y="190423"/>
                  </a:moveTo>
                  <a:lnTo>
                    <a:pt x="1185494" y="148615"/>
                  </a:lnTo>
                  <a:lnTo>
                    <a:pt x="1170393" y="109461"/>
                  </a:lnTo>
                  <a:lnTo>
                    <a:pt x="1146225" y="75184"/>
                  </a:lnTo>
                  <a:lnTo>
                    <a:pt x="1114437" y="47764"/>
                  </a:lnTo>
                  <a:lnTo>
                    <a:pt x="1076934" y="28917"/>
                  </a:lnTo>
                  <a:lnTo>
                    <a:pt x="1035989" y="19799"/>
                  </a:lnTo>
                  <a:lnTo>
                    <a:pt x="1019175" y="18973"/>
                  </a:lnTo>
                  <a:lnTo>
                    <a:pt x="695325" y="18973"/>
                  </a:lnTo>
                  <a:lnTo>
                    <a:pt x="653656" y="24066"/>
                  </a:lnTo>
                  <a:lnTo>
                    <a:pt x="614514" y="39116"/>
                  </a:lnTo>
                  <a:lnTo>
                    <a:pt x="580199" y="63309"/>
                  </a:lnTo>
                  <a:lnTo>
                    <a:pt x="552780" y="94945"/>
                  </a:lnTo>
                  <a:lnTo>
                    <a:pt x="533895" y="132511"/>
                  </a:lnTo>
                  <a:lnTo>
                    <a:pt x="524700" y="173558"/>
                  </a:lnTo>
                  <a:lnTo>
                    <a:pt x="523875" y="190423"/>
                  </a:lnTo>
                  <a:lnTo>
                    <a:pt x="524090" y="198818"/>
                  </a:lnTo>
                  <a:lnTo>
                    <a:pt x="531266" y="240118"/>
                  </a:lnTo>
                  <a:lnTo>
                    <a:pt x="548271" y="278460"/>
                  </a:lnTo>
                  <a:lnTo>
                    <a:pt x="574103" y="311645"/>
                  </a:lnTo>
                  <a:lnTo>
                    <a:pt x="607199" y="337426"/>
                  </a:lnTo>
                  <a:lnTo>
                    <a:pt x="645566" y="354457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1019175" y="361873"/>
                  </a:lnTo>
                  <a:lnTo>
                    <a:pt x="1060856" y="356692"/>
                  </a:lnTo>
                  <a:lnTo>
                    <a:pt x="1099997" y="341566"/>
                  </a:lnTo>
                  <a:lnTo>
                    <a:pt x="1134313" y="317411"/>
                  </a:lnTo>
                  <a:lnTo>
                    <a:pt x="1161732" y="285597"/>
                  </a:lnTo>
                  <a:lnTo>
                    <a:pt x="1180617" y="248081"/>
                  </a:lnTo>
                  <a:lnTo>
                    <a:pt x="1189812" y="207187"/>
                  </a:lnTo>
                  <a:lnTo>
                    <a:pt x="1190625" y="190423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58560" cy="529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24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750" b="1" spc="-95" dirty="0">
                <a:solidFill>
                  <a:srgbClr val="333333"/>
                </a:solidFill>
                <a:latin typeface="BIZ UDPゴシック"/>
                <a:cs typeface="BIZ UDPゴシック"/>
              </a:rPr>
              <a:t>マスタ</a:t>
            </a:r>
            <a:r>
              <a:rPr sz="1700" b="1" spc="660" dirty="0">
                <a:solidFill>
                  <a:srgbClr val="333333"/>
                </a:solidFill>
                <a:latin typeface="BIZ UDPゴシック"/>
                <a:cs typeface="BIZ UDPゴシック"/>
              </a:rPr>
              <a:t>ー】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750" b="1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った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完全</a:t>
            </a:r>
            <a:r>
              <a:rPr sz="1750" b="1" spc="15" dirty="0">
                <a:solidFill>
                  <a:srgbClr val="333333"/>
                </a:solidFill>
                <a:latin typeface="BIZ UDPゴシック"/>
                <a:cs typeface="BIZ UDPゴシック"/>
              </a:rPr>
              <a:t>ガイド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初⼼者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経験者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瞑想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レベル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に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完全解説。深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い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瞑想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状態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へ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導</a:t>
            </a:r>
            <a:r>
              <a:rPr sz="1400" i="1" spc="-250" dirty="0">
                <a:solidFill>
                  <a:srgbClr val="333333"/>
                </a:solidFill>
                <a:latin typeface="メイリオ"/>
                <a:cs typeface="メイリオ"/>
              </a:rPr>
              <a:t>きます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4125595">
              <a:lnSpc>
                <a:spcPct val="131900"/>
              </a:lnSpc>
              <a:spcBef>
                <a:spcPts val="844"/>
              </a:spcBef>
            </a:pP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Level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初⼼者向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545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Level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中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者向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350" spc="70" dirty="0">
                <a:solidFill>
                  <a:srgbClr val="333333"/>
                </a:solidFill>
                <a:latin typeface="Comic Sans MS"/>
                <a:cs typeface="Comic Sans MS"/>
              </a:rPr>
              <a:t>15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Level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上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者向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350" spc="-45" dirty="0">
                <a:solidFill>
                  <a:srgbClr val="333333"/>
                </a:solidFill>
                <a:latin typeface="Comic Sans MS"/>
                <a:cs typeface="Comic Sans MS"/>
              </a:rPr>
              <a:t>30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＋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⽬的別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創造性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癒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50" spc="-150" dirty="0">
                <a:solidFill>
                  <a:srgbClr val="333333"/>
                </a:solidFill>
                <a:latin typeface="SimSun"/>
                <a:cs typeface="SimSun"/>
              </a:rPr>
              <a:t>スクリプト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想⽤⾳源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き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想⾳声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種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瞑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想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126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422481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5"/>
            <a:ext cx="7063105" cy="6553200"/>
            <a:chOff x="352425" y="352405"/>
            <a:chExt cx="7063105" cy="6553200"/>
          </a:xfrm>
        </p:grpSpPr>
        <p:sp>
          <p:nvSpPr>
            <p:cNvPr id="3" name="object 3"/>
            <p:cNvSpPr/>
            <p:nvPr/>
          </p:nvSpPr>
          <p:spPr>
            <a:xfrm>
              <a:off x="376237" y="357127"/>
              <a:ext cx="7038975" cy="6543675"/>
            </a:xfrm>
            <a:custGeom>
              <a:avLst/>
              <a:gdLst/>
              <a:ahLst/>
              <a:cxnLst/>
              <a:rect l="l" t="t" r="r" b="b"/>
              <a:pathLst>
                <a:path w="7038975" h="6543675">
                  <a:moveTo>
                    <a:pt x="6936628" y="6543674"/>
                  </a:moveTo>
                  <a:lnTo>
                    <a:pt x="84545" y="6543674"/>
                  </a:lnTo>
                  <a:lnTo>
                    <a:pt x="78661" y="6542931"/>
                  </a:lnTo>
                  <a:lnTo>
                    <a:pt x="35275" y="6521128"/>
                  </a:lnTo>
                  <a:lnTo>
                    <a:pt x="11948" y="6488905"/>
                  </a:lnTo>
                  <a:lnTo>
                    <a:pt x="579" y="6448348"/>
                  </a:lnTo>
                  <a:lnTo>
                    <a:pt x="0" y="6441280"/>
                  </a:lnTo>
                  <a:lnTo>
                    <a:pt x="0" y="6434136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6441280"/>
                  </a:lnTo>
                  <a:lnTo>
                    <a:pt x="7027882" y="6482581"/>
                  </a:lnTo>
                  <a:lnTo>
                    <a:pt x="7001805" y="6516585"/>
                  </a:lnTo>
                  <a:lnTo>
                    <a:pt x="6964709" y="6537940"/>
                  </a:lnTo>
                  <a:lnTo>
                    <a:pt x="6943752" y="6542931"/>
                  </a:lnTo>
                  <a:lnTo>
                    <a:pt x="6936628" y="6543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553200"/>
            </a:xfrm>
            <a:custGeom>
              <a:avLst/>
              <a:gdLst/>
              <a:ahLst/>
              <a:cxnLst/>
              <a:rect l="l" t="t" r="r" b="b"/>
              <a:pathLst>
                <a:path w="6999605" h="6553200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03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438849"/>
                  </a:lnTo>
                  <a:lnTo>
                    <a:pt x="6987819" y="6478943"/>
                  </a:lnTo>
                  <a:lnTo>
                    <a:pt x="6965112" y="6512941"/>
                  </a:lnTo>
                  <a:lnTo>
                    <a:pt x="6931126" y="6535699"/>
                  </a:lnTo>
                  <a:lnTo>
                    <a:pt x="6891020" y="6543675"/>
                  </a:lnTo>
                  <a:lnTo>
                    <a:pt x="52082" y="6543675"/>
                  </a:lnTo>
                  <a:lnTo>
                    <a:pt x="26085" y="6535344"/>
                  </a:lnTo>
                  <a:lnTo>
                    <a:pt x="0" y="6540563"/>
                  </a:lnTo>
                  <a:lnTo>
                    <a:pt x="40817" y="6552654"/>
                  </a:lnTo>
                  <a:lnTo>
                    <a:pt x="52082" y="6553200"/>
                  </a:lnTo>
                  <a:lnTo>
                    <a:pt x="6891020" y="6553200"/>
                  </a:lnTo>
                  <a:lnTo>
                    <a:pt x="6934771" y="6544500"/>
                  </a:lnTo>
                  <a:lnTo>
                    <a:pt x="6936511" y="6543675"/>
                  </a:lnTo>
                  <a:lnTo>
                    <a:pt x="6944957" y="6539687"/>
                  </a:lnTo>
                  <a:lnTo>
                    <a:pt x="6954545" y="6533947"/>
                  </a:lnTo>
                  <a:lnTo>
                    <a:pt x="6963499" y="6527292"/>
                  </a:lnTo>
                  <a:lnTo>
                    <a:pt x="6971843" y="6519723"/>
                  </a:lnTo>
                  <a:lnTo>
                    <a:pt x="6972300" y="6519215"/>
                  </a:lnTo>
                  <a:lnTo>
                    <a:pt x="6979425" y="6511328"/>
                  </a:lnTo>
                  <a:lnTo>
                    <a:pt x="6986079" y="6502362"/>
                  </a:lnTo>
                  <a:lnTo>
                    <a:pt x="6991807" y="6492786"/>
                  </a:lnTo>
                  <a:lnTo>
                    <a:pt x="6996620" y="6482588"/>
                  </a:lnTo>
                  <a:lnTo>
                    <a:pt x="6999071" y="6475755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2"/>
              <a:ext cx="88900" cy="6528434"/>
            </a:xfrm>
            <a:custGeom>
              <a:avLst/>
              <a:gdLst/>
              <a:ahLst/>
              <a:cxnLst/>
              <a:rect l="l" t="t" r="r" b="b"/>
              <a:pathLst>
                <a:path w="88900" h="6528434">
                  <a:moveTo>
                    <a:pt x="62524" y="6528211"/>
                  </a:moveTo>
                  <a:lnTo>
                    <a:pt x="25900" y="6498881"/>
                  </a:lnTo>
                  <a:lnTo>
                    <a:pt x="4894" y="6459535"/>
                  </a:lnTo>
                  <a:lnTo>
                    <a:pt x="0" y="64264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426405"/>
                  </a:lnTo>
                  <a:lnTo>
                    <a:pt x="52700" y="6466500"/>
                  </a:lnTo>
                  <a:lnTo>
                    <a:pt x="72022" y="6507438"/>
                  </a:lnTo>
                  <a:lnTo>
                    <a:pt x="88529" y="6523015"/>
                  </a:lnTo>
                  <a:lnTo>
                    <a:pt x="62524" y="65282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5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40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50"/>
                  </a:moveTo>
                  <a:lnTo>
                    <a:pt x="0" y="1962150"/>
                  </a:lnTo>
                  <a:lnTo>
                    <a:pt x="0" y="2257425"/>
                  </a:lnTo>
                  <a:lnTo>
                    <a:pt x="28575" y="2257425"/>
                  </a:lnTo>
                  <a:lnTo>
                    <a:pt x="28575" y="1962150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5953058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08"/>
                  </a:moveTo>
                  <a:lnTo>
                    <a:pt x="365379" y="29603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562"/>
                  </a:lnTo>
                  <a:lnTo>
                    <a:pt x="0" y="71208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231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208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486"/>
                  </a:lnTo>
                  <a:lnTo>
                    <a:pt x="1146225" y="75222"/>
                  </a:lnTo>
                  <a:lnTo>
                    <a:pt x="1114437" y="47777"/>
                  </a:lnTo>
                  <a:lnTo>
                    <a:pt x="1076934" y="28930"/>
                  </a:lnTo>
                  <a:lnTo>
                    <a:pt x="1035989" y="19837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04"/>
                  </a:lnTo>
                  <a:lnTo>
                    <a:pt x="614514" y="39116"/>
                  </a:lnTo>
                  <a:lnTo>
                    <a:pt x="580199" y="63322"/>
                  </a:lnTo>
                  <a:lnTo>
                    <a:pt x="552780" y="95021"/>
                  </a:lnTo>
                  <a:lnTo>
                    <a:pt x="533895" y="132600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31"/>
                  </a:lnTo>
                  <a:lnTo>
                    <a:pt x="548271" y="278460"/>
                  </a:lnTo>
                  <a:lnTo>
                    <a:pt x="574103" y="311721"/>
                  </a:lnTo>
                  <a:lnTo>
                    <a:pt x="607199" y="337426"/>
                  </a:lnTo>
                  <a:lnTo>
                    <a:pt x="645566" y="354406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79"/>
                  </a:lnTo>
                  <a:lnTo>
                    <a:pt x="1099997" y="341566"/>
                  </a:lnTo>
                  <a:lnTo>
                    <a:pt x="1134313" y="317525"/>
                  </a:lnTo>
                  <a:lnTo>
                    <a:pt x="1161732" y="285597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38875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25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625" dirty="0">
                <a:solidFill>
                  <a:srgbClr val="333333"/>
                </a:solidFill>
                <a:latin typeface="BIZ UDPゴシック"/>
                <a:cs typeface="BIZ UDPゴシック"/>
              </a:rPr>
              <a:t>【集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中⼒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アップ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で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750" b="1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のパフォ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140" dirty="0">
                <a:solidFill>
                  <a:srgbClr val="333333"/>
                </a:solidFill>
                <a:latin typeface="BIZ UDPゴシック"/>
                <a:cs typeface="BIZ UDPゴシック"/>
              </a:rPr>
              <a:t>マンスを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最⼤化</a:t>
            </a:r>
            <a:r>
              <a:rPr sz="175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する</a:t>
            </a:r>
            <a:r>
              <a:rPr sz="1700" b="1" spc="-875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700" b="1" spc="-50" dirty="0">
                <a:solidFill>
                  <a:srgbClr val="333333"/>
                </a:solidFill>
                <a:latin typeface="メイリオ"/>
                <a:cs typeface="メイリオ"/>
              </a:rPr>
              <a:t> 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在宅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ワ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クでも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集中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できる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75" dirty="0">
                <a:solidFill>
                  <a:srgbClr val="333333"/>
                </a:solidFill>
                <a:latin typeface="メイリオ"/>
                <a:cs typeface="メイリオ"/>
              </a:rPr>
              <a:t>して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、仕事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のパフォ</a:t>
            </a:r>
            <a:r>
              <a:rPr sz="1350" i="1" spc="-21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マンスを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最⼤化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する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具体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⽅法。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475354">
              <a:lnSpc>
                <a:spcPct val="129600"/>
              </a:lnSpc>
              <a:spcBef>
                <a:spcPts val="880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集中⼒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のタイプ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別⾳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選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び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endParaRPr sz="1300">
              <a:latin typeface="メイリオ"/>
              <a:cs typeface="メイリオ"/>
            </a:endParaRPr>
          </a:p>
          <a:p>
            <a:pPr marL="12700" marR="3222625">
              <a:lnSpc>
                <a:spcPct val="134300"/>
              </a:lnSpc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5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ポモド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ロテクニック</a:t>
            </a:r>
            <a:r>
              <a:rPr sz="1350" spc="135" dirty="0">
                <a:solidFill>
                  <a:srgbClr val="333333"/>
                </a:solidFill>
                <a:latin typeface="Comic Sans MS"/>
                <a:cs typeface="Comic Sans MS"/>
              </a:rPr>
              <a:t>×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00" spc="-65" dirty="0">
                <a:solidFill>
                  <a:srgbClr val="333333"/>
                </a:solidFill>
                <a:latin typeface="メイリオ"/>
                <a:cs typeface="メイリオ"/>
              </a:rPr>
              <a:t>⾳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2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オンライン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議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-80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00" spc="-5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チ</a:t>
            </a:r>
            <a:r>
              <a:rPr sz="130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ムでの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導⼊⽅法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仕事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タイプ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集中時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間記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127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146256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6"/>
            <a:ext cx="7063105" cy="6829425"/>
            <a:chOff x="352425" y="352406"/>
            <a:chExt cx="7063105" cy="6829425"/>
          </a:xfrm>
        </p:grpSpPr>
        <p:sp>
          <p:nvSpPr>
            <p:cNvPr id="3" name="object 3"/>
            <p:cNvSpPr/>
            <p:nvPr/>
          </p:nvSpPr>
          <p:spPr>
            <a:xfrm>
              <a:off x="376237" y="357127"/>
              <a:ext cx="7038975" cy="6819900"/>
            </a:xfrm>
            <a:custGeom>
              <a:avLst/>
              <a:gdLst/>
              <a:ahLst/>
              <a:cxnLst/>
              <a:rect l="l" t="t" r="r" b="b"/>
              <a:pathLst>
                <a:path w="7038975" h="6819900">
                  <a:moveTo>
                    <a:pt x="6936628" y="6819823"/>
                  </a:moveTo>
                  <a:lnTo>
                    <a:pt x="84545" y="6819823"/>
                  </a:lnTo>
                  <a:lnTo>
                    <a:pt x="78661" y="6819080"/>
                  </a:lnTo>
                  <a:lnTo>
                    <a:pt x="35275" y="6797277"/>
                  </a:lnTo>
                  <a:lnTo>
                    <a:pt x="11948" y="6764978"/>
                  </a:lnTo>
                  <a:lnTo>
                    <a:pt x="579" y="6724573"/>
                  </a:lnTo>
                  <a:lnTo>
                    <a:pt x="0" y="6717505"/>
                  </a:lnTo>
                  <a:lnTo>
                    <a:pt x="0" y="6710361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85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717505"/>
                  </a:lnTo>
                  <a:lnTo>
                    <a:pt x="7027882" y="6758729"/>
                  </a:lnTo>
                  <a:lnTo>
                    <a:pt x="7001805" y="6792810"/>
                  </a:lnTo>
                  <a:lnTo>
                    <a:pt x="6964709" y="6814098"/>
                  </a:lnTo>
                  <a:lnTo>
                    <a:pt x="6943752" y="6819080"/>
                  </a:lnTo>
                  <a:lnTo>
                    <a:pt x="6936628" y="6819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829425"/>
            </a:xfrm>
            <a:custGeom>
              <a:avLst/>
              <a:gdLst/>
              <a:ahLst/>
              <a:cxnLst/>
              <a:rect l="l" t="t" r="r" b="b"/>
              <a:pathLst>
                <a:path w="6999605" h="6829425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715074"/>
                  </a:lnTo>
                  <a:lnTo>
                    <a:pt x="6987819" y="6755168"/>
                  </a:lnTo>
                  <a:lnTo>
                    <a:pt x="6965112" y="6789166"/>
                  </a:lnTo>
                  <a:lnTo>
                    <a:pt x="6931126" y="6811924"/>
                  </a:lnTo>
                  <a:lnTo>
                    <a:pt x="6891020" y="6819900"/>
                  </a:lnTo>
                  <a:lnTo>
                    <a:pt x="52082" y="6819900"/>
                  </a:lnTo>
                  <a:lnTo>
                    <a:pt x="26085" y="6811569"/>
                  </a:lnTo>
                  <a:lnTo>
                    <a:pt x="0" y="6816788"/>
                  </a:lnTo>
                  <a:lnTo>
                    <a:pt x="40817" y="6828879"/>
                  </a:lnTo>
                  <a:lnTo>
                    <a:pt x="52082" y="6829425"/>
                  </a:lnTo>
                  <a:lnTo>
                    <a:pt x="6891020" y="6829425"/>
                  </a:lnTo>
                  <a:lnTo>
                    <a:pt x="6934771" y="6820725"/>
                  </a:lnTo>
                  <a:lnTo>
                    <a:pt x="6936511" y="6819900"/>
                  </a:lnTo>
                  <a:lnTo>
                    <a:pt x="6944957" y="6815912"/>
                  </a:lnTo>
                  <a:lnTo>
                    <a:pt x="6954545" y="6810172"/>
                  </a:lnTo>
                  <a:lnTo>
                    <a:pt x="6963499" y="6803517"/>
                  </a:lnTo>
                  <a:lnTo>
                    <a:pt x="6971843" y="6795948"/>
                  </a:lnTo>
                  <a:lnTo>
                    <a:pt x="6972300" y="6795440"/>
                  </a:lnTo>
                  <a:lnTo>
                    <a:pt x="6979425" y="6787553"/>
                  </a:lnTo>
                  <a:lnTo>
                    <a:pt x="6986079" y="6778587"/>
                  </a:lnTo>
                  <a:lnTo>
                    <a:pt x="6991807" y="6769011"/>
                  </a:lnTo>
                  <a:lnTo>
                    <a:pt x="6996620" y="6758813"/>
                  </a:lnTo>
                  <a:lnTo>
                    <a:pt x="6999071" y="6751980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2"/>
              <a:ext cx="88900" cy="6804659"/>
            </a:xfrm>
            <a:custGeom>
              <a:avLst/>
              <a:gdLst/>
              <a:ahLst/>
              <a:cxnLst/>
              <a:rect l="l" t="t" r="r" b="b"/>
              <a:pathLst>
                <a:path w="88900" h="6804659">
                  <a:moveTo>
                    <a:pt x="62523" y="6804437"/>
                  </a:moveTo>
                  <a:lnTo>
                    <a:pt x="25900" y="6775106"/>
                  </a:lnTo>
                  <a:lnTo>
                    <a:pt x="4894" y="6735760"/>
                  </a:lnTo>
                  <a:lnTo>
                    <a:pt x="0" y="6702630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702630"/>
                  </a:lnTo>
                  <a:lnTo>
                    <a:pt x="52700" y="6742725"/>
                  </a:lnTo>
                  <a:lnTo>
                    <a:pt x="72022" y="6783663"/>
                  </a:lnTo>
                  <a:lnTo>
                    <a:pt x="88529" y="6799240"/>
                  </a:lnTo>
                  <a:lnTo>
                    <a:pt x="62523" y="6804437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3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99"/>
                  </a:moveTo>
                  <a:lnTo>
                    <a:pt x="71196" y="838199"/>
                  </a:lnTo>
                  <a:lnTo>
                    <a:pt x="66241" y="837676"/>
                  </a:lnTo>
                  <a:lnTo>
                    <a:pt x="29705" y="822502"/>
                  </a:lnTo>
                  <a:lnTo>
                    <a:pt x="3885" y="786479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76"/>
                  </a:lnTo>
                  <a:lnTo>
                    <a:pt x="6367702" y="8381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50"/>
                  </a:moveTo>
                  <a:lnTo>
                    <a:pt x="0" y="1962150"/>
                  </a:lnTo>
                  <a:lnTo>
                    <a:pt x="0" y="2257425"/>
                  </a:lnTo>
                  <a:lnTo>
                    <a:pt x="28575" y="2257425"/>
                  </a:lnTo>
                  <a:lnTo>
                    <a:pt x="28575" y="1962150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229283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208"/>
                  </a:moveTo>
                  <a:lnTo>
                    <a:pt x="365379" y="29540"/>
                  </a:lnTo>
                  <a:lnTo>
                    <a:pt x="329349" y="3784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562"/>
                  </a:lnTo>
                  <a:lnTo>
                    <a:pt x="0" y="71208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155"/>
                  </a:lnTo>
                  <a:lnTo>
                    <a:pt x="51663" y="376974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226"/>
                  </a:lnTo>
                  <a:lnTo>
                    <a:pt x="377126" y="329209"/>
                  </a:lnTo>
                  <a:lnTo>
                    <a:pt x="381000" y="309778"/>
                  </a:lnTo>
                  <a:lnTo>
                    <a:pt x="381000" y="71208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91"/>
                  </a:lnTo>
                  <a:lnTo>
                    <a:pt x="1170393" y="109474"/>
                  </a:lnTo>
                  <a:lnTo>
                    <a:pt x="1146225" y="75184"/>
                  </a:lnTo>
                  <a:lnTo>
                    <a:pt x="1114437" y="47777"/>
                  </a:lnTo>
                  <a:lnTo>
                    <a:pt x="1076934" y="28930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30"/>
                  </a:lnTo>
                  <a:lnTo>
                    <a:pt x="614514" y="39179"/>
                  </a:lnTo>
                  <a:lnTo>
                    <a:pt x="580199" y="63322"/>
                  </a:lnTo>
                  <a:lnTo>
                    <a:pt x="552780" y="95021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118"/>
                  </a:lnTo>
                  <a:lnTo>
                    <a:pt x="548271" y="278498"/>
                  </a:lnTo>
                  <a:lnTo>
                    <a:pt x="574103" y="311645"/>
                  </a:lnTo>
                  <a:lnTo>
                    <a:pt x="607199" y="337388"/>
                  </a:lnTo>
                  <a:lnTo>
                    <a:pt x="645566" y="354444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92"/>
                  </a:lnTo>
                  <a:lnTo>
                    <a:pt x="1099997" y="341503"/>
                  </a:lnTo>
                  <a:lnTo>
                    <a:pt x="1134313" y="317449"/>
                  </a:lnTo>
                  <a:lnTo>
                    <a:pt x="1161732" y="285597"/>
                  </a:lnTo>
                  <a:lnTo>
                    <a:pt x="1180617" y="248158"/>
                  </a:lnTo>
                  <a:lnTo>
                    <a:pt x="1189812" y="207289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31255" cy="529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26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90" dirty="0">
                <a:solidFill>
                  <a:srgbClr val="333333"/>
                </a:solidFill>
                <a:latin typeface="BIZ UDPゴシック"/>
                <a:cs typeface="BIZ UDPゴシック"/>
              </a:rPr>
              <a:t>マタニティケア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妊娠中</a:t>
            </a:r>
            <a:r>
              <a:rPr sz="1750" b="1" spc="-155" dirty="0">
                <a:solidFill>
                  <a:srgbClr val="333333"/>
                </a:solidFill>
                <a:latin typeface="BIZ UDPゴシック"/>
                <a:cs typeface="BIZ UDPゴシック"/>
              </a:rPr>
              <a:t>から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始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める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⾃然⾳活⽤</a:t>
            </a:r>
            <a:r>
              <a:rPr sz="1750" b="1" spc="15" dirty="0">
                <a:solidFill>
                  <a:srgbClr val="333333"/>
                </a:solidFill>
                <a:latin typeface="BIZ UDPゴシック"/>
                <a:cs typeface="BIZ UDPゴシック"/>
              </a:rPr>
              <a:t>ガイド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妊娠中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のストレスケアから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、胎教、出産準備、産後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ケアまで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00" dirty="0">
                <a:solidFill>
                  <a:srgbClr val="333333"/>
                </a:solidFill>
                <a:latin typeface="メイリオ"/>
                <a:cs typeface="メイリオ"/>
              </a:rPr>
              <a:t>したマタニテ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ィライフの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過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ごし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⽅。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620135">
              <a:lnSpc>
                <a:spcPct val="133100"/>
              </a:lnSpc>
              <a:spcBef>
                <a:spcPts val="825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妊娠初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期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のリラックス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胎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教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としての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出産準備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産後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回復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サポ</a:t>
            </a:r>
            <a:r>
              <a:rPr sz="1300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r>
              <a:rPr sz="1350" spc="-8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ちゃんとの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⾃然⾳⽣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活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妊娠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呼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吸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法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ちゃん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⽤⾳源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128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422481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¥680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7"/>
            <a:ext cx="7063105" cy="6553200"/>
            <a:chOff x="352425" y="352407"/>
            <a:chExt cx="7063105" cy="6553200"/>
          </a:xfrm>
        </p:grpSpPr>
        <p:sp>
          <p:nvSpPr>
            <p:cNvPr id="3" name="object 3"/>
            <p:cNvSpPr/>
            <p:nvPr/>
          </p:nvSpPr>
          <p:spPr>
            <a:xfrm>
              <a:off x="376237" y="357126"/>
              <a:ext cx="7038975" cy="6543675"/>
            </a:xfrm>
            <a:custGeom>
              <a:avLst/>
              <a:gdLst/>
              <a:ahLst/>
              <a:cxnLst/>
              <a:rect l="l" t="t" r="r" b="b"/>
              <a:pathLst>
                <a:path w="7038975" h="6543675">
                  <a:moveTo>
                    <a:pt x="6936628" y="6543598"/>
                  </a:moveTo>
                  <a:lnTo>
                    <a:pt x="84545" y="6543598"/>
                  </a:lnTo>
                  <a:lnTo>
                    <a:pt x="78661" y="6542931"/>
                  </a:lnTo>
                  <a:lnTo>
                    <a:pt x="35275" y="6521128"/>
                  </a:lnTo>
                  <a:lnTo>
                    <a:pt x="11948" y="6488829"/>
                  </a:lnTo>
                  <a:lnTo>
                    <a:pt x="579" y="6448348"/>
                  </a:lnTo>
                  <a:lnTo>
                    <a:pt x="0" y="6441280"/>
                  </a:lnTo>
                  <a:lnTo>
                    <a:pt x="0" y="643413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061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441280"/>
                  </a:lnTo>
                  <a:lnTo>
                    <a:pt x="7027882" y="6482581"/>
                  </a:lnTo>
                  <a:lnTo>
                    <a:pt x="7001805" y="6516585"/>
                  </a:lnTo>
                  <a:lnTo>
                    <a:pt x="6964709" y="6537940"/>
                  </a:lnTo>
                  <a:lnTo>
                    <a:pt x="6943752" y="6542931"/>
                  </a:lnTo>
                  <a:lnTo>
                    <a:pt x="6936628" y="6543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553200"/>
            </a:xfrm>
            <a:custGeom>
              <a:avLst/>
              <a:gdLst/>
              <a:ahLst/>
              <a:cxnLst/>
              <a:rect l="l" t="t" r="r" b="b"/>
              <a:pathLst>
                <a:path w="6999605" h="6553200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438849"/>
                  </a:lnTo>
                  <a:lnTo>
                    <a:pt x="6987819" y="6478943"/>
                  </a:lnTo>
                  <a:lnTo>
                    <a:pt x="6965112" y="6512941"/>
                  </a:lnTo>
                  <a:lnTo>
                    <a:pt x="6931126" y="6535699"/>
                  </a:lnTo>
                  <a:lnTo>
                    <a:pt x="6891020" y="6543675"/>
                  </a:lnTo>
                  <a:lnTo>
                    <a:pt x="52082" y="6543675"/>
                  </a:lnTo>
                  <a:lnTo>
                    <a:pt x="26085" y="6535344"/>
                  </a:lnTo>
                  <a:lnTo>
                    <a:pt x="0" y="6540563"/>
                  </a:lnTo>
                  <a:lnTo>
                    <a:pt x="40817" y="6552654"/>
                  </a:lnTo>
                  <a:lnTo>
                    <a:pt x="52082" y="6553200"/>
                  </a:lnTo>
                  <a:lnTo>
                    <a:pt x="6891020" y="6553200"/>
                  </a:lnTo>
                  <a:lnTo>
                    <a:pt x="6934771" y="6544500"/>
                  </a:lnTo>
                  <a:lnTo>
                    <a:pt x="6936511" y="6543675"/>
                  </a:lnTo>
                  <a:lnTo>
                    <a:pt x="6944957" y="6539687"/>
                  </a:lnTo>
                  <a:lnTo>
                    <a:pt x="6954545" y="6533947"/>
                  </a:lnTo>
                  <a:lnTo>
                    <a:pt x="6963499" y="6527292"/>
                  </a:lnTo>
                  <a:lnTo>
                    <a:pt x="6971843" y="6519723"/>
                  </a:lnTo>
                  <a:lnTo>
                    <a:pt x="6972300" y="6519227"/>
                  </a:lnTo>
                  <a:lnTo>
                    <a:pt x="6979425" y="6511328"/>
                  </a:lnTo>
                  <a:lnTo>
                    <a:pt x="6986079" y="6502362"/>
                  </a:lnTo>
                  <a:lnTo>
                    <a:pt x="6991807" y="6492786"/>
                  </a:lnTo>
                  <a:lnTo>
                    <a:pt x="6996620" y="6482588"/>
                  </a:lnTo>
                  <a:lnTo>
                    <a:pt x="6999071" y="6475755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3"/>
              <a:ext cx="88900" cy="6528434"/>
            </a:xfrm>
            <a:custGeom>
              <a:avLst/>
              <a:gdLst/>
              <a:ahLst/>
              <a:cxnLst/>
              <a:rect l="l" t="t" r="r" b="b"/>
              <a:pathLst>
                <a:path w="88900" h="6528434">
                  <a:moveTo>
                    <a:pt x="62524" y="6528211"/>
                  </a:moveTo>
                  <a:lnTo>
                    <a:pt x="25900" y="6498881"/>
                  </a:lnTo>
                  <a:lnTo>
                    <a:pt x="4894" y="6459535"/>
                  </a:lnTo>
                  <a:lnTo>
                    <a:pt x="0" y="64264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426405"/>
                  </a:lnTo>
                  <a:lnTo>
                    <a:pt x="52700" y="6466500"/>
                  </a:lnTo>
                  <a:lnTo>
                    <a:pt x="72022" y="6507438"/>
                  </a:lnTo>
                  <a:lnTo>
                    <a:pt x="88529" y="6523015"/>
                  </a:lnTo>
                  <a:lnTo>
                    <a:pt x="62524" y="65282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3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350"/>
                  </a:lnTo>
                  <a:lnTo>
                    <a:pt x="3885" y="786412"/>
                  </a:lnTo>
                  <a:lnTo>
                    <a:pt x="0" y="766914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218"/>
                  </a:lnTo>
                  <a:lnTo>
                    <a:pt x="6438899" y="766914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50"/>
                  </a:moveTo>
                  <a:lnTo>
                    <a:pt x="0" y="1962150"/>
                  </a:lnTo>
                  <a:lnTo>
                    <a:pt x="0" y="2257425"/>
                  </a:lnTo>
                  <a:lnTo>
                    <a:pt x="28575" y="2257425"/>
                  </a:lnTo>
                  <a:lnTo>
                    <a:pt x="28575" y="1962150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5953059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32"/>
                  </a:moveTo>
                  <a:lnTo>
                    <a:pt x="365379" y="29540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409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78"/>
                  </a:lnTo>
                  <a:lnTo>
                    <a:pt x="15633" y="351078"/>
                  </a:lnTo>
                  <a:lnTo>
                    <a:pt x="51663" y="376897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150"/>
                  </a:lnTo>
                  <a:lnTo>
                    <a:pt x="377126" y="329133"/>
                  </a:lnTo>
                  <a:lnTo>
                    <a:pt x="381000" y="309778"/>
                  </a:lnTo>
                  <a:lnTo>
                    <a:pt x="381000" y="71132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742"/>
                  </a:lnTo>
                  <a:lnTo>
                    <a:pt x="1170393" y="109550"/>
                  </a:lnTo>
                  <a:lnTo>
                    <a:pt x="1146225" y="75298"/>
                  </a:lnTo>
                  <a:lnTo>
                    <a:pt x="1114437" y="47917"/>
                  </a:lnTo>
                  <a:lnTo>
                    <a:pt x="1076934" y="29070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93"/>
                  </a:lnTo>
                  <a:lnTo>
                    <a:pt x="614514" y="39204"/>
                  </a:lnTo>
                  <a:lnTo>
                    <a:pt x="580199" y="63385"/>
                  </a:lnTo>
                  <a:lnTo>
                    <a:pt x="552780" y="95097"/>
                  </a:lnTo>
                  <a:lnTo>
                    <a:pt x="533895" y="132588"/>
                  </a:lnTo>
                  <a:lnTo>
                    <a:pt x="524700" y="173634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44"/>
                  </a:lnTo>
                  <a:lnTo>
                    <a:pt x="548271" y="278460"/>
                  </a:lnTo>
                  <a:lnTo>
                    <a:pt x="574103" y="311645"/>
                  </a:lnTo>
                  <a:lnTo>
                    <a:pt x="607199" y="337400"/>
                  </a:lnTo>
                  <a:lnTo>
                    <a:pt x="645566" y="354406"/>
                  </a:lnTo>
                  <a:lnTo>
                    <a:pt x="686904" y="361696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79"/>
                  </a:lnTo>
                  <a:lnTo>
                    <a:pt x="1099997" y="341566"/>
                  </a:lnTo>
                  <a:lnTo>
                    <a:pt x="1134313" y="317411"/>
                  </a:lnTo>
                  <a:lnTo>
                    <a:pt x="1161732" y="285597"/>
                  </a:lnTo>
                  <a:lnTo>
                    <a:pt x="1180617" y="248145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29350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27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更年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期</a:t>
            </a:r>
            <a:r>
              <a:rPr sz="1750" b="1" spc="-100" dirty="0">
                <a:solidFill>
                  <a:srgbClr val="333333"/>
                </a:solidFill>
                <a:latin typeface="BIZ UDPゴシック"/>
                <a:cs typeface="BIZ UDPゴシック"/>
              </a:rPr>
              <a:t>ケア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ホルモンバランスを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整</a:t>
            </a:r>
            <a:r>
              <a:rPr sz="1750" b="1" spc="-175" dirty="0">
                <a:solidFill>
                  <a:srgbClr val="333333"/>
                </a:solidFill>
                <a:latin typeface="BIZ UDPゴシック"/>
                <a:cs typeface="BIZ UDPゴシック"/>
              </a:rPr>
              <a:t>える</a:t>
            </a:r>
            <a:r>
              <a:rPr sz="1700" b="1" spc="-145" dirty="0">
                <a:solidFill>
                  <a:srgbClr val="333333"/>
                </a:solidFill>
                <a:latin typeface="メイリオ"/>
                <a:cs typeface="メイリオ"/>
              </a:rPr>
              <a:t>⾃然⾳活⽤法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更年期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不調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70" dirty="0">
                <a:solidFill>
                  <a:srgbClr val="333333"/>
                </a:solidFill>
                <a:latin typeface="メイリオ"/>
                <a:cs typeface="メイリオ"/>
              </a:rPr>
              <a:t>でケア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35" dirty="0">
                <a:solidFill>
                  <a:srgbClr val="333333"/>
                </a:solidFill>
                <a:latin typeface="メイリオ"/>
                <a:cs typeface="メイリオ"/>
              </a:rPr>
              <a:t>ホットフラッシュ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、不眠、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イライラなど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つらい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症状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和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らげる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具体的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な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⽅法。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317875">
              <a:lnSpc>
                <a:spcPct val="133100"/>
              </a:lnSpc>
              <a:spcBef>
                <a:spcPts val="819"/>
              </a:spcBef>
            </a:pP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更年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⾃律神経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係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2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症状別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0" dirty="0">
                <a:solidFill>
                  <a:srgbClr val="333333"/>
                </a:solidFill>
                <a:latin typeface="メイリオ"/>
                <a:cs typeface="メイリオ"/>
              </a:rPr>
              <a:t>⾃然⾳活⽤法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3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ホルモンバランスと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⾳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7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⽇常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ティンに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込</a:t>
            </a:r>
            <a:r>
              <a:rPr sz="1350" spc="-120" dirty="0">
                <a:solidFill>
                  <a:srgbClr val="333333"/>
                </a:solidFill>
                <a:latin typeface="SimSun"/>
                <a:cs typeface="SimSun"/>
              </a:rPr>
              <a:t>む </a:t>
            </a:r>
            <a:r>
              <a:rPr sz="1350" spc="-30" dirty="0">
                <a:solidFill>
                  <a:srgbClr val="333333"/>
                </a:solidFill>
                <a:latin typeface="Comic Sans MS"/>
                <a:cs typeface="Comic Sans MS"/>
              </a:rPr>
              <a:t>Chapter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パ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トナ</a:t>
            </a:r>
            <a:r>
              <a:rPr sz="1300" spc="335" dirty="0">
                <a:solidFill>
                  <a:srgbClr val="333333"/>
                </a:solidFill>
                <a:latin typeface="BIZ UDPゴシック"/>
                <a:cs typeface="BIZ UDPゴシック"/>
              </a:rPr>
              <a:t>ー・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家族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共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有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症状別⾳源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セルフケア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129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146256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¥780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8"/>
            <a:ext cx="7063105" cy="6553200"/>
            <a:chOff x="352425" y="352408"/>
            <a:chExt cx="7063105" cy="6553200"/>
          </a:xfrm>
        </p:grpSpPr>
        <p:sp>
          <p:nvSpPr>
            <p:cNvPr id="3" name="object 3"/>
            <p:cNvSpPr/>
            <p:nvPr/>
          </p:nvSpPr>
          <p:spPr>
            <a:xfrm>
              <a:off x="376237" y="357126"/>
              <a:ext cx="7038975" cy="6543675"/>
            </a:xfrm>
            <a:custGeom>
              <a:avLst/>
              <a:gdLst/>
              <a:ahLst/>
              <a:cxnLst/>
              <a:rect l="l" t="t" r="r" b="b"/>
              <a:pathLst>
                <a:path w="7038975" h="6543675">
                  <a:moveTo>
                    <a:pt x="6936628" y="6543598"/>
                  </a:moveTo>
                  <a:lnTo>
                    <a:pt x="84545" y="6543598"/>
                  </a:lnTo>
                  <a:lnTo>
                    <a:pt x="78661" y="6542855"/>
                  </a:lnTo>
                  <a:lnTo>
                    <a:pt x="35275" y="6521052"/>
                  </a:lnTo>
                  <a:lnTo>
                    <a:pt x="11948" y="6488829"/>
                  </a:lnTo>
                  <a:lnTo>
                    <a:pt x="579" y="6448348"/>
                  </a:lnTo>
                  <a:lnTo>
                    <a:pt x="0" y="6441280"/>
                  </a:lnTo>
                  <a:lnTo>
                    <a:pt x="0" y="643413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441280"/>
                  </a:lnTo>
                  <a:lnTo>
                    <a:pt x="7027882" y="6482581"/>
                  </a:lnTo>
                  <a:lnTo>
                    <a:pt x="7001805" y="6516509"/>
                  </a:lnTo>
                  <a:lnTo>
                    <a:pt x="6964709" y="6537873"/>
                  </a:lnTo>
                  <a:lnTo>
                    <a:pt x="6943752" y="6542855"/>
                  </a:lnTo>
                  <a:lnTo>
                    <a:pt x="6936628" y="6543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553200"/>
            </a:xfrm>
            <a:custGeom>
              <a:avLst/>
              <a:gdLst/>
              <a:ahLst/>
              <a:cxnLst/>
              <a:rect l="l" t="t" r="r" b="b"/>
              <a:pathLst>
                <a:path w="6999605" h="6553200">
                  <a:moveTo>
                    <a:pt x="6999071" y="77343"/>
                  </a:moveTo>
                  <a:lnTo>
                    <a:pt x="6979425" y="41770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438849"/>
                  </a:lnTo>
                  <a:lnTo>
                    <a:pt x="6987819" y="6478943"/>
                  </a:lnTo>
                  <a:lnTo>
                    <a:pt x="6965112" y="6512941"/>
                  </a:lnTo>
                  <a:lnTo>
                    <a:pt x="6931126" y="6535699"/>
                  </a:lnTo>
                  <a:lnTo>
                    <a:pt x="6891020" y="6543675"/>
                  </a:lnTo>
                  <a:lnTo>
                    <a:pt x="52082" y="6543675"/>
                  </a:lnTo>
                  <a:lnTo>
                    <a:pt x="26085" y="6535344"/>
                  </a:lnTo>
                  <a:lnTo>
                    <a:pt x="0" y="6540563"/>
                  </a:lnTo>
                  <a:lnTo>
                    <a:pt x="40817" y="6552654"/>
                  </a:lnTo>
                  <a:lnTo>
                    <a:pt x="52082" y="6553200"/>
                  </a:lnTo>
                  <a:lnTo>
                    <a:pt x="6891020" y="6553200"/>
                  </a:lnTo>
                  <a:lnTo>
                    <a:pt x="6934771" y="6544500"/>
                  </a:lnTo>
                  <a:lnTo>
                    <a:pt x="6936511" y="6543675"/>
                  </a:lnTo>
                  <a:lnTo>
                    <a:pt x="6944957" y="6539687"/>
                  </a:lnTo>
                  <a:lnTo>
                    <a:pt x="6954545" y="6533959"/>
                  </a:lnTo>
                  <a:lnTo>
                    <a:pt x="6963499" y="6527305"/>
                  </a:lnTo>
                  <a:lnTo>
                    <a:pt x="6971843" y="6519723"/>
                  </a:lnTo>
                  <a:lnTo>
                    <a:pt x="6972300" y="6519227"/>
                  </a:lnTo>
                  <a:lnTo>
                    <a:pt x="6979425" y="6511328"/>
                  </a:lnTo>
                  <a:lnTo>
                    <a:pt x="6986079" y="6502362"/>
                  </a:lnTo>
                  <a:lnTo>
                    <a:pt x="6991807" y="6492786"/>
                  </a:lnTo>
                  <a:lnTo>
                    <a:pt x="6996620" y="6482588"/>
                  </a:lnTo>
                  <a:lnTo>
                    <a:pt x="6999071" y="6475755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4"/>
              <a:ext cx="88900" cy="6528434"/>
            </a:xfrm>
            <a:custGeom>
              <a:avLst/>
              <a:gdLst/>
              <a:ahLst/>
              <a:cxnLst/>
              <a:rect l="l" t="t" r="r" b="b"/>
              <a:pathLst>
                <a:path w="88900" h="6528434">
                  <a:moveTo>
                    <a:pt x="62524" y="6528211"/>
                  </a:moveTo>
                  <a:lnTo>
                    <a:pt x="25900" y="6498881"/>
                  </a:lnTo>
                  <a:lnTo>
                    <a:pt x="4894" y="6459535"/>
                  </a:lnTo>
                  <a:lnTo>
                    <a:pt x="0" y="64264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426405"/>
                  </a:lnTo>
                  <a:lnTo>
                    <a:pt x="52700" y="6466500"/>
                  </a:lnTo>
                  <a:lnTo>
                    <a:pt x="72022" y="6507438"/>
                  </a:lnTo>
                  <a:lnTo>
                    <a:pt x="88529" y="6523015"/>
                  </a:lnTo>
                  <a:lnTo>
                    <a:pt x="62524" y="65282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4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39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350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554"/>
                  </a:lnTo>
                  <a:lnTo>
                    <a:pt x="6435013" y="51415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281"/>
                  </a:lnTo>
                  <a:lnTo>
                    <a:pt x="6387236" y="834104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48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37"/>
                  </a:moveTo>
                  <a:lnTo>
                    <a:pt x="0" y="1962137"/>
                  </a:lnTo>
                  <a:lnTo>
                    <a:pt x="0" y="2257412"/>
                  </a:lnTo>
                  <a:lnTo>
                    <a:pt x="28575" y="2257412"/>
                  </a:lnTo>
                  <a:lnTo>
                    <a:pt x="28575" y="1962137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5953059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48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32"/>
                  </a:moveTo>
                  <a:lnTo>
                    <a:pt x="365379" y="29540"/>
                  </a:lnTo>
                  <a:lnTo>
                    <a:pt x="329349" y="3860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68"/>
                  </a:lnTo>
                  <a:lnTo>
                    <a:pt x="3886" y="51485"/>
                  </a:lnTo>
                  <a:lnTo>
                    <a:pt x="0" y="71132"/>
                  </a:lnTo>
                  <a:lnTo>
                    <a:pt x="0" y="304800"/>
                  </a:lnTo>
                  <a:lnTo>
                    <a:pt x="0" y="309714"/>
                  </a:lnTo>
                  <a:lnTo>
                    <a:pt x="15633" y="351155"/>
                  </a:lnTo>
                  <a:lnTo>
                    <a:pt x="51663" y="37705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209"/>
                  </a:lnTo>
                  <a:lnTo>
                    <a:pt x="381000" y="309714"/>
                  </a:lnTo>
                  <a:lnTo>
                    <a:pt x="381000" y="71132"/>
                  </a:lnTo>
                  <a:close/>
                </a:path>
                <a:path w="1190625" h="381000">
                  <a:moveTo>
                    <a:pt x="1190625" y="190500"/>
                  </a:moveTo>
                  <a:lnTo>
                    <a:pt x="1185494" y="148678"/>
                  </a:lnTo>
                  <a:lnTo>
                    <a:pt x="1170393" y="109486"/>
                  </a:lnTo>
                  <a:lnTo>
                    <a:pt x="1146225" y="75298"/>
                  </a:lnTo>
                  <a:lnTo>
                    <a:pt x="1114437" y="47840"/>
                  </a:lnTo>
                  <a:lnTo>
                    <a:pt x="1076934" y="29019"/>
                  </a:lnTo>
                  <a:lnTo>
                    <a:pt x="1035989" y="19875"/>
                  </a:lnTo>
                  <a:lnTo>
                    <a:pt x="1019175" y="19050"/>
                  </a:lnTo>
                  <a:lnTo>
                    <a:pt x="695325" y="19050"/>
                  </a:lnTo>
                  <a:lnTo>
                    <a:pt x="653656" y="24142"/>
                  </a:lnTo>
                  <a:lnTo>
                    <a:pt x="614514" y="39204"/>
                  </a:lnTo>
                  <a:lnTo>
                    <a:pt x="580199" y="63347"/>
                  </a:lnTo>
                  <a:lnTo>
                    <a:pt x="552780" y="95021"/>
                  </a:lnTo>
                  <a:lnTo>
                    <a:pt x="533895" y="132537"/>
                  </a:lnTo>
                  <a:lnTo>
                    <a:pt x="524700" y="173570"/>
                  </a:lnTo>
                  <a:lnTo>
                    <a:pt x="523875" y="190500"/>
                  </a:lnTo>
                  <a:lnTo>
                    <a:pt x="524090" y="198894"/>
                  </a:lnTo>
                  <a:lnTo>
                    <a:pt x="531266" y="240118"/>
                  </a:lnTo>
                  <a:lnTo>
                    <a:pt x="548271" y="278422"/>
                  </a:lnTo>
                  <a:lnTo>
                    <a:pt x="574103" y="311645"/>
                  </a:lnTo>
                  <a:lnTo>
                    <a:pt x="607199" y="337312"/>
                  </a:lnTo>
                  <a:lnTo>
                    <a:pt x="645566" y="354304"/>
                  </a:lnTo>
                  <a:lnTo>
                    <a:pt x="686904" y="361683"/>
                  </a:lnTo>
                  <a:lnTo>
                    <a:pt x="695325" y="361950"/>
                  </a:lnTo>
                  <a:lnTo>
                    <a:pt x="1019175" y="361950"/>
                  </a:lnTo>
                  <a:lnTo>
                    <a:pt x="1060856" y="356616"/>
                  </a:lnTo>
                  <a:lnTo>
                    <a:pt x="1099997" y="341515"/>
                  </a:lnTo>
                  <a:lnTo>
                    <a:pt x="1134313" y="317411"/>
                  </a:lnTo>
                  <a:lnTo>
                    <a:pt x="1161732" y="285597"/>
                  </a:lnTo>
                  <a:lnTo>
                    <a:pt x="1180617" y="248107"/>
                  </a:lnTo>
                  <a:lnTo>
                    <a:pt x="1189812" y="207251"/>
                  </a:lnTo>
                  <a:lnTo>
                    <a:pt x="11906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64275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28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750" b="1" spc="-180" dirty="0">
                <a:solidFill>
                  <a:srgbClr val="333333"/>
                </a:solidFill>
                <a:latin typeface="BIZ UDPゴシック"/>
                <a:cs typeface="BIZ UDPゴシック"/>
              </a:rPr>
              <a:t>どもの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を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育</a:t>
            </a:r>
            <a:r>
              <a:rPr sz="1750" b="1" spc="-190" dirty="0">
                <a:solidFill>
                  <a:srgbClr val="333333"/>
                </a:solidFill>
                <a:latin typeface="BIZ UDPゴシック"/>
                <a:cs typeface="BIZ UDPゴシック"/>
              </a:rPr>
              <a:t>てる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家庭</a:t>
            </a:r>
            <a:r>
              <a:rPr sz="1750" b="1" spc="-195" dirty="0">
                <a:solidFill>
                  <a:srgbClr val="333333"/>
                </a:solidFill>
                <a:latin typeface="BIZ UDPゴシック"/>
                <a:cs typeface="BIZ UDPゴシック"/>
              </a:rPr>
              <a:t>でできる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700" b="1" spc="-105" dirty="0">
                <a:solidFill>
                  <a:srgbClr val="333333"/>
                </a:solidFill>
                <a:latin typeface="BIZ UDPゴシック"/>
                <a:cs typeface="BIZ UDPゴシック"/>
              </a:rPr>
              <a:t>教育</a:t>
            </a:r>
            <a:endParaRPr sz="170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どもの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情緒安定、集中⼒向上、感性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育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てる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。家庭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できる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10" dirty="0">
                <a:solidFill>
                  <a:srgbClr val="333333"/>
                </a:solidFill>
                <a:latin typeface="メイリオ"/>
                <a:cs typeface="メイリオ"/>
              </a:rPr>
              <a:t>⼦育</a:t>
            </a:r>
            <a:r>
              <a:rPr sz="1400" i="1" spc="-229" dirty="0">
                <a:solidFill>
                  <a:srgbClr val="333333"/>
                </a:solidFill>
                <a:latin typeface="メイリオ"/>
                <a:cs typeface="メイリオ"/>
              </a:rPr>
              <a:t>ての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⽅法。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653790">
              <a:lnSpc>
                <a:spcPct val="133100"/>
              </a:lnSpc>
              <a:spcBef>
                <a:spcPts val="825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⼦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どもと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年齢別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活⽤⽅法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勉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強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環境</a:t>
            </a:r>
            <a:r>
              <a:rPr sz="1300" spc="-5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情緒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安定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させる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300" dirty="0">
                <a:solidFill>
                  <a:srgbClr val="333333"/>
                </a:solidFill>
                <a:latin typeface="メイリオ"/>
                <a:cs typeface="メイリオ"/>
              </a:rPr>
              <a:t>⽅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⾃然体験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350" spc="-760" dirty="0">
                <a:solidFill>
                  <a:srgbClr val="333333"/>
                </a:solidFill>
                <a:latin typeface="SimSun"/>
                <a:cs typeface="SimSun"/>
              </a:rPr>
              <a:t>わせ</a:t>
            </a:r>
            <a:endParaRPr sz="135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200">
              <a:latin typeface="SimSun"/>
              <a:cs typeface="SimSun"/>
            </a:endParaRPr>
          </a:p>
          <a:p>
            <a:pPr marL="135890">
              <a:lnSpc>
                <a:spcPct val="100000"/>
              </a:lnSpc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年齢別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親⼦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しむ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350" spc="-220" dirty="0">
                <a:solidFill>
                  <a:srgbClr val="333333"/>
                </a:solidFill>
                <a:latin typeface="SimSun"/>
                <a:cs typeface="SimSun"/>
              </a:rPr>
              <a:t>ゲ</a:t>
            </a:r>
            <a:r>
              <a:rPr sz="1300" spc="-1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ム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130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146256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¥580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09"/>
            <a:ext cx="7063105" cy="6553200"/>
            <a:chOff x="352425" y="352409"/>
            <a:chExt cx="7063105" cy="6553200"/>
          </a:xfrm>
        </p:grpSpPr>
        <p:sp>
          <p:nvSpPr>
            <p:cNvPr id="3" name="object 3"/>
            <p:cNvSpPr/>
            <p:nvPr/>
          </p:nvSpPr>
          <p:spPr>
            <a:xfrm>
              <a:off x="376237" y="357126"/>
              <a:ext cx="7038975" cy="6543675"/>
            </a:xfrm>
            <a:custGeom>
              <a:avLst/>
              <a:gdLst/>
              <a:ahLst/>
              <a:cxnLst/>
              <a:rect l="l" t="t" r="r" b="b"/>
              <a:pathLst>
                <a:path w="7038975" h="6543675">
                  <a:moveTo>
                    <a:pt x="6936628" y="6543598"/>
                  </a:moveTo>
                  <a:lnTo>
                    <a:pt x="84545" y="6543598"/>
                  </a:lnTo>
                  <a:lnTo>
                    <a:pt x="78661" y="6542855"/>
                  </a:lnTo>
                  <a:lnTo>
                    <a:pt x="35275" y="6521052"/>
                  </a:lnTo>
                  <a:lnTo>
                    <a:pt x="11948" y="6488829"/>
                  </a:lnTo>
                  <a:lnTo>
                    <a:pt x="579" y="6448348"/>
                  </a:lnTo>
                  <a:lnTo>
                    <a:pt x="0" y="6441280"/>
                  </a:lnTo>
                  <a:lnTo>
                    <a:pt x="0" y="6434136"/>
                  </a:lnTo>
                  <a:lnTo>
                    <a:pt x="0" y="102317"/>
                  </a:lnTo>
                  <a:lnTo>
                    <a:pt x="9161" y="60721"/>
                  </a:lnTo>
                  <a:lnTo>
                    <a:pt x="30704" y="26793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6909"/>
                  </a:lnTo>
                  <a:lnTo>
                    <a:pt x="7033387" y="74037"/>
                  </a:lnTo>
                  <a:lnTo>
                    <a:pt x="7038973" y="102317"/>
                  </a:lnTo>
                  <a:lnTo>
                    <a:pt x="7038973" y="6441280"/>
                  </a:lnTo>
                  <a:lnTo>
                    <a:pt x="7027882" y="6482581"/>
                  </a:lnTo>
                  <a:lnTo>
                    <a:pt x="7001805" y="6516509"/>
                  </a:lnTo>
                  <a:lnTo>
                    <a:pt x="6964709" y="6537873"/>
                  </a:lnTo>
                  <a:lnTo>
                    <a:pt x="6943752" y="6542855"/>
                  </a:lnTo>
                  <a:lnTo>
                    <a:pt x="6936628" y="6543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6553200"/>
            </a:xfrm>
            <a:custGeom>
              <a:avLst/>
              <a:gdLst/>
              <a:ahLst/>
              <a:cxnLst/>
              <a:rect l="l" t="t" r="r" b="b"/>
              <a:pathLst>
                <a:path w="6999605" h="65532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895"/>
                  </a:lnTo>
                  <a:lnTo>
                    <a:pt x="6954545" y="19240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889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08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6438849"/>
                  </a:lnTo>
                  <a:lnTo>
                    <a:pt x="6987819" y="6478943"/>
                  </a:lnTo>
                  <a:lnTo>
                    <a:pt x="6965112" y="6512941"/>
                  </a:lnTo>
                  <a:lnTo>
                    <a:pt x="6931126" y="6535699"/>
                  </a:lnTo>
                  <a:lnTo>
                    <a:pt x="6891020" y="6543675"/>
                  </a:lnTo>
                  <a:lnTo>
                    <a:pt x="52082" y="6543675"/>
                  </a:lnTo>
                  <a:lnTo>
                    <a:pt x="26085" y="6535344"/>
                  </a:lnTo>
                  <a:lnTo>
                    <a:pt x="0" y="6540563"/>
                  </a:lnTo>
                  <a:lnTo>
                    <a:pt x="40817" y="6552654"/>
                  </a:lnTo>
                  <a:lnTo>
                    <a:pt x="52082" y="6553200"/>
                  </a:lnTo>
                  <a:lnTo>
                    <a:pt x="6891020" y="6553200"/>
                  </a:lnTo>
                  <a:lnTo>
                    <a:pt x="6934771" y="6544500"/>
                  </a:lnTo>
                  <a:lnTo>
                    <a:pt x="6936511" y="6543675"/>
                  </a:lnTo>
                  <a:lnTo>
                    <a:pt x="6944957" y="6539687"/>
                  </a:lnTo>
                  <a:lnTo>
                    <a:pt x="6954545" y="6533959"/>
                  </a:lnTo>
                  <a:lnTo>
                    <a:pt x="6963499" y="6527305"/>
                  </a:lnTo>
                  <a:lnTo>
                    <a:pt x="6971843" y="6519723"/>
                  </a:lnTo>
                  <a:lnTo>
                    <a:pt x="6972300" y="6519227"/>
                  </a:lnTo>
                  <a:lnTo>
                    <a:pt x="6979425" y="6511328"/>
                  </a:lnTo>
                  <a:lnTo>
                    <a:pt x="6986079" y="6502362"/>
                  </a:lnTo>
                  <a:lnTo>
                    <a:pt x="6991807" y="6492786"/>
                  </a:lnTo>
                  <a:lnTo>
                    <a:pt x="6996620" y="6482588"/>
                  </a:lnTo>
                  <a:lnTo>
                    <a:pt x="6999071" y="64757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4"/>
              <a:ext cx="88900" cy="6528434"/>
            </a:xfrm>
            <a:custGeom>
              <a:avLst/>
              <a:gdLst/>
              <a:ahLst/>
              <a:cxnLst/>
              <a:rect l="l" t="t" r="r" b="b"/>
              <a:pathLst>
                <a:path w="88900" h="6528434">
                  <a:moveTo>
                    <a:pt x="62524" y="6528211"/>
                  </a:moveTo>
                  <a:lnTo>
                    <a:pt x="25900" y="6498881"/>
                  </a:lnTo>
                  <a:lnTo>
                    <a:pt x="4894" y="6459535"/>
                  </a:lnTo>
                  <a:lnTo>
                    <a:pt x="0" y="642640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6426405"/>
                  </a:lnTo>
                  <a:lnTo>
                    <a:pt x="52700" y="6466500"/>
                  </a:lnTo>
                  <a:lnTo>
                    <a:pt x="72022" y="6507438"/>
                  </a:lnTo>
                  <a:lnTo>
                    <a:pt x="88529" y="6523015"/>
                  </a:lnTo>
                  <a:lnTo>
                    <a:pt x="62524" y="652821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3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3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426"/>
                  </a:lnTo>
                  <a:lnTo>
                    <a:pt x="3885" y="786336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142"/>
                  </a:lnTo>
                  <a:lnTo>
                    <a:pt x="15621" y="29546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492"/>
                  </a:lnTo>
                  <a:lnTo>
                    <a:pt x="6438899" y="71142"/>
                  </a:lnTo>
                  <a:lnTo>
                    <a:pt x="6438899" y="766981"/>
                  </a:lnTo>
                  <a:lnTo>
                    <a:pt x="6423277" y="808434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36"/>
              <a:ext cx="28575" cy="2257425"/>
            </a:xfrm>
            <a:custGeom>
              <a:avLst/>
              <a:gdLst/>
              <a:ahLst/>
              <a:cxnLst/>
              <a:rect l="l" t="t" r="r" b="b"/>
              <a:pathLst>
                <a:path w="28575" h="2257425">
                  <a:moveTo>
                    <a:pt x="28575" y="1962150"/>
                  </a:moveTo>
                  <a:lnTo>
                    <a:pt x="0" y="1962150"/>
                  </a:lnTo>
                  <a:lnTo>
                    <a:pt x="0" y="2257425"/>
                  </a:lnTo>
                  <a:lnTo>
                    <a:pt x="28575" y="2257425"/>
                  </a:lnTo>
                  <a:lnTo>
                    <a:pt x="28575" y="1962150"/>
                  </a:lnTo>
                  <a:close/>
                </a:path>
                <a:path w="28575" h="2257425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5953060"/>
              <a:ext cx="6438899" cy="6572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712"/>
              <a:ext cx="1190625" cy="381000"/>
            </a:xfrm>
            <a:custGeom>
              <a:avLst/>
              <a:gdLst/>
              <a:ahLst/>
              <a:cxnLst/>
              <a:rect l="l" t="t" r="r" b="b"/>
              <a:pathLst>
                <a:path w="1190625" h="381000">
                  <a:moveTo>
                    <a:pt x="381000" y="71145"/>
                  </a:moveTo>
                  <a:lnTo>
                    <a:pt x="365379" y="29540"/>
                  </a:lnTo>
                  <a:lnTo>
                    <a:pt x="329349" y="3721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05"/>
                  </a:lnTo>
                  <a:lnTo>
                    <a:pt x="3886" y="51498"/>
                  </a:lnTo>
                  <a:lnTo>
                    <a:pt x="0" y="71145"/>
                  </a:lnTo>
                  <a:lnTo>
                    <a:pt x="0" y="304723"/>
                  </a:lnTo>
                  <a:lnTo>
                    <a:pt x="0" y="309714"/>
                  </a:lnTo>
                  <a:lnTo>
                    <a:pt x="15633" y="351091"/>
                  </a:lnTo>
                  <a:lnTo>
                    <a:pt x="51663" y="376910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150"/>
                  </a:lnTo>
                  <a:lnTo>
                    <a:pt x="377126" y="329145"/>
                  </a:lnTo>
                  <a:lnTo>
                    <a:pt x="381000" y="309714"/>
                  </a:lnTo>
                  <a:lnTo>
                    <a:pt x="381000" y="71145"/>
                  </a:lnTo>
                  <a:close/>
                </a:path>
                <a:path w="1190625" h="381000">
                  <a:moveTo>
                    <a:pt x="1190625" y="190423"/>
                  </a:moveTo>
                  <a:lnTo>
                    <a:pt x="1185494" y="148628"/>
                  </a:lnTo>
                  <a:lnTo>
                    <a:pt x="1170393" y="109474"/>
                  </a:lnTo>
                  <a:lnTo>
                    <a:pt x="1146225" y="75196"/>
                  </a:lnTo>
                  <a:lnTo>
                    <a:pt x="1114437" y="47777"/>
                  </a:lnTo>
                  <a:lnTo>
                    <a:pt x="1076934" y="28968"/>
                  </a:lnTo>
                  <a:lnTo>
                    <a:pt x="1035989" y="19812"/>
                  </a:lnTo>
                  <a:lnTo>
                    <a:pt x="1019175" y="18973"/>
                  </a:lnTo>
                  <a:lnTo>
                    <a:pt x="695325" y="18973"/>
                  </a:lnTo>
                  <a:lnTo>
                    <a:pt x="653656" y="24142"/>
                  </a:lnTo>
                  <a:lnTo>
                    <a:pt x="614514" y="39192"/>
                  </a:lnTo>
                  <a:lnTo>
                    <a:pt x="580199" y="63322"/>
                  </a:lnTo>
                  <a:lnTo>
                    <a:pt x="552780" y="94957"/>
                  </a:lnTo>
                  <a:lnTo>
                    <a:pt x="533895" y="132524"/>
                  </a:lnTo>
                  <a:lnTo>
                    <a:pt x="524700" y="173570"/>
                  </a:lnTo>
                  <a:lnTo>
                    <a:pt x="523875" y="190423"/>
                  </a:lnTo>
                  <a:lnTo>
                    <a:pt x="524090" y="198831"/>
                  </a:lnTo>
                  <a:lnTo>
                    <a:pt x="531266" y="240068"/>
                  </a:lnTo>
                  <a:lnTo>
                    <a:pt x="548271" y="278358"/>
                  </a:lnTo>
                  <a:lnTo>
                    <a:pt x="574103" y="311505"/>
                  </a:lnTo>
                  <a:lnTo>
                    <a:pt x="607199" y="337286"/>
                  </a:lnTo>
                  <a:lnTo>
                    <a:pt x="645566" y="354304"/>
                  </a:lnTo>
                  <a:lnTo>
                    <a:pt x="686904" y="361619"/>
                  </a:lnTo>
                  <a:lnTo>
                    <a:pt x="695325" y="361873"/>
                  </a:lnTo>
                  <a:lnTo>
                    <a:pt x="1019175" y="361873"/>
                  </a:lnTo>
                  <a:lnTo>
                    <a:pt x="1060856" y="356552"/>
                  </a:lnTo>
                  <a:lnTo>
                    <a:pt x="1099997" y="341426"/>
                  </a:lnTo>
                  <a:lnTo>
                    <a:pt x="1134313" y="317258"/>
                  </a:lnTo>
                  <a:lnTo>
                    <a:pt x="1161732" y="285521"/>
                  </a:lnTo>
                  <a:lnTo>
                    <a:pt x="1180617" y="248081"/>
                  </a:lnTo>
                  <a:lnTo>
                    <a:pt x="1189812" y="207187"/>
                  </a:lnTo>
                  <a:lnTo>
                    <a:pt x="1190625" y="190423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249035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30238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29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20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50" b="1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シニアの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60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歳</a:t>
            </a:r>
            <a:r>
              <a:rPr sz="1750" b="1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からの</a:t>
            </a:r>
            <a:r>
              <a:rPr sz="1700" b="1" spc="-145" dirty="0">
                <a:solidFill>
                  <a:srgbClr val="333333"/>
                </a:solidFill>
                <a:latin typeface="メイリオ"/>
                <a:cs typeface="メイリオ"/>
              </a:rPr>
              <a:t>⾃然⾳健康法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50">
              <a:latin typeface="メイリオ"/>
              <a:cs typeface="メイリオ"/>
            </a:endParaRPr>
          </a:p>
          <a:p>
            <a:pPr marL="155575" marR="5080">
              <a:lnSpc>
                <a:spcPct val="129500"/>
              </a:lnSpc>
            </a:pP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認知機能維持、睡眠改善、⽣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きがいづくり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シニア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世代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が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⾃然⾳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r>
              <a:rPr sz="1400" i="1" spc="-275" dirty="0">
                <a:solidFill>
                  <a:srgbClr val="333333"/>
                </a:solidFill>
                <a:latin typeface="メイリオ"/>
                <a:cs typeface="メイリオ"/>
              </a:rPr>
              <a:t>して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より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健康</a:t>
            </a:r>
            <a:r>
              <a:rPr sz="1400" i="1" spc="-5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かな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毎⽇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送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る</a:t>
            </a:r>
            <a:r>
              <a:rPr sz="1350" i="1" spc="-130" dirty="0">
                <a:solidFill>
                  <a:srgbClr val="333333"/>
                </a:solidFill>
                <a:latin typeface="メイリオ"/>
                <a:cs typeface="メイリオ"/>
              </a:rPr>
              <a:t>⽅法。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651250">
              <a:lnSpc>
                <a:spcPct val="133100"/>
              </a:lnSpc>
              <a:spcBef>
                <a:spcPts val="819"/>
              </a:spcBef>
            </a:pP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加齢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聴覚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変化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認知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機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能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⾳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関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係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睡眠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質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める</a:t>
            </a:r>
            <a:r>
              <a:rPr sz="1300" spc="-175" dirty="0">
                <a:solidFill>
                  <a:srgbClr val="333333"/>
                </a:solidFill>
                <a:latin typeface="メイリオ"/>
                <a:cs typeface="メイリオ"/>
              </a:rPr>
              <a:t>⽅法</a:t>
            </a:r>
            <a:r>
              <a:rPr sz="1300" spc="-35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⽇課</a:t>
            </a:r>
            <a:r>
              <a:rPr sz="1350" spc="-195" dirty="0">
                <a:solidFill>
                  <a:srgbClr val="333333"/>
                </a:solidFill>
                <a:latin typeface="SimSun"/>
                <a:cs typeface="SimSun"/>
              </a:rPr>
              <a:t>としての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⾃然⾳時</a:t>
            </a:r>
            <a:r>
              <a:rPr sz="1300" spc="-1300" dirty="0">
                <a:solidFill>
                  <a:srgbClr val="333333"/>
                </a:solidFill>
                <a:latin typeface="SimSun"/>
                <a:cs typeface="SimSun"/>
              </a:rPr>
              <a:t>間</a:t>
            </a:r>
            <a:r>
              <a:rPr sz="1300" spc="-5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35" dirty="0">
                <a:solidFill>
                  <a:srgbClr val="333333"/>
                </a:solidFill>
                <a:latin typeface="Comic Sans MS"/>
                <a:cs typeface="Comic Sans MS"/>
              </a:rPr>
              <a:t>Chapter</a:t>
            </a:r>
            <a:r>
              <a:rPr sz="1350" spc="-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コミュニティでの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105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シニア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向</a:t>
            </a:r>
            <a:r>
              <a:rPr sz="1350" spc="-180" dirty="0">
                <a:solidFill>
                  <a:srgbClr val="333333"/>
                </a:solidFill>
                <a:latin typeface="SimSun"/>
                <a:cs typeface="SimSun"/>
              </a:rPr>
              <a:t>けおすすめ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⾳源</a:t>
            </a:r>
            <a:r>
              <a:rPr sz="1350" spc="-14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健康⽇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テンプレ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131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08362" y="6146256"/>
            <a:ext cx="179387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45" dirty="0">
                <a:solidFill>
                  <a:srgbClr val="FFFFFF"/>
                </a:solidFill>
                <a:latin typeface="Comic Sans MS"/>
                <a:cs typeface="Comic Sans MS"/>
              </a:rPr>
              <a:t>¥880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0"/>
            <a:ext cx="7063105" cy="7372350"/>
            <a:chOff x="352425" y="352410"/>
            <a:chExt cx="7063105" cy="7372350"/>
          </a:xfrm>
        </p:grpSpPr>
        <p:sp>
          <p:nvSpPr>
            <p:cNvPr id="3" name="object 3"/>
            <p:cNvSpPr/>
            <p:nvPr/>
          </p:nvSpPr>
          <p:spPr>
            <a:xfrm>
              <a:off x="376237" y="357125"/>
              <a:ext cx="7038975" cy="7362825"/>
            </a:xfrm>
            <a:custGeom>
              <a:avLst/>
              <a:gdLst/>
              <a:ahLst/>
              <a:cxnLst/>
              <a:rect l="l" t="t" r="r" b="b"/>
              <a:pathLst>
                <a:path w="7038975" h="7362825">
                  <a:moveTo>
                    <a:pt x="6936628" y="7362748"/>
                  </a:moveTo>
                  <a:lnTo>
                    <a:pt x="84545" y="7362748"/>
                  </a:lnTo>
                  <a:lnTo>
                    <a:pt x="78661" y="7362081"/>
                  </a:lnTo>
                  <a:lnTo>
                    <a:pt x="35275" y="7340278"/>
                  </a:lnTo>
                  <a:lnTo>
                    <a:pt x="11948" y="7308055"/>
                  </a:lnTo>
                  <a:lnTo>
                    <a:pt x="579" y="7267574"/>
                  </a:lnTo>
                  <a:lnTo>
                    <a:pt x="0" y="7260506"/>
                  </a:lnTo>
                  <a:lnTo>
                    <a:pt x="0" y="7253286"/>
                  </a:lnTo>
                  <a:lnTo>
                    <a:pt x="0" y="102317"/>
                  </a:lnTo>
                  <a:lnTo>
                    <a:pt x="9161" y="60798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7260506"/>
                  </a:lnTo>
                  <a:lnTo>
                    <a:pt x="7027882" y="7301731"/>
                  </a:lnTo>
                  <a:lnTo>
                    <a:pt x="7001805" y="7335735"/>
                  </a:lnTo>
                  <a:lnTo>
                    <a:pt x="6964709" y="7357090"/>
                  </a:lnTo>
                  <a:lnTo>
                    <a:pt x="6943752" y="7362005"/>
                  </a:lnTo>
                  <a:lnTo>
                    <a:pt x="6936628" y="73627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7372350"/>
            </a:xfrm>
            <a:custGeom>
              <a:avLst/>
              <a:gdLst/>
              <a:ahLst/>
              <a:cxnLst/>
              <a:rect l="l" t="t" r="r" b="b"/>
              <a:pathLst>
                <a:path w="6999605" h="737235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71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7257999"/>
                  </a:lnTo>
                  <a:lnTo>
                    <a:pt x="6987819" y="7298093"/>
                  </a:lnTo>
                  <a:lnTo>
                    <a:pt x="6965112" y="7332091"/>
                  </a:lnTo>
                  <a:lnTo>
                    <a:pt x="6931126" y="7354849"/>
                  </a:lnTo>
                  <a:lnTo>
                    <a:pt x="6891020" y="7362825"/>
                  </a:lnTo>
                  <a:lnTo>
                    <a:pt x="52082" y="7362825"/>
                  </a:lnTo>
                  <a:lnTo>
                    <a:pt x="26085" y="7354494"/>
                  </a:lnTo>
                  <a:lnTo>
                    <a:pt x="0" y="7359713"/>
                  </a:lnTo>
                  <a:lnTo>
                    <a:pt x="40817" y="7371804"/>
                  </a:lnTo>
                  <a:lnTo>
                    <a:pt x="52082" y="7372350"/>
                  </a:lnTo>
                  <a:lnTo>
                    <a:pt x="6891020" y="7372350"/>
                  </a:lnTo>
                  <a:lnTo>
                    <a:pt x="6934771" y="7363650"/>
                  </a:lnTo>
                  <a:lnTo>
                    <a:pt x="6936511" y="7362825"/>
                  </a:lnTo>
                  <a:lnTo>
                    <a:pt x="6944957" y="7358837"/>
                  </a:lnTo>
                  <a:lnTo>
                    <a:pt x="6954545" y="7353109"/>
                  </a:lnTo>
                  <a:lnTo>
                    <a:pt x="6963499" y="7346455"/>
                  </a:lnTo>
                  <a:lnTo>
                    <a:pt x="6971843" y="7338873"/>
                  </a:lnTo>
                  <a:lnTo>
                    <a:pt x="6972300" y="7338377"/>
                  </a:lnTo>
                  <a:lnTo>
                    <a:pt x="6979425" y="7330478"/>
                  </a:lnTo>
                  <a:lnTo>
                    <a:pt x="6986079" y="7321512"/>
                  </a:lnTo>
                  <a:lnTo>
                    <a:pt x="6991807" y="7311936"/>
                  </a:lnTo>
                  <a:lnTo>
                    <a:pt x="6996620" y="7301738"/>
                  </a:lnTo>
                  <a:lnTo>
                    <a:pt x="6999071" y="729491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5"/>
              <a:ext cx="88900" cy="7347584"/>
            </a:xfrm>
            <a:custGeom>
              <a:avLst/>
              <a:gdLst/>
              <a:ahLst/>
              <a:cxnLst/>
              <a:rect l="l" t="t" r="r" b="b"/>
              <a:pathLst>
                <a:path w="88900" h="7347584">
                  <a:moveTo>
                    <a:pt x="62523" y="7347362"/>
                  </a:moveTo>
                  <a:lnTo>
                    <a:pt x="25900" y="7318031"/>
                  </a:lnTo>
                  <a:lnTo>
                    <a:pt x="4894" y="7278685"/>
                  </a:lnTo>
                  <a:lnTo>
                    <a:pt x="0" y="7245555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7245555"/>
                  </a:lnTo>
                  <a:lnTo>
                    <a:pt x="52700" y="7285651"/>
                  </a:lnTo>
                  <a:lnTo>
                    <a:pt x="72022" y="7326588"/>
                  </a:lnTo>
                  <a:lnTo>
                    <a:pt x="88528" y="7342165"/>
                  </a:lnTo>
                  <a:lnTo>
                    <a:pt x="62523" y="7347362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666813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1828738"/>
              <a:ext cx="6438900" cy="838200"/>
            </a:xfrm>
            <a:custGeom>
              <a:avLst/>
              <a:gdLst/>
              <a:ahLst/>
              <a:cxnLst/>
              <a:rect l="l" t="t" r="r" b="b"/>
              <a:pathLst>
                <a:path w="6438900" h="838200">
                  <a:moveTo>
                    <a:pt x="6367702" y="838123"/>
                  </a:moveTo>
                  <a:lnTo>
                    <a:pt x="71196" y="838123"/>
                  </a:lnTo>
                  <a:lnTo>
                    <a:pt x="66241" y="837609"/>
                  </a:lnTo>
                  <a:lnTo>
                    <a:pt x="29705" y="822502"/>
                  </a:lnTo>
                  <a:lnTo>
                    <a:pt x="3885" y="786412"/>
                  </a:lnTo>
                  <a:lnTo>
                    <a:pt x="0" y="766981"/>
                  </a:lnTo>
                  <a:lnTo>
                    <a:pt x="0" y="761999"/>
                  </a:lnTo>
                  <a:lnTo>
                    <a:pt x="0" y="71218"/>
                  </a:lnTo>
                  <a:lnTo>
                    <a:pt x="15621" y="29613"/>
                  </a:lnTo>
                  <a:lnTo>
                    <a:pt x="51661" y="3790"/>
                  </a:lnTo>
                  <a:lnTo>
                    <a:pt x="71196" y="0"/>
                  </a:lnTo>
                  <a:lnTo>
                    <a:pt x="6367702" y="0"/>
                  </a:lnTo>
                  <a:lnTo>
                    <a:pt x="6409193" y="15478"/>
                  </a:lnTo>
                  <a:lnTo>
                    <a:pt x="6435013" y="51568"/>
                  </a:lnTo>
                  <a:lnTo>
                    <a:pt x="6438899" y="71218"/>
                  </a:lnTo>
                  <a:lnTo>
                    <a:pt x="6438899" y="766981"/>
                  </a:lnTo>
                  <a:lnTo>
                    <a:pt x="6423277" y="808358"/>
                  </a:lnTo>
                  <a:lnTo>
                    <a:pt x="6387236" y="834180"/>
                  </a:lnTo>
                  <a:lnTo>
                    <a:pt x="6372658" y="837609"/>
                  </a:lnTo>
                  <a:lnTo>
                    <a:pt x="6367702" y="838123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787" y="2857436"/>
              <a:ext cx="28575" cy="2533650"/>
            </a:xfrm>
            <a:custGeom>
              <a:avLst/>
              <a:gdLst/>
              <a:ahLst/>
              <a:cxnLst/>
              <a:rect l="l" t="t" r="r" b="b"/>
              <a:pathLst>
                <a:path w="28575" h="2533650">
                  <a:moveTo>
                    <a:pt x="28575" y="2228850"/>
                  </a:moveTo>
                  <a:lnTo>
                    <a:pt x="0" y="2228850"/>
                  </a:lnTo>
                  <a:lnTo>
                    <a:pt x="0" y="2533650"/>
                  </a:lnTo>
                  <a:lnTo>
                    <a:pt x="28575" y="2533650"/>
                  </a:lnTo>
                  <a:lnTo>
                    <a:pt x="28575" y="2228850"/>
                  </a:lnTo>
                  <a:close/>
                </a:path>
                <a:path w="28575" h="2533650">
                  <a:moveTo>
                    <a:pt x="2857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575" y="3048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A7C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6505511"/>
              <a:ext cx="6438899" cy="9239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87" y="647636"/>
              <a:ext cx="1343025" cy="381000"/>
            </a:xfrm>
            <a:custGeom>
              <a:avLst/>
              <a:gdLst/>
              <a:ahLst/>
              <a:cxnLst/>
              <a:rect l="l" t="t" r="r" b="b"/>
              <a:pathLst>
                <a:path w="1343025" h="381000">
                  <a:moveTo>
                    <a:pt x="381000" y="71221"/>
                  </a:moveTo>
                  <a:lnTo>
                    <a:pt x="365379" y="29616"/>
                  </a:lnTo>
                  <a:lnTo>
                    <a:pt x="329349" y="3797"/>
                  </a:lnTo>
                  <a:lnTo>
                    <a:pt x="309803" y="0"/>
                  </a:lnTo>
                  <a:lnTo>
                    <a:pt x="71208" y="0"/>
                  </a:lnTo>
                  <a:lnTo>
                    <a:pt x="29705" y="15481"/>
                  </a:lnTo>
                  <a:lnTo>
                    <a:pt x="3886" y="51574"/>
                  </a:lnTo>
                  <a:lnTo>
                    <a:pt x="0" y="71221"/>
                  </a:lnTo>
                  <a:lnTo>
                    <a:pt x="0" y="304800"/>
                  </a:lnTo>
                  <a:lnTo>
                    <a:pt x="0" y="309791"/>
                  </a:lnTo>
                  <a:lnTo>
                    <a:pt x="15633" y="351243"/>
                  </a:lnTo>
                  <a:lnTo>
                    <a:pt x="51663" y="376986"/>
                  </a:lnTo>
                  <a:lnTo>
                    <a:pt x="71208" y="380923"/>
                  </a:lnTo>
                  <a:lnTo>
                    <a:pt x="309803" y="380923"/>
                  </a:lnTo>
                  <a:lnTo>
                    <a:pt x="351294" y="365302"/>
                  </a:lnTo>
                  <a:lnTo>
                    <a:pt x="377126" y="329145"/>
                  </a:lnTo>
                  <a:lnTo>
                    <a:pt x="381000" y="309791"/>
                  </a:lnTo>
                  <a:lnTo>
                    <a:pt x="381000" y="71221"/>
                  </a:lnTo>
                  <a:close/>
                </a:path>
                <a:path w="1343025" h="381000">
                  <a:moveTo>
                    <a:pt x="1343025" y="190500"/>
                  </a:moveTo>
                  <a:lnTo>
                    <a:pt x="1337894" y="148704"/>
                  </a:lnTo>
                  <a:lnTo>
                    <a:pt x="1322793" y="109499"/>
                  </a:lnTo>
                  <a:lnTo>
                    <a:pt x="1298625" y="75311"/>
                  </a:lnTo>
                  <a:lnTo>
                    <a:pt x="1266837" y="47777"/>
                  </a:lnTo>
                  <a:lnTo>
                    <a:pt x="1229334" y="29032"/>
                  </a:lnTo>
                  <a:lnTo>
                    <a:pt x="1188389" y="19888"/>
                  </a:lnTo>
                  <a:lnTo>
                    <a:pt x="1171575" y="19050"/>
                  </a:lnTo>
                  <a:lnTo>
                    <a:pt x="695325" y="19050"/>
                  </a:lnTo>
                  <a:lnTo>
                    <a:pt x="653656" y="24155"/>
                  </a:lnTo>
                  <a:lnTo>
                    <a:pt x="614514" y="39217"/>
                  </a:lnTo>
                  <a:lnTo>
                    <a:pt x="580199" y="63411"/>
                  </a:lnTo>
                  <a:lnTo>
                    <a:pt x="552780" y="95173"/>
                  </a:lnTo>
                  <a:lnTo>
                    <a:pt x="533895" y="132613"/>
                  </a:lnTo>
                  <a:lnTo>
                    <a:pt x="524700" y="173697"/>
                  </a:lnTo>
                  <a:lnTo>
                    <a:pt x="523875" y="190500"/>
                  </a:lnTo>
                  <a:lnTo>
                    <a:pt x="524090" y="198907"/>
                  </a:lnTo>
                  <a:lnTo>
                    <a:pt x="531266" y="240068"/>
                  </a:lnTo>
                  <a:lnTo>
                    <a:pt x="548271" y="278472"/>
                  </a:lnTo>
                  <a:lnTo>
                    <a:pt x="574103" y="311658"/>
                  </a:lnTo>
                  <a:lnTo>
                    <a:pt x="607199" y="337439"/>
                  </a:lnTo>
                  <a:lnTo>
                    <a:pt x="645566" y="354469"/>
                  </a:lnTo>
                  <a:lnTo>
                    <a:pt x="686904" y="361708"/>
                  </a:lnTo>
                  <a:lnTo>
                    <a:pt x="695325" y="361950"/>
                  </a:lnTo>
                  <a:lnTo>
                    <a:pt x="1171575" y="361950"/>
                  </a:lnTo>
                  <a:lnTo>
                    <a:pt x="1213256" y="356730"/>
                  </a:lnTo>
                  <a:lnTo>
                    <a:pt x="1252397" y="341579"/>
                  </a:lnTo>
                  <a:lnTo>
                    <a:pt x="1286713" y="317461"/>
                  </a:lnTo>
                  <a:lnTo>
                    <a:pt x="1314132" y="285597"/>
                  </a:lnTo>
                  <a:lnTo>
                    <a:pt x="1333017" y="248119"/>
                  </a:lnTo>
                  <a:lnTo>
                    <a:pt x="1342212" y="207264"/>
                  </a:lnTo>
                  <a:lnTo>
                    <a:pt x="1343025" y="190500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099" y="703800"/>
            <a:ext cx="6191250" cy="5572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650240" algn="l"/>
                <a:tab pos="1452245" algn="l"/>
              </a:tabLst>
            </a:pPr>
            <a:r>
              <a:rPr sz="1400" b="1" spc="-25" dirty="0">
                <a:solidFill>
                  <a:srgbClr val="FFFFFF"/>
                </a:solidFill>
                <a:latin typeface="Comic Sans MS"/>
                <a:cs typeface="Comic Sans MS"/>
              </a:rPr>
              <a:t>30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400" b="1" spc="-10" dirty="0">
                <a:solidFill>
                  <a:srgbClr val="FFFFFF"/>
                </a:solidFill>
                <a:latin typeface="Comic Sans MS"/>
                <a:cs typeface="Comic Sans MS"/>
              </a:rPr>
              <a:t>¥1,280</a:t>
            </a:r>
            <a:r>
              <a:rPr sz="1400" b="1" dirty="0">
                <a:solidFill>
                  <a:srgbClr val="FFFFFF"/>
                </a:solidFill>
                <a:latin typeface="Comic Sans MS"/>
                <a:cs typeface="Comic Sans MS"/>
              </a:rPr>
              <a:t>	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マニュアル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編</a:t>
            </a:r>
            <a:endParaRPr sz="13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</a:pP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【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完全保存版</a:t>
            </a:r>
            <a:r>
              <a:rPr sz="1700" b="1" spc="1410" dirty="0">
                <a:solidFill>
                  <a:srgbClr val="333333"/>
                </a:solidFill>
                <a:latin typeface="BIZ UDPゴシック"/>
                <a:cs typeface="BIZ UDPゴシック"/>
              </a:rPr>
              <a:t>】</a:t>
            </a:r>
            <a:r>
              <a:rPr sz="1750" b="1" spc="-70" dirty="0">
                <a:solidFill>
                  <a:srgbClr val="333333"/>
                </a:solidFill>
                <a:latin typeface="BIZ UDPゴシック"/>
                <a:cs typeface="BIZ UDPゴシック"/>
              </a:rPr>
              <a:t>サウンドヒ</a:t>
            </a:r>
            <a:r>
              <a:rPr sz="1700" b="1" spc="-8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750" b="1" spc="-55" dirty="0">
                <a:solidFill>
                  <a:srgbClr val="333333"/>
                </a:solidFill>
                <a:latin typeface="BIZ UDPゴシック"/>
                <a:cs typeface="BIZ UDPゴシック"/>
              </a:rPr>
              <a:t>リング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総合</a:t>
            </a:r>
            <a:r>
              <a:rPr sz="1750" b="1" spc="-20" dirty="0">
                <a:solidFill>
                  <a:srgbClr val="333333"/>
                </a:solidFill>
                <a:latin typeface="BIZ UDPゴシック"/>
                <a:cs typeface="BIZ UDPゴシック"/>
              </a:rPr>
              <a:t>ガイドブック</a:t>
            </a:r>
            <a:endParaRPr sz="1750">
              <a:latin typeface="BIZ UDPゴシック"/>
              <a:cs typeface="BIZ UDPゴシック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550">
              <a:latin typeface="BIZ UDPゴシック"/>
              <a:cs typeface="BIZ UDPゴシック"/>
            </a:endParaRPr>
          </a:p>
          <a:p>
            <a:pPr marL="155575" marR="5080">
              <a:lnSpc>
                <a:spcPct val="129500"/>
              </a:lnSpc>
            </a:pP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これ</a:t>
            </a:r>
            <a:r>
              <a:rPr sz="1400" i="1" spc="15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冊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てがわかる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。基礎知識</a:t>
            </a:r>
            <a:r>
              <a:rPr sz="1400" i="1" spc="-220" dirty="0">
                <a:solidFill>
                  <a:srgbClr val="333333"/>
                </a:solidFill>
                <a:latin typeface="メイリオ"/>
                <a:cs typeface="メイリオ"/>
              </a:rPr>
              <a:t>からエビデンス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、実践⽅法</a:t>
            </a:r>
            <a:r>
              <a:rPr sz="1400" i="1" spc="-240" dirty="0">
                <a:solidFill>
                  <a:srgbClr val="333333"/>
                </a:solidFill>
                <a:latin typeface="メイリオ"/>
                <a:cs typeface="メイリオ"/>
              </a:rPr>
              <a:t>まで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、</a:t>
            </a:r>
            <a:r>
              <a:rPr sz="1400" i="1" spc="-225" dirty="0">
                <a:solidFill>
                  <a:srgbClr val="333333"/>
                </a:solidFill>
                <a:latin typeface="メイリオ"/>
                <a:cs typeface="メイリオ"/>
              </a:rPr>
              <a:t>サウンドヒ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ー</a:t>
            </a:r>
            <a:r>
              <a:rPr sz="1400" i="1" spc="-160" dirty="0">
                <a:solidFill>
                  <a:srgbClr val="333333"/>
                </a:solidFill>
                <a:latin typeface="メイリオ"/>
                <a:cs typeface="メイリオ"/>
              </a:rPr>
              <a:t>リング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の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てを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網羅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した</a:t>
            </a:r>
            <a:r>
              <a:rPr sz="1350" i="1" spc="-170" dirty="0">
                <a:solidFill>
                  <a:srgbClr val="333333"/>
                </a:solidFill>
                <a:latin typeface="メイリオ"/>
                <a:cs typeface="メイリオ"/>
              </a:rPr>
              <a:t>総合</a:t>
            </a:r>
            <a:r>
              <a:rPr sz="1400" i="1" spc="-210" dirty="0">
                <a:solidFill>
                  <a:srgbClr val="333333"/>
                </a:solidFill>
                <a:latin typeface="メイリオ"/>
                <a:cs typeface="メイリオ"/>
              </a:rPr>
              <a:t>ガイド</a:t>
            </a:r>
            <a:r>
              <a:rPr sz="1350" i="1" spc="-50" dirty="0">
                <a:solidFill>
                  <a:srgbClr val="333333"/>
                </a:solidFill>
                <a:latin typeface="メイリオ"/>
                <a:cs typeface="メイリオ"/>
              </a:rPr>
              <a:t>。</a:t>
            </a:r>
            <a:endParaRPr sz="135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2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</a:pPr>
            <a:r>
              <a:rPr sz="1450" b="1" spc="-120" dirty="0">
                <a:solidFill>
                  <a:srgbClr val="2D5926"/>
                </a:solidFill>
                <a:latin typeface="メイリオ"/>
                <a:cs typeface="メイリオ"/>
              </a:rPr>
              <a:t>収録内容</a:t>
            </a:r>
            <a:endParaRPr sz="1450">
              <a:latin typeface="メイリオ"/>
              <a:cs typeface="メイリオ"/>
            </a:endParaRPr>
          </a:p>
          <a:p>
            <a:pPr marL="12700" marR="3585210">
              <a:lnSpc>
                <a:spcPct val="132700"/>
              </a:lnSpc>
              <a:spcBef>
                <a:spcPts val="830"/>
              </a:spcBef>
            </a:pP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6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635" dirty="0">
                <a:solidFill>
                  <a:srgbClr val="333333"/>
                </a:solidFill>
                <a:latin typeface="Comic Sans MS"/>
                <a:cs typeface="Comic Sans MS"/>
              </a:rPr>
              <a:t>1</a:t>
            </a:r>
            <a:r>
              <a:rPr sz="1300" spc="63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サウンドヒ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リングの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基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礎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5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科学的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エビデンス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総</a:t>
            </a:r>
            <a:r>
              <a:rPr sz="1350" spc="-215" dirty="0">
                <a:solidFill>
                  <a:srgbClr val="333333"/>
                </a:solidFill>
                <a:latin typeface="SimSun"/>
                <a:cs typeface="SimSun"/>
              </a:rPr>
              <a:t>まとめ</a:t>
            </a:r>
            <a:r>
              <a:rPr sz="1350" spc="-305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4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実践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ガイド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17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-75" dirty="0">
                <a:solidFill>
                  <a:srgbClr val="333333"/>
                </a:solidFill>
                <a:latin typeface="メイリオ"/>
                <a:cs typeface="メイリオ"/>
              </a:rPr>
              <a:t>対 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応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r>
              <a:rPr sz="1300" spc="560" dirty="0">
                <a:solidFill>
                  <a:srgbClr val="333333"/>
                </a:solidFill>
                <a:latin typeface="BIZ UDPゴシック"/>
                <a:cs typeface="BIZ UDPゴシック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4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専⾨家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⾒解</a:t>
            </a:r>
            <a:endParaRPr sz="1300">
              <a:latin typeface="メイリオ"/>
              <a:cs typeface="メイリオ"/>
            </a:endParaRPr>
          </a:p>
          <a:p>
            <a:pPr marL="12700" marR="4197985">
              <a:lnSpc>
                <a:spcPct val="134300"/>
              </a:lnSpc>
            </a:pP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1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5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資格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びの</a:t>
            </a:r>
            <a:r>
              <a:rPr sz="1300" spc="-320" dirty="0">
                <a:solidFill>
                  <a:srgbClr val="333333"/>
                </a:solidFill>
                <a:latin typeface="メイリオ"/>
                <a:cs typeface="メイリオ"/>
              </a:rPr>
              <a:t>道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Part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525" dirty="0">
                <a:solidFill>
                  <a:srgbClr val="333333"/>
                </a:solidFill>
                <a:latin typeface="Comic Sans MS"/>
                <a:cs typeface="Comic Sans MS"/>
              </a:rPr>
              <a:t>6</a:t>
            </a:r>
            <a:r>
              <a:rPr sz="1300" spc="52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⽤語集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リソ</a:t>
            </a:r>
            <a:r>
              <a:rPr sz="1300" spc="-32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ス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endParaRPr sz="1300">
              <a:latin typeface="メイリオ"/>
              <a:cs typeface="メイリオ"/>
            </a:endParaRPr>
          </a:p>
          <a:p>
            <a:pPr marL="135890">
              <a:lnSpc>
                <a:spcPct val="100000"/>
              </a:lnSpc>
              <a:spcBef>
                <a:spcPts val="2030"/>
              </a:spcBef>
            </a:pPr>
            <a:r>
              <a:rPr sz="1450" b="1" spc="-95" dirty="0">
                <a:solidFill>
                  <a:srgbClr val="2D5926"/>
                </a:solidFill>
                <a:latin typeface="メイリオ"/>
                <a:cs typeface="メイリオ"/>
              </a:rPr>
              <a:t>特典</a:t>
            </a:r>
            <a:endParaRPr sz="145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全⾳源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リスト</a:t>
            </a:r>
            <a:r>
              <a:rPr sz="1300" spc="29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295" dirty="0">
                <a:solidFill>
                  <a:srgbClr val="333333"/>
                </a:solidFill>
                <a:latin typeface="Comic Sans MS"/>
                <a:cs typeface="Comic Sans MS"/>
              </a:rPr>
              <a:t>100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種類以上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ワ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クシ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集</a:t>
            </a:r>
            <a:r>
              <a:rPr sz="1300" spc="405" dirty="0">
                <a:solidFill>
                  <a:srgbClr val="333333"/>
                </a:solidFill>
                <a:latin typeface="BIZ UDPゴシック"/>
                <a:cs typeface="BIZ UDPゴシック"/>
              </a:rPr>
              <a:t>（</a:t>
            </a:r>
            <a:r>
              <a:rPr sz="1350" spc="405" dirty="0">
                <a:solidFill>
                  <a:srgbClr val="333333"/>
                </a:solidFill>
                <a:latin typeface="Comic Sans MS"/>
                <a:cs typeface="Comic Sans MS"/>
              </a:rPr>
              <a:t>10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種類</a:t>
            </a:r>
            <a:r>
              <a:rPr sz="1300" spc="1040" dirty="0">
                <a:solidFill>
                  <a:srgbClr val="333333"/>
                </a:solidFill>
                <a:latin typeface="BIZ UDPゴシック"/>
                <a:cs typeface="BIZ UDPゴシック"/>
              </a:rPr>
              <a:t>）</a:t>
            </a:r>
            <a:endParaRPr sz="1300">
              <a:latin typeface="BIZ UDPゴシック"/>
              <a:cs typeface="BIZ UDPゴシック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204" dirty="0">
                <a:solidFill>
                  <a:srgbClr val="333333"/>
                </a:solidFill>
                <a:latin typeface="SimSun"/>
                <a:cs typeface="SimSun"/>
              </a:rPr>
              <a:t>クイックリファレンスカ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ド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132</a:t>
            </a:fld>
            <a:r>
              <a:rPr spc="-10" dirty="0"/>
              <a:t>/135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940049" y="6642189"/>
            <a:ext cx="193040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035" marR="5080" indent="-140970">
              <a:lnSpc>
                <a:spcPct val="129600"/>
              </a:lnSpc>
              <a:spcBef>
                <a:spcPts val="95"/>
              </a:spcBef>
            </a:pPr>
            <a:r>
              <a:rPr sz="1350" spc="-20" dirty="0">
                <a:solidFill>
                  <a:srgbClr val="FFFFFF"/>
                </a:solidFill>
                <a:latin typeface="Comic Sans MS"/>
                <a:cs typeface="Comic Sans MS"/>
              </a:rPr>
              <a:t>¥1,280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完全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版</a:t>
            </a:r>
            <a:r>
              <a:rPr sz="1350" spc="-180" dirty="0">
                <a:solidFill>
                  <a:srgbClr val="FFFFFF"/>
                </a:solidFill>
                <a:latin typeface="SimSun"/>
                <a:cs typeface="SimSun"/>
              </a:rPr>
              <a:t>にアクセス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これ</a:t>
            </a:r>
            <a:r>
              <a:rPr sz="1350" spc="180" dirty="0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冊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で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全</a:t>
            </a:r>
            <a:r>
              <a:rPr sz="1350" spc="-150" dirty="0">
                <a:solidFill>
                  <a:srgbClr val="FFFFFF"/>
                </a:solidFill>
                <a:latin typeface="SimSun"/>
                <a:cs typeface="SimSun"/>
              </a:rPr>
              <a:t>てがわかる</a:t>
            </a:r>
            <a:endParaRPr sz="135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923862"/>
            <a:ext cx="7061298" cy="16763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52425" y="2790811"/>
            <a:ext cx="7063105" cy="4057650"/>
            <a:chOff x="352425" y="2790811"/>
            <a:chExt cx="7063105" cy="4057650"/>
          </a:xfrm>
        </p:grpSpPr>
        <p:sp>
          <p:nvSpPr>
            <p:cNvPr id="4" name="object 4"/>
            <p:cNvSpPr/>
            <p:nvPr/>
          </p:nvSpPr>
          <p:spPr>
            <a:xfrm>
              <a:off x="376237" y="2795525"/>
              <a:ext cx="7038975" cy="4048125"/>
            </a:xfrm>
            <a:custGeom>
              <a:avLst/>
              <a:gdLst/>
              <a:ahLst/>
              <a:cxnLst/>
              <a:rect l="l" t="t" r="r" b="b"/>
              <a:pathLst>
                <a:path w="7038975" h="4048125">
                  <a:moveTo>
                    <a:pt x="6936628" y="4048048"/>
                  </a:moveTo>
                  <a:lnTo>
                    <a:pt x="84545" y="4048048"/>
                  </a:lnTo>
                  <a:lnTo>
                    <a:pt x="78661" y="4047305"/>
                  </a:lnTo>
                  <a:lnTo>
                    <a:pt x="35275" y="4025579"/>
                  </a:lnTo>
                  <a:lnTo>
                    <a:pt x="11948" y="3993279"/>
                  </a:lnTo>
                  <a:lnTo>
                    <a:pt x="579" y="3952798"/>
                  </a:lnTo>
                  <a:lnTo>
                    <a:pt x="0" y="3945730"/>
                  </a:lnTo>
                  <a:lnTo>
                    <a:pt x="0" y="3938587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860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061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3945730"/>
                  </a:lnTo>
                  <a:lnTo>
                    <a:pt x="7027882" y="3987031"/>
                  </a:lnTo>
                  <a:lnTo>
                    <a:pt x="7001805" y="4021111"/>
                  </a:lnTo>
                  <a:lnTo>
                    <a:pt x="6964709" y="4042390"/>
                  </a:lnTo>
                  <a:lnTo>
                    <a:pt x="6943752" y="4047305"/>
                  </a:lnTo>
                  <a:lnTo>
                    <a:pt x="6936628" y="40480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4642" y="2790811"/>
              <a:ext cx="6999605" cy="4057650"/>
            </a:xfrm>
            <a:custGeom>
              <a:avLst/>
              <a:gdLst/>
              <a:ahLst/>
              <a:cxnLst/>
              <a:rect l="l" t="t" r="r" b="b"/>
              <a:pathLst>
                <a:path w="6999605" h="405765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08"/>
                  </a:lnTo>
                  <a:lnTo>
                    <a:pt x="39065" y="11518"/>
                  </a:lnTo>
                  <a:lnTo>
                    <a:pt x="45504" y="10020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3943299"/>
                  </a:lnTo>
                  <a:lnTo>
                    <a:pt x="6987819" y="3983393"/>
                  </a:lnTo>
                  <a:lnTo>
                    <a:pt x="6965112" y="4017391"/>
                  </a:lnTo>
                  <a:lnTo>
                    <a:pt x="6931126" y="4040149"/>
                  </a:lnTo>
                  <a:lnTo>
                    <a:pt x="6891020" y="4048125"/>
                  </a:lnTo>
                  <a:lnTo>
                    <a:pt x="52082" y="4048125"/>
                  </a:lnTo>
                  <a:lnTo>
                    <a:pt x="26085" y="4039793"/>
                  </a:lnTo>
                  <a:lnTo>
                    <a:pt x="0" y="4045013"/>
                  </a:lnTo>
                  <a:lnTo>
                    <a:pt x="40817" y="4057104"/>
                  </a:lnTo>
                  <a:lnTo>
                    <a:pt x="52082" y="4057650"/>
                  </a:lnTo>
                  <a:lnTo>
                    <a:pt x="6891020" y="4057650"/>
                  </a:lnTo>
                  <a:lnTo>
                    <a:pt x="6934771" y="4048950"/>
                  </a:lnTo>
                  <a:lnTo>
                    <a:pt x="6936511" y="4048125"/>
                  </a:lnTo>
                  <a:lnTo>
                    <a:pt x="6944957" y="4044137"/>
                  </a:lnTo>
                  <a:lnTo>
                    <a:pt x="6954545" y="4038409"/>
                  </a:lnTo>
                  <a:lnTo>
                    <a:pt x="6963499" y="4031754"/>
                  </a:lnTo>
                  <a:lnTo>
                    <a:pt x="6971843" y="4024172"/>
                  </a:lnTo>
                  <a:lnTo>
                    <a:pt x="6972300" y="4023677"/>
                  </a:lnTo>
                  <a:lnTo>
                    <a:pt x="6979425" y="4015778"/>
                  </a:lnTo>
                  <a:lnTo>
                    <a:pt x="6986079" y="4006812"/>
                  </a:lnTo>
                  <a:lnTo>
                    <a:pt x="6991807" y="3997236"/>
                  </a:lnTo>
                  <a:lnTo>
                    <a:pt x="6996620" y="3987038"/>
                  </a:lnTo>
                  <a:lnTo>
                    <a:pt x="6999071" y="398021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2425" y="2803255"/>
              <a:ext cx="88900" cy="4032885"/>
            </a:xfrm>
            <a:custGeom>
              <a:avLst/>
              <a:gdLst/>
              <a:ahLst/>
              <a:cxnLst/>
              <a:rect l="l" t="t" r="r" b="b"/>
              <a:pathLst>
                <a:path w="88900" h="4032884">
                  <a:moveTo>
                    <a:pt x="62524" y="4032662"/>
                  </a:moveTo>
                  <a:lnTo>
                    <a:pt x="25900" y="4003331"/>
                  </a:lnTo>
                  <a:lnTo>
                    <a:pt x="4894" y="3963985"/>
                  </a:lnTo>
                  <a:lnTo>
                    <a:pt x="0" y="3930856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3"/>
                  </a:lnTo>
                  <a:lnTo>
                    <a:pt x="62521" y="0"/>
                  </a:lnTo>
                  <a:lnTo>
                    <a:pt x="88528" y="5196"/>
                  </a:lnTo>
                  <a:lnTo>
                    <a:pt x="82837" y="9416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3930856"/>
                  </a:lnTo>
                  <a:lnTo>
                    <a:pt x="52700" y="3970951"/>
                  </a:lnTo>
                  <a:lnTo>
                    <a:pt x="72022" y="4011888"/>
                  </a:lnTo>
                  <a:lnTo>
                    <a:pt x="88529" y="4027465"/>
                  </a:lnTo>
                  <a:lnTo>
                    <a:pt x="62524" y="4032662"/>
                  </a:lnTo>
                  <a:close/>
                </a:path>
              </a:pathLst>
            </a:custGeom>
            <a:solidFill>
              <a:srgbClr val="2D59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99" y="368611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111499" y="1334576"/>
            <a:ext cx="1549400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265" dirty="0">
                <a:latin typeface="BIZ UDPゴシック"/>
                <a:cs typeface="BIZ UDPゴシック"/>
              </a:rPr>
              <a:t>活</a:t>
            </a:r>
            <a:r>
              <a:rPr sz="2650" spc="-265" dirty="0">
                <a:latin typeface="メイリオ"/>
                <a:cs typeface="メイリオ"/>
              </a:rPr>
              <a:t>⽤</a:t>
            </a:r>
            <a:r>
              <a:rPr sz="2650" spc="-265" dirty="0">
                <a:latin typeface="BIZ UDPゴシック"/>
                <a:cs typeface="BIZ UDPゴシック"/>
              </a:rPr>
              <a:t>ガイド</a:t>
            </a:r>
            <a:endParaRPr sz="2650">
              <a:latin typeface="BIZ UDPゴシック"/>
              <a:cs typeface="BIZ UDPゴシック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133</a:t>
            </a:fld>
            <a:r>
              <a:rPr spc="-10" dirty="0"/>
              <a:t>/135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3099" y="3231653"/>
            <a:ext cx="2907665" cy="3093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-50" dirty="0">
                <a:solidFill>
                  <a:srgbClr val="333333"/>
                </a:solidFill>
                <a:latin typeface="Comic Sans MS"/>
                <a:cs typeface="Comic Sans MS"/>
              </a:rPr>
              <a:t>Instagram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投稿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35" dirty="0">
                <a:solidFill>
                  <a:srgbClr val="333333"/>
                </a:solidFill>
                <a:latin typeface="メイリオ"/>
                <a:cs typeface="メイリオ"/>
              </a:rPr>
              <a:t>活⽤⽅法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50">
              <a:latin typeface="メイリオ"/>
              <a:cs typeface="メイリオ"/>
            </a:endParaRPr>
          </a:p>
          <a:p>
            <a:pPr marL="200660" indent="-187960">
              <a:lnSpc>
                <a:spcPct val="100000"/>
              </a:lnSpc>
              <a:buFont typeface="Comic Sans MS"/>
              <a:buAutoNum type="arabicPeriod"/>
              <a:tabLst>
                <a:tab pos="200660" algn="l"/>
              </a:tabLst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タイプ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使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分</a:t>
            </a:r>
            <a:r>
              <a:rPr sz="1350" spc="-130" dirty="0">
                <a:solidFill>
                  <a:srgbClr val="333333"/>
                </a:solidFill>
                <a:latin typeface="SimSun"/>
                <a:cs typeface="SimSun"/>
              </a:rPr>
              <a:t>ける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タ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信頼性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めたい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スト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リ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共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感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得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たい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知識型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教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育的</a:t>
            </a:r>
            <a:r>
              <a:rPr sz="1350" spc="-155" dirty="0">
                <a:solidFill>
                  <a:srgbClr val="333333"/>
                </a:solidFill>
                <a:latin typeface="SimSun"/>
                <a:cs typeface="SimSun"/>
              </a:rPr>
              <a:t>なコンテンツに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引⽤型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権威付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けしたい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シ</a:t>
            </a:r>
            <a:r>
              <a:rPr sz="1300" spc="-16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ン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別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05" dirty="0">
                <a:solidFill>
                  <a:srgbClr val="333333"/>
                </a:solidFill>
                <a:latin typeface="SimSun"/>
                <a:cs typeface="SimSun"/>
              </a:rPr>
              <a:t>具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体的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な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活⽤法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伝</a:t>
            </a:r>
            <a:r>
              <a:rPr sz="1350" spc="-165" dirty="0">
                <a:solidFill>
                  <a:srgbClr val="333333"/>
                </a:solidFill>
                <a:latin typeface="SimSun"/>
                <a:cs typeface="SimSun"/>
              </a:rPr>
              <a:t>えた</a:t>
            </a:r>
            <a:r>
              <a:rPr sz="1350" spc="-1350" dirty="0">
                <a:solidFill>
                  <a:srgbClr val="333333"/>
                </a:solidFill>
                <a:latin typeface="SimSun"/>
                <a:cs typeface="SimSun"/>
              </a:rPr>
              <a:t>い</a:t>
            </a:r>
            <a:r>
              <a:rPr sz="1300" spc="-105" dirty="0">
                <a:solidFill>
                  <a:srgbClr val="333333"/>
                </a:solidFill>
                <a:latin typeface="メイリオ"/>
                <a:cs typeface="メイリオ"/>
              </a:rPr>
              <a:t>時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 startAt="2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投稿頻度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⽬安</a:t>
            </a: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50" spc="-75" dirty="0">
                <a:solidFill>
                  <a:srgbClr val="333333"/>
                </a:solidFill>
                <a:latin typeface="Comic Sans MS"/>
                <a:cs typeface="Comic Sans MS"/>
              </a:rPr>
              <a:t>2-</a:t>
            </a:r>
            <a:r>
              <a:rPr sz="1350" spc="-90" dirty="0">
                <a:solidFill>
                  <a:srgbClr val="333333"/>
                </a:solidFill>
                <a:latin typeface="Comic Sans MS"/>
                <a:cs typeface="Comic Sans MS"/>
              </a:rPr>
              <a:t>3</a:t>
            </a:r>
            <a:r>
              <a:rPr sz="1300" spc="-50" dirty="0">
                <a:solidFill>
                  <a:srgbClr val="333333"/>
                </a:solidFill>
                <a:latin typeface="メイリオ"/>
                <a:cs typeface="メイリオ"/>
              </a:rPr>
              <a:t>回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480"/>
              </a:spcBef>
              <a:buFont typeface="Comic Sans MS"/>
              <a:buAutoNum type="arabicPeriod" startAt="2"/>
              <a:tabLst>
                <a:tab pos="198755" algn="l"/>
              </a:tabLst>
            </a:pP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ハッシュタグは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適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宜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調整</a:t>
            </a:r>
            <a:r>
              <a:rPr sz="1350" spc="-175" dirty="0">
                <a:solidFill>
                  <a:srgbClr val="333333"/>
                </a:solidFill>
                <a:latin typeface="SimSun"/>
                <a:cs typeface="SimSun"/>
              </a:rPr>
              <a:t>してください</a:t>
            </a:r>
            <a:endParaRPr sz="1350">
              <a:latin typeface="SimSun"/>
              <a:cs typeface="SimSun"/>
            </a:endParaRPr>
          </a:p>
          <a:p>
            <a:pPr marL="199390" indent="-18669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 startAt="2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画像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やリ</a:t>
            </a:r>
            <a:r>
              <a:rPr sz="1300" spc="-11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ルと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組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み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合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わせると</a:t>
            </a:r>
            <a:r>
              <a:rPr sz="1300" spc="-90" dirty="0">
                <a:solidFill>
                  <a:srgbClr val="333333"/>
                </a:solidFill>
                <a:latin typeface="メイリオ"/>
                <a:cs typeface="メイリオ"/>
              </a:rPr>
              <a:t>効果的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0499" y="1958654"/>
            <a:ext cx="231140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本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コンテンツ</a:t>
            </a:r>
            <a:r>
              <a:rPr sz="1300" spc="-110" dirty="0">
                <a:solidFill>
                  <a:srgbClr val="FFFFFF"/>
                </a:solidFill>
                <a:latin typeface="SimSun"/>
                <a:cs typeface="SimSun"/>
              </a:rPr>
              <a:t>集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効果的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な</a:t>
            </a:r>
            <a:r>
              <a:rPr sz="1300" spc="-110" dirty="0">
                <a:solidFill>
                  <a:srgbClr val="FFFFFF"/>
                </a:solidFill>
                <a:latin typeface="メイリオ"/>
                <a:cs typeface="メイリオ"/>
              </a:rPr>
              <a:t>使</a:t>
            </a:r>
            <a:r>
              <a:rPr sz="1350" spc="-170" dirty="0">
                <a:solidFill>
                  <a:srgbClr val="FFFFFF"/>
                </a:solidFill>
                <a:latin typeface="SimSun"/>
                <a:cs typeface="SimSun"/>
              </a:rPr>
              <a:t>い</a:t>
            </a:r>
            <a:r>
              <a:rPr sz="1300" spc="-50" dirty="0">
                <a:solidFill>
                  <a:srgbClr val="FFFFFF"/>
                </a:solidFill>
                <a:latin typeface="メイリオ"/>
                <a:cs typeface="メイリオ"/>
              </a:rPr>
              <a:t>⽅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25" y="352412"/>
            <a:ext cx="7063105" cy="2952750"/>
            <a:chOff x="352425" y="352412"/>
            <a:chExt cx="7063105" cy="2952750"/>
          </a:xfrm>
        </p:grpSpPr>
        <p:sp>
          <p:nvSpPr>
            <p:cNvPr id="3" name="object 3"/>
            <p:cNvSpPr/>
            <p:nvPr/>
          </p:nvSpPr>
          <p:spPr>
            <a:xfrm>
              <a:off x="376237" y="357125"/>
              <a:ext cx="7038975" cy="2943225"/>
            </a:xfrm>
            <a:custGeom>
              <a:avLst/>
              <a:gdLst/>
              <a:ahLst/>
              <a:cxnLst/>
              <a:rect l="l" t="t" r="r" b="b"/>
              <a:pathLst>
                <a:path w="7038975" h="2943225">
                  <a:moveTo>
                    <a:pt x="6936628" y="2943224"/>
                  </a:moveTo>
                  <a:lnTo>
                    <a:pt x="84545" y="2943224"/>
                  </a:lnTo>
                  <a:lnTo>
                    <a:pt x="78661" y="2942558"/>
                  </a:lnTo>
                  <a:lnTo>
                    <a:pt x="35275" y="2920679"/>
                  </a:lnTo>
                  <a:lnTo>
                    <a:pt x="11948" y="2888379"/>
                  </a:lnTo>
                  <a:lnTo>
                    <a:pt x="579" y="2847898"/>
                  </a:lnTo>
                  <a:lnTo>
                    <a:pt x="0" y="2840831"/>
                  </a:lnTo>
                  <a:lnTo>
                    <a:pt x="0" y="2833687"/>
                  </a:lnTo>
                  <a:lnTo>
                    <a:pt x="0" y="102317"/>
                  </a:lnTo>
                  <a:lnTo>
                    <a:pt x="9161" y="60874"/>
                  </a:lnTo>
                  <a:lnTo>
                    <a:pt x="30704" y="26936"/>
                  </a:lnTo>
                  <a:lnTo>
                    <a:pt x="67006" y="3495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87"/>
                  </a:lnTo>
                  <a:lnTo>
                    <a:pt x="7011976" y="37128"/>
                  </a:lnTo>
                  <a:lnTo>
                    <a:pt x="7033387" y="74114"/>
                  </a:lnTo>
                  <a:lnTo>
                    <a:pt x="7038973" y="102317"/>
                  </a:lnTo>
                  <a:lnTo>
                    <a:pt x="7038973" y="2840831"/>
                  </a:lnTo>
                  <a:lnTo>
                    <a:pt x="7027882" y="2882055"/>
                  </a:lnTo>
                  <a:lnTo>
                    <a:pt x="7001805" y="2916135"/>
                  </a:lnTo>
                  <a:lnTo>
                    <a:pt x="6964709" y="2937566"/>
                  </a:lnTo>
                  <a:lnTo>
                    <a:pt x="6943752" y="2942481"/>
                  </a:lnTo>
                  <a:lnTo>
                    <a:pt x="6936628" y="2943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642" y="352411"/>
              <a:ext cx="6999605" cy="2952750"/>
            </a:xfrm>
            <a:custGeom>
              <a:avLst/>
              <a:gdLst/>
              <a:ahLst/>
              <a:cxnLst/>
              <a:rect l="l" t="t" r="r" b="b"/>
              <a:pathLst>
                <a:path w="6999605" h="295275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2838399"/>
                  </a:lnTo>
                  <a:lnTo>
                    <a:pt x="6987819" y="2878505"/>
                  </a:lnTo>
                  <a:lnTo>
                    <a:pt x="6965112" y="2912491"/>
                  </a:lnTo>
                  <a:lnTo>
                    <a:pt x="6931114" y="2935249"/>
                  </a:lnTo>
                  <a:lnTo>
                    <a:pt x="6891020" y="2943225"/>
                  </a:lnTo>
                  <a:lnTo>
                    <a:pt x="52082" y="2943225"/>
                  </a:lnTo>
                  <a:lnTo>
                    <a:pt x="26085" y="2934893"/>
                  </a:lnTo>
                  <a:lnTo>
                    <a:pt x="0" y="2940113"/>
                  </a:lnTo>
                  <a:lnTo>
                    <a:pt x="40817" y="2952204"/>
                  </a:lnTo>
                  <a:lnTo>
                    <a:pt x="52082" y="2952750"/>
                  </a:lnTo>
                  <a:lnTo>
                    <a:pt x="6891020" y="2952750"/>
                  </a:lnTo>
                  <a:lnTo>
                    <a:pt x="6934771" y="2944050"/>
                  </a:lnTo>
                  <a:lnTo>
                    <a:pt x="6936511" y="2943225"/>
                  </a:lnTo>
                  <a:lnTo>
                    <a:pt x="6944957" y="2939237"/>
                  </a:lnTo>
                  <a:lnTo>
                    <a:pt x="6954545" y="2933509"/>
                  </a:lnTo>
                  <a:lnTo>
                    <a:pt x="6963499" y="2926854"/>
                  </a:lnTo>
                  <a:lnTo>
                    <a:pt x="6971843" y="2919272"/>
                  </a:lnTo>
                  <a:lnTo>
                    <a:pt x="6972300" y="2918777"/>
                  </a:lnTo>
                  <a:lnTo>
                    <a:pt x="6979425" y="2910878"/>
                  </a:lnTo>
                  <a:lnTo>
                    <a:pt x="6986079" y="2901912"/>
                  </a:lnTo>
                  <a:lnTo>
                    <a:pt x="6991807" y="2892336"/>
                  </a:lnTo>
                  <a:lnTo>
                    <a:pt x="6996620" y="2882150"/>
                  </a:lnTo>
                  <a:lnTo>
                    <a:pt x="6999071" y="287531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425" y="364856"/>
              <a:ext cx="88900" cy="2927985"/>
            </a:xfrm>
            <a:custGeom>
              <a:avLst/>
              <a:gdLst/>
              <a:ahLst/>
              <a:cxnLst/>
              <a:rect l="l" t="t" r="r" b="b"/>
              <a:pathLst>
                <a:path w="88900" h="2927985">
                  <a:moveTo>
                    <a:pt x="62522" y="2927762"/>
                  </a:moveTo>
                  <a:lnTo>
                    <a:pt x="25900" y="2898431"/>
                  </a:lnTo>
                  <a:lnTo>
                    <a:pt x="4894" y="2859085"/>
                  </a:lnTo>
                  <a:lnTo>
                    <a:pt x="0" y="2825956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4"/>
                  </a:lnTo>
                  <a:lnTo>
                    <a:pt x="62522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2825956"/>
                  </a:lnTo>
                  <a:lnTo>
                    <a:pt x="52700" y="2866051"/>
                  </a:lnTo>
                  <a:lnTo>
                    <a:pt x="72022" y="2906988"/>
                  </a:lnTo>
                  <a:lnTo>
                    <a:pt x="88528" y="2922565"/>
                  </a:lnTo>
                  <a:lnTo>
                    <a:pt x="62522" y="2927762"/>
                  </a:lnTo>
                  <a:close/>
                </a:path>
              </a:pathLst>
            </a:custGeom>
            <a:solidFill>
              <a:srgbClr val="40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799" y="1238187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52425" y="3495662"/>
            <a:ext cx="7063105" cy="3505200"/>
            <a:chOff x="352425" y="3495662"/>
            <a:chExt cx="7063105" cy="3505200"/>
          </a:xfrm>
        </p:grpSpPr>
        <p:sp>
          <p:nvSpPr>
            <p:cNvPr id="8" name="object 8"/>
            <p:cNvSpPr/>
            <p:nvPr/>
          </p:nvSpPr>
          <p:spPr>
            <a:xfrm>
              <a:off x="376237" y="3500374"/>
              <a:ext cx="7038975" cy="3495675"/>
            </a:xfrm>
            <a:custGeom>
              <a:avLst/>
              <a:gdLst/>
              <a:ahLst/>
              <a:cxnLst/>
              <a:rect l="l" t="t" r="r" b="b"/>
              <a:pathLst>
                <a:path w="7038975" h="3495675">
                  <a:moveTo>
                    <a:pt x="6936628" y="3495674"/>
                  </a:moveTo>
                  <a:lnTo>
                    <a:pt x="84545" y="3495674"/>
                  </a:lnTo>
                  <a:lnTo>
                    <a:pt x="78661" y="3494931"/>
                  </a:lnTo>
                  <a:lnTo>
                    <a:pt x="35275" y="3473052"/>
                  </a:lnTo>
                  <a:lnTo>
                    <a:pt x="11948" y="3440753"/>
                  </a:lnTo>
                  <a:lnTo>
                    <a:pt x="579" y="3400272"/>
                  </a:lnTo>
                  <a:lnTo>
                    <a:pt x="0" y="3393280"/>
                  </a:lnTo>
                  <a:lnTo>
                    <a:pt x="0" y="3386137"/>
                  </a:lnTo>
                  <a:lnTo>
                    <a:pt x="0" y="102317"/>
                  </a:lnTo>
                  <a:lnTo>
                    <a:pt x="9161" y="60940"/>
                  </a:lnTo>
                  <a:lnTo>
                    <a:pt x="30704" y="26936"/>
                  </a:lnTo>
                  <a:lnTo>
                    <a:pt x="67006" y="3419"/>
                  </a:lnTo>
                  <a:lnTo>
                    <a:pt x="84545" y="0"/>
                  </a:lnTo>
                  <a:lnTo>
                    <a:pt x="6936628" y="0"/>
                  </a:lnTo>
                  <a:lnTo>
                    <a:pt x="6977998" y="11010"/>
                  </a:lnTo>
                  <a:lnTo>
                    <a:pt x="7011976" y="37128"/>
                  </a:lnTo>
                  <a:lnTo>
                    <a:pt x="7033387" y="74190"/>
                  </a:lnTo>
                  <a:lnTo>
                    <a:pt x="7038973" y="102317"/>
                  </a:lnTo>
                  <a:lnTo>
                    <a:pt x="7038973" y="3393280"/>
                  </a:lnTo>
                  <a:lnTo>
                    <a:pt x="7027882" y="3434505"/>
                  </a:lnTo>
                  <a:lnTo>
                    <a:pt x="7001805" y="3468585"/>
                  </a:lnTo>
                  <a:lnTo>
                    <a:pt x="6964709" y="3490016"/>
                  </a:lnTo>
                  <a:lnTo>
                    <a:pt x="6943752" y="3494931"/>
                  </a:lnTo>
                  <a:lnTo>
                    <a:pt x="6936628" y="3495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4642" y="3495661"/>
              <a:ext cx="6999605" cy="3505200"/>
            </a:xfrm>
            <a:custGeom>
              <a:avLst/>
              <a:gdLst/>
              <a:ahLst/>
              <a:cxnLst/>
              <a:rect l="l" t="t" r="r" b="b"/>
              <a:pathLst>
                <a:path w="6999605" h="3505200">
                  <a:moveTo>
                    <a:pt x="6999071" y="77343"/>
                  </a:moveTo>
                  <a:lnTo>
                    <a:pt x="6979425" y="41783"/>
                  </a:lnTo>
                  <a:lnTo>
                    <a:pt x="6971843" y="33426"/>
                  </a:lnTo>
                  <a:lnTo>
                    <a:pt x="6963499" y="25908"/>
                  </a:lnTo>
                  <a:lnTo>
                    <a:pt x="6954545" y="19253"/>
                  </a:lnTo>
                  <a:lnTo>
                    <a:pt x="6944957" y="13512"/>
                  </a:lnTo>
                  <a:lnTo>
                    <a:pt x="6936511" y="9525"/>
                  </a:lnTo>
                  <a:lnTo>
                    <a:pt x="6934771" y="8699"/>
                  </a:lnTo>
                  <a:lnTo>
                    <a:pt x="6924154" y="4902"/>
                  </a:lnTo>
                  <a:lnTo>
                    <a:pt x="6913334" y="2184"/>
                  </a:lnTo>
                  <a:lnTo>
                    <a:pt x="6902285" y="546"/>
                  </a:lnTo>
                  <a:lnTo>
                    <a:pt x="6891020" y="0"/>
                  </a:lnTo>
                  <a:lnTo>
                    <a:pt x="52082" y="0"/>
                  </a:lnTo>
                  <a:lnTo>
                    <a:pt x="8331" y="8699"/>
                  </a:lnTo>
                  <a:lnTo>
                    <a:pt x="0" y="12636"/>
                  </a:lnTo>
                  <a:lnTo>
                    <a:pt x="26085" y="17856"/>
                  </a:lnTo>
                  <a:lnTo>
                    <a:pt x="26555" y="17500"/>
                  </a:lnTo>
                  <a:lnTo>
                    <a:pt x="32753" y="14020"/>
                  </a:lnTo>
                  <a:lnTo>
                    <a:pt x="39065" y="11518"/>
                  </a:lnTo>
                  <a:lnTo>
                    <a:pt x="45504" y="10033"/>
                  </a:lnTo>
                  <a:lnTo>
                    <a:pt x="52082" y="9525"/>
                  </a:lnTo>
                  <a:lnTo>
                    <a:pt x="6891020" y="9525"/>
                  </a:lnTo>
                  <a:lnTo>
                    <a:pt x="6931126" y="17500"/>
                  </a:lnTo>
                  <a:lnTo>
                    <a:pt x="6965112" y="40220"/>
                  </a:lnTo>
                  <a:lnTo>
                    <a:pt x="6965569" y="40716"/>
                  </a:lnTo>
                  <a:lnTo>
                    <a:pt x="6987819" y="74155"/>
                  </a:lnTo>
                  <a:lnTo>
                    <a:pt x="6995795" y="114249"/>
                  </a:lnTo>
                  <a:lnTo>
                    <a:pt x="6995795" y="3390849"/>
                  </a:lnTo>
                  <a:lnTo>
                    <a:pt x="6987819" y="3430943"/>
                  </a:lnTo>
                  <a:lnTo>
                    <a:pt x="6965112" y="3464941"/>
                  </a:lnTo>
                  <a:lnTo>
                    <a:pt x="6931126" y="3487699"/>
                  </a:lnTo>
                  <a:lnTo>
                    <a:pt x="6891020" y="3495675"/>
                  </a:lnTo>
                  <a:lnTo>
                    <a:pt x="52082" y="3495675"/>
                  </a:lnTo>
                  <a:lnTo>
                    <a:pt x="26149" y="3487394"/>
                  </a:lnTo>
                  <a:lnTo>
                    <a:pt x="63" y="3492601"/>
                  </a:lnTo>
                  <a:lnTo>
                    <a:pt x="40817" y="3504654"/>
                  </a:lnTo>
                  <a:lnTo>
                    <a:pt x="52082" y="3505200"/>
                  </a:lnTo>
                  <a:lnTo>
                    <a:pt x="6891020" y="3505200"/>
                  </a:lnTo>
                  <a:lnTo>
                    <a:pt x="6934771" y="3496500"/>
                  </a:lnTo>
                  <a:lnTo>
                    <a:pt x="6936511" y="3495675"/>
                  </a:lnTo>
                  <a:lnTo>
                    <a:pt x="6944957" y="3491687"/>
                  </a:lnTo>
                  <a:lnTo>
                    <a:pt x="6954545" y="3485959"/>
                  </a:lnTo>
                  <a:lnTo>
                    <a:pt x="6963499" y="3479304"/>
                  </a:lnTo>
                  <a:lnTo>
                    <a:pt x="6971843" y="3471722"/>
                  </a:lnTo>
                  <a:lnTo>
                    <a:pt x="6972300" y="3471227"/>
                  </a:lnTo>
                  <a:lnTo>
                    <a:pt x="6979425" y="3463328"/>
                  </a:lnTo>
                  <a:lnTo>
                    <a:pt x="6986079" y="3454362"/>
                  </a:lnTo>
                  <a:lnTo>
                    <a:pt x="6991807" y="3444786"/>
                  </a:lnTo>
                  <a:lnTo>
                    <a:pt x="6996620" y="3434588"/>
                  </a:lnTo>
                  <a:lnTo>
                    <a:pt x="6999071" y="3427768"/>
                  </a:lnTo>
                  <a:lnTo>
                    <a:pt x="6999071" y="77343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425" y="3508106"/>
              <a:ext cx="88900" cy="3480435"/>
            </a:xfrm>
            <a:custGeom>
              <a:avLst/>
              <a:gdLst/>
              <a:ahLst/>
              <a:cxnLst/>
              <a:rect l="l" t="t" r="r" b="b"/>
              <a:pathLst>
                <a:path w="88900" h="3480434">
                  <a:moveTo>
                    <a:pt x="62606" y="3480251"/>
                  </a:moveTo>
                  <a:lnTo>
                    <a:pt x="25900" y="3450881"/>
                  </a:lnTo>
                  <a:lnTo>
                    <a:pt x="4894" y="3411535"/>
                  </a:lnTo>
                  <a:lnTo>
                    <a:pt x="0" y="3378406"/>
                  </a:lnTo>
                  <a:lnTo>
                    <a:pt x="0" y="101806"/>
                  </a:lnTo>
                  <a:lnTo>
                    <a:pt x="8700" y="58065"/>
                  </a:lnTo>
                  <a:lnTo>
                    <a:pt x="33477" y="20983"/>
                  </a:lnTo>
                  <a:lnTo>
                    <a:pt x="62521" y="0"/>
                  </a:lnTo>
                  <a:lnTo>
                    <a:pt x="88528" y="5196"/>
                  </a:lnTo>
                  <a:lnTo>
                    <a:pt x="82837" y="9417"/>
                  </a:lnTo>
                  <a:lnTo>
                    <a:pt x="77250" y="14672"/>
                  </a:lnTo>
                  <a:lnTo>
                    <a:pt x="55506" y="52365"/>
                  </a:lnTo>
                  <a:lnTo>
                    <a:pt x="47942" y="91484"/>
                  </a:lnTo>
                  <a:lnTo>
                    <a:pt x="47625" y="101806"/>
                  </a:lnTo>
                  <a:lnTo>
                    <a:pt x="47625" y="3378406"/>
                  </a:lnTo>
                  <a:lnTo>
                    <a:pt x="52700" y="3418501"/>
                  </a:lnTo>
                  <a:lnTo>
                    <a:pt x="72022" y="3459438"/>
                  </a:lnTo>
                  <a:lnTo>
                    <a:pt x="88613" y="3475078"/>
                  </a:lnTo>
                  <a:lnTo>
                    <a:pt x="62606" y="3480251"/>
                  </a:lnTo>
                  <a:close/>
                </a:path>
              </a:pathLst>
            </a:custGeom>
            <a:solidFill>
              <a:srgbClr val="F5A6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799" y="4390962"/>
              <a:ext cx="6438900" cy="19050"/>
            </a:xfrm>
            <a:custGeom>
              <a:avLst/>
              <a:gdLst/>
              <a:ahLst/>
              <a:cxnLst/>
              <a:rect l="l" t="t" r="r" b="b"/>
              <a:pathLst>
                <a:path w="6438900" h="19050">
                  <a:moveTo>
                    <a:pt x="64388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438899" y="0"/>
                  </a:lnTo>
                  <a:lnTo>
                    <a:pt x="6438899" y="1904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3099" y="793253"/>
            <a:ext cx="2642235" cy="1998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無料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記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35" dirty="0">
                <a:solidFill>
                  <a:srgbClr val="333333"/>
                </a:solidFill>
                <a:latin typeface="メイリオ"/>
                <a:cs typeface="メイリオ"/>
              </a:rPr>
              <a:t>活⽤⽅法</a:t>
            </a:r>
            <a:endParaRPr sz="1700">
              <a:latin typeface="メイリオ"/>
              <a:cs typeface="メイリオ"/>
            </a:endParaRPr>
          </a:p>
          <a:p>
            <a:pPr marL="200660" indent="-187960">
              <a:lnSpc>
                <a:spcPct val="100000"/>
              </a:lnSpc>
              <a:spcBef>
                <a:spcPts val="3015"/>
              </a:spcBef>
              <a:buAutoNum type="arabicPeriod"/>
              <a:tabLst>
                <a:tab pos="200660" algn="l"/>
              </a:tabLst>
            </a:pPr>
            <a:r>
              <a:rPr sz="1350" spc="-185" dirty="0">
                <a:solidFill>
                  <a:srgbClr val="333333"/>
                </a:solidFill>
                <a:latin typeface="Comic Sans MS"/>
                <a:cs typeface="Comic Sans MS"/>
              </a:rPr>
              <a:t>LINE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登録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動線</a:t>
            </a:r>
            <a:r>
              <a:rPr sz="1350" spc="-20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活⽤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198755" algn="l"/>
              </a:tabLst>
            </a:pPr>
            <a:r>
              <a:rPr sz="1350" spc="-75" dirty="0">
                <a:solidFill>
                  <a:srgbClr val="333333"/>
                </a:solidFill>
                <a:latin typeface="Comic Sans MS"/>
                <a:cs typeface="Comic Sans MS"/>
              </a:rPr>
              <a:t>Instagram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誘導先</a:t>
            </a:r>
            <a:r>
              <a:rPr sz="1350" spc="-5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endParaRPr sz="1350">
              <a:latin typeface="SimSun"/>
              <a:cs typeface="SimSun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信頼構築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のためのコンテンツとして</a:t>
            </a:r>
            <a:endParaRPr sz="1350">
              <a:latin typeface="SimSun"/>
              <a:cs typeface="SimSun"/>
            </a:endParaRPr>
          </a:p>
          <a:p>
            <a:pPr marL="199390" indent="-18669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週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1-</a:t>
            </a:r>
            <a:r>
              <a:rPr sz="1350" spc="-50" dirty="0">
                <a:solidFill>
                  <a:srgbClr val="333333"/>
                </a:solidFill>
                <a:latin typeface="Comic Sans MS"/>
                <a:cs typeface="Comic Sans MS"/>
              </a:rPr>
              <a:t>2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本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のペ</a:t>
            </a:r>
            <a:r>
              <a:rPr sz="1300" spc="-195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スで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公開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有料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への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導線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設置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134</a:t>
            </a:fld>
            <a:r>
              <a:rPr spc="-10" dirty="0"/>
              <a:t>/135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3099" y="3936503"/>
            <a:ext cx="3033395" cy="2550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有料</a:t>
            </a:r>
            <a:r>
              <a:rPr sz="1800" b="1" dirty="0">
                <a:solidFill>
                  <a:srgbClr val="333333"/>
                </a:solidFill>
                <a:latin typeface="Comic Sans MS"/>
                <a:cs typeface="Comic Sans MS"/>
              </a:rPr>
              <a:t>note</a:t>
            </a:r>
            <a:r>
              <a:rPr sz="1700" b="1" spc="-160" dirty="0">
                <a:solidFill>
                  <a:srgbClr val="333333"/>
                </a:solidFill>
                <a:latin typeface="BIZ UDPゴシック"/>
                <a:cs typeface="BIZ UDPゴシック"/>
              </a:rPr>
              <a:t>記</a:t>
            </a:r>
            <a:r>
              <a:rPr sz="1700" b="1" spc="-16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750" b="1" spc="-200" dirty="0">
                <a:solidFill>
                  <a:srgbClr val="333333"/>
                </a:solidFill>
                <a:latin typeface="BIZ UDPゴシック"/>
                <a:cs typeface="BIZ UDPゴシック"/>
              </a:rPr>
              <a:t>の</a:t>
            </a:r>
            <a:r>
              <a:rPr sz="1700" b="1" spc="-135" dirty="0">
                <a:solidFill>
                  <a:srgbClr val="333333"/>
                </a:solidFill>
                <a:latin typeface="メイリオ"/>
                <a:cs typeface="メイリオ"/>
              </a:rPr>
              <a:t>活⽤⽅法</a:t>
            </a:r>
            <a:endParaRPr sz="1700">
              <a:latin typeface="メイリオ"/>
              <a:cs typeface="メイリオ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50">
              <a:latin typeface="メイリオ"/>
              <a:cs typeface="メイリオ"/>
            </a:endParaRPr>
          </a:p>
          <a:p>
            <a:pPr marL="200660" indent="-187960">
              <a:lnSpc>
                <a:spcPct val="100000"/>
              </a:lnSpc>
              <a:buSzPct val="103846"/>
              <a:buFont typeface="Comic Sans MS"/>
              <a:buAutoNum type="arabicPeriod"/>
              <a:tabLst>
                <a:tab pos="20066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価格帯別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位置</a:t>
            </a:r>
            <a:r>
              <a:rPr sz="1350" spc="-110" dirty="0">
                <a:solidFill>
                  <a:srgbClr val="333333"/>
                </a:solidFill>
                <a:latin typeface="SimSun"/>
                <a:cs typeface="SimSun"/>
              </a:rPr>
              <a:t>づけ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65" dirty="0">
                <a:solidFill>
                  <a:srgbClr val="333333"/>
                </a:solidFill>
                <a:latin typeface="Comic Sans MS"/>
                <a:cs typeface="Comic Sans MS"/>
              </a:rPr>
              <a:t>¥480-</a:t>
            </a:r>
            <a:r>
              <a:rPr sz="1350" spc="240" dirty="0">
                <a:solidFill>
                  <a:srgbClr val="333333"/>
                </a:solidFill>
                <a:latin typeface="Comic Sans MS"/>
                <a:cs typeface="Comic Sans MS"/>
              </a:rPr>
              <a:t>680</a:t>
            </a:r>
            <a:r>
              <a:rPr sz="1300" spc="2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⼊⾨者向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気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軽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620" dirty="0">
                <a:solidFill>
                  <a:srgbClr val="333333"/>
                </a:solidFill>
                <a:latin typeface="メイリオ"/>
                <a:cs typeface="メイリオ"/>
              </a:rPr>
              <a:t>購⼊</a:t>
            </a:r>
            <a:endParaRPr sz="1300">
              <a:latin typeface="メイリオ"/>
              <a:cs typeface="メイリオ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spc="-70" dirty="0">
                <a:solidFill>
                  <a:srgbClr val="333333"/>
                </a:solidFill>
                <a:latin typeface="Comic Sans MS"/>
                <a:cs typeface="Comic Sans MS"/>
              </a:rPr>
              <a:t>¥780-</a:t>
            </a:r>
            <a:r>
              <a:rPr sz="1350" spc="240" dirty="0">
                <a:solidFill>
                  <a:srgbClr val="333333"/>
                </a:solidFill>
                <a:latin typeface="Comic Sans MS"/>
                <a:cs typeface="Comic Sans MS"/>
              </a:rPr>
              <a:t>980</a:t>
            </a:r>
            <a:r>
              <a:rPr sz="1300" spc="240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中核商品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主⼒</a:t>
            </a:r>
            <a:r>
              <a:rPr sz="1350" spc="-160" dirty="0">
                <a:solidFill>
                  <a:srgbClr val="333333"/>
                </a:solidFill>
                <a:latin typeface="SimSun"/>
                <a:cs typeface="SimSun"/>
              </a:rPr>
              <a:t>として</a:t>
            </a:r>
            <a:endParaRPr sz="13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00" spc="1090" dirty="0">
                <a:solidFill>
                  <a:srgbClr val="333333"/>
                </a:solidFill>
                <a:latin typeface="BIZ UDPゴシック"/>
                <a:cs typeface="BIZ UDPゴシック"/>
              </a:rPr>
              <a:t>・</a:t>
            </a:r>
            <a:r>
              <a:rPr sz="1350" dirty="0">
                <a:solidFill>
                  <a:srgbClr val="333333"/>
                </a:solidFill>
                <a:latin typeface="Comic Sans MS"/>
                <a:cs typeface="Comic Sans MS"/>
              </a:rPr>
              <a:t>¥1,180-</a:t>
            </a:r>
            <a:r>
              <a:rPr sz="1350" spc="175" dirty="0">
                <a:solidFill>
                  <a:srgbClr val="333333"/>
                </a:solidFill>
                <a:latin typeface="Comic Sans MS"/>
                <a:cs typeface="Comic Sans MS"/>
              </a:rPr>
              <a:t>1,980</a:t>
            </a:r>
            <a:r>
              <a:rPr sz="1300" spc="175" dirty="0">
                <a:solidFill>
                  <a:srgbClr val="333333"/>
                </a:solidFill>
                <a:latin typeface="BIZ UDPゴシック"/>
                <a:cs typeface="BIZ UDPゴシック"/>
              </a:rPr>
              <a:t>：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専⾨家向</a:t>
            </a:r>
            <a:r>
              <a:rPr sz="1350" spc="-229" dirty="0">
                <a:solidFill>
                  <a:srgbClr val="333333"/>
                </a:solidFill>
                <a:latin typeface="SimSun"/>
                <a:cs typeface="SimSun"/>
              </a:rPr>
              <a:t>け</a:t>
            </a:r>
            <a:r>
              <a:rPr sz="1300" spc="675" dirty="0">
                <a:solidFill>
                  <a:srgbClr val="333333"/>
                </a:solidFill>
                <a:latin typeface="BIZ UDPゴシック"/>
                <a:cs typeface="BIZ UDPゴシック"/>
              </a:rPr>
              <a:t>、</a:t>
            </a:r>
            <a:r>
              <a:rPr sz="1300" spc="-375" dirty="0">
                <a:solidFill>
                  <a:srgbClr val="333333"/>
                </a:solidFill>
                <a:latin typeface="メイリオ"/>
                <a:cs typeface="メイリオ"/>
              </a:rPr>
              <a:t>⾼付加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 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価値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Font typeface="Comic Sans MS"/>
              <a:buAutoNum type="arabicPeriod" startAt="2"/>
              <a:tabLst>
                <a:tab pos="198755" algn="l"/>
              </a:tabLst>
            </a:pP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マガジン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も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検討</a:t>
            </a:r>
            <a:endParaRPr sz="1300">
              <a:latin typeface="メイリオ"/>
              <a:cs typeface="メイリオ"/>
            </a:endParaRPr>
          </a:p>
          <a:p>
            <a:pPr marL="198755" indent="-186055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 startAt="2"/>
              <a:tabLst>
                <a:tab pos="198755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無料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記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事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からの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誘導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を</a:t>
            </a:r>
            <a:r>
              <a:rPr sz="1300" spc="-80" dirty="0">
                <a:solidFill>
                  <a:srgbClr val="333333"/>
                </a:solidFill>
                <a:latin typeface="メイリオ"/>
                <a:cs typeface="メイリオ"/>
              </a:rPr>
              <a:t>設計</a:t>
            </a:r>
            <a:endParaRPr sz="1300">
              <a:latin typeface="メイリオ"/>
              <a:cs typeface="メイリオ"/>
            </a:endParaRPr>
          </a:p>
          <a:p>
            <a:pPr marL="199390" indent="-186690">
              <a:lnSpc>
                <a:spcPct val="100000"/>
              </a:lnSpc>
              <a:spcBef>
                <a:spcPts val="555"/>
              </a:spcBef>
              <a:buSzPct val="103846"/>
              <a:buFont typeface="Comic Sans MS"/>
              <a:buAutoNum type="arabicPeriod" startAt="2"/>
              <a:tabLst>
                <a:tab pos="199390" algn="l"/>
              </a:tabLst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定</a:t>
            </a:r>
            <a:r>
              <a:rPr sz="1300" spc="-110" dirty="0">
                <a:solidFill>
                  <a:srgbClr val="333333"/>
                </a:solidFill>
                <a:latin typeface="SimSun"/>
                <a:cs typeface="SimSun"/>
              </a:rPr>
              <a:t>期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的</a:t>
            </a:r>
            <a:r>
              <a:rPr sz="1350" spc="-190" dirty="0">
                <a:solidFill>
                  <a:srgbClr val="333333"/>
                </a:solidFill>
                <a:latin typeface="SimSun"/>
                <a:cs typeface="SimSun"/>
              </a:rPr>
              <a:t>なアップデ</a:t>
            </a:r>
            <a:r>
              <a:rPr sz="1300" spc="-60" dirty="0">
                <a:solidFill>
                  <a:srgbClr val="333333"/>
                </a:solidFill>
                <a:latin typeface="BIZ UDPゴシック"/>
                <a:cs typeface="BIZ UDPゴシック"/>
              </a:rPr>
              <a:t>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トで</a:t>
            </a:r>
            <a:r>
              <a:rPr sz="1300" spc="-95" dirty="0">
                <a:solidFill>
                  <a:srgbClr val="333333"/>
                </a:solidFill>
                <a:latin typeface="メイリオ"/>
                <a:cs typeface="メイリオ"/>
              </a:rPr>
              <a:t>価値維持</a:t>
            </a:r>
            <a:endParaRPr sz="1300">
              <a:latin typeface="メイリオ"/>
              <a:cs typeface="メイリオ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7839" y="7969005"/>
            <a:ext cx="5356860" cy="832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000" b="1" spc="-100" dirty="0">
                <a:solidFill>
                  <a:srgbClr val="2D5926"/>
                </a:solidFill>
                <a:latin typeface="BIZ UDPゴシック"/>
                <a:cs typeface="BIZ UDPゴシック"/>
              </a:rPr>
              <a:t>サウンドヒーリング協会 </a:t>
            </a:r>
            <a:r>
              <a:rPr sz="2000" b="1" spc="-55" dirty="0">
                <a:solidFill>
                  <a:srgbClr val="2D5926"/>
                </a:solidFill>
                <a:latin typeface="Yu Gothic UI"/>
                <a:cs typeface="Yu Gothic UI"/>
              </a:rPr>
              <a:t>× </a:t>
            </a:r>
            <a:r>
              <a:rPr sz="2000" b="1" spc="-20" dirty="0">
                <a:solidFill>
                  <a:srgbClr val="2D5926"/>
                </a:solidFill>
                <a:latin typeface="BIZ UDPゴシック"/>
                <a:cs typeface="BIZ UDPゴシック"/>
              </a:rPr>
              <a:t>ジョイファンデーシ</a:t>
            </a:r>
            <a:r>
              <a:rPr sz="2000" b="1" spc="-1705" dirty="0">
                <a:solidFill>
                  <a:srgbClr val="2D5926"/>
                </a:solidFill>
                <a:latin typeface="BIZ UDPゴシック"/>
                <a:cs typeface="BIZ UDPゴシック"/>
              </a:rPr>
              <a:t>ョ</a:t>
            </a:r>
            <a:r>
              <a:rPr sz="2000" b="1" spc="-50" dirty="0">
                <a:solidFill>
                  <a:srgbClr val="2D5926"/>
                </a:solidFill>
                <a:latin typeface="BIZ UDPゴシック"/>
                <a:cs typeface="BIZ UDPゴシック"/>
              </a:rPr>
              <a:t> ン</a:t>
            </a:r>
            <a:endParaRPr sz="2000">
              <a:latin typeface="BIZ UDPゴシック"/>
              <a:cs typeface="BIZ UDPゴシック"/>
            </a:endParaRPr>
          </a:p>
          <a:p>
            <a:pPr algn="ctr">
              <a:lnSpc>
                <a:spcPct val="100000"/>
              </a:lnSpc>
              <a:spcBef>
                <a:spcPts val="2300"/>
              </a:spcBef>
            </a:pP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⼼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と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体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に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⾃然</a:t>
            </a:r>
            <a:r>
              <a:rPr sz="1350" spc="-185" dirty="0">
                <a:solidFill>
                  <a:srgbClr val="333333"/>
                </a:solidFill>
                <a:latin typeface="SimSun"/>
                <a:cs typeface="SimSun"/>
              </a:rPr>
              <a:t>のリズムを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取</a:t>
            </a:r>
            <a:r>
              <a:rPr sz="1350" spc="-170" dirty="0">
                <a:solidFill>
                  <a:srgbClr val="333333"/>
                </a:solidFill>
                <a:latin typeface="SimSun"/>
                <a:cs typeface="SimSun"/>
              </a:rPr>
              <a:t>り</a:t>
            </a:r>
            <a:r>
              <a:rPr sz="1300" spc="-110" dirty="0">
                <a:solidFill>
                  <a:srgbClr val="333333"/>
                </a:solidFill>
                <a:latin typeface="メイリオ"/>
                <a:cs typeface="メイリオ"/>
              </a:rPr>
              <a:t>戻</a:t>
            </a:r>
            <a:r>
              <a:rPr sz="1350" spc="-210" dirty="0">
                <a:solidFill>
                  <a:srgbClr val="333333"/>
                </a:solidFill>
                <a:latin typeface="SimSun"/>
                <a:cs typeface="SimSun"/>
              </a:rPr>
              <a:t>す </a:t>
            </a:r>
            <a:r>
              <a:rPr sz="1350" spc="-55" dirty="0">
                <a:solidFill>
                  <a:srgbClr val="333333"/>
                </a:solidFill>
                <a:latin typeface="Comic Sans MS"/>
                <a:cs typeface="Comic Sans MS"/>
              </a:rPr>
              <a:t>- </a:t>
            </a:r>
            <a:r>
              <a:rPr sz="1350" spc="-25" dirty="0">
                <a:solidFill>
                  <a:srgbClr val="333333"/>
                </a:solidFill>
                <a:latin typeface="Comic Sans MS"/>
                <a:cs typeface="Comic Sans MS"/>
              </a:rPr>
              <a:t>Harmonic</a:t>
            </a:r>
            <a:r>
              <a:rPr sz="1350" spc="25" dirty="0">
                <a:solidFill>
                  <a:srgbClr val="333333"/>
                </a:solidFill>
                <a:latin typeface="Comic Sans MS"/>
                <a:cs typeface="Comic Sans MS"/>
              </a:rPr>
              <a:t> </a:t>
            </a:r>
            <a:r>
              <a:rPr sz="1350" spc="-10" dirty="0">
                <a:solidFill>
                  <a:srgbClr val="333333"/>
                </a:solidFill>
                <a:latin typeface="Comic Sans MS"/>
                <a:cs typeface="Comic Sans MS"/>
              </a:rPr>
              <a:t>Revolution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15394" y="169463"/>
            <a:ext cx="224218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764" y="134640"/>
            <a:ext cx="2663825" cy="4337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365"/>
              </a:spcBef>
            </a:pPr>
            <a:r>
              <a:rPr sz="800" spc="-10" dirty="0">
                <a:latin typeface="Times New Roman"/>
                <a:cs typeface="Times New Roman"/>
              </a:rPr>
              <a:t>SNS</a:t>
            </a:r>
            <a:r>
              <a:rPr sz="900" spc="-125" dirty="0">
                <a:latin typeface="SimSun"/>
                <a:cs typeface="SimSun"/>
              </a:rPr>
              <a:t>コンテンツ</a:t>
            </a:r>
            <a:r>
              <a:rPr sz="850" spc="-125" dirty="0">
                <a:latin typeface="SimSun"/>
                <a:cs typeface="SimSun"/>
              </a:rPr>
              <a:t>集 </a:t>
            </a:r>
            <a:r>
              <a:rPr sz="800" dirty="0">
                <a:latin typeface="Times New Roman"/>
                <a:cs typeface="Times New Roman"/>
              </a:rPr>
              <a:t>90</a:t>
            </a:r>
            <a:r>
              <a:rPr sz="850" spc="-125" dirty="0">
                <a:latin typeface="SimSun"/>
                <a:cs typeface="SimSun"/>
              </a:rPr>
              <a:t>件 </a:t>
            </a:r>
            <a:r>
              <a:rPr sz="800" spc="20" dirty="0">
                <a:latin typeface="Times New Roman"/>
                <a:cs typeface="Times New Roman"/>
              </a:rPr>
              <a:t>- </a:t>
            </a:r>
            <a:r>
              <a:rPr sz="900" spc="-114" dirty="0">
                <a:latin typeface="SimSun"/>
                <a:cs typeface="SimSun"/>
              </a:rPr>
              <a:t>サウンドヒ</a:t>
            </a:r>
            <a:r>
              <a:rPr sz="850" spc="-60" dirty="0">
                <a:latin typeface="SimSun"/>
                <a:cs typeface="SimSun"/>
              </a:rPr>
              <a:t>ー</a:t>
            </a:r>
            <a:r>
              <a:rPr sz="900" spc="-135" dirty="0">
                <a:latin typeface="SimSun"/>
                <a:cs typeface="SimSun"/>
              </a:rPr>
              <a:t>リング</a:t>
            </a:r>
            <a:r>
              <a:rPr sz="850" spc="-55" dirty="0">
                <a:latin typeface="SimSun"/>
                <a:cs typeface="SimSun"/>
              </a:rPr>
              <a:t>協会</a:t>
            </a:r>
            <a:endParaRPr sz="85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200" spc="-120" dirty="0">
                <a:solidFill>
                  <a:srgbClr val="878787"/>
                </a:solidFill>
                <a:latin typeface="SimSun"/>
                <a:cs typeface="SimSun"/>
              </a:rPr>
              <a:t>本コンテンツは</a:t>
            </a:r>
            <a:r>
              <a:rPr sz="1250" spc="-75" dirty="0">
                <a:solidFill>
                  <a:srgbClr val="878787"/>
                </a:solidFill>
                <a:latin typeface="HGP創英角ﾎﾟｯﾌﾟ体"/>
                <a:cs typeface="HGP創英角ﾎﾟｯﾌﾟ体"/>
              </a:rPr>
              <a:t>2026</a:t>
            </a:r>
            <a:r>
              <a:rPr sz="1200" spc="-120" dirty="0">
                <a:solidFill>
                  <a:srgbClr val="878787"/>
                </a:solidFill>
                <a:latin typeface="SimSun"/>
                <a:cs typeface="SimSun"/>
              </a:rPr>
              <a:t>年</a:t>
            </a:r>
            <a:r>
              <a:rPr sz="1250" spc="-75" dirty="0">
                <a:solidFill>
                  <a:srgbClr val="878787"/>
                </a:solidFill>
                <a:latin typeface="HGP創英角ﾎﾟｯﾌﾟ体"/>
                <a:cs typeface="HGP創英角ﾎﾟｯﾌﾟ体"/>
              </a:rPr>
              <a:t>2</a:t>
            </a:r>
            <a:r>
              <a:rPr sz="1200" spc="-120" dirty="0">
                <a:solidFill>
                  <a:srgbClr val="878787"/>
                </a:solidFill>
                <a:latin typeface="メイリオ"/>
                <a:cs typeface="メイリオ"/>
              </a:rPr>
              <a:t>⽉</a:t>
            </a:r>
            <a:r>
              <a:rPr sz="1200" spc="-85" dirty="0">
                <a:solidFill>
                  <a:srgbClr val="878787"/>
                </a:solidFill>
                <a:latin typeface="SimSun"/>
                <a:cs typeface="SimSun"/>
              </a:rPr>
              <a:t>作成</a:t>
            </a:r>
            <a:endParaRPr sz="1200">
              <a:latin typeface="SimSun"/>
              <a:cs typeface="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0"/>
              </a:lnSpc>
            </a:pPr>
            <a:r>
              <a:rPr spc="-10" dirty="0"/>
              <a:t>ﬁle:///Users/kitakoujirou/Desktop/AI%E9%96%A2%E9%80%A3/joyfoundation_project/SNS%E3%82%B3%E3%83%B3%E3%83%86%E3%83%B3%E3%83…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0"/>
              </a:lnSpc>
            </a:pPr>
            <a:fld id="{81D60167-4931-47E6-BA6A-407CBD079E47}" type="slidenum">
              <a:rPr spc="-10" dirty="0"/>
              <a:t>135</a:t>
            </a:fld>
            <a:r>
              <a:rPr spc="-10" dirty="0"/>
              <a:t>/135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099" y="171513"/>
            <a:ext cx="7448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Times New Roman"/>
                <a:cs typeface="Times New Roman"/>
              </a:rPr>
              <a:t>2026/02/17</a:t>
            </a:r>
            <a:r>
              <a:rPr sz="800" spc="-15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22:43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17678</Words>
  <Application>Microsoft Office PowerPoint</Application>
  <PresentationFormat>ユーザー設定</PresentationFormat>
  <Paragraphs>2885</Paragraphs>
  <Slides>135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135</vt:i4>
      </vt:variant>
    </vt:vector>
  </HeadingPairs>
  <TitlesOfParts>
    <vt:vector size="151" baseType="lpstr">
      <vt:lpstr>BIZ UDP</vt:lpstr>
      <vt:lpstr>BIZ UDPゴシック</vt:lpstr>
      <vt:lpstr>HGP行書体</vt:lpstr>
      <vt:lpstr>HGP創英角ﾎﾟｯﾌﾟ体</vt:lpstr>
      <vt:lpstr>ＭＳ Ｐゴシック</vt:lpstr>
      <vt:lpstr>SimSun</vt:lpstr>
      <vt:lpstr>Yu Gothic UI</vt:lpstr>
      <vt:lpstr>メイリオ</vt:lpstr>
      <vt:lpstr>Arial Black</vt:lpstr>
      <vt:lpstr>Broadway</vt:lpstr>
      <vt:lpstr>Calibri</vt:lpstr>
      <vt:lpstr>Cambria</vt:lpstr>
      <vt:lpstr>Comic Sans MS</vt:lpstr>
      <vt:lpstr>Times New Roman</vt:lpstr>
      <vt:lpstr>Verdana</vt:lpstr>
      <vt:lpstr>Office Theme</vt:lpstr>
      <vt:lpstr>PowerPoint プレゼンテーション</vt:lpstr>
      <vt:lpstr>PowerPoint プレゼンテーション</vt:lpstr>
      <vt:lpstr>Part 1: Instagram投稿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Part 2: 無料note記事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Part 3: 有料note記事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活⽤ガイド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SNSコンテンツ集 90件 - サウンドヒーリング協会</dc:title>
  <cp:lastModifiedBy>Keiichiro Kita</cp:lastModifiedBy>
  <cp:revision>6</cp:revision>
  <dcterms:created xsi:type="dcterms:W3CDTF">2026-03-15T02:49:59Z</dcterms:created>
  <dcterms:modified xsi:type="dcterms:W3CDTF">2026-03-15T08:39:56Z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Mozilla/5.0 (Macintosh; Intel Mac OS X 10_15_7) AppleWebKit/537.36 (KHTML, like Gecko) HeadlessChrome/144.0.0.0 Safari/537.36</vt:lpwstr>
  </property>
  <property fmtid="{D5CDD505-2E9C-101B-9397-08002B2CF9AE}" pid="4" name="LastSaved">
    <vt:filetime>2026-03-15T00:00:00Z</vt:filetime>
  </property>
  <property fmtid="{D5CDD505-2E9C-101B-9397-08002B2CF9AE}" pid="5" name="Producer">
    <vt:lpwstr>Skia/PDF m144</vt:lpwstr>
  </property>
</Properties>
</file>